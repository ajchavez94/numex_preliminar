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66" r:id="rId2"/>
    <p:sldId id="271" r:id="rId3"/>
    <p:sldId id="268" r:id="rId4"/>
    <p:sldId id="269" r:id="rId5"/>
    <p:sldId id="272" r:id="rId6"/>
    <p:sldId id="259" r:id="rId7"/>
    <p:sldId id="258" r:id="rId8"/>
    <p:sldId id="261" r:id="rId9"/>
    <p:sldId id="260" r:id="rId10"/>
    <p:sldId id="273" r:id="rId11"/>
    <p:sldId id="274" r:id="rId12"/>
    <p:sldId id="275" r:id="rId13"/>
    <p:sldId id="276" r:id="rId14"/>
    <p:sldId id="277" r:id="rId15"/>
    <p:sldId id="281" r:id="rId16"/>
    <p:sldId id="278" r:id="rId17"/>
    <p:sldId id="270" r:id="rId18"/>
    <p:sldId id="257" r:id="rId19"/>
    <p:sldId id="256" r:id="rId20"/>
    <p:sldId id="280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Estilo cl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Estilo medio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93D81CF-94F2-401A-BA57-92F5A7B2D0C5}" styleName="Estilo medio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6E25E649-3F16-4E02-A733-19D2CDBF48F0}" styleName="Estilo medio 3 - Énfasis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343" autoAdjust="0"/>
  </p:normalViewPr>
  <p:slideViewPr>
    <p:cSldViewPr snapToGrid="0">
      <p:cViewPr>
        <p:scale>
          <a:sx n="100" d="100"/>
          <a:sy n="100" d="100"/>
        </p:scale>
        <p:origin x="72" y="-50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ADAB2D-2438-4DAF-8EF0-78196AA5F54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953BC2-43C1-4767-ADF3-5E906A4AA83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3427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953BC2-43C1-4767-ADF3-5E906A4AA83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0447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 smtClean="0"/>
              <a:t>Data</a:t>
            </a:r>
            <a:r>
              <a:rPr lang="es-MX" baseline="0" dirty="0" smtClean="0"/>
              <a:t> </a:t>
            </a:r>
            <a:r>
              <a:rPr lang="es-MX" baseline="0" dirty="0" err="1" smtClean="0"/>
              <a:t>collected</a:t>
            </a:r>
            <a:r>
              <a:rPr lang="es-MX" baseline="0" dirty="0" smtClean="0"/>
              <a:t> and </a:t>
            </a:r>
            <a:r>
              <a:rPr lang="es-MX" baseline="0" dirty="0" err="1" smtClean="0"/>
              <a:t>processed</a:t>
            </a:r>
            <a:r>
              <a:rPr lang="es-MX" baseline="0" dirty="0" smtClean="0"/>
              <a:t> in </a:t>
            </a:r>
            <a:r>
              <a:rPr lang="es-MX" baseline="0" dirty="0" err="1" smtClean="0"/>
              <a:t>green</a:t>
            </a:r>
            <a:r>
              <a:rPr lang="es-MX" baseline="0" dirty="0" smtClean="0"/>
              <a:t>. In red, </a:t>
            </a:r>
            <a:r>
              <a:rPr lang="es-MX" baseline="0" dirty="0" err="1" smtClean="0"/>
              <a:t>the</a:t>
            </a:r>
            <a:r>
              <a:rPr lang="es-MX" baseline="0" dirty="0" smtClean="0"/>
              <a:t> </a:t>
            </a:r>
            <a:r>
              <a:rPr lang="es-MX" baseline="0" dirty="0" err="1" smtClean="0"/>
              <a:t>missing</a:t>
            </a:r>
            <a:r>
              <a:rPr lang="es-MX" baseline="0" dirty="0" smtClean="0"/>
              <a:t> data.</a:t>
            </a:r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953BC2-43C1-4767-ADF3-5E906A4AA83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0183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953BC2-43C1-4767-ADF3-5E906A4AA83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08316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953BC2-43C1-4767-ADF3-5E906A4AA83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5037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 err="1" smtClean="0"/>
              <a:t>The</a:t>
            </a:r>
            <a:r>
              <a:rPr lang="es-MX" dirty="0" smtClean="0"/>
              <a:t> </a:t>
            </a:r>
            <a:r>
              <a:rPr lang="es-MX" dirty="0" err="1" smtClean="0"/>
              <a:t>dotted</a:t>
            </a:r>
            <a:r>
              <a:rPr lang="es-MX" dirty="0" smtClean="0"/>
              <a:t> line </a:t>
            </a:r>
            <a:r>
              <a:rPr lang="es-MX" dirty="0" err="1" smtClean="0"/>
              <a:t>is</a:t>
            </a:r>
            <a:r>
              <a:rPr lang="es-MX" dirty="0" smtClean="0"/>
              <a:t> </a:t>
            </a:r>
            <a:r>
              <a:rPr lang="es-MX" dirty="0" err="1" smtClean="0"/>
              <a:t>the</a:t>
            </a:r>
            <a:r>
              <a:rPr lang="es-MX" dirty="0" smtClean="0"/>
              <a:t> mean</a:t>
            </a:r>
            <a:r>
              <a:rPr lang="es-MX" baseline="0" dirty="0" smtClean="0"/>
              <a:t> of </a:t>
            </a:r>
            <a:r>
              <a:rPr lang="es-MX" baseline="0" dirty="0" err="1" smtClean="0"/>
              <a:t>the</a:t>
            </a:r>
            <a:r>
              <a:rPr lang="es-MX" baseline="0" dirty="0" smtClean="0"/>
              <a:t> control.  </a:t>
            </a:r>
          </a:p>
          <a:p>
            <a:r>
              <a:rPr lang="es-MX" dirty="0" err="1" smtClean="0"/>
              <a:t>Weinmania</a:t>
            </a:r>
            <a:r>
              <a:rPr lang="es-MX" dirty="0" smtClean="0"/>
              <a:t> looks</a:t>
            </a:r>
            <a:r>
              <a:rPr lang="es-MX" baseline="0" dirty="0" smtClean="0"/>
              <a:t> </a:t>
            </a:r>
            <a:r>
              <a:rPr lang="es-MX" baseline="0" dirty="0" err="1" smtClean="0"/>
              <a:t>that</a:t>
            </a:r>
            <a:r>
              <a:rPr lang="es-MX" baseline="0" dirty="0" smtClean="0"/>
              <a:t> NP has </a:t>
            </a:r>
            <a:r>
              <a:rPr lang="es-MX" baseline="0" dirty="0" err="1" smtClean="0"/>
              <a:t>an</a:t>
            </a:r>
            <a:r>
              <a:rPr lang="es-MX" baseline="0" dirty="0" smtClean="0"/>
              <a:t> </a:t>
            </a:r>
            <a:r>
              <a:rPr lang="es-MX" baseline="0" dirty="0" err="1" smtClean="0"/>
              <a:t>strong</a:t>
            </a:r>
            <a:r>
              <a:rPr lang="es-MX" baseline="0" dirty="0" smtClean="0"/>
              <a:t> </a:t>
            </a:r>
            <a:r>
              <a:rPr lang="es-MX" baseline="0" dirty="0" err="1" smtClean="0"/>
              <a:t>effect</a:t>
            </a:r>
            <a:r>
              <a:rPr lang="es-MX" baseline="0" dirty="0" smtClean="0"/>
              <a:t> </a:t>
            </a:r>
            <a:r>
              <a:rPr lang="es-MX" baseline="0" dirty="0" err="1" smtClean="0"/>
              <a:t>on</a:t>
            </a:r>
            <a:r>
              <a:rPr lang="es-MX" baseline="0" dirty="0" smtClean="0"/>
              <a:t> </a:t>
            </a:r>
            <a:r>
              <a:rPr lang="es-MX" baseline="0" dirty="0" err="1" smtClean="0"/>
              <a:t>iWUE</a:t>
            </a:r>
            <a:r>
              <a:rPr lang="es-MX" baseline="0" dirty="0" smtClean="0"/>
              <a:t>, </a:t>
            </a:r>
            <a:r>
              <a:rPr lang="es-MX" baseline="0" dirty="0" err="1" smtClean="0"/>
              <a:t>but</a:t>
            </a:r>
            <a:r>
              <a:rPr lang="es-MX" baseline="0" dirty="0" smtClean="0"/>
              <a:t> </a:t>
            </a:r>
            <a:r>
              <a:rPr lang="es-MX" baseline="0" dirty="0" err="1" smtClean="0"/>
              <a:t>it</a:t>
            </a:r>
            <a:r>
              <a:rPr lang="es-MX" baseline="0" dirty="0" smtClean="0"/>
              <a:t> </a:t>
            </a:r>
            <a:r>
              <a:rPr lang="es-MX" baseline="0" dirty="0" err="1" smtClean="0"/>
              <a:t>is</a:t>
            </a:r>
            <a:r>
              <a:rPr lang="es-MX" baseline="0" dirty="0" smtClean="0"/>
              <a:t> </a:t>
            </a:r>
            <a:r>
              <a:rPr lang="es-MX" baseline="0" dirty="0" err="1" smtClean="0"/>
              <a:t>not</a:t>
            </a:r>
            <a:r>
              <a:rPr lang="es-MX" baseline="0" dirty="0" smtClean="0"/>
              <a:t> </a:t>
            </a:r>
            <a:r>
              <a:rPr lang="es-MX" baseline="0" dirty="0" err="1" smtClean="0"/>
              <a:t>statistical</a:t>
            </a:r>
            <a:r>
              <a:rPr lang="es-MX" baseline="0" dirty="0" smtClean="0"/>
              <a:t> </a:t>
            </a:r>
            <a:r>
              <a:rPr lang="es-MX" baseline="0" dirty="0" err="1" smtClean="0"/>
              <a:t>significant</a:t>
            </a:r>
            <a:r>
              <a:rPr lang="es-MX" baseline="0" dirty="0" smtClean="0"/>
              <a:t>.</a:t>
            </a:r>
          </a:p>
          <a:p>
            <a:r>
              <a:rPr lang="es-MX" baseline="0" dirty="0" err="1" smtClean="0"/>
              <a:t>What</a:t>
            </a:r>
            <a:r>
              <a:rPr lang="es-MX" baseline="0" dirty="0" smtClean="0"/>
              <a:t> I </a:t>
            </a:r>
            <a:r>
              <a:rPr lang="es-MX" baseline="0" dirty="0" err="1" smtClean="0"/>
              <a:t>see</a:t>
            </a:r>
            <a:r>
              <a:rPr lang="es-MX" baseline="0" dirty="0" smtClean="0"/>
              <a:t>: </a:t>
            </a:r>
            <a:r>
              <a:rPr lang="es-MX" baseline="0" dirty="0" err="1" smtClean="0"/>
              <a:t>With</a:t>
            </a:r>
            <a:r>
              <a:rPr lang="es-MX" baseline="0" dirty="0" smtClean="0"/>
              <a:t> N </a:t>
            </a:r>
            <a:r>
              <a:rPr lang="es-MX" baseline="0" dirty="0" err="1" smtClean="0"/>
              <a:t>the</a:t>
            </a:r>
            <a:r>
              <a:rPr lang="es-MX" baseline="0" dirty="0" smtClean="0"/>
              <a:t> </a:t>
            </a:r>
            <a:r>
              <a:rPr lang="es-MX" baseline="0" dirty="0" err="1" smtClean="0"/>
              <a:t>iWUE</a:t>
            </a:r>
            <a:r>
              <a:rPr lang="es-MX" baseline="0" dirty="0" smtClean="0"/>
              <a:t> </a:t>
            </a:r>
            <a:r>
              <a:rPr lang="es-MX" baseline="0" dirty="0" err="1" smtClean="0"/>
              <a:t>increases</a:t>
            </a:r>
            <a:r>
              <a:rPr lang="es-MX" baseline="0" dirty="0" smtClean="0"/>
              <a:t>, </a:t>
            </a:r>
            <a:r>
              <a:rPr lang="es-MX" baseline="0" dirty="0" err="1" smtClean="0"/>
              <a:t>with</a:t>
            </a:r>
            <a:r>
              <a:rPr lang="es-MX" baseline="0" dirty="0" smtClean="0"/>
              <a:t> P </a:t>
            </a:r>
            <a:r>
              <a:rPr lang="es-MX" baseline="0" dirty="0" err="1" smtClean="0"/>
              <a:t>iWUE</a:t>
            </a:r>
            <a:r>
              <a:rPr lang="es-MX" baseline="0" dirty="0" smtClean="0"/>
              <a:t> </a:t>
            </a:r>
            <a:r>
              <a:rPr lang="es-MX" baseline="0" dirty="0" err="1" smtClean="0"/>
              <a:t>increases</a:t>
            </a:r>
            <a:r>
              <a:rPr lang="es-MX" baseline="0" dirty="0" smtClean="0"/>
              <a:t> as </a:t>
            </a:r>
            <a:r>
              <a:rPr lang="es-MX" baseline="0" dirty="0" err="1" smtClean="0"/>
              <a:t>well</a:t>
            </a:r>
            <a:r>
              <a:rPr lang="es-MX" baseline="0" dirty="0" smtClean="0"/>
              <a:t> </a:t>
            </a:r>
            <a:r>
              <a:rPr lang="es-MX" baseline="0" dirty="0" err="1" smtClean="0"/>
              <a:t>but</a:t>
            </a:r>
            <a:r>
              <a:rPr lang="es-MX" baseline="0" dirty="0" smtClean="0"/>
              <a:t> </a:t>
            </a:r>
            <a:r>
              <a:rPr lang="es-MX" baseline="0" dirty="0" err="1" smtClean="0"/>
              <a:t>less</a:t>
            </a:r>
            <a:r>
              <a:rPr lang="es-MX" baseline="0" dirty="0" smtClean="0"/>
              <a:t> </a:t>
            </a:r>
            <a:r>
              <a:rPr lang="es-MX" baseline="0" dirty="0" err="1" smtClean="0"/>
              <a:t>strongly</a:t>
            </a:r>
            <a:r>
              <a:rPr lang="es-MX" baseline="0" dirty="0" smtClean="0"/>
              <a:t>. </a:t>
            </a:r>
            <a:r>
              <a:rPr lang="es-MX" baseline="0" dirty="0" err="1" smtClean="0"/>
              <a:t>The</a:t>
            </a:r>
            <a:r>
              <a:rPr lang="es-MX" baseline="0" dirty="0" smtClean="0"/>
              <a:t> </a:t>
            </a:r>
            <a:r>
              <a:rPr lang="es-MX" baseline="0" dirty="0" err="1" smtClean="0"/>
              <a:t>interaction</a:t>
            </a:r>
            <a:r>
              <a:rPr lang="es-MX" baseline="0" dirty="0" smtClean="0"/>
              <a:t> has a positive </a:t>
            </a:r>
            <a:r>
              <a:rPr lang="es-MX" baseline="0" dirty="0" err="1" smtClean="0"/>
              <a:t>effect</a:t>
            </a:r>
            <a:r>
              <a:rPr lang="es-MX" baseline="0" dirty="0" smtClean="0"/>
              <a:t> </a:t>
            </a:r>
            <a:r>
              <a:rPr lang="es-MX" baseline="0" dirty="0" err="1" smtClean="0"/>
              <a:t>on</a:t>
            </a:r>
            <a:r>
              <a:rPr lang="es-MX" baseline="0" dirty="0" smtClean="0"/>
              <a:t> </a:t>
            </a:r>
            <a:r>
              <a:rPr lang="es-MX" baseline="0" dirty="0" err="1" smtClean="0"/>
              <a:t>some</a:t>
            </a:r>
            <a:r>
              <a:rPr lang="es-MX" baseline="0" dirty="0" smtClean="0"/>
              <a:t> </a:t>
            </a:r>
            <a:r>
              <a:rPr lang="es-MX" baseline="0" dirty="0" err="1" smtClean="0"/>
              <a:t>species</a:t>
            </a:r>
            <a:r>
              <a:rPr lang="es-MX" baseline="0" dirty="0" smtClean="0"/>
              <a:t> (</a:t>
            </a:r>
            <a:r>
              <a:rPr lang="es-MX" baseline="0" dirty="0" err="1" smtClean="0"/>
              <a:t>Puteria</a:t>
            </a:r>
            <a:r>
              <a:rPr lang="es-MX" baseline="0" dirty="0" smtClean="0"/>
              <a:t>, </a:t>
            </a:r>
            <a:r>
              <a:rPr lang="es-MX" baseline="0" dirty="0" err="1" smtClean="0"/>
              <a:t>Myrcia</a:t>
            </a:r>
            <a:r>
              <a:rPr lang="es-MX" baseline="0" dirty="0" smtClean="0"/>
              <a:t>, </a:t>
            </a:r>
            <a:r>
              <a:rPr lang="es-MX" baseline="0" dirty="0" err="1" smtClean="0"/>
              <a:t>Hedyosmum</a:t>
            </a:r>
            <a:r>
              <a:rPr lang="es-MX" baseline="0" dirty="0" smtClean="0"/>
              <a:t>) and </a:t>
            </a:r>
            <a:r>
              <a:rPr lang="es-MX" baseline="0" dirty="0" err="1" smtClean="0"/>
              <a:t>negative</a:t>
            </a:r>
            <a:r>
              <a:rPr lang="es-MX" baseline="0" dirty="0" smtClean="0"/>
              <a:t> (</a:t>
            </a:r>
            <a:r>
              <a:rPr lang="es-MX" baseline="0" dirty="0" err="1" smtClean="0"/>
              <a:t>less</a:t>
            </a:r>
            <a:r>
              <a:rPr lang="es-MX" baseline="0" dirty="0" smtClean="0"/>
              <a:t> tan control </a:t>
            </a:r>
            <a:r>
              <a:rPr lang="es-MX" baseline="0" dirty="0" err="1" smtClean="0"/>
              <a:t>on</a:t>
            </a:r>
            <a:r>
              <a:rPr lang="es-MX" baseline="0" dirty="0" smtClean="0"/>
              <a:t> </a:t>
            </a:r>
            <a:r>
              <a:rPr lang="es-MX" baseline="0" dirty="0" err="1" smtClean="0"/>
              <a:t>others</a:t>
            </a:r>
            <a:r>
              <a:rPr lang="es-MX" baseline="0" dirty="0" smtClean="0"/>
              <a:t> (</a:t>
            </a:r>
            <a:r>
              <a:rPr lang="es-MX" baseline="0" dirty="0" err="1" smtClean="0"/>
              <a:t>Alchornea</a:t>
            </a:r>
            <a:r>
              <a:rPr lang="es-MX" baseline="0" dirty="0" smtClean="0"/>
              <a:t>, </a:t>
            </a:r>
            <a:r>
              <a:rPr lang="es-MX" baseline="0" dirty="0" err="1" smtClean="0"/>
              <a:t>Weinmania</a:t>
            </a:r>
            <a:r>
              <a:rPr lang="es-MX" baseline="0" dirty="0" smtClean="0"/>
              <a:t>).</a:t>
            </a:r>
          </a:p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953BC2-43C1-4767-ADF3-5E906A4AA83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5267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dirty="0" err="1" smtClean="0"/>
              <a:t>The</a:t>
            </a:r>
            <a:r>
              <a:rPr lang="es-MX" dirty="0" smtClean="0"/>
              <a:t> </a:t>
            </a:r>
            <a:r>
              <a:rPr lang="es-MX" dirty="0" err="1" smtClean="0"/>
              <a:t>dotted</a:t>
            </a:r>
            <a:r>
              <a:rPr lang="es-MX" dirty="0" smtClean="0"/>
              <a:t> line </a:t>
            </a:r>
            <a:r>
              <a:rPr lang="es-MX" dirty="0" err="1" smtClean="0"/>
              <a:t>is</a:t>
            </a:r>
            <a:r>
              <a:rPr lang="es-MX" dirty="0" smtClean="0"/>
              <a:t> </a:t>
            </a:r>
            <a:r>
              <a:rPr lang="es-MX" dirty="0" err="1" smtClean="0"/>
              <a:t>the</a:t>
            </a:r>
            <a:r>
              <a:rPr lang="es-MX" dirty="0" smtClean="0"/>
              <a:t> mean</a:t>
            </a:r>
            <a:r>
              <a:rPr lang="es-MX" baseline="0" dirty="0" smtClean="0"/>
              <a:t> of </a:t>
            </a:r>
            <a:r>
              <a:rPr lang="es-MX" baseline="0" dirty="0" err="1" smtClean="0"/>
              <a:t>the</a:t>
            </a:r>
            <a:r>
              <a:rPr lang="es-MX" baseline="0" dirty="0" smtClean="0"/>
              <a:t> control.  </a:t>
            </a:r>
          </a:p>
          <a:p>
            <a:r>
              <a:rPr lang="es-MX" dirty="0" err="1" smtClean="0"/>
              <a:t>Pouteria</a:t>
            </a:r>
            <a:r>
              <a:rPr lang="es-MX" baseline="0" dirty="0" smtClean="0"/>
              <a:t> and </a:t>
            </a:r>
            <a:r>
              <a:rPr lang="es-MX" baseline="0" dirty="0" err="1" smtClean="0"/>
              <a:t>Clarisia</a:t>
            </a:r>
            <a:r>
              <a:rPr lang="es-MX" baseline="0" dirty="0" smtClean="0"/>
              <a:t> are </a:t>
            </a:r>
            <a:r>
              <a:rPr lang="es-MX" baseline="0" dirty="0" err="1" smtClean="0"/>
              <a:t>species</a:t>
            </a:r>
            <a:r>
              <a:rPr lang="es-MX" baseline="0" dirty="0" smtClean="0"/>
              <a:t> at </a:t>
            </a:r>
            <a:r>
              <a:rPr lang="es-MX" baseline="0" dirty="0" err="1" smtClean="0"/>
              <a:t>the</a:t>
            </a:r>
            <a:r>
              <a:rPr lang="es-MX" baseline="0" dirty="0" smtClean="0"/>
              <a:t> </a:t>
            </a:r>
            <a:r>
              <a:rPr lang="es-MX" baseline="0" dirty="0" err="1" smtClean="0"/>
              <a:t>same</a:t>
            </a:r>
            <a:r>
              <a:rPr lang="es-MX" baseline="0" dirty="0" smtClean="0"/>
              <a:t> </a:t>
            </a:r>
            <a:r>
              <a:rPr lang="es-MX" baseline="0" dirty="0" err="1" smtClean="0"/>
              <a:t>elevation</a:t>
            </a:r>
            <a:r>
              <a:rPr lang="es-MX" baseline="0" dirty="0" smtClean="0"/>
              <a:t> </a:t>
            </a:r>
            <a:r>
              <a:rPr lang="es-MX" baseline="0" dirty="0" err="1" smtClean="0"/>
              <a:t>with</a:t>
            </a:r>
            <a:r>
              <a:rPr lang="es-MX" baseline="0" dirty="0" smtClean="0"/>
              <a:t> </a:t>
            </a:r>
            <a:r>
              <a:rPr lang="es-MX" baseline="0" dirty="0" err="1" smtClean="0"/>
              <a:t>contrasting</a:t>
            </a:r>
            <a:r>
              <a:rPr lang="es-MX" baseline="0" dirty="0" smtClean="0"/>
              <a:t> responses. </a:t>
            </a:r>
            <a:r>
              <a:rPr lang="es-MX" baseline="0" dirty="0" err="1" smtClean="0"/>
              <a:t>Clarisia’s</a:t>
            </a:r>
            <a:r>
              <a:rPr lang="es-MX" baseline="0" dirty="0" smtClean="0"/>
              <a:t> </a:t>
            </a:r>
            <a:r>
              <a:rPr lang="es-MX" baseline="0" dirty="0" err="1" smtClean="0"/>
              <a:t>enrichment</a:t>
            </a:r>
            <a:r>
              <a:rPr lang="es-MX" baseline="0" dirty="0" smtClean="0"/>
              <a:t> of d18O </a:t>
            </a:r>
            <a:r>
              <a:rPr lang="es-MX" baseline="0" dirty="0" err="1" smtClean="0"/>
              <a:t>increases</a:t>
            </a:r>
            <a:r>
              <a:rPr lang="es-MX" baseline="0" dirty="0" smtClean="0"/>
              <a:t> </a:t>
            </a:r>
            <a:r>
              <a:rPr lang="es-MX" baseline="0" dirty="0" err="1" smtClean="0"/>
              <a:t>with</a:t>
            </a:r>
            <a:r>
              <a:rPr lang="es-MX" baseline="0" dirty="0" smtClean="0"/>
              <a:t> </a:t>
            </a:r>
            <a:r>
              <a:rPr lang="es-MX" baseline="0" dirty="0" err="1" smtClean="0"/>
              <a:t>the</a:t>
            </a:r>
            <a:r>
              <a:rPr lang="es-MX" baseline="0" dirty="0" smtClean="0"/>
              <a:t> N*P.</a:t>
            </a:r>
          </a:p>
          <a:p>
            <a:r>
              <a:rPr lang="es-MX" baseline="0" dirty="0" err="1" smtClean="0"/>
              <a:t>Only</a:t>
            </a:r>
            <a:r>
              <a:rPr lang="es-MX" baseline="0" dirty="0" smtClean="0"/>
              <a:t> </a:t>
            </a:r>
            <a:r>
              <a:rPr lang="es-MX" baseline="0" dirty="0" err="1" smtClean="0"/>
              <a:t>Pouteria</a:t>
            </a:r>
            <a:r>
              <a:rPr lang="es-MX" baseline="0" dirty="0" smtClean="0"/>
              <a:t> and </a:t>
            </a:r>
            <a:r>
              <a:rPr lang="es-MX" baseline="0" dirty="0" err="1" smtClean="0"/>
              <a:t>Myrcia</a:t>
            </a:r>
            <a:r>
              <a:rPr lang="es-MX" baseline="0" dirty="0" smtClean="0"/>
              <a:t> </a:t>
            </a:r>
            <a:r>
              <a:rPr lang="es-MX" baseline="0" dirty="0" err="1" smtClean="0"/>
              <a:t>showed</a:t>
            </a:r>
            <a:r>
              <a:rPr lang="es-MX" baseline="0" dirty="0" smtClean="0"/>
              <a:t> </a:t>
            </a:r>
            <a:r>
              <a:rPr lang="es-MX" baseline="0" dirty="0" err="1" smtClean="0"/>
              <a:t>statistical</a:t>
            </a:r>
            <a:r>
              <a:rPr lang="es-MX" baseline="0" dirty="0" smtClean="0"/>
              <a:t> </a:t>
            </a:r>
            <a:r>
              <a:rPr lang="es-MX" baseline="0" dirty="0" err="1" smtClean="0"/>
              <a:t>differences</a:t>
            </a:r>
            <a:r>
              <a:rPr lang="es-MX" baseline="0" dirty="0" smtClean="0"/>
              <a:t> </a:t>
            </a:r>
            <a:r>
              <a:rPr lang="es-MX" baseline="0" dirty="0" err="1" smtClean="0"/>
              <a:t>for</a:t>
            </a:r>
            <a:r>
              <a:rPr lang="es-MX" baseline="0" dirty="0" smtClean="0"/>
              <a:t> d18O </a:t>
            </a:r>
            <a:r>
              <a:rPr lang="es-MX" baseline="0" dirty="0" err="1" smtClean="0"/>
              <a:t>when</a:t>
            </a:r>
            <a:r>
              <a:rPr lang="es-MX" baseline="0" dirty="0" smtClean="0"/>
              <a:t> </a:t>
            </a:r>
            <a:r>
              <a:rPr lang="es-MX" baseline="0" dirty="0" err="1" smtClean="0"/>
              <a:t>adding</a:t>
            </a:r>
            <a:r>
              <a:rPr lang="es-MX" baseline="0" dirty="0" smtClean="0"/>
              <a:t> </a:t>
            </a:r>
            <a:r>
              <a:rPr lang="es-MX" baseline="0" dirty="0" err="1" smtClean="0"/>
              <a:t>nutrients</a:t>
            </a:r>
            <a:r>
              <a:rPr lang="es-MX" baseline="0" dirty="0" smtClean="0"/>
              <a:t>.</a:t>
            </a:r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953BC2-43C1-4767-ADF3-5E906A4AA83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9136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 err="1" smtClean="0"/>
              <a:t>None</a:t>
            </a:r>
            <a:r>
              <a:rPr lang="es-MX" dirty="0" smtClean="0"/>
              <a:t> of </a:t>
            </a:r>
            <a:r>
              <a:rPr lang="es-MX" dirty="0" err="1" smtClean="0"/>
              <a:t>them</a:t>
            </a:r>
            <a:r>
              <a:rPr lang="es-MX" dirty="0" smtClean="0"/>
              <a:t> are </a:t>
            </a:r>
            <a:r>
              <a:rPr lang="es-MX" dirty="0" err="1" smtClean="0"/>
              <a:t>nitrogen</a:t>
            </a:r>
            <a:r>
              <a:rPr lang="es-MX" dirty="0" smtClean="0"/>
              <a:t> </a:t>
            </a:r>
            <a:r>
              <a:rPr lang="es-MX" dirty="0" err="1" smtClean="0"/>
              <a:t>fixing</a:t>
            </a:r>
            <a:r>
              <a:rPr lang="es-MX" dirty="0" smtClean="0"/>
              <a:t> </a:t>
            </a:r>
            <a:r>
              <a:rPr lang="es-MX" dirty="0" err="1" smtClean="0"/>
              <a:t>species</a:t>
            </a:r>
            <a:r>
              <a:rPr lang="es-MX" dirty="0" smtClean="0"/>
              <a:t>.</a:t>
            </a:r>
          </a:p>
          <a:p>
            <a:r>
              <a:rPr lang="es-MX" dirty="0" err="1" smtClean="0"/>
              <a:t>How</a:t>
            </a:r>
            <a:r>
              <a:rPr lang="es-MX" dirty="0" smtClean="0"/>
              <a:t> to </a:t>
            </a:r>
            <a:r>
              <a:rPr lang="es-MX" dirty="0" err="1" smtClean="0"/>
              <a:t>interpret</a:t>
            </a:r>
            <a:r>
              <a:rPr lang="es-MX" dirty="0" smtClean="0"/>
              <a:t> </a:t>
            </a:r>
            <a:r>
              <a:rPr lang="es-MX" dirty="0" err="1" smtClean="0"/>
              <a:t>this</a:t>
            </a:r>
            <a:r>
              <a:rPr lang="es-MX" dirty="0" smtClean="0"/>
              <a:t> </a:t>
            </a:r>
            <a:r>
              <a:rPr lang="es-MX" dirty="0" err="1" smtClean="0"/>
              <a:t>one</a:t>
            </a:r>
            <a:r>
              <a:rPr lang="es-MX" dirty="0" smtClean="0"/>
              <a:t> </a:t>
            </a:r>
            <a:r>
              <a:rPr lang="es-MX" dirty="0" err="1" smtClean="0"/>
              <a:t>better</a:t>
            </a:r>
            <a:r>
              <a:rPr lang="es-MX" dirty="0" smtClean="0"/>
              <a:t>.</a:t>
            </a:r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953BC2-43C1-4767-ADF3-5E906A4AA83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9839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953BC2-43C1-4767-ADF3-5E906A4AA83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7660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 err="1" smtClean="0"/>
              <a:t>Pouteria</a:t>
            </a:r>
            <a:r>
              <a:rPr lang="es-MX" dirty="0" smtClean="0"/>
              <a:t> torta, </a:t>
            </a:r>
            <a:r>
              <a:rPr lang="es-MX" dirty="0" err="1" smtClean="0"/>
              <a:t>effect</a:t>
            </a:r>
            <a:r>
              <a:rPr lang="es-MX" dirty="0" smtClean="0"/>
              <a:t> of </a:t>
            </a:r>
            <a:r>
              <a:rPr lang="es-MX" dirty="0" err="1" smtClean="0"/>
              <a:t>the</a:t>
            </a:r>
            <a:r>
              <a:rPr lang="es-MX" dirty="0" smtClean="0"/>
              <a:t> N</a:t>
            </a:r>
            <a:r>
              <a:rPr lang="es-MX" baseline="0" dirty="0" smtClean="0"/>
              <a:t> and N*P </a:t>
            </a:r>
            <a:r>
              <a:rPr lang="es-MX" baseline="0" dirty="0" err="1" smtClean="0"/>
              <a:t>on</a:t>
            </a:r>
            <a:r>
              <a:rPr lang="es-MX" baseline="0" dirty="0" smtClean="0"/>
              <a:t> </a:t>
            </a:r>
            <a:r>
              <a:rPr lang="es-MX" baseline="0" dirty="0" err="1" smtClean="0"/>
              <a:t>iWUE</a:t>
            </a:r>
            <a:r>
              <a:rPr lang="es-MX" baseline="0" dirty="0" smtClean="0"/>
              <a:t>, and </a:t>
            </a:r>
            <a:r>
              <a:rPr lang="es-MX" baseline="0" dirty="0" err="1" smtClean="0"/>
              <a:t>effect</a:t>
            </a:r>
            <a:r>
              <a:rPr lang="es-MX" baseline="0" dirty="0" smtClean="0"/>
              <a:t> of P o d18O. </a:t>
            </a:r>
            <a:r>
              <a:rPr lang="es-MX" baseline="0" dirty="0" err="1" smtClean="0"/>
              <a:t>This</a:t>
            </a:r>
            <a:r>
              <a:rPr lang="es-MX" baseline="0" dirty="0" smtClean="0"/>
              <a:t> </a:t>
            </a:r>
            <a:r>
              <a:rPr lang="es-MX" baseline="0" dirty="0" err="1" smtClean="0"/>
              <a:t>is</a:t>
            </a:r>
            <a:r>
              <a:rPr lang="es-MX" baseline="0" dirty="0" smtClean="0"/>
              <a:t> </a:t>
            </a:r>
            <a:r>
              <a:rPr lang="es-MX" baseline="0" dirty="0" err="1" smtClean="0"/>
              <a:t>the</a:t>
            </a:r>
            <a:r>
              <a:rPr lang="es-MX" baseline="0" dirty="0" smtClean="0"/>
              <a:t> </a:t>
            </a:r>
            <a:r>
              <a:rPr lang="es-MX" baseline="0" dirty="0" err="1" smtClean="0"/>
              <a:t>only</a:t>
            </a:r>
            <a:r>
              <a:rPr lang="es-MX" baseline="0" dirty="0" smtClean="0"/>
              <a:t> </a:t>
            </a:r>
            <a:r>
              <a:rPr lang="es-MX" baseline="0" dirty="0" err="1" smtClean="0"/>
              <a:t>specie</a:t>
            </a:r>
            <a:r>
              <a:rPr lang="es-MX" baseline="0" dirty="0" smtClean="0"/>
              <a:t> </a:t>
            </a:r>
            <a:r>
              <a:rPr lang="es-MX" baseline="0" dirty="0" err="1" smtClean="0"/>
              <a:t>giving</a:t>
            </a:r>
            <a:r>
              <a:rPr lang="es-MX" baseline="0" dirty="0" smtClean="0"/>
              <a:t> a </a:t>
            </a:r>
            <a:r>
              <a:rPr lang="es-MX" baseline="0" dirty="0" err="1" smtClean="0"/>
              <a:t>statistical</a:t>
            </a:r>
            <a:r>
              <a:rPr lang="es-MX" baseline="0" dirty="0" smtClean="0"/>
              <a:t> </a:t>
            </a:r>
            <a:r>
              <a:rPr lang="es-MX" baseline="0" dirty="0" err="1" smtClean="0"/>
              <a:t>signal</a:t>
            </a:r>
            <a:r>
              <a:rPr lang="es-MX" baseline="0" dirty="0" smtClean="0"/>
              <a:t> response to </a:t>
            </a:r>
            <a:r>
              <a:rPr lang="es-MX" baseline="0" dirty="0" err="1" smtClean="0"/>
              <a:t>nutrient</a:t>
            </a:r>
            <a:r>
              <a:rPr lang="es-MX" baseline="0" dirty="0" smtClean="0"/>
              <a:t> </a:t>
            </a:r>
            <a:r>
              <a:rPr lang="es-MX" baseline="0" dirty="0" err="1" smtClean="0"/>
              <a:t>addition</a:t>
            </a:r>
            <a:r>
              <a:rPr lang="es-MX" baseline="0" dirty="0" smtClean="0"/>
              <a:t> </a:t>
            </a:r>
            <a:r>
              <a:rPr lang="es-MX" baseline="0" dirty="0" err="1" smtClean="0"/>
              <a:t>on</a:t>
            </a:r>
            <a:r>
              <a:rPr lang="es-MX" baseline="0" dirty="0" smtClean="0"/>
              <a:t> </a:t>
            </a:r>
            <a:r>
              <a:rPr lang="es-MX" baseline="0" dirty="0" err="1" smtClean="0"/>
              <a:t>iQUE</a:t>
            </a:r>
            <a:r>
              <a:rPr lang="es-MX" baseline="0" dirty="0" smtClean="0"/>
              <a:t>.</a:t>
            </a:r>
          </a:p>
          <a:p>
            <a:r>
              <a:rPr lang="es-MX" baseline="0" dirty="0" err="1" smtClean="0"/>
              <a:t>Alchornea</a:t>
            </a:r>
            <a:r>
              <a:rPr lang="es-MX" baseline="0" dirty="0" smtClean="0"/>
              <a:t>, </a:t>
            </a:r>
            <a:r>
              <a:rPr lang="es-MX" baseline="0" dirty="0" err="1" smtClean="0"/>
              <a:t>effect</a:t>
            </a:r>
            <a:r>
              <a:rPr lang="es-MX" baseline="0" dirty="0" smtClean="0"/>
              <a:t> of </a:t>
            </a:r>
            <a:r>
              <a:rPr lang="es-MX" baseline="0" dirty="0" err="1" smtClean="0"/>
              <a:t>the</a:t>
            </a:r>
            <a:r>
              <a:rPr lang="es-MX" baseline="0" dirty="0" smtClean="0"/>
              <a:t> N </a:t>
            </a:r>
            <a:r>
              <a:rPr lang="es-MX" baseline="0" dirty="0" err="1" smtClean="0"/>
              <a:t>on</a:t>
            </a:r>
            <a:r>
              <a:rPr lang="es-MX" baseline="0" dirty="0" smtClean="0"/>
              <a:t> d15N and C:N. </a:t>
            </a:r>
          </a:p>
          <a:p>
            <a:r>
              <a:rPr lang="es-MX" baseline="0" dirty="0" err="1" smtClean="0"/>
              <a:t>Myrcia</a:t>
            </a:r>
            <a:r>
              <a:rPr lang="es-MX" baseline="0" dirty="0" smtClean="0"/>
              <a:t>, </a:t>
            </a:r>
            <a:r>
              <a:rPr lang="es-MX" baseline="0" dirty="0" err="1" smtClean="0"/>
              <a:t>effect</a:t>
            </a:r>
            <a:r>
              <a:rPr lang="es-MX" baseline="0" dirty="0" smtClean="0"/>
              <a:t> of N </a:t>
            </a:r>
            <a:r>
              <a:rPr lang="es-MX" baseline="0" dirty="0" err="1" smtClean="0"/>
              <a:t>on</a:t>
            </a:r>
            <a:r>
              <a:rPr lang="es-MX" baseline="0" dirty="0" smtClean="0"/>
              <a:t> d18O, d15N, C:N</a:t>
            </a:r>
          </a:p>
          <a:p>
            <a:r>
              <a:rPr lang="es-MX" baseline="0" dirty="0" err="1" smtClean="0"/>
              <a:t>Hedyosmum</a:t>
            </a:r>
            <a:r>
              <a:rPr lang="es-MX" baseline="0" dirty="0" smtClean="0"/>
              <a:t>, </a:t>
            </a:r>
            <a:r>
              <a:rPr lang="es-MX" baseline="0" dirty="0" err="1" smtClean="0"/>
              <a:t>effect</a:t>
            </a:r>
            <a:r>
              <a:rPr lang="es-MX" baseline="0" dirty="0" smtClean="0"/>
              <a:t> of d15N and C:N. (+ p &lt;0.1)</a:t>
            </a:r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953BC2-43C1-4767-ADF3-5E906A4AA83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85413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 smtClean="0"/>
              <a:t>U </a:t>
            </a:r>
            <a:r>
              <a:rPr lang="es-MX" dirty="0" err="1" smtClean="0"/>
              <a:t>shaped</a:t>
            </a:r>
            <a:r>
              <a:rPr lang="es-MX" dirty="0" smtClean="0"/>
              <a:t>.</a:t>
            </a:r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953BC2-43C1-4767-ADF3-5E906A4AA839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241761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 err="1" smtClean="0"/>
              <a:t>Not</a:t>
            </a:r>
            <a:r>
              <a:rPr lang="es-MX" baseline="0" dirty="0" smtClean="0"/>
              <a:t> </a:t>
            </a:r>
            <a:r>
              <a:rPr lang="es-MX" baseline="0" dirty="0" err="1" smtClean="0"/>
              <a:t>sure</a:t>
            </a:r>
            <a:r>
              <a:rPr lang="es-MX" baseline="0" dirty="0" smtClean="0"/>
              <a:t> </a:t>
            </a:r>
            <a:r>
              <a:rPr lang="es-MX" baseline="0" dirty="0" err="1" smtClean="0"/>
              <a:t>how</a:t>
            </a:r>
            <a:r>
              <a:rPr lang="es-MX" baseline="0" dirty="0" smtClean="0"/>
              <a:t> to </a:t>
            </a:r>
            <a:r>
              <a:rPr lang="es-MX" baseline="0" dirty="0" err="1" smtClean="0"/>
              <a:t>model</a:t>
            </a:r>
            <a:r>
              <a:rPr lang="es-MX" baseline="0" dirty="0" smtClean="0"/>
              <a:t> </a:t>
            </a:r>
            <a:r>
              <a:rPr lang="es-MX" baseline="0" dirty="0" err="1" smtClean="0"/>
              <a:t>them</a:t>
            </a:r>
            <a:r>
              <a:rPr lang="es-MX" baseline="0" dirty="0" smtClean="0"/>
              <a:t>.</a:t>
            </a:r>
          </a:p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953BC2-43C1-4767-ADF3-5E906A4AA839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23790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 smtClean="0"/>
              <a:t>Con flecha errores</a:t>
            </a:r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953BC2-43C1-4767-ADF3-5E906A4AA839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28480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 smtClean="0"/>
              <a:t>Clear </a:t>
            </a:r>
            <a:r>
              <a:rPr lang="es-MX" dirty="0" err="1" smtClean="0"/>
              <a:t>differences</a:t>
            </a:r>
            <a:r>
              <a:rPr lang="es-MX" dirty="0" smtClean="0"/>
              <a:t> </a:t>
            </a:r>
            <a:r>
              <a:rPr lang="es-MX" dirty="0" err="1" smtClean="0"/>
              <a:t>between</a:t>
            </a:r>
            <a:r>
              <a:rPr lang="es-MX" dirty="0" smtClean="0"/>
              <a:t> </a:t>
            </a:r>
            <a:r>
              <a:rPr lang="es-MX" dirty="0" err="1" smtClean="0"/>
              <a:t>elevations</a:t>
            </a:r>
            <a:r>
              <a:rPr lang="es-MX" dirty="0" smtClean="0"/>
              <a:t>. </a:t>
            </a:r>
            <a:r>
              <a:rPr lang="es-MX" dirty="0" err="1" smtClean="0"/>
              <a:t>Higher</a:t>
            </a:r>
            <a:r>
              <a:rPr lang="es-MX" dirty="0" smtClean="0"/>
              <a:t> O18 </a:t>
            </a:r>
            <a:r>
              <a:rPr lang="es-MX" dirty="0" err="1" smtClean="0"/>
              <a:t>enrichment</a:t>
            </a:r>
            <a:r>
              <a:rPr lang="es-MX" dirty="0" smtClean="0"/>
              <a:t> in </a:t>
            </a:r>
            <a:r>
              <a:rPr lang="es-MX" dirty="0" err="1" smtClean="0"/>
              <a:t>the</a:t>
            </a:r>
            <a:r>
              <a:rPr lang="es-MX" dirty="0" smtClean="0"/>
              <a:t> </a:t>
            </a:r>
            <a:r>
              <a:rPr lang="es-MX" dirty="0" err="1" smtClean="0"/>
              <a:t>lowlands</a:t>
            </a:r>
            <a:r>
              <a:rPr lang="es-MX" dirty="0" smtClean="0"/>
              <a:t> and at 2000 m – </a:t>
            </a:r>
            <a:r>
              <a:rPr lang="es-MX" dirty="0" err="1" smtClean="0"/>
              <a:t>associated</a:t>
            </a:r>
            <a:r>
              <a:rPr lang="es-MX" dirty="0" smtClean="0"/>
              <a:t> </a:t>
            </a:r>
            <a:r>
              <a:rPr lang="es-MX" dirty="0" err="1" smtClean="0"/>
              <a:t>with</a:t>
            </a:r>
            <a:r>
              <a:rPr lang="es-MX" dirty="0" smtClean="0"/>
              <a:t> </a:t>
            </a:r>
            <a:r>
              <a:rPr lang="es-MX" dirty="0" err="1" smtClean="0"/>
              <a:t>higher</a:t>
            </a:r>
            <a:r>
              <a:rPr lang="es-MX" dirty="0" smtClean="0"/>
              <a:t> </a:t>
            </a:r>
            <a:r>
              <a:rPr lang="es-MX" dirty="0" err="1" smtClean="0"/>
              <a:t>transpiration</a:t>
            </a:r>
            <a:r>
              <a:rPr lang="es-MX" dirty="0" smtClean="0"/>
              <a:t>. </a:t>
            </a:r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953BC2-43C1-4767-ADF3-5E906A4AA839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097997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 err="1" smtClean="0"/>
              <a:t>Effects</a:t>
            </a:r>
            <a:r>
              <a:rPr lang="es-MX" baseline="0" dirty="0" smtClean="0"/>
              <a:t> of </a:t>
            </a:r>
            <a:r>
              <a:rPr lang="es-MX" baseline="0" dirty="0" err="1" smtClean="0"/>
              <a:t>treatment</a:t>
            </a:r>
            <a:r>
              <a:rPr lang="es-MX" baseline="0" dirty="0" smtClean="0"/>
              <a:t> in </a:t>
            </a:r>
            <a:r>
              <a:rPr lang="es-MX" baseline="0" dirty="0" err="1" smtClean="0"/>
              <a:t>Pouteria</a:t>
            </a:r>
            <a:r>
              <a:rPr lang="es-MX" baseline="0" dirty="0" smtClean="0"/>
              <a:t>, </a:t>
            </a:r>
            <a:r>
              <a:rPr lang="es-MX" baseline="0" dirty="0" err="1" smtClean="0"/>
              <a:t>Alchornea</a:t>
            </a:r>
            <a:r>
              <a:rPr lang="es-MX" baseline="0" dirty="0" smtClean="0"/>
              <a:t>, </a:t>
            </a:r>
            <a:r>
              <a:rPr lang="es-MX" baseline="0" dirty="0" err="1" smtClean="0"/>
              <a:t>Hedyosmum</a:t>
            </a:r>
            <a:r>
              <a:rPr lang="es-MX" baseline="0" dirty="0" smtClean="0"/>
              <a:t>. </a:t>
            </a:r>
            <a:r>
              <a:rPr lang="es-MX" baseline="0" dirty="0" err="1" smtClean="0"/>
              <a:t>Not</a:t>
            </a:r>
            <a:r>
              <a:rPr lang="es-MX" baseline="0" dirty="0" smtClean="0"/>
              <a:t> </a:t>
            </a:r>
            <a:r>
              <a:rPr lang="es-MX" baseline="0" dirty="0" err="1" smtClean="0"/>
              <a:t>sure</a:t>
            </a:r>
            <a:r>
              <a:rPr lang="es-MX" baseline="0" dirty="0" smtClean="0"/>
              <a:t> </a:t>
            </a:r>
            <a:r>
              <a:rPr lang="es-MX" baseline="0" dirty="0" err="1" smtClean="0"/>
              <a:t>if</a:t>
            </a:r>
            <a:r>
              <a:rPr lang="es-MX" baseline="0" dirty="0" smtClean="0"/>
              <a:t> </a:t>
            </a:r>
            <a:r>
              <a:rPr lang="es-MX" baseline="0" dirty="0" err="1" smtClean="0"/>
              <a:t>these</a:t>
            </a:r>
            <a:r>
              <a:rPr lang="es-MX" baseline="0" dirty="0" smtClean="0"/>
              <a:t> </a:t>
            </a:r>
            <a:r>
              <a:rPr lang="es-MX" baseline="0" dirty="0" err="1" smtClean="0"/>
              <a:t>graphics</a:t>
            </a:r>
            <a:r>
              <a:rPr lang="es-MX" baseline="0" dirty="0" smtClean="0"/>
              <a:t> are </a:t>
            </a:r>
            <a:r>
              <a:rPr lang="es-MX" baseline="0" dirty="0" err="1" smtClean="0"/>
              <a:t>actually</a:t>
            </a:r>
            <a:r>
              <a:rPr lang="es-MX" baseline="0" dirty="0" smtClean="0"/>
              <a:t> </a:t>
            </a:r>
            <a:r>
              <a:rPr lang="es-MX" baseline="0" dirty="0" err="1" smtClean="0"/>
              <a:t>useful</a:t>
            </a:r>
            <a:r>
              <a:rPr lang="es-MX" baseline="0" dirty="0" smtClean="0"/>
              <a:t>. </a:t>
            </a:r>
            <a:r>
              <a:rPr lang="es-MX" baseline="0" dirty="0" err="1" smtClean="0"/>
              <a:t>Dotted</a:t>
            </a:r>
            <a:r>
              <a:rPr lang="es-MX" baseline="0" dirty="0" smtClean="0"/>
              <a:t> </a:t>
            </a:r>
            <a:r>
              <a:rPr lang="es-MX" baseline="0" dirty="0" err="1" smtClean="0"/>
              <a:t>lines</a:t>
            </a:r>
            <a:r>
              <a:rPr lang="es-MX" baseline="0" dirty="0" smtClean="0"/>
              <a:t> are </a:t>
            </a:r>
            <a:r>
              <a:rPr lang="es-MX" baseline="0" dirty="0" err="1" smtClean="0"/>
              <a:t>the</a:t>
            </a:r>
            <a:r>
              <a:rPr lang="es-MX" baseline="0" dirty="0" smtClean="0"/>
              <a:t> </a:t>
            </a:r>
            <a:r>
              <a:rPr lang="es-MX" baseline="0" dirty="0" err="1" smtClean="0"/>
              <a:t>means</a:t>
            </a:r>
            <a:r>
              <a:rPr lang="es-MX" baseline="0" dirty="0" smtClean="0"/>
              <a:t> of </a:t>
            </a:r>
            <a:r>
              <a:rPr lang="es-MX" baseline="0" dirty="0" err="1" smtClean="0"/>
              <a:t>the</a:t>
            </a:r>
            <a:r>
              <a:rPr lang="es-MX" baseline="0" dirty="0" smtClean="0"/>
              <a:t> control. </a:t>
            </a:r>
            <a:r>
              <a:rPr lang="es-MX" baseline="0" dirty="0" err="1" smtClean="0"/>
              <a:t>Maybe</a:t>
            </a:r>
            <a:r>
              <a:rPr lang="es-MX" baseline="0" dirty="0" smtClean="0"/>
              <a:t> I </a:t>
            </a:r>
            <a:r>
              <a:rPr lang="es-MX" baseline="0" dirty="0" err="1" smtClean="0"/>
              <a:t>should</a:t>
            </a:r>
            <a:r>
              <a:rPr lang="es-MX" baseline="0" dirty="0" smtClean="0"/>
              <a:t> </a:t>
            </a:r>
            <a:r>
              <a:rPr lang="es-MX" baseline="0" dirty="0" err="1" smtClean="0"/>
              <a:t>plot</a:t>
            </a:r>
            <a:r>
              <a:rPr lang="es-MX" baseline="0" dirty="0" smtClean="0"/>
              <a:t> </a:t>
            </a:r>
            <a:r>
              <a:rPr lang="es-MX" baseline="0" dirty="0" err="1" smtClean="0"/>
              <a:t>the</a:t>
            </a:r>
            <a:r>
              <a:rPr lang="es-MX" baseline="0" dirty="0" smtClean="0"/>
              <a:t> center </a:t>
            </a:r>
            <a:r>
              <a:rPr lang="es-MX" baseline="0" dirty="0" err="1" smtClean="0"/>
              <a:t>instead</a:t>
            </a:r>
            <a:r>
              <a:rPr lang="es-MX" baseline="0" dirty="0" smtClean="0"/>
              <a:t>?</a:t>
            </a:r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953BC2-43C1-4767-ADF3-5E906A4AA839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9740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editar el estilo de subtítulo del patrón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CBFA1-BD22-4292-9851-D341668FFB9E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988EC-FB09-4E11-ADEE-111CC7D38E7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5068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CBFA1-BD22-4292-9851-D341668FFB9E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988EC-FB09-4E11-ADEE-111CC7D38E7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1425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CBFA1-BD22-4292-9851-D341668FFB9E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988EC-FB09-4E11-ADEE-111CC7D38E7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6900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CBFA1-BD22-4292-9851-D341668FFB9E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988EC-FB09-4E11-ADEE-111CC7D38E7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169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CBFA1-BD22-4292-9851-D341668FFB9E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988EC-FB09-4E11-ADEE-111CC7D38E7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80815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CBFA1-BD22-4292-9851-D341668FFB9E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988EC-FB09-4E11-ADEE-111CC7D38E7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3080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CBFA1-BD22-4292-9851-D341668FFB9E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988EC-FB09-4E11-ADEE-111CC7D38E7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3261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CBFA1-BD22-4292-9851-D341668FFB9E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988EC-FB09-4E11-ADEE-111CC7D38E7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2448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CBFA1-BD22-4292-9851-D341668FFB9E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988EC-FB09-4E11-ADEE-111CC7D38E7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3382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CBFA1-BD22-4292-9851-D341668FFB9E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988EC-FB09-4E11-ADEE-111CC7D38E7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0203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CBFA1-BD22-4292-9851-D341668FFB9E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988EC-FB09-4E11-ADEE-111CC7D38E7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02987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2CBFA1-BD22-4292-9851-D341668FFB9E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F988EC-FB09-4E11-ADEE-111CC7D38E7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2274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err="1" smtClean="0"/>
              <a:t>Chapter</a:t>
            </a:r>
            <a:r>
              <a:rPr lang="es-MX" dirty="0" smtClean="0"/>
              <a:t> 1: </a:t>
            </a:r>
            <a:r>
              <a:rPr lang="es-MX" dirty="0" err="1" smtClean="0"/>
              <a:t>iWUE</a:t>
            </a:r>
            <a:r>
              <a:rPr lang="es-MX" dirty="0" smtClean="0"/>
              <a:t> </a:t>
            </a:r>
            <a:r>
              <a:rPr lang="es-MX" dirty="0" err="1" smtClean="0"/>
              <a:t>variation</a:t>
            </a:r>
            <a:r>
              <a:rPr lang="es-MX" dirty="0" smtClean="0"/>
              <a:t> </a:t>
            </a:r>
            <a:r>
              <a:rPr lang="es-MX" dirty="0" err="1" smtClean="0"/>
              <a:t>between</a:t>
            </a:r>
            <a:r>
              <a:rPr lang="es-MX" dirty="0" smtClean="0"/>
              <a:t> </a:t>
            </a:r>
            <a:br>
              <a:rPr lang="es-MX" dirty="0" smtClean="0"/>
            </a:br>
            <a:r>
              <a:rPr lang="es-MX" dirty="0" smtClean="0"/>
              <a:t>NUMEX </a:t>
            </a:r>
            <a:r>
              <a:rPr lang="es-MX" dirty="0" err="1" smtClean="0"/>
              <a:t>experiment</a:t>
            </a:r>
            <a:r>
              <a:rPr lang="es-MX" dirty="0" smtClean="0"/>
              <a:t> </a:t>
            </a:r>
            <a:r>
              <a:rPr lang="es-MX" dirty="0" err="1" smtClean="0"/>
              <a:t>manipulation</a:t>
            </a:r>
            <a:endParaRPr lang="en-U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3074" name="Picture 2" descr="https://vhrz669.hrz.uni-marburg.de/tmf_respect/UserFiles/Image/RESPECT/studyarea/studyarea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641" y="1690688"/>
            <a:ext cx="6334990" cy="4987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/>
          <p:cNvSpPr txBox="1"/>
          <p:nvPr/>
        </p:nvSpPr>
        <p:spPr>
          <a:xfrm>
            <a:off x="7378262" y="2312276"/>
            <a:ext cx="387831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smtClean="0"/>
              <a:t>Ho: </a:t>
            </a:r>
            <a:r>
              <a:rPr lang="es-MX" dirty="0" err="1" smtClean="0"/>
              <a:t>Expected</a:t>
            </a:r>
            <a:r>
              <a:rPr lang="es-MX" dirty="0" smtClean="0"/>
              <a:t> </a:t>
            </a:r>
            <a:r>
              <a:rPr lang="es-MX" dirty="0" err="1" smtClean="0"/>
              <a:t>iWUE</a:t>
            </a:r>
            <a:r>
              <a:rPr lang="es-MX" dirty="0" smtClean="0"/>
              <a:t> </a:t>
            </a:r>
            <a:r>
              <a:rPr lang="es-MX" dirty="0" err="1" smtClean="0"/>
              <a:t>increase</a:t>
            </a:r>
            <a:r>
              <a:rPr lang="es-MX" dirty="0" smtClean="0"/>
              <a:t> in N </a:t>
            </a:r>
            <a:r>
              <a:rPr lang="es-MX" dirty="0" err="1" smtClean="0"/>
              <a:t>plots</a:t>
            </a:r>
            <a:r>
              <a:rPr lang="es-MX" dirty="0" smtClean="0"/>
              <a:t>. </a:t>
            </a:r>
          </a:p>
          <a:p>
            <a:endParaRPr lang="es-MX" dirty="0"/>
          </a:p>
          <a:p>
            <a:endParaRPr lang="es-MX" dirty="0" smtClean="0"/>
          </a:p>
          <a:p>
            <a:r>
              <a:rPr lang="es-MX" dirty="0" smtClean="0"/>
              <a:t>RQ: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 err="1" smtClean="0"/>
              <a:t>What</a:t>
            </a:r>
            <a:r>
              <a:rPr lang="es-MX" dirty="0" smtClean="0"/>
              <a:t> </a:t>
            </a:r>
            <a:r>
              <a:rPr lang="es-MX" dirty="0" err="1" smtClean="0"/>
              <a:t>is</a:t>
            </a:r>
            <a:r>
              <a:rPr lang="es-MX" dirty="0" smtClean="0"/>
              <a:t> </a:t>
            </a:r>
            <a:r>
              <a:rPr lang="es-MX" dirty="0" err="1" smtClean="0"/>
              <a:t>the</a:t>
            </a:r>
            <a:r>
              <a:rPr lang="es-MX" dirty="0" smtClean="0"/>
              <a:t> </a:t>
            </a:r>
            <a:r>
              <a:rPr lang="es-MX" dirty="0" err="1" smtClean="0"/>
              <a:t>effect</a:t>
            </a:r>
            <a:r>
              <a:rPr lang="es-MX" dirty="0" smtClean="0"/>
              <a:t> of </a:t>
            </a:r>
            <a:r>
              <a:rPr lang="es-MX" dirty="0" err="1" smtClean="0"/>
              <a:t>fertilization</a:t>
            </a:r>
            <a:r>
              <a:rPr lang="es-MX" dirty="0" smtClean="0"/>
              <a:t> </a:t>
            </a:r>
            <a:r>
              <a:rPr lang="es-MX" dirty="0" err="1" smtClean="0"/>
              <a:t>on</a:t>
            </a:r>
            <a:r>
              <a:rPr lang="es-MX" dirty="0" smtClean="0"/>
              <a:t> </a:t>
            </a:r>
            <a:r>
              <a:rPr lang="es-MX" dirty="0" err="1" smtClean="0"/>
              <a:t>iWUE</a:t>
            </a:r>
            <a:r>
              <a:rPr lang="es-MX" dirty="0" smtClean="0"/>
              <a:t> and </a:t>
            </a:r>
            <a:r>
              <a:rPr lang="es-MX" dirty="0" err="1" smtClean="0"/>
              <a:t>other</a:t>
            </a:r>
            <a:r>
              <a:rPr lang="es-MX" dirty="0" smtClean="0"/>
              <a:t> </a:t>
            </a:r>
            <a:r>
              <a:rPr lang="es-MX" dirty="0" err="1" smtClean="0"/>
              <a:t>physiological</a:t>
            </a:r>
            <a:r>
              <a:rPr lang="es-MX" dirty="0" smtClean="0"/>
              <a:t> </a:t>
            </a:r>
            <a:r>
              <a:rPr lang="es-MX" dirty="0" err="1" smtClean="0"/>
              <a:t>traits</a:t>
            </a:r>
            <a:r>
              <a:rPr lang="es-MX" dirty="0" smtClean="0"/>
              <a:t>?.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 err="1" smtClean="0"/>
              <a:t>What</a:t>
            </a:r>
            <a:r>
              <a:rPr lang="es-MX" dirty="0" smtClean="0"/>
              <a:t> are </a:t>
            </a:r>
            <a:r>
              <a:rPr lang="es-MX" dirty="0" err="1" smtClean="0"/>
              <a:t>the</a:t>
            </a:r>
            <a:r>
              <a:rPr lang="es-MX" dirty="0" smtClean="0"/>
              <a:t> </a:t>
            </a:r>
            <a:r>
              <a:rPr lang="es-MX" dirty="0" err="1" smtClean="0"/>
              <a:t>trends</a:t>
            </a:r>
            <a:r>
              <a:rPr lang="es-MX" dirty="0" smtClean="0"/>
              <a:t> </a:t>
            </a:r>
            <a:r>
              <a:rPr lang="es-MX" dirty="0" err="1" smtClean="0"/>
              <a:t>between</a:t>
            </a:r>
            <a:r>
              <a:rPr lang="es-MX" dirty="0" smtClean="0"/>
              <a:t> </a:t>
            </a:r>
            <a:r>
              <a:rPr lang="es-MX" dirty="0" err="1" smtClean="0"/>
              <a:t>elevation</a:t>
            </a:r>
            <a:r>
              <a:rPr lang="es-MX" dirty="0" smtClean="0"/>
              <a:t>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11254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RQ:</a:t>
            </a:r>
            <a:endParaRPr lang="en-U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s-MX" dirty="0" err="1" smtClean="0"/>
              <a:t>What</a:t>
            </a:r>
            <a:r>
              <a:rPr lang="es-MX" dirty="0" smtClean="0"/>
              <a:t> are </a:t>
            </a:r>
            <a:r>
              <a:rPr lang="es-MX" dirty="0" err="1" smtClean="0"/>
              <a:t>the</a:t>
            </a:r>
            <a:r>
              <a:rPr lang="es-MX" dirty="0" smtClean="0"/>
              <a:t> </a:t>
            </a:r>
            <a:r>
              <a:rPr lang="es-MX" dirty="0" err="1" smtClean="0"/>
              <a:t>differences</a:t>
            </a:r>
            <a:r>
              <a:rPr lang="es-MX" dirty="0" smtClean="0"/>
              <a:t> in </a:t>
            </a:r>
            <a:r>
              <a:rPr lang="es-MX" dirty="0" err="1" smtClean="0"/>
              <a:t>the</a:t>
            </a:r>
            <a:r>
              <a:rPr lang="es-MX" dirty="0" smtClean="0"/>
              <a:t> </a:t>
            </a:r>
            <a:r>
              <a:rPr lang="es-MX" dirty="0" err="1" smtClean="0"/>
              <a:t>ecophysiological</a:t>
            </a:r>
            <a:r>
              <a:rPr lang="es-MX" dirty="0" smtClean="0"/>
              <a:t> responses </a:t>
            </a:r>
            <a:r>
              <a:rPr lang="es-MX" dirty="0" err="1" smtClean="0"/>
              <a:t>between</a:t>
            </a:r>
            <a:r>
              <a:rPr lang="es-MX" dirty="0" smtClean="0"/>
              <a:t> </a:t>
            </a:r>
            <a:r>
              <a:rPr lang="es-MX" dirty="0" err="1" smtClean="0"/>
              <a:t>treatments</a:t>
            </a:r>
            <a:r>
              <a:rPr lang="es-MX" dirty="0" smtClean="0"/>
              <a:t>? </a:t>
            </a:r>
            <a:r>
              <a:rPr lang="es-MX" dirty="0" err="1" smtClean="0"/>
              <a:t>Effect</a:t>
            </a:r>
            <a:r>
              <a:rPr lang="es-MX" dirty="0" smtClean="0"/>
              <a:t> of </a:t>
            </a:r>
            <a:r>
              <a:rPr lang="es-MX" dirty="0" err="1" smtClean="0"/>
              <a:t>elevation</a:t>
            </a:r>
            <a:r>
              <a:rPr lang="es-MX" dirty="0" smtClean="0"/>
              <a:t>?</a:t>
            </a:r>
          </a:p>
          <a:p>
            <a:pPr marL="0" indent="0">
              <a:buNone/>
            </a:pPr>
            <a:endParaRPr lang="es-MX" dirty="0" smtClean="0"/>
          </a:p>
          <a:p>
            <a:pPr marL="0" indent="0">
              <a:buNone/>
            </a:pPr>
            <a:r>
              <a:rPr lang="es-MX" sz="4800" dirty="0" smtClean="0">
                <a:latin typeface="+mj-lt"/>
              </a:rPr>
              <a:t>Ho:</a:t>
            </a:r>
          </a:p>
          <a:p>
            <a:r>
              <a:rPr lang="es-MX" dirty="0" err="1" smtClean="0"/>
              <a:t>Nutrients</a:t>
            </a:r>
            <a:r>
              <a:rPr lang="es-MX" dirty="0" smtClean="0"/>
              <a:t> </a:t>
            </a:r>
            <a:r>
              <a:rPr lang="es-MX" dirty="0" err="1" smtClean="0"/>
              <a:t>will</a:t>
            </a:r>
            <a:r>
              <a:rPr lang="es-MX" dirty="0" smtClean="0"/>
              <a:t> </a:t>
            </a:r>
            <a:r>
              <a:rPr lang="es-MX" dirty="0" err="1" smtClean="0"/>
              <a:t>have</a:t>
            </a:r>
            <a:r>
              <a:rPr lang="es-MX" dirty="0" smtClean="0"/>
              <a:t> </a:t>
            </a:r>
            <a:r>
              <a:rPr lang="es-MX" dirty="0" err="1" smtClean="0"/>
              <a:t>an</a:t>
            </a:r>
            <a:r>
              <a:rPr lang="es-MX" dirty="0" smtClean="0"/>
              <a:t> </a:t>
            </a:r>
            <a:r>
              <a:rPr lang="es-MX" dirty="0" err="1" smtClean="0"/>
              <a:t>effect</a:t>
            </a:r>
            <a:r>
              <a:rPr lang="es-MX" dirty="0" smtClean="0"/>
              <a:t> </a:t>
            </a:r>
            <a:r>
              <a:rPr lang="es-MX" dirty="0" err="1" smtClean="0"/>
              <a:t>on</a:t>
            </a:r>
            <a:r>
              <a:rPr lang="es-MX" dirty="0" smtClean="0"/>
              <a:t> </a:t>
            </a:r>
            <a:r>
              <a:rPr lang="es-MX" dirty="0" err="1" smtClean="0"/>
              <a:t>ecophysiological</a:t>
            </a:r>
            <a:r>
              <a:rPr lang="es-MX" dirty="0" smtClean="0"/>
              <a:t> responses.</a:t>
            </a:r>
          </a:p>
          <a:p>
            <a:pPr marL="0" indent="0" algn="just">
              <a:buNone/>
            </a:pPr>
            <a:r>
              <a:rPr lang="es-MX" dirty="0" smtClean="0"/>
              <a:t>- </a:t>
            </a:r>
            <a:r>
              <a:rPr lang="es-MX" dirty="0" err="1" smtClean="0"/>
              <a:t>Increase</a:t>
            </a:r>
            <a:r>
              <a:rPr lang="es-MX" dirty="0" smtClean="0"/>
              <a:t> of WUE </a:t>
            </a:r>
            <a:r>
              <a:rPr lang="es-MX" dirty="0" err="1" smtClean="0"/>
              <a:t>by</a:t>
            </a:r>
            <a:r>
              <a:rPr lang="es-MX" dirty="0" smtClean="0"/>
              <a:t> </a:t>
            </a:r>
            <a:r>
              <a:rPr lang="es-MX" dirty="0" err="1" smtClean="0"/>
              <a:t>enhacement</a:t>
            </a:r>
            <a:r>
              <a:rPr lang="es-MX" dirty="0" smtClean="0"/>
              <a:t> of </a:t>
            </a:r>
            <a:r>
              <a:rPr lang="es-MX" dirty="0" err="1" smtClean="0"/>
              <a:t>photosynthesis</a:t>
            </a:r>
            <a:r>
              <a:rPr lang="es-MX" dirty="0" smtClean="0"/>
              <a:t>.</a:t>
            </a:r>
          </a:p>
          <a:p>
            <a:pPr marL="0" indent="0" algn="just">
              <a:buNone/>
            </a:pPr>
            <a:r>
              <a:rPr lang="es-MX" dirty="0" smtClean="0"/>
              <a:t>- </a:t>
            </a:r>
            <a:r>
              <a:rPr lang="es-MX" dirty="0" err="1" smtClean="0"/>
              <a:t>Increase</a:t>
            </a:r>
            <a:r>
              <a:rPr lang="es-MX" dirty="0" smtClean="0"/>
              <a:t> of </a:t>
            </a:r>
            <a:r>
              <a:rPr lang="es-MX" dirty="0" err="1" smtClean="0"/>
              <a:t>water</a:t>
            </a:r>
            <a:r>
              <a:rPr lang="es-MX" dirty="0" smtClean="0"/>
              <a:t> </a:t>
            </a:r>
            <a:r>
              <a:rPr lang="es-MX" dirty="0" err="1" smtClean="0"/>
              <a:t>transpiration</a:t>
            </a:r>
            <a:r>
              <a:rPr lang="es-MX" dirty="0" smtClean="0"/>
              <a:t> </a:t>
            </a:r>
            <a:r>
              <a:rPr lang="es-MX" dirty="0" err="1" smtClean="0"/>
              <a:t>with</a:t>
            </a:r>
            <a:r>
              <a:rPr lang="es-MX" dirty="0" smtClean="0"/>
              <a:t> N </a:t>
            </a:r>
            <a:r>
              <a:rPr lang="en-US" dirty="0"/>
              <a:t>→</a:t>
            </a:r>
            <a:r>
              <a:rPr lang="es-MX" dirty="0" smtClean="0"/>
              <a:t> more </a:t>
            </a:r>
            <a:r>
              <a:rPr lang="es-MX" dirty="0" err="1" smtClean="0"/>
              <a:t>enrichment</a:t>
            </a:r>
            <a:r>
              <a:rPr lang="es-MX" dirty="0"/>
              <a:t> </a:t>
            </a:r>
            <a:r>
              <a:rPr lang="es-MX" dirty="0" smtClean="0"/>
              <a:t>of dO18.</a:t>
            </a:r>
          </a:p>
          <a:p>
            <a:pPr marL="0" indent="0" algn="just">
              <a:buNone/>
            </a:pPr>
            <a:r>
              <a:rPr lang="es-MX" dirty="0" smtClean="0"/>
              <a:t>- </a:t>
            </a:r>
            <a:r>
              <a:rPr lang="es-MX" dirty="0" err="1" smtClean="0"/>
              <a:t>Interaction</a:t>
            </a:r>
            <a:r>
              <a:rPr lang="es-MX" dirty="0" smtClean="0"/>
              <a:t> of </a:t>
            </a:r>
            <a:r>
              <a:rPr lang="es-MX" dirty="0" err="1" smtClean="0"/>
              <a:t>nutrients</a:t>
            </a:r>
            <a:r>
              <a:rPr lang="es-MX" dirty="0"/>
              <a:t> </a:t>
            </a:r>
            <a:r>
              <a:rPr lang="es-MX" dirty="0" smtClean="0"/>
              <a:t>N*P </a:t>
            </a:r>
            <a:r>
              <a:rPr lang="es-MX" dirty="0" err="1" smtClean="0"/>
              <a:t>will</a:t>
            </a:r>
            <a:r>
              <a:rPr lang="es-MX" dirty="0" smtClean="0"/>
              <a:t> posible lead to </a:t>
            </a:r>
            <a:r>
              <a:rPr lang="es-MX" dirty="0" err="1" smtClean="0"/>
              <a:t>increase</a:t>
            </a:r>
            <a:r>
              <a:rPr lang="es-MX" dirty="0" smtClean="0"/>
              <a:t>/</a:t>
            </a:r>
            <a:r>
              <a:rPr lang="es-MX" dirty="0" err="1" smtClean="0"/>
              <a:t>decreases</a:t>
            </a:r>
            <a:r>
              <a:rPr lang="es-MX" dirty="0" smtClean="0"/>
              <a:t> of </a:t>
            </a:r>
            <a:r>
              <a:rPr lang="es-MX" dirty="0" err="1" smtClean="0"/>
              <a:t>iWUE</a:t>
            </a:r>
            <a:r>
              <a:rPr lang="es-MX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60020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Marcador de contenido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84568093"/>
              </p:ext>
            </p:extLst>
          </p:nvPr>
        </p:nvGraphicFramePr>
        <p:xfrm>
          <a:off x="130627" y="104503"/>
          <a:ext cx="11704322" cy="627017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023994">
                  <a:extLst>
                    <a:ext uri="{9D8B030D-6E8A-4147-A177-3AD203B41FA5}">
                      <a16:colId xmlns:a16="http://schemas.microsoft.com/office/drawing/2014/main" val="2141527110"/>
                    </a:ext>
                  </a:extLst>
                </a:gridCol>
                <a:gridCol w="1639613">
                  <a:extLst>
                    <a:ext uri="{9D8B030D-6E8A-4147-A177-3AD203B41FA5}">
                      <a16:colId xmlns:a16="http://schemas.microsoft.com/office/drawing/2014/main" val="1715079267"/>
                    </a:ext>
                  </a:extLst>
                </a:gridCol>
                <a:gridCol w="1502980">
                  <a:extLst>
                    <a:ext uri="{9D8B030D-6E8A-4147-A177-3AD203B41FA5}">
                      <a16:colId xmlns:a16="http://schemas.microsoft.com/office/drawing/2014/main" val="3874508906"/>
                    </a:ext>
                  </a:extLst>
                </a:gridCol>
                <a:gridCol w="3585529">
                  <a:extLst>
                    <a:ext uri="{9D8B030D-6E8A-4147-A177-3AD203B41FA5}">
                      <a16:colId xmlns:a16="http://schemas.microsoft.com/office/drawing/2014/main" val="3618229275"/>
                    </a:ext>
                  </a:extLst>
                </a:gridCol>
                <a:gridCol w="2952206">
                  <a:extLst>
                    <a:ext uri="{9D8B030D-6E8A-4147-A177-3AD203B41FA5}">
                      <a16:colId xmlns:a16="http://schemas.microsoft.com/office/drawing/2014/main" val="1325441615"/>
                    </a:ext>
                  </a:extLst>
                </a:gridCol>
              </a:tblGrid>
              <a:tr h="672517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2000">
                          <a:effectLst/>
                        </a:rPr>
                        <a:t>Site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Elevation (m.s.n.m)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2000">
                          <a:effectLst/>
                        </a:rPr>
                        <a:t>N° Plots 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2000" dirty="0" err="1">
                          <a:effectLst/>
                        </a:rPr>
                        <a:t>Individuals</a:t>
                      </a:r>
                      <a:r>
                        <a:rPr lang="es-MX" sz="2000" dirty="0">
                          <a:effectLst/>
                        </a:rPr>
                        <a:t> per </a:t>
                      </a:r>
                      <a:r>
                        <a:rPr lang="es-MX" sz="2000" dirty="0" err="1">
                          <a:effectLst/>
                        </a:rPr>
                        <a:t>plot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2000" dirty="0">
                          <a:effectLst/>
                        </a:rPr>
                        <a:t>Status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84099819"/>
                  </a:ext>
                </a:extLst>
              </a:tr>
              <a:tr h="2063501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effectLst/>
                        </a:rPr>
                        <a:t>Cajanuma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3000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 smtClean="0">
                          <a:effectLst/>
                        </a:rPr>
                        <a:t>16</a:t>
                      </a: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20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2024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Between 7-10 per experimental </a:t>
                      </a:r>
                      <a:r>
                        <a:rPr lang="en-US" sz="2000" dirty="0" smtClean="0">
                          <a:effectLst/>
                        </a:rPr>
                        <a:t>group </a:t>
                      </a: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s-MX" sz="2000" dirty="0" smtClean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2000" i="1" baseline="0" dirty="0" err="1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Pouteria</a:t>
                      </a:r>
                      <a:r>
                        <a:rPr lang="es-MX" sz="2000" i="1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torta </a:t>
                      </a: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2000" i="1" baseline="0" dirty="0" err="1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Clarisia</a:t>
                      </a:r>
                      <a:r>
                        <a:rPr lang="es-MX" sz="2000" i="1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s-MX" sz="2000" i="1" baseline="0" dirty="0" err="1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racemosa</a:t>
                      </a:r>
                      <a:endParaRPr lang="en-US" sz="2000" i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2000" dirty="0" smtClean="0">
                          <a:solidFill>
                            <a:schemeClr val="accent6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SLA,</a:t>
                      </a:r>
                      <a:r>
                        <a:rPr lang="es-MX" sz="2000" baseline="0" dirty="0" smtClean="0">
                          <a:solidFill>
                            <a:schemeClr val="accent6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s-MX" sz="2000" baseline="0" dirty="0" err="1" smtClean="0">
                          <a:solidFill>
                            <a:schemeClr val="accent6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thickness</a:t>
                      </a:r>
                      <a:r>
                        <a:rPr lang="es-MX" sz="2000" baseline="0" dirty="0" smtClean="0">
                          <a:solidFill>
                            <a:schemeClr val="accent6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punch </a:t>
                      </a:r>
                      <a:r>
                        <a:rPr lang="es-MX" sz="2000" baseline="0" dirty="0" err="1" smtClean="0">
                          <a:solidFill>
                            <a:schemeClr val="accent6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resistance</a:t>
                      </a:r>
                      <a:r>
                        <a:rPr lang="es-MX" sz="2000" b="1" baseline="0" dirty="0" smtClean="0">
                          <a:solidFill>
                            <a:schemeClr val="accent6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C:N, 15N, 13C, 18O</a:t>
                      </a:r>
                      <a:r>
                        <a:rPr lang="es-MX" sz="2000" baseline="0" dirty="0" smtClean="0">
                          <a:solidFill>
                            <a:schemeClr val="accent6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s-MX" sz="2000" baseline="0" dirty="0" err="1" smtClean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nutrients</a:t>
                      </a:r>
                      <a:r>
                        <a:rPr lang="es-MX" sz="2000" baseline="0" dirty="0" smtClean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– pack to </a:t>
                      </a:r>
                      <a:r>
                        <a:rPr lang="es-MX" sz="2000" baseline="0" dirty="0" err="1" smtClean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send</a:t>
                      </a:r>
                      <a:r>
                        <a:rPr lang="es-MX" sz="2000" baseline="0" dirty="0" smtClean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s-MX" sz="2000" baseline="0" dirty="0" err="1" smtClean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Jürgen</a:t>
                      </a:r>
                      <a:endParaRPr lang="en-US" sz="20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82937422"/>
                  </a:ext>
                </a:extLst>
              </a:tr>
              <a:tr h="1175865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20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San Francisco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20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2000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20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16</a:t>
                      </a: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20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2023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 smtClean="0">
                          <a:effectLst/>
                        </a:rPr>
                        <a:t>Between 10 per experimental group</a:t>
                      </a: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2000" i="1" dirty="0" err="1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Myrcia</a:t>
                      </a:r>
                      <a:r>
                        <a:rPr lang="es-MX" sz="2000" i="1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y </a:t>
                      </a:r>
                      <a:r>
                        <a:rPr lang="es-MX" sz="2000" i="1" baseline="0" dirty="0" err="1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Alchornea</a:t>
                      </a:r>
                      <a:endParaRPr lang="es-MX" sz="2000" i="1" dirty="0" smtClean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2000" b="1" baseline="0" dirty="0" smtClean="0">
                          <a:solidFill>
                            <a:schemeClr val="accent6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C:N, 15N, 13C, 18º, </a:t>
                      </a:r>
                      <a:r>
                        <a:rPr lang="es-MX" sz="2000" b="1" baseline="0" dirty="0" err="1" smtClean="0">
                          <a:solidFill>
                            <a:schemeClr val="accent6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dry</a:t>
                      </a:r>
                      <a:r>
                        <a:rPr lang="es-MX" sz="2000" b="1" baseline="0" dirty="0" smtClean="0">
                          <a:solidFill>
                            <a:schemeClr val="accent6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s-MX" sz="2000" b="1" baseline="0" dirty="0" err="1" smtClean="0">
                          <a:solidFill>
                            <a:schemeClr val="accent6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matter</a:t>
                      </a:r>
                      <a:r>
                        <a:rPr lang="es-MX" sz="2000" b="1" baseline="0" dirty="0" smtClean="0">
                          <a:solidFill>
                            <a:schemeClr val="accent6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</a:t>
                      </a: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2000" b="1" i="1" dirty="0" err="1" smtClean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Missing</a:t>
                      </a:r>
                      <a:r>
                        <a:rPr lang="es-MX" sz="2000" b="1" i="1" dirty="0" smtClean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s-MX" sz="2000" b="1" i="1" dirty="0" err="1" smtClean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leaf</a:t>
                      </a:r>
                      <a:r>
                        <a:rPr lang="es-MX" sz="2000" b="1" i="1" dirty="0" smtClean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s-MX" sz="2000" b="1" i="1" dirty="0" err="1" smtClean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areas</a:t>
                      </a:r>
                      <a:r>
                        <a:rPr lang="es-MX" sz="2000" b="1" i="1" dirty="0" smtClean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and SLA</a:t>
                      </a:r>
                      <a:endParaRPr lang="en-US" sz="2000" b="1" i="1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3087911"/>
                  </a:ext>
                </a:extLst>
              </a:tr>
              <a:tr h="2358287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Bombuscaro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1</a:t>
                      </a:r>
                      <a:r>
                        <a:rPr lang="en-US" sz="2000" dirty="0" smtClean="0">
                          <a:effectLst/>
                        </a:rPr>
                        <a:t>000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 smtClean="0">
                          <a:effectLst/>
                        </a:rPr>
                        <a:t>16</a:t>
                      </a: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20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2024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Between 7-10 per experimental </a:t>
                      </a:r>
                      <a:r>
                        <a:rPr lang="en-US" sz="2000" dirty="0" smtClean="0">
                          <a:effectLst/>
                        </a:rPr>
                        <a:t>group</a:t>
                      </a: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s-MX" sz="2000" dirty="0" smtClean="0">
                        <a:effectLst/>
                      </a:endParaRP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2000" dirty="0" err="1" smtClean="0">
                          <a:effectLst/>
                        </a:rPr>
                        <a:t>Weinmania</a:t>
                      </a:r>
                      <a:r>
                        <a:rPr lang="es-MX" sz="2000" dirty="0" smtClean="0">
                          <a:effectLst/>
                        </a:rPr>
                        <a:t> </a:t>
                      </a:r>
                      <a:r>
                        <a:rPr lang="es-MX" sz="2000" baseline="0" dirty="0" smtClean="0">
                          <a:effectLst/>
                        </a:rPr>
                        <a:t>= </a:t>
                      </a:r>
                      <a:endParaRPr lang="es-MX" sz="2000" dirty="0" smtClean="0">
                        <a:effectLst/>
                      </a:endParaRP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2000" dirty="0" err="1" smtClean="0">
                          <a:effectLst/>
                        </a:rPr>
                        <a:t>Hedyosmum</a:t>
                      </a:r>
                      <a:r>
                        <a:rPr lang="es-MX" sz="2000" dirty="0" smtClean="0">
                          <a:effectLst/>
                        </a:rPr>
                        <a:t>  </a:t>
                      </a:r>
                      <a:r>
                        <a:rPr lang="es-MX" sz="2000" dirty="0" err="1" smtClean="0">
                          <a:effectLst/>
                        </a:rPr>
                        <a:t>purpurascens</a:t>
                      </a:r>
                      <a:r>
                        <a:rPr lang="es-MX" sz="2000" dirty="0" smtClean="0">
                          <a:effectLst/>
                        </a:rPr>
                        <a:t> = </a:t>
                      </a:r>
                      <a:endParaRPr lang="en-US" sz="2000" dirty="0" smtClean="0">
                        <a:effectLst/>
                      </a:endParaRP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2000" dirty="0" smtClean="0">
                          <a:solidFill>
                            <a:schemeClr val="accent6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SLA,</a:t>
                      </a:r>
                      <a:r>
                        <a:rPr lang="es-MX" sz="2000" baseline="0" dirty="0" smtClean="0">
                          <a:solidFill>
                            <a:schemeClr val="accent6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s-MX" sz="2000" baseline="0" dirty="0" err="1" smtClean="0">
                          <a:solidFill>
                            <a:schemeClr val="accent6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thickness</a:t>
                      </a:r>
                      <a:r>
                        <a:rPr lang="es-MX" sz="2000" baseline="0" dirty="0" smtClean="0">
                          <a:solidFill>
                            <a:schemeClr val="accent6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punch </a:t>
                      </a:r>
                      <a:r>
                        <a:rPr lang="es-MX" sz="2000" baseline="0" dirty="0" err="1" smtClean="0">
                          <a:solidFill>
                            <a:schemeClr val="accent6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resistance</a:t>
                      </a:r>
                      <a:r>
                        <a:rPr lang="es-MX" sz="2000" b="1" baseline="0" dirty="0" smtClean="0">
                          <a:solidFill>
                            <a:schemeClr val="accent6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s-MX" sz="2000" b="1" baseline="0" dirty="0" err="1" smtClean="0">
                          <a:solidFill>
                            <a:schemeClr val="accent6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dry</a:t>
                      </a:r>
                      <a:r>
                        <a:rPr lang="es-MX" sz="2000" b="1" baseline="0" dirty="0" smtClean="0">
                          <a:solidFill>
                            <a:schemeClr val="accent6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s-MX" sz="2000" b="1" baseline="0" dirty="0" err="1" smtClean="0">
                          <a:solidFill>
                            <a:schemeClr val="accent6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matter</a:t>
                      </a:r>
                      <a:r>
                        <a:rPr lang="es-MX" sz="2000" b="1" baseline="0" dirty="0" smtClean="0">
                          <a:solidFill>
                            <a:schemeClr val="accent6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C:N, 15N, 13C, 18O</a:t>
                      </a:r>
                      <a:r>
                        <a:rPr lang="es-MX" sz="20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s-MX" sz="2000" baseline="0" dirty="0" err="1" smtClean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nutrients</a:t>
                      </a:r>
                      <a:r>
                        <a:rPr lang="es-MX" sz="2000" baseline="0" dirty="0" smtClean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– pack to </a:t>
                      </a:r>
                      <a:r>
                        <a:rPr lang="es-MX" sz="2000" baseline="0" dirty="0" err="1" smtClean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send</a:t>
                      </a:r>
                      <a:r>
                        <a:rPr lang="es-MX" sz="2000" baseline="0" dirty="0" smtClean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s-MX" sz="2000" baseline="0" dirty="0" err="1" smtClean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Jürgen</a:t>
                      </a:r>
                      <a:endParaRPr lang="en-US" sz="2000" dirty="0" smtClean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18278351"/>
                  </a:ext>
                </a:extLst>
              </a:tr>
            </a:tbl>
          </a:graphicData>
        </a:graphic>
      </p:graphicFrame>
      <p:sp>
        <p:nvSpPr>
          <p:cNvPr id="3" name="Rectángulo 2"/>
          <p:cNvSpPr/>
          <p:nvPr/>
        </p:nvSpPr>
        <p:spPr>
          <a:xfrm>
            <a:off x="436729" y="5108341"/>
            <a:ext cx="3857297" cy="1040524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 smtClean="0"/>
              <a:t>I </a:t>
            </a:r>
            <a:r>
              <a:rPr lang="es-MX" dirty="0" err="1" smtClean="0"/>
              <a:t>processed</a:t>
            </a:r>
            <a:r>
              <a:rPr lang="es-MX" dirty="0" smtClean="0"/>
              <a:t> </a:t>
            </a:r>
            <a:r>
              <a:rPr lang="es-MX" dirty="0" err="1" smtClean="0"/>
              <a:t>samples</a:t>
            </a:r>
            <a:r>
              <a:rPr lang="es-MX" dirty="0" smtClean="0"/>
              <a:t> </a:t>
            </a:r>
            <a:r>
              <a:rPr lang="es-MX" dirty="0" err="1" smtClean="0"/>
              <a:t>from</a:t>
            </a:r>
            <a:r>
              <a:rPr lang="es-MX" dirty="0" smtClean="0"/>
              <a:t> 2009 </a:t>
            </a:r>
            <a:r>
              <a:rPr lang="es-MX" dirty="0" err="1" smtClean="0"/>
              <a:t>too</a:t>
            </a:r>
            <a:r>
              <a:rPr lang="es-MX" dirty="0" smtClean="0"/>
              <a:t>, </a:t>
            </a:r>
            <a:r>
              <a:rPr lang="es-MX" dirty="0" err="1" smtClean="0"/>
              <a:t>but</a:t>
            </a:r>
            <a:r>
              <a:rPr lang="es-MX" dirty="0" smtClean="0"/>
              <a:t> </a:t>
            </a:r>
            <a:r>
              <a:rPr lang="es-MX" dirty="0" err="1" smtClean="0"/>
              <a:t>only</a:t>
            </a:r>
            <a:r>
              <a:rPr lang="es-MX" dirty="0" smtClean="0"/>
              <a:t> </a:t>
            </a:r>
            <a:r>
              <a:rPr lang="es-MX" dirty="0" err="1" smtClean="0"/>
              <a:t>the</a:t>
            </a:r>
            <a:r>
              <a:rPr lang="es-MX" dirty="0" smtClean="0"/>
              <a:t> </a:t>
            </a:r>
            <a:r>
              <a:rPr lang="es-MX" dirty="0" err="1" smtClean="0"/>
              <a:t>controls</a:t>
            </a:r>
            <a:r>
              <a:rPr lang="es-MX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47356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Marcador de contenido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51090151"/>
              </p:ext>
            </p:extLst>
          </p:nvPr>
        </p:nvGraphicFramePr>
        <p:xfrm>
          <a:off x="1229678" y="1021073"/>
          <a:ext cx="9732643" cy="5613519"/>
        </p:xfrm>
        <a:graphic>
          <a:graphicData uri="http://schemas.openxmlformats.org/drawingml/2006/table">
            <a:tbl>
              <a:tblPr>
                <a:tableStyleId>{8EC20E35-A176-4012-BC5E-935CFFF8708E}</a:tableStyleId>
              </a:tblPr>
              <a:tblGrid>
                <a:gridCol w="1693507">
                  <a:extLst>
                    <a:ext uri="{9D8B030D-6E8A-4147-A177-3AD203B41FA5}">
                      <a16:colId xmlns:a16="http://schemas.microsoft.com/office/drawing/2014/main" val="17417421"/>
                    </a:ext>
                  </a:extLst>
                </a:gridCol>
                <a:gridCol w="669928">
                  <a:extLst>
                    <a:ext uri="{9D8B030D-6E8A-4147-A177-3AD203B41FA5}">
                      <a16:colId xmlns:a16="http://schemas.microsoft.com/office/drawing/2014/main" val="3571363669"/>
                    </a:ext>
                  </a:extLst>
                </a:gridCol>
                <a:gridCol w="669928">
                  <a:extLst>
                    <a:ext uri="{9D8B030D-6E8A-4147-A177-3AD203B41FA5}">
                      <a16:colId xmlns:a16="http://schemas.microsoft.com/office/drawing/2014/main" val="1604352394"/>
                    </a:ext>
                  </a:extLst>
                </a:gridCol>
                <a:gridCol w="669928">
                  <a:extLst>
                    <a:ext uri="{9D8B030D-6E8A-4147-A177-3AD203B41FA5}">
                      <a16:colId xmlns:a16="http://schemas.microsoft.com/office/drawing/2014/main" val="3746265573"/>
                    </a:ext>
                  </a:extLst>
                </a:gridCol>
                <a:gridCol w="669928">
                  <a:extLst>
                    <a:ext uri="{9D8B030D-6E8A-4147-A177-3AD203B41FA5}">
                      <a16:colId xmlns:a16="http://schemas.microsoft.com/office/drawing/2014/main" val="3384861894"/>
                    </a:ext>
                  </a:extLst>
                </a:gridCol>
                <a:gridCol w="669928">
                  <a:extLst>
                    <a:ext uri="{9D8B030D-6E8A-4147-A177-3AD203B41FA5}">
                      <a16:colId xmlns:a16="http://schemas.microsoft.com/office/drawing/2014/main" val="167853604"/>
                    </a:ext>
                  </a:extLst>
                </a:gridCol>
                <a:gridCol w="669928">
                  <a:extLst>
                    <a:ext uri="{9D8B030D-6E8A-4147-A177-3AD203B41FA5}">
                      <a16:colId xmlns:a16="http://schemas.microsoft.com/office/drawing/2014/main" val="288811621"/>
                    </a:ext>
                  </a:extLst>
                </a:gridCol>
                <a:gridCol w="669928">
                  <a:extLst>
                    <a:ext uri="{9D8B030D-6E8A-4147-A177-3AD203B41FA5}">
                      <a16:colId xmlns:a16="http://schemas.microsoft.com/office/drawing/2014/main" val="4225616419"/>
                    </a:ext>
                  </a:extLst>
                </a:gridCol>
                <a:gridCol w="669928">
                  <a:extLst>
                    <a:ext uri="{9D8B030D-6E8A-4147-A177-3AD203B41FA5}">
                      <a16:colId xmlns:a16="http://schemas.microsoft.com/office/drawing/2014/main" val="669438515"/>
                    </a:ext>
                  </a:extLst>
                </a:gridCol>
                <a:gridCol w="669928">
                  <a:extLst>
                    <a:ext uri="{9D8B030D-6E8A-4147-A177-3AD203B41FA5}">
                      <a16:colId xmlns:a16="http://schemas.microsoft.com/office/drawing/2014/main" val="3658029091"/>
                    </a:ext>
                  </a:extLst>
                </a:gridCol>
                <a:gridCol w="669928">
                  <a:extLst>
                    <a:ext uri="{9D8B030D-6E8A-4147-A177-3AD203B41FA5}">
                      <a16:colId xmlns:a16="http://schemas.microsoft.com/office/drawing/2014/main" val="1524687315"/>
                    </a:ext>
                  </a:extLst>
                </a:gridCol>
                <a:gridCol w="669928">
                  <a:extLst>
                    <a:ext uri="{9D8B030D-6E8A-4147-A177-3AD203B41FA5}">
                      <a16:colId xmlns:a16="http://schemas.microsoft.com/office/drawing/2014/main" val="1810213277"/>
                    </a:ext>
                  </a:extLst>
                </a:gridCol>
                <a:gridCol w="669928">
                  <a:extLst>
                    <a:ext uri="{9D8B030D-6E8A-4147-A177-3AD203B41FA5}">
                      <a16:colId xmlns:a16="http://schemas.microsoft.com/office/drawing/2014/main" val="3105762151"/>
                    </a:ext>
                  </a:extLst>
                </a:gridCol>
              </a:tblGrid>
              <a:tr h="374493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u="none" strike="noStrike">
                          <a:effectLst/>
                        </a:rPr>
                        <a:t> 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u="none" strike="noStrike" dirty="0">
                          <a:effectLst/>
                        </a:rPr>
                        <a:t> </a:t>
                      </a:r>
                      <a:r>
                        <a:rPr lang="en-US" sz="1200" b="1" u="none" strike="noStrike" dirty="0" smtClean="0">
                          <a:effectLst/>
                        </a:rPr>
                        <a:t>n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/>
                </a:tc>
                <a:tc gridSpan="2">
                  <a:txBody>
                    <a:bodyPr/>
                    <a:lstStyle/>
                    <a:p>
                      <a:pPr algn="ctr" fontAlgn="t"/>
                      <a:r>
                        <a:rPr lang="el-GR" sz="1200" b="1" u="none" strike="noStrike" dirty="0">
                          <a:effectLst/>
                        </a:rPr>
                        <a:t>δ15</a:t>
                      </a:r>
                      <a:r>
                        <a:rPr lang="en-US" sz="1200" b="1" u="none" strike="noStrike" dirty="0">
                          <a:effectLst/>
                        </a:rPr>
                        <a:t>N (‰ </a:t>
                      </a:r>
                      <a:r>
                        <a:rPr lang="en-US" sz="1200" b="1" u="none" strike="noStrike" dirty="0" err="1">
                          <a:effectLst/>
                        </a:rPr>
                        <a:t>v.s.AIR</a:t>
                      </a:r>
                      <a:r>
                        <a:rPr lang="en-US" sz="1200" b="1" u="none" strike="noStrike" dirty="0">
                          <a:effectLst/>
                        </a:rPr>
                        <a:t>)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t"/>
                      <a:r>
                        <a:rPr lang="el-GR" sz="1200" b="1" u="none" strike="noStrike">
                          <a:effectLst/>
                        </a:rPr>
                        <a:t>δ18</a:t>
                      </a:r>
                      <a:r>
                        <a:rPr lang="en-US" sz="1200" b="1" u="none" strike="noStrike">
                          <a:effectLst/>
                        </a:rPr>
                        <a:t>O in ‰ vs DeltaSMOW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t"/>
                      <a:r>
                        <a:rPr lang="el-GR" sz="1200" b="1" u="none" strike="noStrike" dirty="0">
                          <a:effectLst/>
                        </a:rPr>
                        <a:t>δ13</a:t>
                      </a:r>
                      <a:r>
                        <a:rPr lang="en-US" sz="1200" b="1" u="none" strike="noStrike" dirty="0">
                          <a:effectLst/>
                        </a:rPr>
                        <a:t>C (‰ </a:t>
                      </a:r>
                      <a:r>
                        <a:rPr lang="en-US" sz="1200" b="1" u="none" strike="noStrike" dirty="0" err="1">
                          <a:effectLst/>
                        </a:rPr>
                        <a:t>v.s.V</a:t>
                      </a:r>
                      <a:r>
                        <a:rPr lang="en-US" sz="1200" b="1" u="none" strike="noStrike" dirty="0">
                          <a:effectLst/>
                        </a:rPr>
                        <a:t>-PDB)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t"/>
                      <a:r>
                        <a:rPr lang="en-US" sz="1200" b="1" u="none" strike="noStrike">
                          <a:effectLst/>
                        </a:rPr>
                        <a:t>iWUE (</a:t>
                      </a:r>
                      <a:r>
                        <a:rPr lang="el-GR" sz="1200" b="1" u="none" strike="noStrike">
                          <a:effectLst/>
                        </a:rPr>
                        <a:t>μ</a:t>
                      </a:r>
                      <a:r>
                        <a:rPr lang="en-US" sz="1200" b="1" u="none" strike="noStrike">
                          <a:effectLst/>
                        </a:rPr>
                        <a:t>mol/mol)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t"/>
                      <a:r>
                        <a:rPr lang="en-US" sz="1200" b="1" u="none" strike="noStrike" dirty="0">
                          <a:effectLst/>
                        </a:rPr>
                        <a:t>C:N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0790655"/>
                  </a:ext>
                </a:extLst>
              </a:tr>
              <a:tr h="201501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u="none" strike="noStrike" dirty="0">
                          <a:effectLst/>
                        </a:rPr>
                        <a:t> 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u="none" strike="noStrike">
                          <a:effectLst/>
                        </a:rPr>
                        <a:t>mean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u="none" strike="noStrike">
                          <a:effectLst/>
                        </a:rPr>
                        <a:t>std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u="none" strike="noStrike">
                          <a:effectLst/>
                        </a:rPr>
                        <a:t>mean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u="none" strike="noStrike">
                          <a:effectLst/>
                        </a:rPr>
                        <a:t>std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u="none" strike="noStrike">
                          <a:effectLst/>
                        </a:rPr>
                        <a:t>mean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u="none" strike="noStrike">
                          <a:effectLst/>
                        </a:rPr>
                        <a:t>std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u="none" strike="noStrike">
                          <a:effectLst/>
                        </a:rPr>
                        <a:t>mean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u="none" strike="noStrike">
                          <a:effectLst/>
                        </a:rPr>
                        <a:t>std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u="none" strike="noStrike">
                          <a:effectLst/>
                        </a:rPr>
                        <a:t>mean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u="none" strike="noStrike" dirty="0" err="1">
                          <a:effectLst/>
                        </a:rPr>
                        <a:t>std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/>
                </a:tc>
                <a:extLst>
                  <a:ext uri="{0D108BD9-81ED-4DB2-BD59-A6C34878D82A}">
                    <a16:rowId xmlns:a16="http://schemas.microsoft.com/office/drawing/2014/main" val="4048178396"/>
                  </a:ext>
                </a:extLst>
              </a:tr>
              <a:tr h="201501">
                <a:tc>
                  <a:txBody>
                    <a:bodyPr/>
                    <a:lstStyle/>
                    <a:p>
                      <a:pPr algn="ctr" fontAlgn="t"/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extLst>
                  <a:ext uri="{0D108BD9-81ED-4DB2-BD59-A6C34878D82A}">
                    <a16:rowId xmlns:a16="http://schemas.microsoft.com/office/drawing/2014/main" val="404144853"/>
                  </a:ext>
                </a:extLst>
              </a:tr>
              <a:tr h="201501">
                <a:tc rowSpan="4">
                  <a:txBody>
                    <a:bodyPr/>
                    <a:lstStyle/>
                    <a:p>
                      <a:pPr algn="ctr" fontAlgn="t"/>
                      <a:r>
                        <a:rPr lang="en-US" sz="1200" b="1" i="1" u="none" strike="noStrike" dirty="0" err="1">
                          <a:effectLst/>
                        </a:rPr>
                        <a:t>Alchornea</a:t>
                      </a:r>
                      <a:r>
                        <a:rPr lang="en-US" sz="1200" b="1" i="1" u="none" strike="noStrike" dirty="0">
                          <a:effectLst/>
                        </a:rPr>
                        <a:t> </a:t>
                      </a:r>
                      <a:r>
                        <a:rPr lang="en-US" sz="1200" b="1" i="1" u="none" strike="noStrike" dirty="0" err="1">
                          <a:effectLst/>
                        </a:rPr>
                        <a:t>lojaensis</a:t>
                      </a:r>
                      <a:endParaRPr lang="en-US" sz="1200" b="1" i="1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u="none" strike="noStrike">
                          <a:effectLst/>
                        </a:rPr>
                        <a:t>C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12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-5.27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1.16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29.67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1.02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-26.51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0.89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93.16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10.84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 dirty="0">
                          <a:effectLst/>
                        </a:rPr>
                        <a:t>43.02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 dirty="0">
                          <a:effectLst/>
                        </a:rPr>
                        <a:t>6.87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extLst>
                  <a:ext uri="{0D108BD9-81ED-4DB2-BD59-A6C34878D82A}">
                    <a16:rowId xmlns:a16="http://schemas.microsoft.com/office/drawing/2014/main" val="3482680457"/>
                  </a:ext>
                </a:extLst>
              </a:tr>
              <a:tr h="20150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u="none" strike="noStrike">
                          <a:effectLst/>
                        </a:rPr>
                        <a:t>N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10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-2.57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1.57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29.74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1.14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-26.57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1.13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92.47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13.88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37.7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 dirty="0">
                          <a:effectLst/>
                        </a:rPr>
                        <a:t>4.76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extLst>
                  <a:ext uri="{0D108BD9-81ED-4DB2-BD59-A6C34878D82A}">
                    <a16:rowId xmlns:a16="http://schemas.microsoft.com/office/drawing/2014/main" val="2616600859"/>
                  </a:ext>
                </a:extLst>
              </a:tr>
              <a:tr h="20150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u="none" strike="noStrike">
                          <a:effectLst/>
                        </a:rPr>
                        <a:t>NP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-2.44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0.69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29.51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1.12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-26.77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1.45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90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17.73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40.44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4.32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extLst>
                  <a:ext uri="{0D108BD9-81ED-4DB2-BD59-A6C34878D82A}">
                    <a16:rowId xmlns:a16="http://schemas.microsoft.com/office/drawing/2014/main" val="1115875983"/>
                  </a:ext>
                </a:extLst>
              </a:tr>
              <a:tr h="20150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u="none" strike="noStrike">
                          <a:effectLst/>
                        </a:rPr>
                        <a:t>P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15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-5.08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0.96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29.54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1.57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-27.06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1.51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86.5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18.45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44.34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5.43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extLst>
                  <a:ext uri="{0D108BD9-81ED-4DB2-BD59-A6C34878D82A}">
                    <a16:rowId xmlns:a16="http://schemas.microsoft.com/office/drawing/2014/main" val="706704794"/>
                  </a:ext>
                </a:extLst>
              </a:tr>
              <a:tr h="201501">
                <a:tc rowSpan="4">
                  <a:txBody>
                    <a:bodyPr/>
                    <a:lstStyle/>
                    <a:p>
                      <a:pPr algn="ctr" fontAlgn="t"/>
                      <a:r>
                        <a:rPr lang="en-US" sz="1200" b="1" i="1" u="none" strike="noStrike" dirty="0" err="1">
                          <a:effectLst/>
                        </a:rPr>
                        <a:t>Clarisia</a:t>
                      </a:r>
                      <a:r>
                        <a:rPr lang="en-US" sz="1200" b="1" i="1" u="none" strike="noStrike" dirty="0">
                          <a:effectLst/>
                        </a:rPr>
                        <a:t>  </a:t>
                      </a:r>
                      <a:r>
                        <a:rPr lang="en-US" sz="1200" b="1" i="1" u="none" strike="noStrike" dirty="0" err="1">
                          <a:effectLst/>
                        </a:rPr>
                        <a:t>racemosa</a:t>
                      </a:r>
                      <a:endParaRPr lang="en-US" sz="1200" b="1" i="1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u="none" strike="noStrike">
                          <a:effectLst/>
                        </a:rPr>
                        <a:t>C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0.61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0.82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26.51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0.53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-30.63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0.42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42.6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5.21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24.51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2.92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extLst>
                  <a:ext uri="{0D108BD9-81ED-4DB2-BD59-A6C34878D82A}">
                    <a16:rowId xmlns:a16="http://schemas.microsoft.com/office/drawing/2014/main" val="2792148718"/>
                  </a:ext>
                </a:extLst>
              </a:tr>
              <a:tr h="20150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u="none" strike="noStrike">
                          <a:effectLst/>
                        </a:rPr>
                        <a:t>N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0.47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31.23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-31.8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28.14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22.29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extLst>
                  <a:ext uri="{0D108BD9-81ED-4DB2-BD59-A6C34878D82A}">
                    <a16:rowId xmlns:a16="http://schemas.microsoft.com/office/drawing/2014/main" val="2311312959"/>
                  </a:ext>
                </a:extLst>
              </a:tr>
              <a:tr h="20150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u="none" strike="noStrike">
                          <a:effectLst/>
                        </a:rPr>
                        <a:t>NP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2.04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0.62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30.74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2.31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-30.88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0.36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39.57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4.45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18.28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1.73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extLst>
                  <a:ext uri="{0D108BD9-81ED-4DB2-BD59-A6C34878D82A}">
                    <a16:rowId xmlns:a16="http://schemas.microsoft.com/office/drawing/2014/main" val="1104714534"/>
                  </a:ext>
                </a:extLst>
              </a:tr>
              <a:tr h="20150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u="none" strike="noStrike">
                          <a:effectLst/>
                        </a:rPr>
                        <a:t>P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0.51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29.77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2.73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-29.84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1.24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52.29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15.26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22.65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3.13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extLst>
                  <a:ext uri="{0D108BD9-81ED-4DB2-BD59-A6C34878D82A}">
                    <a16:rowId xmlns:a16="http://schemas.microsoft.com/office/drawing/2014/main" val="1170240773"/>
                  </a:ext>
                </a:extLst>
              </a:tr>
              <a:tr h="201501">
                <a:tc rowSpan="4">
                  <a:txBody>
                    <a:bodyPr/>
                    <a:lstStyle/>
                    <a:p>
                      <a:pPr algn="ctr" fontAlgn="t"/>
                      <a:r>
                        <a:rPr lang="en-US" sz="1200" b="1" i="1" u="none" strike="noStrike" dirty="0" err="1">
                          <a:effectLst/>
                        </a:rPr>
                        <a:t>Hedyosmun</a:t>
                      </a:r>
                      <a:r>
                        <a:rPr lang="en-US" sz="1200" b="1" i="1" u="none" strike="noStrike" dirty="0">
                          <a:effectLst/>
                        </a:rPr>
                        <a:t>  </a:t>
                      </a:r>
                      <a:r>
                        <a:rPr lang="en-US" sz="1200" b="1" i="1" u="none" strike="noStrike" dirty="0" err="1">
                          <a:effectLst/>
                        </a:rPr>
                        <a:t>purpurascens</a:t>
                      </a:r>
                      <a:endParaRPr lang="en-US" sz="1200" b="1" i="1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u="none" strike="noStrike">
                          <a:effectLst/>
                        </a:rPr>
                        <a:t>C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-2.58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2.62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26.34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0.71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-26.81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1.44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89.58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17.68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30.78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2.77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extLst>
                  <a:ext uri="{0D108BD9-81ED-4DB2-BD59-A6C34878D82A}">
                    <a16:rowId xmlns:a16="http://schemas.microsoft.com/office/drawing/2014/main" val="3798447669"/>
                  </a:ext>
                </a:extLst>
              </a:tr>
              <a:tr h="20150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u="none" strike="noStrike">
                          <a:effectLst/>
                        </a:rPr>
                        <a:t>N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-1.13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1.59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27.66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 dirty="0">
                          <a:effectLst/>
                        </a:rPr>
                        <a:t>1.99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-26.35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2.06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95.09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25.19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25.77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5.26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extLst>
                  <a:ext uri="{0D108BD9-81ED-4DB2-BD59-A6C34878D82A}">
                    <a16:rowId xmlns:a16="http://schemas.microsoft.com/office/drawing/2014/main" val="2262245943"/>
                  </a:ext>
                </a:extLst>
              </a:tr>
              <a:tr h="20150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u="none" strike="noStrike">
                          <a:effectLst/>
                        </a:rPr>
                        <a:t>NP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-0.77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0.64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26.68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1.48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-24.85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1.27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113.48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15.43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26.1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2.81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extLst>
                  <a:ext uri="{0D108BD9-81ED-4DB2-BD59-A6C34878D82A}">
                    <a16:rowId xmlns:a16="http://schemas.microsoft.com/office/drawing/2014/main" val="2811830134"/>
                  </a:ext>
                </a:extLst>
              </a:tr>
              <a:tr h="20150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u="none" strike="noStrike">
                          <a:effectLst/>
                        </a:rPr>
                        <a:t>P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-1.42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1.6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27.25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1.31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-27.29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 dirty="0">
                          <a:effectLst/>
                        </a:rPr>
                        <a:t>1.59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83.66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19.44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28.12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2.51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extLst>
                  <a:ext uri="{0D108BD9-81ED-4DB2-BD59-A6C34878D82A}">
                    <a16:rowId xmlns:a16="http://schemas.microsoft.com/office/drawing/2014/main" val="222508474"/>
                  </a:ext>
                </a:extLst>
              </a:tr>
              <a:tr h="201501">
                <a:tc rowSpan="4">
                  <a:txBody>
                    <a:bodyPr/>
                    <a:lstStyle/>
                    <a:p>
                      <a:pPr algn="ctr" fontAlgn="t"/>
                      <a:r>
                        <a:rPr lang="en-US" sz="1200" b="1" i="1" u="none" strike="noStrike" dirty="0" err="1">
                          <a:effectLst/>
                        </a:rPr>
                        <a:t>Myrcia</a:t>
                      </a:r>
                      <a:r>
                        <a:rPr lang="en-US" sz="1200" b="1" i="1" u="none" strike="noStrike" dirty="0">
                          <a:effectLst/>
                        </a:rPr>
                        <a:t> </a:t>
                      </a:r>
                      <a:r>
                        <a:rPr lang="en-US" sz="1200" b="1" i="1" u="none" strike="noStrike" dirty="0" err="1">
                          <a:effectLst/>
                        </a:rPr>
                        <a:t>sp</a:t>
                      </a:r>
                      <a:r>
                        <a:rPr lang="en-US" sz="1200" b="1" i="1" u="none" strike="noStrike" dirty="0">
                          <a:effectLst/>
                        </a:rPr>
                        <a:t> </a:t>
                      </a:r>
                      <a:r>
                        <a:rPr lang="en-US" sz="1200" b="1" i="1" u="none" strike="noStrike" dirty="0" err="1">
                          <a:effectLst/>
                        </a:rPr>
                        <a:t>nov</a:t>
                      </a:r>
                      <a:endParaRPr lang="en-US" sz="1200" b="1" i="1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u="none" strike="noStrike">
                          <a:effectLst/>
                        </a:rPr>
                        <a:t>C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15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-3.58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1.98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30.63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0.52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-27.79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1.15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 dirty="0">
                          <a:effectLst/>
                        </a:rPr>
                        <a:t>77.47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14.13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51.73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11.71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extLst>
                  <a:ext uri="{0D108BD9-81ED-4DB2-BD59-A6C34878D82A}">
                    <a16:rowId xmlns:a16="http://schemas.microsoft.com/office/drawing/2014/main" val="109465452"/>
                  </a:ext>
                </a:extLst>
              </a:tr>
              <a:tr h="20150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u="none" strike="noStrike">
                          <a:effectLst/>
                        </a:rPr>
                        <a:t>N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10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-2.79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0.43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31.75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1.73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-27.24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0.92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 dirty="0">
                          <a:effectLst/>
                        </a:rPr>
                        <a:t>84.24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 dirty="0">
                          <a:effectLst/>
                        </a:rPr>
                        <a:t>11.28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47.43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4.13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extLst>
                  <a:ext uri="{0D108BD9-81ED-4DB2-BD59-A6C34878D82A}">
                    <a16:rowId xmlns:a16="http://schemas.microsoft.com/office/drawing/2014/main" val="1671767005"/>
                  </a:ext>
                </a:extLst>
              </a:tr>
              <a:tr h="20150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u="none" strike="noStrike">
                          <a:effectLst/>
                        </a:rPr>
                        <a:t>NP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13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-1.64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0.76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30.97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0.94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-27.27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83.88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 dirty="0">
                          <a:effectLst/>
                        </a:rPr>
                        <a:t>12.23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47.79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4.16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extLst>
                  <a:ext uri="{0D108BD9-81ED-4DB2-BD59-A6C34878D82A}">
                    <a16:rowId xmlns:a16="http://schemas.microsoft.com/office/drawing/2014/main" val="3378987753"/>
                  </a:ext>
                </a:extLst>
              </a:tr>
              <a:tr h="20150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u="none" strike="noStrike">
                          <a:effectLst/>
                        </a:rPr>
                        <a:t>P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12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-4.48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0.91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30.44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0.95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-27.34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0.66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83.09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 dirty="0">
                          <a:effectLst/>
                        </a:rPr>
                        <a:t>8.12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 dirty="0">
                          <a:effectLst/>
                        </a:rPr>
                        <a:t>58.04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6.25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extLst>
                  <a:ext uri="{0D108BD9-81ED-4DB2-BD59-A6C34878D82A}">
                    <a16:rowId xmlns:a16="http://schemas.microsoft.com/office/drawing/2014/main" val="2488563849"/>
                  </a:ext>
                </a:extLst>
              </a:tr>
              <a:tr h="201501">
                <a:tc rowSpan="4">
                  <a:txBody>
                    <a:bodyPr/>
                    <a:lstStyle/>
                    <a:p>
                      <a:pPr algn="ctr" fontAlgn="t"/>
                      <a:r>
                        <a:rPr lang="en-US" sz="1200" b="1" i="1" u="none" strike="noStrike" dirty="0" err="1">
                          <a:effectLst/>
                        </a:rPr>
                        <a:t>Pouteria</a:t>
                      </a:r>
                      <a:r>
                        <a:rPr lang="en-US" sz="1200" b="1" i="1" u="none" strike="noStrike" dirty="0">
                          <a:effectLst/>
                        </a:rPr>
                        <a:t> </a:t>
                      </a:r>
                      <a:r>
                        <a:rPr lang="en-US" sz="1200" b="1" i="1" u="none" strike="noStrike" dirty="0" err="1">
                          <a:effectLst/>
                        </a:rPr>
                        <a:t>torta</a:t>
                      </a:r>
                      <a:endParaRPr lang="en-US" sz="1200" b="1" i="1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u="none" strike="noStrike">
                          <a:effectLst/>
                        </a:rPr>
                        <a:t>C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11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1.28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0.85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30.32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1.47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-31.55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0.76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31.19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9.39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 dirty="0">
                          <a:effectLst/>
                        </a:rPr>
                        <a:t>31.55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2.43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extLst>
                  <a:ext uri="{0D108BD9-81ED-4DB2-BD59-A6C34878D82A}">
                    <a16:rowId xmlns:a16="http://schemas.microsoft.com/office/drawing/2014/main" val="1930093120"/>
                  </a:ext>
                </a:extLst>
              </a:tr>
              <a:tr h="20150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u="none" strike="noStrike">
                          <a:effectLst/>
                        </a:rPr>
                        <a:t>N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10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1.49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1.06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29.32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1.39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-30.37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1.83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45.8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22.53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 dirty="0">
                          <a:effectLst/>
                        </a:rPr>
                        <a:t>30.55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2.74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extLst>
                  <a:ext uri="{0D108BD9-81ED-4DB2-BD59-A6C34878D82A}">
                    <a16:rowId xmlns:a16="http://schemas.microsoft.com/office/drawing/2014/main" val="3300182467"/>
                  </a:ext>
                </a:extLst>
              </a:tr>
              <a:tr h="20150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u="none" strike="noStrike">
                          <a:effectLst/>
                        </a:rPr>
                        <a:t>NP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1.79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0.92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28.45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1.16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-31.74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1.35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28.92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16.66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 dirty="0">
                          <a:effectLst/>
                        </a:rPr>
                        <a:t>29.27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1.73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extLst>
                  <a:ext uri="{0D108BD9-81ED-4DB2-BD59-A6C34878D82A}">
                    <a16:rowId xmlns:a16="http://schemas.microsoft.com/office/drawing/2014/main" val="900559333"/>
                  </a:ext>
                </a:extLst>
              </a:tr>
              <a:tr h="20150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u="none" strike="noStrike">
                          <a:effectLst/>
                        </a:rPr>
                        <a:t>P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1.01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0.76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28.93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1.24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-31.27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0.93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34.72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11.53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 dirty="0">
                          <a:effectLst/>
                        </a:rPr>
                        <a:t>28.9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 dirty="0">
                          <a:effectLst/>
                        </a:rPr>
                        <a:t>2.18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extLst>
                  <a:ext uri="{0D108BD9-81ED-4DB2-BD59-A6C34878D82A}">
                    <a16:rowId xmlns:a16="http://schemas.microsoft.com/office/drawing/2014/main" val="4066813900"/>
                  </a:ext>
                </a:extLst>
              </a:tr>
              <a:tr h="201501">
                <a:tc rowSpan="4">
                  <a:txBody>
                    <a:bodyPr/>
                    <a:lstStyle/>
                    <a:p>
                      <a:pPr algn="ctr" fontAlgn="t"/>
                      <a:r>
                        <a:rPr lang="en-US" sz="1200" b="1" i="1" u="none" strike="noStrike" dirty="0" err="1">
                          <a:effectLst/>
                        </a:rPr>
                        <a:t>Weinmania</a:t>
                      </a:r>
                      <a:r>
                        <a:rPr lang="en-US" sz="1200" b="1" i="1" u="none" strike="noStrike" dirty="0">
                          <a:effectLst/>
                        </a:rPr>
                        <a:t>  </a:t>
                      </a:r>
                      <a:r>
                        <a:rPr lang="en-US" sz="1200" b="1" i="1" u="none" strike="noStrike" dirty="0" err="1">
                          <a:effectLst/>
                        </a:rPr>
                        <a:t>loxensis</a:t>
                      </a:r>
                      <a:endParaRPr lang="en-US" sz="1200" b="1" i="1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u="none" strike="noStrike">
                          <a:effectLst/>
                        </a:rPr>
                        <a:t>C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-4.45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2.16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26.56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1.65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-27.7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0.27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78.64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3.3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43.15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 dirty="0">
                          <a:effectLst/>
                        </a:rPr>
                        <a:t>5.79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extLst>
                  <a:ext uri="{0D108BD9-81ED-4DB2-BD59-A6C34878D82A}">
                    <a16:rowId xmlns:a16="http://schemas.microsoft.com/office/drawing/2014/main" val="1946902408"/>
                  </a:ext>
                </a:extLst>
              </a:tr>
              <a:tr h="20150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u="none" strike="noStrike">
                          <a:effectLst/>
                        </a:rPr>
                        <a:t>N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-3.05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0.59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26.46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0.77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-28.06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0.9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74.27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11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39.49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 dirty="0">
                          <a:effectLst/>
                        </a:rPr>
                        <a:t>5.23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extLst>
                  <a:ext uri="{0D108BD9-81ED-4DB2-BD59-A6C34878D82A}">
                    <a16:rowId xmlns:a16="http://schemas.microsoft.com/office/drawing/2014/main" val="3035726881"/>
                  </a:ext>
                </a:extLst>
              </a:tr>
              <a:tr h="20150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u="none" strike="noStrike">
                          <a:effectLst/>
                        </a:rPr>
                        <a:t>NP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-4.53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1.52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25.62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0.75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-29.03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0.79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62.3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9.74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41.18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 dirty="0">
                          <a:effectLst/>
                        </a:rPr>
                        <a:t>0.31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extLst>
                  <a:ext uri="{0D108BD9-81ED-4DB2-BD59-A6C34878D82A}">
                    <a16:rowId xmlns:a16="http://schemas.microsoft.com/office/drawing/2014/main" val="711646081"/>
                  </a:ext>
                </a:extLst>
              </a:tr>
              <a:tr h="20150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u="none" strike="noStrike">
                          <a:effectLst/>
                        </a:rPr>
                        <a:t>P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-5.05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1.96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26.12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0.88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-28.38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 dirty="0">
                          <a:effectLst/>
                        </a:rPr>
                        <a:t>1.13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70.28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13.86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41.73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 dirty="0">
                          <a:effectLst/>
                        </a:rPr>
                        <a:t>5.19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823" marR="7823" marT="7823" marB="0" anchor="b"/>
                </a:tc>
                <a:extLst>
                  <a:ext uri="{0D108BD9-81ED-4DB2-BD59-A6C34878D82A}">
                    <a16:rowId xmlns:a16="http://schemas.microsoft.com/office/drawing/2014/main" val="4288263570"/>
                  </a:ext>
                </a:extLst>
              </a:tr>
            </a:tbl>
          </a:graphicData>
        </a:graphic>
      </p:graphicFrame>
      <p:sp>
        <p:nvSpPr>
          <p:cNvPr id="2" name="CuadroTexto 1"/>
          <p:cNvSpPr txBox="1"/>
          <p:nvPr/>
        </p:nvSpPr>
        <p:spPr>
          <a:xfrm>
            <a:off x="1436914" y="317241"/>
            <a:ext cx="89573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b="1" dirty="0" err="1" smtClean="0"/>
              <a:t>Summary</a:t>
            </a:r>
            <a:r>
              <a:rPr lang="es-MX" sz="2800" b="1" dirty="0" smtClean="0"/>
              <a:t> of </a:t>
            </a:r>
            <a:r>
              <a:rPr lang="es-MX" sz="2800" b="1" dirty="0" err="1" smtClean="0"/>
              <a:t>the</a:t>
            </a:r>
            <a:r>
              <a:rPr lang="es-MX" sz="2800" b="1" dirty="0" smtClean="0"/>
              <a:t> response variables </a:t>
            </a:r>
            <a:r>
              <a:rPr lang="es-MX" sz="2800" b="1" dirty="0" err="1" smtClean="0"/>
              <a:t>analyzed</a:t>
            </a:r>
            <a:r>
              <a:rPr lang="es-MX" sz="2800" b="1" dirty="0" smtClean="0"/>
              <a:t> to </a:t>
            </a:r>
            <a:r>
              <a:rPr lang="es-MX" sz="2800" b="1" dirty="0" err="1" smtClean="0"/>
              <a:t>the</a:t>
            </a:r>
            <a:r>
              <a:rPr lang="es-MX" sz="2800" b="1" dirty="0" smtClean="0"/>
              <a:t> date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22900472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ANALYSIS PER SPECIE</a:t>
            </a:r>
            <a:endParaRPr lang="en-U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MX" dirty="0" smtClean="0"/>
              <a:t>I </a:t>
            </a:r>
            <a:r>
              <a:rPr lang="es-MX" dirty="0" err="1" smtClean="0"/>
              <a:t>ran</a:t>
            </a:r>
            <a:r>
              <a:rPr lang="es-MX" dirty="0" smtClean="0"/>
              <a:t> ANOVA </a:t>
            </a:r>
            <a:r>
              <a:rPr lang="es-MX" dirty="0" err="1" smtClean="0"/>
              <a:t>interaction</a:t>
            </a:r>
            <a:r>
              <a:rPr lang="es-MX" dirty="0" smtClean="0"/>
              <a:t> </a:t>
            </a:r>
            <a:r>
              <a:rPr lang="es-MX" dirty="0" err="1" smtClean="0"/>
              <a:t>tests</a:t>
            </a:r>
            <a:r>
              <a:rPr lang="es-MX" dirty="0" smtClean="0"/>
              <a:t> per </a:t>
            </a:r>
            <a:r>
              <a:rPr lang="es-MX" dirty="0" err="1" smtClean="0"/>
              <a:t>species</a:t>
            </a:r>
            <a:r>
              <a:rPr lang="es-MX" dirty="0" smtClean="0"/>
              <a:t> – </a:t>
            </a:r>
            <a:r>
              <a:rPr lang="es-MX" dirty="0" err="1" smtClean="0"/>
              <a:t>not</a:t>
            </a:r>
            <a:r>
              <a:rPr lang="es-MX" dirty="0" smtClean="0"/>
              <a:t> </a:t>
            </a:r>
            <a:r>
              <a:rPr lang="es-MX" dirty="0" err="1" smtClean="0"/>
              <a:t>showed</a:t>
            </a:r>
            <a:r>
              <a:rPr lang="es-MX" dirty="0" smtClean="0"/>
              <a:t>- </a:t>
            </a:r>
            <a:r>
              <a:rPr lang="es-MX" dirty="0" err="1" smtClean="0"/>
              <a:t>but</a:t>
            </a:r>
            <a:r>
              <a:rPr lang="es-MX" dirty="0" smtClean="0"/>
              <a:t> </a:t>
            </a:r>
            <a:r>
              <a:rPr lang="es-MX" dirty="0" err="1" smtClean="0"/>
              <a:t>decided</a:t>
            </a:r>
            <a:r>
              <a:rPr lang="es-MX" dirty="0" smtClean="0"/>
              <a:t> to </a:t>
            </a:r>
            <a:r>
              <a:rPr lang="es-MX" dirty="0" err="1" smtClean="0"/>
              <a:t>go</a:t>
            </a:r>
            <a:r>
              <a:rPr lang="es-MX" dirty="0" smtClean="0"/>
              <a:t> </a:t>
            </a:r>
            <a:r>
              <a:rPr lang="es-MX" dirty="0" err="1" smtClean="0"/>
              <a:t>with</a:t>
            </a:r>
            <a:r>
              <a:rPr lang="es-MX" dirty="0" smtClean="0"/>
              <a:t> </a:t>
            </a:r>
            <a:r>
              <a:rPr lang="es-MX" dirty="0" err="1" smtClean="0"/>
              <a:t>glmm</a:t>
            </a:r>
            <a:r>
              <a:rPr lang="es-MX" dirty="0" smtClean="0"/>
              <a:t> </a:t>
            </a:r>
            <a:r>
              <a:rPr lang="es-MX" dirty="0" err="1" smtClean="0"/>
              <a:t>for</a:t>
            </a:r>
            <a:r>
              <a:rPr lang="es-MX" dirty="0" smtClean="0"/>
              <a:t> </a:t>
            </a:r>
            <a:r>
              <a:rPr lang="es-MX" dirty="0" err="1" smtClean="0"/>
              <a:t>their</a:t>
            </a:r>
            <a:r>
              <a:rPr lang="es-MX" dirty="0" smtClean="0"/>
              <a:t> </a:t>
            </a:r>
            <a:r>
              <a:rPr lang="es-MX" dirty="0" err="1" smtClean="0"/>
              <a:t>statistic</a:t>
            </a:r>
            <a:r>
              <a:rPr lang="es-MX" dirty="0" smtClean="0"/>
              <a:t> </a:t>
            </a:r>
            <a:r>
              <a:rPr lang="es-MX" dirty="0" err="1" smtClean="0"/>
              <a:t>power</a:t>
            </a:r>
            <a:r>
              <a:rPr lang="es-MX" dirty="0" smtClean="0"/>
              <a:t>. </a:t>
            </a:r>
          </a:p>
          <a:p>
            <a:r>
              <a:rPr lang="es-MX" dirty="0" smtClean="0"/>
              <a:t>Per </a:t>
            </a:r>
            <a:r>
              <a:rPr lang="es-MX" dirty="0" err="1" smtClean="0"/>
              <a:t>each</a:t>
            </a:r>
            <a:r>
              <a:rPr lang="es-MX" dirty="0" smtClean="0"/>
              <a:t> </a:t>
            </a:r>
            <a:r>
              <a:rPr lang="es-MX" dirty="0" err="1" smtClean="0"/>
              <a:t>specie</a:t>
            </a:r>
            <a:r>
              <a:rPr lang="es-MX" dirty="0" smtClean="0"/>
              <a:t> a </a:t>
            </a:r>
            <a:r>
              <a:rPr lang="es-MX" dirty="0" err="1" smtClean="0"/>
              <a:t>lmer</a:t>
            </a:r>
            <a:r>
              <a:rPr lang="es-MX" dirty="0" smtClean="0"/>
              <a:t>(Response </a:t>
            </a:r>
            <a:r>
              <a:rPr lang="es-MX" dirty="0"/>
              <a:t>variable~ N * P + (1 | Block/</a:t>
            </a:r>
            <a:r>
              <a:rPr lang="es-MX" dirty="0" err="1"/>
              <a:t>Plot</a:t>
            </a:r>
            <a:r>
              <a:rPr lang="es-MX" dirty="0" smtClean="0"/>
              <a:t>)) </a:t>
            </a:r>
            <a:r>
              <a:rPr lang="es-MX" dirty="0" err="1" smtClean="0"/>
              <a:t>model</a:t>
            </a:r>
            <a:r>
              <a:rPr lang="es-MX" dirty="0" smtClean="0"/>
              <a:t> </a:t>
            </a:r>
            <a:r>
              <a:rPr lang="es-MX" dirty="0" err="1" smtClean="0"/>
              <a:t>was</a:t>
            </a:r>
            <a:r>
              <a:rPr lang="es-MX" dirty="0" smtClean="0"/>
              <a:t> </a:t>
            </a:r>
            <a:r>
              <a:rPr lang="es-MX" dirty="0" err="1" smtClean="0"/>
              <a:t>conducted</a:t>
            </a:r>
            <a:r>
              <a:rPr lang="es-MX" dirty="0" smtClean="0"/>
              <a:t>. </a:t>
            </a:r>
          </a:p>
          <a:p>
            <a:r>
              <a:rPr lang="es-MX" dirty="0" smtClean="0"/>
              <a:t>I </a:t>
            </a:r>
            <a:r>
              <a:rPr lang="es-MX" dirty="0" err="1" smtClean="0"/>
              <a:t>used</a:t>
            </a:r>
            <a:r>
              <a:rPr lang="es-MX" dirty="0" smtClean="0"/>
              <a:t> </a:t>
            </a:r>
            <a:r>
              <a:rPr lang="es-MX" dirty="0" err="1" smtClean="0"/>
              <a:t>DHARMa</a:t>
            </a:r>
            <a:r>
              <a:rPr lang="es-MX" dirty="0" smtClean="0"/>
              <a:t> </a:t>
            </a:r>
            <a:r>
              <a:rPr lang="es-MX" dirty="0" err="1" smtClean="0"/>
              <a:t>package</a:t>
            </a:r>
            <a:r>
              <a:rPr lang="es-MX" dirty="0" smtClean="0"/>
              <a:t> </a:t>
            </a:r>
            <a:r>
              <a:rPr lang="es-MX" dirty="0" err="1" smtClean="0"/>
              <a:t>for</a:t>
            </a:r>
            <a:r>
              <a:rPr lang="es-MX" dirty="0" smtClean="0"/>
              <a:t> diagnosis </a:t>
            </a:r>
            <a:r>
              <a:rPr lang="es-MX" dirty="0" err="1" smtClean="0"/>
              <a:t>interpretation</a:t>
            </a:r>
            <a:r>
              <a:rPr lang="es-MX" dirty="0" smtClean="0"/>
              <a:t> </a:t>
            </a:r>
            <a:r>
              <a:rPr lang="es-MX" dirty="0" err="1" smtClean="0"/>
              <a:t>but</a:t>
            </a:r>
            <a:r>
              <a:rPr lang="es-MX" dirty="0" smtClean="0"/>
              <a:t> I </a:t>
            </a:r>
            <a:r>
              <a:rPr lang="es-MX" dirty="0" err="1" smtClean="0"/>
              <a:t>need</a:t>
            </a:r>
            <a:r>
              <a:rPr lang="es-MX" dirty="0" smtClean="0"/>
              <a:t> to </a:t>
            </a:r>
            <a:r>
              <a:rPr lang="es-MX" dirty="0" err="1" smtClean="0"/>
              <a:t>know</a:t>
            </a:r>
            <a:r>
              <a:rPr lang="es-MX" dirty="0" smtClean="0"/>
              <a:t> </a:t>
            </a:r>
            <a:r>
              <a:rPr lang="es-MX" dirty="0" err="1" smtClean="0"/>
              <a:t>when</a:t>
            </a:r>
            <a:r>
              <a:rPr lang="es-MX" dirty="0" smtClean="0"/>
              <a:t> </a:t>
            </a:r>
            <a:r>
              <a:rPr lang="es-MX" dirty="0" err="1" smtClean="0"/>
              <a:t>it</a:t>
            </a:r>
            <a:r>
              <a:rPr lang="es-MX" dirty="0" smtClean="0"/>
              <a:t> </a:t>
            </a:r>
            <a:r>
              <a:rPr lang="es-MX" dirty="0" err="1" smtClean="0"/>
              <a:t>is</a:t>
            </a:r>
            <a:r>
              <a:rPr lang="es-MX" dirty="0" smtClean="0"/>
              <a:t> </a:t>
            </a:r>
            <a:r>
              <a:rPr lang="es-MX" dirty="0" err="1" smtClean="0"/>
              <a:t>okay</a:t>
            </a:r>
            <a:r>
              <a:rPr lang="es-MX" dirty="0" smtClean="0"/>
              <a:t> to </a:t>
            </a:r>
            <a:r>
              <a:rPr lang="es-MX" dirty="0" err="1" smtClean="0"/>
              <a:t>dismiss</a:t>
            </a:r>
            <a:r>
              <a:rPr lang="es-MX" dirty="0" smtClean="0"/>
              <a:t> </a:t>
            </a:r>
            <a:r>
              <a:rPr lang="es-MX" dirty="0" err="1" smtClean="0"/>
              <a:t>some</a:t>
            </a:r>
            <a:r>
              <a:rPr lang="es-MX" dirty="0" smtClean="0"/>
              <a:t> </a:t>
            </a:r>
            <a:r>
              <a:rPr lang="es-MX" dirty="0" err="1" smtClean="0"/>
              <a:t>trends</a:t>
            </a:r>
            <a:r>
              <a:rPr lang="es-MX" dirty="0" smtClean="0"/>
              <a:t> in </a:t>
            </a:r>
            <a:r>
              <a:rPr lang="es-MX" dirty="0" err="1" smtClean="0"/>
              <a:t>the</a:t>
            </a:r>
            <a:r>
              <a:rPr lang="es-MX" dirty="0" smtClean="0"/>
              <a:t> </a:t>
            </a:r>
            <a:r>
              <a:rPr lang="es-MX" dirty="0" err="1" smtClean="0"/>
              <a:t>residuals</a:t>
            </a:r>
            <a:r>
              <a:rPr lang="es-MX" dirty="0" smtClean="0"/>
              <a:t>. </a:t>
            </a:r>
          </a:p>
          <a:p>
            <a:r>
              <a:rPr lang="es-MX" dirty="0" err="1" smtClean="0"/>
              <a:t>See</a:t>
            </a:r>
            <a:r>
              <a:rPr lang="es-MX" dirty="0" smtClean="0"/>
              <a:t> </a:t>
            </a:r>
            <a:r>
              <a:rPr lang="es-MX" dirty="0" err="1" smtClean="0"/>
              <a:t>attached</a:t>
            </a:r>
            <a:r>
              <a:rPr lang="es-MX" dirty="0" smtClean="0"/>
              <a:t>: </a:t>
            </a:r>
            <a:r>
              <a:rPr lang="es-MX" b="1" dirty="0" err="1" smtClean="0"/>
              <a:t>DHARMa</a:t>
            </a:r>
            <a:r>
              <a:rPr lang="es-MX" b="1" dirty="0" smtClean="0"/>
              <a:t> </a:t>
            </a:r>
            <a:r>
              <a:rPr lang="es-MX" b="1" dirty="0" err="1" smtClean="0"/>
              <a:t>diagnostics</a:t>
            </a:r>
            <a:r>
              <a:rPr lang="es-MX" b="1" dirty="0" smtClean="0"/>
              <a:t> and Normal </a:t>
            </a:r>
            <a:r>
              <a:rPr lang="es-MX" b="1" dirty="0" err="1" smtClean="0"/>
              <a:t>Qqplots</a:t>
            </a:r>
            <a:r>
              <a:rPr lang="es-MX" b="1" dirty="0"/>
              <a:t> </a:t>
            </a:r>
            <a:r>
              <a:rPr lang="es-MX" dirty="0" smtClean="0"/>
              <a:t>in </a:t>
            </a:r>
            <a:r>
              <a:rPr lang="es-MX" dirty="0" err="1" smtClean="0"/>
              <a:t>the</a:t>
            </a:r>
            <a:r>
              <a:rPr lang="es-MX" dirty="0" smtClean="0"/>
              <a:t> </a:t>
            </a:r>
            <a:r>
              <a:rPr lang="es-MX" dirty="0" err="1" smtClean="0"/>
              <a:t>Markdown</a:t>
            </a:r>
            <a:r>
              <a:rPr lang="es-MX" dirty="0" smtClean="0"/>
              <a:t> </a:t>
            </a:r>
            <a:r>
              <a:rPr lang="es-MX" dirty="0" err="1" smtClean="0"/>
              <a:t>documents</a:t>
            </a:r>
            <a:r>
              <a:rPr lang="es-MX" dirty="0" smtClean="0"/>
              <a:t>.</a:t>
            </a:r>
            <a:r>
              <a:rPr lang="es-MX" b="1" dirty="0" smtClean="0"/>
              <a:t> </a:t>
            </a:r>
            <a:r>
              <a:rPr lang="es-MX" dirty="0" smtClean="0"/>
              <a:t>I </a:t>
            </a:r>
            <a:r>
              <a:rPr lang="es-MX" dirty="0" err="1" smtClean="0"/>
              <a:t>would</a:t>
            </a:r>
            <a:r>
              <a:rPr lang="es-MX" dirty="0" smtClean="0"/>
              <a:t> </a:t>
            </a:r>
            <a:r>
              <a:rPr lang="es-MX" dirty="0" err="1" smtClean="0"/>
              <a:t>like</a:t>
            </a:r>
            <a:r>
              <a:rPr lang="es-MX" dirty="0" smtClean="0"/>
              <a:t> </a:t>
            </a:r>
            <a:r>
              <a:rPr lang="es-MX" dirty="0" err="1" smtClean="0"/>
              <a:t>some</a:t>
            </a:r>
            <a:r>
              <a:rPr lang="es-MX" dirty="0" smtClean="0"/>
              <a:t> </a:t>
            </a:r>
            <a:r>
              <a:rPr lang="es-MX" dirty="0" err="1" smtClean="0"/>
              <a:t>help</a:t>
            </a:r>
            <a:r>
              <a:rPr lang="es-MX" dirty="0" smtClean="0"/>
              <a:t> </a:t>
            </a:r>
            <a:r>
              <a:rPr lang="es-MX" dirty="0" err="1" smtClean="0"/>
              <a:t>here</a:t>
            </a:r>
            <a:r>
              <a:rPr lang="es-MX" dirty="0" smtClean="0"/>
              <a:t>.</a:t>
            </a:r>
            <a:endParaRPr lang="es-MX" b="1" dirty="0" smtClean="0"/>
          </a:p>
          <a:p>
            <a:r>
              <a:rPr lang="es-MX" dirty="0" err="1" smtClean="0"/>
              <a:t>Likewise</a:t>
            </a:r>
            <a:r>
              <a:rPr lang="es-MX" dirty="0" smtClean="0"/>
              <a:t>, </a:t>
            </a:r>
            <a:r>
              <a:rPr lang="es-MX" dirty="0" err="1" smtClean="0"/>
              <a:t>how</a:t>
            </a:r>
            <a:r>
              <a:rPr lang="es-MX" dirty="0" smtClean="0"/>
              <a:t> to </a:t>
            </a:r>
            <a:r>
              <a:rPr lang="es-MX" dirty="0" err="1" smtClean="0"/>
              <a:t>interpret</a:t>
            </a:r>
            <a:r>
              <a:rPr lang="es-MX" dirty="0" smtClean="0"/>
              <a:t> </a:t>
            </a:r>
            <a:r>
              <a:rPr lang="es-MX" dirty="0" err="1" smtClean="0"/>
              <a:t>the</a:t>
            </a:r>
            <a:r>
              <a:rPr lang="es-MX" dirty="0" smtClean="0"/>
              <a:t> </a:t>
            </a:r>
            <a:r>
              <a:rPr lang="es-MX" dirty="0" err="1" smtClean="0"/>
              <a:t>estimate</a:t>
            </a:r>
            <a:r>
              <a:rPr lang="es-MX" dirty="0" smtClean="0"/>
              <a:t> of </a:t>
            </a:r>
            <a:r>
              <a:rPr lang="es-MX" dirty="0" err="1" smtClean="0"/>
              <a:t>the</a:t>
            </a:r>
            <a:r>
              <a:rPr lang="es-MX" dirty="0" smtClean="0"/>
              <a:t> </a:t>
            </a:r>
            <a:r>
              <a:rPr lang="es-MX" dirty="0" err="1" smtClean="0"/>
              <a:t>interactions</a:t>
            </a:r>
            <a:r>
              <a:rPr lang="es-MX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72992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7919" y="127454"/>
            <a:ext cx="6730546" cy="6730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02332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Marcador de contenido 5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7717" y="0"/>
            <a:ext cx="7052469" cy="7052469"/>
          </a:xfrm>
        </p:spPr>
      </p:pic>
    </p:spTree>
    <p:extLst>
      <p:ext uri="{BB962C8B-B14F-4D97-AF65-F5344CB8AC3E}">
        <p14:creationId xmlns:p14="http://schemas.microsoft.com/office/powerpoint/2010/main" val="27114265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0614" y="0"/>
            <a:ext cx="6858000" cy="6858000"/>
          </a:xfrm>
        </p:spPr>
      </p:pic>
    </p:spTree>
    <p:extLst>
      <p:ext uri="{BB962C8B-B14F-4D97-AF65-F5344CB8AC3E}">
        <p14:creationId xmlns:p14="http://schemas.microsoft.com/office/powerpoint/2010/main" val="15468057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Marcador de contenido 5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3017" y="149290"/>
            <a:ext cx="6708710" cy="6708710"/>
          </a:xfrm>
        </p:spPr>
      </p:pic>
    </p:spTree>
    <p:extLst>
      <p:ext uri="{BB962C8B-B14F-4D97-AF65-F5344CB8AC3E}">
        <p14:creationId xmlns:p14="http://schemas.microsoft.com/office/powerpoint/2010/main" val="15258890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uadroTexto 10"/>
          <p:cNvSpPr txBox="1"/>
          <p:nvPr/>
        </p:nvSpPr>
        <p:spPr>
          <a:xfrm>
            <a:off x="722609" y="713917"/>
            <a:ext cx="959437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 smtClean="0"/>
              <a:t>lmer</a:t>
            </a:r>
            <a:r>
              <a:rPr lang="en-US" sz="2400" b="1" dirty="0" smtClean="0"/>
              <a:t>(Response variable~ </a:t>
            </a:r>
            <a:r>
              <a:rPr lang="en-US" sz="2400" b="1" dirty="0"/>
              <a:t>N * P + (1 | </a:t>
            </a:r>
            <a:r>
              <a:rPr lang="en-US" sz="2400" b="1" dirty="0" smtClean="0"/>
              <a:t>Block/Plot))</a:t>
            </a:r>
            <a:endParaRPr lang="en-US" sz="2400" b="1" dirty="0"/>
          </a:p>
          <a:p>
            <a:endParaRPr lang="en-US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44503"/>
            <a:ext cx="11220450" cy="5162550"/>
          </a:xfrm>
          <a:prstGeom prst="rect">
            <a:avLst/>
          </a:prstGeom>
        </p:spPr>
      </p:pic>
      <p:sp>
        <p:nvSpPr>
          <p:cNvPr id="6" name="CuadroTexto 5"/>
          <p:cNvSpPr txBox="1"/>
          <p:nvPr/>
        </p:nvSpPr>
        <p:spPr>
          <a:xfrm>
            <a:off x="878305" y="252663"/>
            <a:ext cx="37418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smtClean="0"/>
              <a:t>Per </a:t>
            </a:r>
            <a:r>
              <a:rPr lang="es-MX" dirty="0" err="1" smtClean="0"/>
              <a:t>specie</a:t>
            </a:r>
            <a:endParaRPr lang="en-US" dirty="0"/>
          </a:p>
        </p:txBody>
      </p:sp>
      <p:sp>
        <p:nvSpPr>
          <p:cNvPr id="9" name="Rectángulo 8"/>
          <p:cNvSpPr/>
          <p:nvPr/>
        </p:nvSpPr>
        <p:spPr>
          <a:xfrm>
            <a:off x="-144379" y="4764505"/>
            <a:ext cx="1179095" cy="204537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5656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ANALYSIS PER EACH ELEVATION</a:t>
            </a:r>
            <a:endParaRPr lang="en-U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MX" dirty="0"/>
              <a:t>Per </a:t>
            </a:r>
            <a:r>
              <a:rPr lang="es-MX" dirty="0" err="1"/>
              <a:t>each</a:t>
            </a:r>
            <a:r>
              <a:rPr lang="es-MX" dirty="0"/>
              <a:t> </a:t>
            </a:r>
            <a:r>
              <a:rPr lang="es-MX" dirty="0" err="1" smtClean="0"/>
              <a:t>elevation</a:t>
            </a:r>
            <a:r>
              <a:rPr lang="es-MX" dirty="0" smtClean="0"/>
              <a:t>, I </a:t>
            </a:r>
            <a:r>
              <a:rPr lang="es-MX" dirty="0" err="1" smtClean="0"/>
              <a:t>ran</a:t>
            </a:r>
            <a:r>
              <a:rPr lang="es-MX" dirty="0" smtClean="0"/>
              <a:t> </a:t>
            </a:r>
            <a:r>
              <a:rPr lang="es-MX" dirty="0"/>
              <a:t>a </a:t>
            </a:r>
            <a:endParaRPr lang="es-MX" dirty="0" smtClean="0"/>
          </a:p>
          <a:p>
            <a:pPr marL="0" indent="0">
              <a:buNone/>
            </a:pPr>
            <a:r>
              <a:rPr lang="es-MX" dirty="0" err="1" smtClean="0"/>
              <a:t>lmer</a:t>
            </a:r>
            <a:r>
              <a:rPr lang="es-MX" dirty="0" smtClean="0"/>
              <a:t>(Response </a:t>
            </a:r>
            <a:r>
              <a:rPr lang="es-MX" dirty="0"/>
              <a:t>variable~ </a:t>
            </a:r>
            <a:r>
              <a:rPr lang="es-MX" dirty="0" smtClean="0"/>
              <a:t>N+P+N </a:t>
            </a:r>
            <a:r>
              <a:rPr lang="es-MX" dirty="0"/>
              <a:t>* P + (1 | </a:t>
            </a:r>
            <a:r>
              <a:rPr lang="es-MX" dirty="0" err="1" smtClean="0"/>
              <a:t>specie</a:t>
            </a:r>
            <a:r>
              <a:rPr lang="es-MX" dirty="0" smtClean="0"/>
              <a:t>)+ (</a:t>
            </a:r>
            <a:r>
              <a:rPr lang="es-MX" dirty="0"/>
              <a:t>1 | Block/</a:t>
            </a:r>
            <a:r>
              <a:rPr lang="es-MX" dirty="0" err="1"/>
              <a:t>Plot</a:t>
            </a:r>
            <a:r>
              <a:rPr lang="es-MX" dirty="0" smtClean="0"/>
              <a:t>)). </a:t>
            </a:r>
          </a:p>
          <a:p>
            <a:pPr marL="0" indent="0">
              <a:buNone/>
            </a:pPr>
            <a:endParaRPr lang="es-MX" dirty="0"/>
          </a:p>
          <a:p>
            <a:r>
              <a:rPr lang="es-MX" dirty="0" err="1" smtClean="0"/>
              <a:t>Again</a:t>
            </a:r>
            <a:r>
              <a:rPr lang="es-MX" dirty="0" smtClean="0"/>
              <a:t>, I </a:t>
            </a:r>
            <a:r>
              <a:rPr lang="es-MX" dirty="0" err="1" smtClean="0"/>
              <a:t>used</a:t>
            </a:r>
            <a:r>
              <a:rPr lang="es-MX" dirty="0" smtClean="0"/>
              <a:t> </a:t>
            </a:r>
            <a:r>
              <a:rPr lang="es-MX" dirty="0" err="1"/>
              <a:t>DHARMa</a:t>
            </a:r>
            <a:r>
              <a:rPr lang="es-MX" dirty="0"/>
              <a:t> </a:t>
            </a:r>
            <a:r>
              <a:rPr lang="es-MX" dirty="0" err="1"/>
              <a:t>package</a:t>
            </a:r>
            <a:r>
              <a:rPr lang="es-MX" dirty="0"/>
              <a:t> </a:t>
            </a:r>
            <a:r>
              <a:rPr lang="es-MX" dirty="0" err="1"/>
              <a:t>for</a:t>
            </a:r>
            <a:r>
              <a:rPr lang="es-MX" dirty="0"/>
              <a:t> diagnosis </a:t>
            </a:r>
            <a:r>
              <a:rPr lang="es-MX" dirty="0" err="1"/>
              <a:t>interpretation</a:t>
            </a:r>
            <a:r>
              <a:rPr lang="es-MX" dirty="0"/>
              <a:t> </a:t>
            </a:r>
            <a:r>
              <a:rPr lang="es-MX" dirty="0" err="1"/>
              <a:t>but</a:t>
            </a:r>
            <a:r>
              <a:rPr lang="es-MX" dirty="0"/>
              <a:t> I </a:t>
            </a:r>
            <a:r>
              <a:rPr lang="es-MX" dirty="0" err="1"/>
              <a:t>need</a:t>
            </a:r>
            <a:r>
              <a:rPr lang="es-MX" dirty="0"/>
              <a:t> to </a:t>
            </a:r>
            <a:r>
              <a:rPr lang="es-MX" dirty="0" err="1"/>
              <a:t>know</a:t>
            </a:r>
            <a:r>
              <a:rPr lang="es-MX" dirty="0"/>
              <a:t> </a:t>
            </a:r>
            <a:r>
              <a:rPr lang="es-MX" dirty="0" err="1"/>
              <a:t>when</a:t>
            </a:r>
            <a:r>
              <a:rPr lang="es-MX" dirty="0"/>
              <a:t> </a:t>
            </a:r>
            <a:r>
              <a:rPr lang="es-MX" dirty="0" err="1"/>
              <a:t>it</a:t>
            </a:r>
            <a:r>
              <a:rPr lang="es-MX" dirty="0"/>
              <a:t> </a:t>
            </a:r>
            <a:r>
              <a:rPr lang="es-MX" dirty="0" err="1"/>
              <a:t>is</a:t>
            </a:r>
            <a:r>
              <a:rPr lang="es-MX" dirty="0"/>
              <a:t> </a:t>
            </a:r>
            <a:r>
              <a:rPr lang="es-MX" dirty="0" err="1"/>
              <a:t>okay</a:t>
            </a:r>
            <a:r>
              <a:rPr lang="es-MX" dirty="0"/>
              <a:t> to </a:t>
            </a:r>
            <a:r>
              <a:rPr lang="es-MX" dirty="0" err="1"/>
              <a:t>dismiss</a:t>
            </a:r>
            <a:r>
              <a:rPr lang="es-MX" dirty="0"/>
              <a:t> </a:t>
            </a:r>
            <a:r>
              <a:rPr lang="es-MX" dirty="0" err="1"/>
              <a:t>some</a:t>
            </a:r>
            <a:r>
              <a:rPr lang="es-MX" dirty="0"/>
              <a:t> </a:t>
            </a:r>
            <a:r>
              <a:rPr lang="es-MX" dirty="0" err="1"/>
              <a:t>trends</a:t>
            </a:r>
            <a:r>
              <a:rPr lang="es-MX" dirty="0"/>
              <a:t> in </a:t>
            </a:r>
            <a:r>
              <a:rPr lang="es-MX" dirty="0" err="1"/>
              <a:t>the</a:t>
            </a:r>
            <a:r>
              <a:rPr lang="es-MX" dirty="0"/>
              <a:t> </a:t>
            </a:r>
            <a:r>
              <a:rPr lang="es-MX" dirty="0" smtClean="0"/>
              <a:t>residual</a:t>
            </a:r>
            <a:endParaRPr lang="es-MX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8852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 rotWithShape="1">
          <a:blip r:embed="rId3"/>
          <a:srcRect l="28867" t="228" r="19776" b="96450"/>
          <a:stretch/>
        </p:blipFill>
        <p:spPr>
          <a:xfrm>
            <a:off x="186613" y="149290"/>
            <a:ext cx="5909388" cy="503854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 rotWithShape="1">
          <a:blip r:embed="rId3"/>
          <a:srcRect l="-1" t="57282" r="49165"/>
          <a:stretch/>
        </p:blipFill>
        <p:spPr>
          <a:xfrm>
            <a:off x="5876435" y="365125"/>
            <a:ext cx="6089559" cy="6744743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6006" y="545141"/>
            <a:ext cx="5907536" cy="6718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79767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Marcador de contenido 5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096000" y="1242818"/>
            <a:ext cx="5909388" cy="5098514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 rotWithShape="1">
          <a:blip r:embed="rId4"/>
          <a:srcRect l="51410" t="8718" r="-2766" b="47016"/>
          <a:stretch/>
        </p:blipFill>
        <p:spPr>
          <a:xfrm>
            <a:off x="186612" y="144403"/>
            <a:ext cx="5909388" cy="6713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77417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460" y="1985962"/>
            <a:ext cx="12172950" cy="2886075"/>
          </a:xfrm>
          <a:prstGeom prst="rect">
            <a:avLst/>
          </a:prstGeom>
        </p:spPr>
      </p:pic>
      <p:sp>
        <p:nvSpPr>
          <p:cNvPr id="9" name="Flecha derecha 8"/>
          <p:cNvSpPr/>
          <p:nvPr/>
        </p:nvSpPr>
        <p:spPr>
          <a:xfrm>
            <a:off x="-84221" y="4728411"/>
            <a:ext cx="240632" cy="19250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0175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“COMPLETE” MODEL</a:t>
            </a:r>
            <a:endParaRPr lang="en-U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s-MX" dirty="0" err="1" smtClean="0"/>
              <a:t>lmer</a:t>
            </a:r>
            <a:r>
              <a:rPr lang="es-MX" dirty="0" smtClean="0"/>
              <a:t>(Response </a:t>
            </a:r>
            <a:r>
              <a:rPr lang="es-MX" dirty="0"/>
              <a:t>variable~ </a:t>
            </a:r>
            <a:r>
              <a:rPr lang="es-MX" dirty="0" smtClean="0"/>
              <a:t>N+P+N </a:t>
            </a:r>
            <a:r>
              <a:rPr lang="es-MX" dirty="0"/>
              <a:t>* P </a:t>
            </a:r>
            <a:r>
              <a:rPr lang="es-MX" dirty="0" smtClean="0"/>
              <a:t>+ </a:t>
            </a:r>
            <a:r>
              <a:rPr lang="es-MX" dirty="0" err="1" smtClean="0"/>
              <a:t>elevation</a:t>
            </a:r>
            <a:r>
              <a:rPr lang="es-MX" dirty="0" smtClean="0"/>
              <a:t> +  </a:t>
            </a:r>
            <a:r>
              <a:rPr lang="es-MX" dirty="0"/>
              <a:t>(1 | </a:t>
            </a:r>
            <a:r>
              <a:rPr lang="es-MX" dirty="0" err="1" smtClean="0"/>
              <a:t>specie</a:t>
            </a:r>
            <a:r>
              <a:rPr lang="es-MX" dirty="0" smtClean="0"/>
              <a:t>)+ (</a:t>
            </a:r>
            <a:r>
              <a:rPr lang="es-MX" dirty="0"/>
              <a:t>1 | Block/</a:t>
            </a:r>
            <a:r>
              <a:rPr lang="es-MX" dirty="0" err="1"/>
              <a:t>Plot</a:t>
            </a:r>
            <a:r>
              <a:rPr lang="es-MX" dirty="0" smtClean="0"/>
              <a:t>)). </a:t>
            </a:r>
            <a:endParaRPr lang="es-MX" dirty="0"/>
          </a:p>
          <a:p>
            <a:r>
              <a:rPr lang="es-MX" dirty="0" err="1" smtClean="0"/>
              <a:t>For</a:t>
            </a:r>
            <a:r>
              <a:rPr lang="es-MX" dirty="0" smtClean="0"/>
              <a:t> </a:t>
            </a:r>
            <a:r>
              <a:rPr lang="es-MX" dirty="0" err="1" smtClean="0"/>
              <a:t>iWUE</a:t>
            </a:r>
            <a:r>
              <a:rPr lang="es-MX" dirty="0" smtClean="0"/>
              <a:t> and d18O </a:t>
            </a:r>
            <a:r>
              <a:rPr lang="es-MX" dirty="0" err="1" smtClean="0"/>
              <a:t>the</a:t>
            </a:r>
            <a:r>
              <a:rPr lang="es-MX" dirty="0" smtClean="0"/>
              <a:t> </a:t>
            </a:r>
            <a:r>
              <a:rPr lang="es-MX" dirty="0" err="1" smtClean="0"/>
              <a:t>model</a:t>
            </a:r>
            <a:r>
              <a:rPr lang="es-MX" dirty="0" smtClean="0"/>
              <a:t> </a:t>
            </a:r>
            <a:r>
              <a:rPr lang="es-MX" dirty="0" err="1" smtClean="0"/>
              <a:t>with</a:t>
            </a:r>
            <a:r>
              <a:rPr lang="es-MX" dirty="0" smtClean="0"/>
              <a:t> </a:t>
            </a:r>
            <a:r>
              <a:rPr lang="es-MX" dirty="0" err="1" smtClean="0"/>
              <a:t>elevation</a:t>
            </a:r>
            <a:r>
              <a:rPr lang="es-MX" dirty="0" smtClean="0"/>
              <a:t> as a </a:t>
            </a:r>
            <a:r>
              <a:rPr lang="es-MX" dirty="0" err="1" smtClean="0"/>
              <a:t>quadratic</a:t>
            </a:r>
            <a:r>
              <a:rPr lang="es-MX" dirty="0" smtClean="0"/>
              <a:t> factor </a:t>
            </a:r>
            <a:r>
              <a:rPr lang="es-MX" dirty="0" err="1" smtClean="0"/>
              <a:t>worked</a:t>
            </a:r>
            <a:r>
              <a:rPr lang="es-MX" dirty="0" smtClean="0"/>
              <a:t> </a:t>
            </a:r>
            <a:r>
              <a:rPr lang="es-MX" dirty="0" err="1" smtClean="0"/>
              <a:t>the</a:t>
            </a:r>
            <a:r>
              <a:rPr lang="es-MX" dirty="0" smtClean="0"/>
              <a:t> </a:t>
            </a:r>
            <a:r>
              <a:rPr lang="es-MX" dirty="0" err="1" smtClean="0"/>
              <a:t>best</a:t>
            </a:r>
            <a:r>
              <a:rPr lang="es-MX" dirty="0" smtClean="0"/>
              <a:t>.</a:t>
            </a:r>
          </a:p>
          <a:p>
            <a:r>
              <a:rPr lang="es-MX" dirty="0" err="1" smtClean="0"/>
              <a:t>Nevertheless</a:t>
            </a:r>
            <a:r>
              <a:rPr lang="es-MX" dirty="0" smtClean="0"/>
              <a:t>, </a:t>
            </a:r>
            <a:r>
              <a:rPr lang="es-MX" dirty="0" err="1" smtClean="0"/>
              <a:t>for</a:t>
            </a:r>
            <a:r>
              <a:rPr lang="es-MX" dirty="0" smtClean="0"/>
              <a:t> d15N I can </a:t>
            </a:r>
            <a:r>
              <a:rPr lang="es-MX" dirty="0" err="1" smtClean="0"/>
              <a:t>not</a:t>
            </a:r>
            <a:r>
              <a:rPr lang="es-MX" dirty="0" smtClean="0"/>
              <a:t> </a:t>
            </a:r>
            <a:r>
              <a:rPr lang="es-MX" dirty="0" err="1" smtClean="0"/>
              <a:t>make</a:t>
            </a:r>
            <a:r>
              <a:rPr lang="es-MX" dirty="0" smtClean="0"/>
              <a:t> </a:t>
            </a:r>
            <a:r>
              <a:rPr lang="es-MX" dirty="0" err="1" smtClean="0"/>
              <a:t>it</a:t>
            </a:r>
            <a:r>
              <a:rPr lang="es-MX" dirty="0" smtClean="0"/>
              <a:t> </a:t>
            </a:r>
            <a:r>
              <a:rPr lang="es-MX" dirty="0" err="1" smtClean="0"/>
              <a:t>work</a:t>
            </a:r>
            <a:r>
              <a:rPr lang="es-MX" dirty="0" smtClean="0"/>
              <a:t>. I </a:t>
            </a:r>
            <a:r>
              <a:rPr lang="es-MX" dirty="0" err="1" smtClean="0"/>
              <a:t>think</a:t>
            </a:r>
            <a:r>
              <a:rPr lang="es-MX" dirty="0" smtClean="0"/>
              <a:t> I am </a:t>
            </a:r>
            <a:r>
              <a:rPr lang="es-MX" dirty="0" err="1" smtClean="0"/>
              <a:t>missing</a:t>
            </a:r>
            <a:r>
              <a:rPr lang="es-MX" dirty="0" smtClean="0"/>
              <a:t> a </a:t>
            </a:r>
            <a:r>
              <a:rPr lang="es-MX" dirty="0" err="1" smtClean="0"/>
              <a:t>biological</a:t>
            </a:r>
            <a:r>
              <a:rPr lang="es-MX" dirty="0" smtClean="0"/>
              <a:t> </a:t>
            </a:r>
            <a:r>
              <a:rPr lang="es-MX" dirty="0" err="1" smtClean="0"/>
              <a:t>interpreation</a:t>
            </a:r>
            <a:r>
              <a:rPr lang="es-MX" dirty="0" smtClean="0"/>
              <a:t>, </a:t>
            </a:r>
            <a:r>
              <a:rPr lang="es-MX" dirty="0" err="1" smtClean="0"/>
              <a:t>same</a:t>
            </a:r>
            <a:r>
              <a:rPr lang="es-MX" dirty="0" smtClean="0"/>
              <a:t> </a:t>
            </a:r>
            <a:r>
              <a:rPr lang="es-MX" dirty="0" err="1" smtClean="0"/>
              <a:t>for</a:t>
            </a:r>
            <a:r>
              <a:rPr lang="es-MX" dirty="0" smtClean="0"/>
              <a:t> C:N</a:t>
            </a:r>
            <a:endParaRPr lang="es-MX" dirty="0"/>
          </a:p>
          <a:p>
            <a:r>
              <a:rPr lang="es-MX" dirty="0" smtClean="0"/>
              <a:t>A I </a:t>
            </a:r>
            <a:r>
              <a:rPr lang="es-MX" dirty="0" err="1" smtClean="0"/>
              <a:t>used</a:t>
            </a:r>
            <a:r>
              <a:rPr lang="es-MX" dirty="0" smtClean="0"/>
              <a:t> </a:t>
            </a:r>
            <a:r>
              <a:rPr lang="es-MX" dirty="0" err="1"/>
              <a:t>DHARMa</a:t>
            </a:r>
            <a:r>
              <a:rPr lang="es-MX" dirty="0"/>
              <a:t> </a:t>
            </a:r>
            <a:r>
              <a:rPr lang="es-MX" dirty="0" err="1"/>
              <a:t>package</a:t>
            </a:r>
            <a:r>
              <a:rPr lang="es-MX" dirty="0"/>
              <a:t> </a:t>
            </a:r>
            <a:r>
              <a:rPr lang="es-MX" dirty="0" err="1"/>
              <a:t>for</a:t>
            </a:r>
            <a:r>
              <a:rPr lang="es-MX" dirty="0"/>
              <a:t> </a:t>
            </a:r>
            <a:r>
              <a:rPr lang="es-MX" dirty="0" smtClean="0"/>
              <a:t>diagnosis.</a:t>
            </a:r>
            <a:endParaRPr lang="es-MX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87031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MODEL FOR ALL ELEVATIONS</a:t>
            </a:r>
            <a:endParaRPr lang="en-US" dirty="0"/>
          </a:p>
        </p:txBody>
      </p:sp>
      <p:graphicFrame>
        <p:nvGraphicFramePr>
          <p:cNvPr id="4" name="Marcador de contenido 3"/>
          <p:cNvGraphicFramePr>
            <a:graphicFrameLocks noGrp="1"/>
          </p:cNvGraphicFramePr>
          <p:nvPr>
            <p:ph idx="1"/>
          </p:nvPr>
        </p:nvGraphicFramePr>
        <p:xfrm>
          <a:off x="838200" y="3878558"/>
          <a:ext cx="10515600" cy="245472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554532596"/>
                    </a:ext>
                  </a:extLst>
                </a:gridCol>
              </a:tblGrid>
              <a:tr h="242860">
                <a:tc>
                  <a:txBody>
                    <a:bodyPr/>
                    <a:lstStyle/>
                    <a:p>
                      <a:pPr algn="l" fontAlgn="b"/>
                      <a:endParaRPr lang="en-US" sz="1200" dirty="0">
                        <a:effectLst/>
                      </a:endParaRPr>
                    </a:p>
                  </a:txBody>
                  <a:tcPr marL="31296" marR="31296" marT="31296" marB="31296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6394063"/>
                  </a:ext>
                </a:extLst>
              </a:tr>
            </a:tbl>
          </a:graphicData>
        </a:graphic>
      </p:graphicFrame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1" name="Tabla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315314"/>
              </p:ext>
            </p:extLst>
          </p:nvPr>
        </p:nvGraphicFramePr>
        <p:xfrm>
          <a:off x="667752" y="1738148"/>
          <a:ext cx="11081085" cy="4280819"/>
        </p:xfrm>
        <a:graphic>
          <a:graphicData uri="http://schemas.openxmlformats.org/drawingml/2006/table">
            <a:tbl>
              <a:tblPr>
                <a:tableStyleId>{6E25E649-3F16-4E02-A733-19D2CDBF48F0}</a:tableStyleId>
              </a:tblPr>
              <a:tblGrid>
                <a:gridCol w="581557">
                  <a:extLst>
                    <a:ext uri="{9D8B030D-6E8A-4147-A177-3AD203B41FA5}">
                      <a16:colId xmlns:a16="http://schemas.microsoft.com/office/drawing/2014/main" val="3173932329"/>
                    </a:ext>
                  </a:extLst>
                </a:gridCol>
                <a:gridCol w="581557">
                  <a:extLst>
                    <a:ext uri="{9D8B030D-6E8A-4147-A177-3AD203B41FA5}">
                      <a16:colId xmlns:a16="http://schemas.microsoft.com/office/drawing/2014/main" val="2618081580"/>
                    </a:ext>
                  </a:extLst>
                </a:gridCol>
                <a:gridCol w="581557">
                  <a:extLst>
                    <a:ext uri="{9D8B030D-6E8A-4147-A177-3AD203B41FA5}">
                      <a16:colId xmlns:a16="http://schemas.microsoft.com/office/drawing/2014/main" val="1194397936"/>
                    </a:ext>
                  </a:extLst>
                </a:gridCol>
                <a:gridCol w="399821">
                  <a:extLst>
                    <a:ext uri="{9D8B030D-6E8A-4147-A177-3AD203B41FA5}">
                      <a16:colId xmlns:a16="http://schemas.microsoft.com/office/drawing/2014/main" val="4088107404"/>
                    </a:ext>
                  </a:extLst>
                </a:gridCol>
                <a:gridCol w="407090">
                  <a:extLst>
                    <a:ext uri="{9D8B030D-6E8A-4147-A177-3AD203B41FA5}">
                      <a16:colId xmlns:a16="http://schemas.microsoft.com/office/drawing/2014/main" val="1587368964"/>
                    </a:ext>
                  </a:extLst>
                </a:gridCol>
                <a:gridCol w="416783">
                  <a:extLst>
                    <a:ext uri="{9D8B030D-6E8A-4147-A177-3AD203B41FA5}">
                      <a16:colId xmlns:a16="http://schemas.microsoft.com/office/drawing/2014/main" val="667943803"/>
                    </a:ext>
                  </a:extLst>
                </a:gridCol>
                <a:gridCol w="581557">
                  <a:extLst>
                    <a:ext uri="{9D8B030D-6E8A-4147-A177-3AD203B41FA5}">
                      <a16:colId xmlns:a16="http://schemas.microsoft.com/office/drawing/2014/main" val="393676001"/>
                    </a:ext>
                  </a:extLst>
                </a:gridCol>
                <a:gridCol w="581557">
                  <a:extLst>
                    <a:ext uri="{9D8B030D-6E8A-4147-A177-3AD203B41FA5}">
                      <a16:colId xmlns:a16="http://schemas.microsoft.com/office/drawing/2014/main" val="3091794730"/>
                    </a:ext>
                  </a:extLst>
                </a:gridCol>
                <a:gridCol w="581557">
                  <a:extLst>
                    <a:ext uri="{9D8B030D-6E8A-4147-A177-3AD203B41FA5}">
                      <a16:colId xmlns:a16="http://schemas.microsoft.com/office/drawing/2014/main" val="2231398430"/>
                    </a:ext>
                  </a:extLst>
                </a:gridCol>
                <a:gridCol w="581557">
                  <a:extLst>
                    <a:ext uri="{9D8B030D-6E8A-4147-A177-3AD203B41FA5}">
                      <a16:colId xmlns:a16="http://schemas.microsoft.com/office/drawing/2014/main" val="183181478"/>
                    </a:ext>
                  </a:extLst>
                </a:gridCol>
                <a:gridCol w="581557">
                  <a:extLst>
                    <a:ext uri="{9D8B030D-6E8A-4147-A177-3AD203B41FA5}">
                      <a16:colId xmlns:a16="http://schemas.microsoft.com/office/drawing/2014/main" val="2612817557"/>
                    </a:ext>
                  </a:extLst>
                </a:gridCol>
                <a:gridCol w="581557">
                  <a:extLst>
                    <a:ext uri="{9D8B030D-6E8A-4147-A177-3AD203B41FA5}">
                      <a16:colId xmlns:a16="http://schemas.microsoft.com/office/drawing/2014/main" val="756054786"/>
                    </a:ext>
                  </a:extLst>
                </a:gridCol>
                <a:gridCol w="581557">
                  <a:extLst>
                    <a:ext uri="{9D8B030D-6E8A-4147-A177-3AD203B41FA5}">
                      <a16:colId xmlns:a16="http://schemas.microsoft.com/office/drawing/2014/main" val="1814137569"/>
                    </a:ext>
                  </a:extLst>
                </a:gridCol>
                <a:gridCol w="581557">
                  <a:extLst>
                    <a:ext uri="{9D8B030D-6E8A-4147-A177-3AD203B41FA5}">
                      <a16:colId xmlns:a16="http://schemas.microsoft.com/office/drawing/2014/main" val="3988407927"/>
                    </a:ext>
                  </a:extLst>
                </a:gridCol>
                <a:gridCol w="552479">
                  <a:extLst>
                    <a:ext uri="{9D8B030D-6E8A-4147-A177-3AD203B41FA5}">
                      <a16:colId xmlns:a16="http://schemas.microsoft.com/office/drawing/2014/main" val="2990145274"/>
                    </a:ext>
                  </a:extLst>
                </a:gridCol>
                <a:gridCol w="581557">
                  <a:extLst>
                    <a:ext uri="{9D8B030D-6E8A-4147-A177-3AD203B41FA5}">
                      <a16:colId xmlns:a16="http://schemas.microsoft.com/office/drawing/2014/main" val="2035735187"/>
                    </a:ext>
                  </a:extLst>
                </a:gridCol>
                <a:gridCol w="581557">
                  <a:extLst>
                    <a:ext uri="{9D8B030D-6E8A-4147-A177-3AD203B41FA5}">
                      <a16:colId xmlns:a16="http://schemas.microsoft.com/office/drawing/2014/main" val="2197243573"/>
                    </a:ext>
                  </a:extLst>
                </a:gridCol>
                <a:gridCol w="581557">
                  <a:extLst>
                    <a:ext uri="{9D8B030D-6E8A-4147-A177-3AD203B41FA5}">
                      <a16:colId xmlns:a16="http://schemas.microsoft.com/office/drawing/2014/main" val="2594780474"/>
                    </a:ext>
                  </a:extLst>
                </a:gridCol>
                <a:gridCol w="581557">
                  <a:extLst>
                    <a:ext uri="{9D8B030D-6E8A-4147-A177-3AD203B41FA5}">
                      <a16:colId xmlns:a16="http://schemas.microsoft.com/office/drawing/2014/main" val="947104807"/>
                    </a:ext>
                  </a:extLst>
                </a:gridCol>
                <a:gridCol w="581557">
                  <a:extLst>
                    <a:ext uri="{9D8B030D-6E8A-4147-A177-3AD203B41FA5}">
                      <a16:colId xmlns:a16="http://schemas.microsoft.com/office/drawing/2014/main" val="4053395391"/>
                    </a:ext>
                  </a:extLst>
                </a:gridCol>
              </a:tblGrid>
              <a:tr h="111181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term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900" marR="6900" marT="690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(Intercept)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900" marR="6900" marT="690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(Intercept)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900" marR="6900" marT="690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900" marR="6900" marT="690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900" marR="6900" marT="690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900" marR="6900" marT="690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900" marR="6900" marT="690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elevation_m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900" marR="6900" marT="690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elevation_m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900" marR="6900" marT="690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I(elevation_m^2)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900" marR="6900" marT="690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I(elevation_m^2)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900" marR="6900" marT="690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 × P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900" marR="6900" marT="690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 × P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900" marR="6900" marT="690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SD (Intercept Plot)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900" marR="6900" marT="690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SD (Intercept name)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900" marR="6900" marT="690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SD (elevation_m name)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900" marR="6900" marT="690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Cor (Intercept~elevation_m name)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900" marR="6900" marT="690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SD (Observations)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900" marR="6900" marT="690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Num.Obs.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900" marR="6900" marT="690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AIC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900" marR="6900" marT="6900" marB="0" anchor="ctr"/>
                </a:tc>
                <a:extLst>
                  <a:ext uri="{0D108BD9-81ED-4DB2-BD59-A6C34878D82A}">
                    <a16:rowId xmlns:a16="http://schemas.microsoft.com/office/drawing/2014/main" val="49593277"/>
                  </a:ext>
                </a:extLst>
              </a:tr>
              <a:tr h="37457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statistic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900" marR="6900" marT="690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estimate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900" marR="6900" marT="690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std.error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900" marR="6900" marT="690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estimate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900" marR="6900" marT="690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std.error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900" marR="6900" marT="690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estimate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900" marR="6900" marT="690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std.error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900" marR="6900" marT="690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estimate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900" marR="6900" marT="690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std.error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900" marR="6900" marT="690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estimate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900" marR="6900" marT="690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std.error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900" marR="6900" marT="690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estimate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900" marR="6900" marT="690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std.error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900" marR="6900" marT="690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estimate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900" marR="6900" marT="690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estimate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900" marR="6900" marT="690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estimate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900" marR="6900" marT="690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estimate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900" marR="6900" marT="690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estimate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900" marR="6900" marT="690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900" marR="6900" marT="690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900" marR="6900" marT="6900" marB="0" anchor="ctr"/>
                </a:tc>
                <a:extLst>
                  <a:ext uri="{0D108BD9-81ED-4DB2-BD59-A6C34878D82A}">
                    <a16:rowId xmlns:a16="http://schemas.microsoft.com/office/drawing/2014/main" val="827660051"/>
                  </a:ext>
                </a:extLst>
              </a:tr>
              <a:tr h="558886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qiWUE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900" marR="6900" marT="690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-49.467+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900" marR="6900" marT="690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-27.965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900" marR="6900" marT="690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1.095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900" marR="6900" marT="690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-3.645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900" marR="6900" marT="690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-3.476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900" marR="6900" marT="690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-3.419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900" marR="6900" marT="690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0.115***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900" marR="6900" marT="690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-0.031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900" marR="6900" marT="690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-0.000**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900" marR="6900" marT="690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900" marR="6900" marT="690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-1.373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900" marR="6900" marT="690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-5.436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900" marR="6900" marT="690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5.626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900" marR="6900" marT="690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8.57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900" marR="6900" marT="690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900" marR="6900" marT="690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900" marR="6900" marT="690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14.013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900" marR="6900" marT="690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182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900" marR="6900" marT="690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1533.6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900" marR="6900" marT="6900" marB="0" anchor="ctr"/>
                </a:tc>
                <a:extLst>
                  <a:ext uri="{0D108BD9-81ED-4DB2-BD59-A6C34878D82A}">
                    <a16:rowId xmlns:a16="http://schemas.microsoft.com/office/drawing/2014/main" val="338782594"/>
                  </a:ext>
                </a:extLst>
              </a:tr>
              <a:tr h="558886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qO18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900" marR="6900" marT="690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23.813***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900" marR="6900" marT="690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-1.982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900" marR="6900" marT="690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0.39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900" marR="6900" marT="690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-0.311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900" marR="6900" marT="690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-0.095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900" marR="6900" marT="690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-0.294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900" marR="6900" marT="690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0.008***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900" marR="6900" marT="690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-0.002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900" marR="6900" marT="690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-0.000***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900" marR="6900" marT="690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900" marR="6900" marT="690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-0.356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900" marR="6900" marT="690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-0.456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900" marR="6900" marT="690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0.253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900" marR="6900" marT="690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0.58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900" marR="6900" marT="690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900" marR="6900" marT="690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900" marR="6900" marT="690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1.369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900" marR="6900" marT="690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180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900" marR="6900" marT="690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695.6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900" marR="6900" marT="6900" marB="0" anchor="ctr"/>
                </a:tc>
                <a:extLst>
                  <a:ext uri="{0D108BD9-81ED-4DB2-BD59-A6C34878D82A}">
                    <a16:rowId xmlns:a16="http://schemas.microsoft.com/office/drawing/2014/main" val="2644981903"/>
                  </a:ext>
                </a:extLst>
              </a:tr>
              <a:tr h="558886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N15</a:t>
                      </a:r>
                      <a:endParaRPr lang="en-US" sz="1200" b="0" i="0" u="none" strike="noStrike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900" marR="6900" marT="690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1.859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900" marR="6900" marT="690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-2.105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900" marR="6900" marT="690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1.002**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900" marR="6900" marT="690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-0.323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900" marR="6900" marT="690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-0.315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900" marR="6900" marT="690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-0.302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900" marR="6900" marT="690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-0.002*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900" marR="6900" marT="690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-0.001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900" marR="6900" marT="690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900" marR="6900" marT="690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900" marR="6900" marT="690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0.807+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900" marR="6900" marT="690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-0.481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900" marR="6900" marT="690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0.51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900" marR="6900" marT="690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1.918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900" marR="6900" marT="690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900" marR="6900" marT="690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900" marR="6900" marT="690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1.232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900" marR="6900" marT="690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182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900" marR="6900" marT="690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657.8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900" marR="6900" marT="6900" marB="0" anchor="ctr"/>
                </a:tc>
                <a:extLst>
                  <a:ext uri="{0D108BD9-81ED-4DB2-BD59-A6C34878D82A}">
                    <a16:rowId xmlns:a16="http://schemas.microsoft.com/office/drawing/2014/main" val="4189293306"/>
                  </a:ext>
                </a:extLst>
              </a:tr>
              <a:tr h="558886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CN</a:t>
                      </a:r>
                      <a:endParaRPr lang="en-US" sz="1200" b="0" i="0" u="none" strike="noStrike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900" marR="6900" marT="690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28.466*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900" marR="6900" marT="690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-12.528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900" marR="6900" marT="690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-3.314*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900" marR="6900" marT="690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-1.314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900" marR="6900" marT="690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0.649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900" marR="6900" marT="690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-1.241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900" marR="6900" marT="690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0.004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900" marR="6900" marT="690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-0.006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900" marR="6900" marT="690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900" marR="6900" marT="690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900" marR="6900" marT="690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-1.205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900" marR="6900" marT="690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-1.945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900" marR="6900" marT="690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1.56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900" marR="6900" marT="690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11.505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900" marR="6900" marT="690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900" marR="6900" marT="690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900" marR="6900" marT="690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5.408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900" marR="6900" marT="690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182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900" marR="6900" marT="690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1177.8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900" marR="6900" marT="6900" marB="0" anchor="ctr"/>
                </a:tc>
                <a:extLst>
                  <a:ext uri="{0D108BD9-81ED-4DB2-BD59-A6C34878D82A}">
                    <a16:rowId xmlns:a16="http://schemas.microsoft.com/office/drawing/2014/main" val="1399217598"/>
                  </a:ext>
                </a:extLst>
              </a:tr>
              <a:tr h="558886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CN3</a:t>
                      </a:r>
                      <a:endParaRPr lang="en-US" sz="1200" b="0" i="0" u="none" strike="noStrike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900" marR="6900" marT="690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35.104***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900" marR="6900" marT="690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-4.46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900" marR="6900" marT="690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-3.628**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900" marR="6900" marT="690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-1.176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900" marR="6900" marT="690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0.935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900" marR="6900" marT="690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-1.114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900" marR="6900" marT="690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900" marR="6900" marT="690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900" marR="6900" marT="690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900" marR="6900" marT="690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900" marR="6900" marT="690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-0.899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900" marR="6900" marT="690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-1.705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900" marR="6900" marT="690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0.215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900" marR="6900" marT="6900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900" marR="6900" marT="690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900" marR="6900" marT="690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900" marR="6900" marT="690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900" marR="6900" marT="690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900" marR="6900" marT="690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900" marR="6900" marT="6900" marB="0" anchor="b"/>
                </a:tc>
                <a:extLst>
                  <a:ext uri="{0D108BD9-81ED-4DB2-BD59-A6C34878D82A}">
                    <a16:rowId xmlns:a16="http://schemas.microsoft.com/office/drawing/2014/main" val="3439272627"/>
                  </a:ext>
                </a:extLst>
              </a:tr>
            </a:tbl>
          </a:graphicData>
        </a:graphic>
      </p:graphicFrame>
      <p:sp>
        <p:nvSpPr>
          <p:cNvPr id="12" name="CuadroTexto 11"/>
          <p:cNvSpPr txBox="1"/>
          <p:nvPr/>
        </p:nvSpPr>
        <p:spPr>
          <a:xfrm>
            <a:off x="5823284" y="6264440"/>
            <a:ext cx="4620126" cy="36933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s-MX" dirty="0" smtClean="0"/>
              <a:t>I </a:t>
            </a:r>
            <a:r>
              <a:rPr lang="es-MX" dirty="0" err="1" smtClean="0"/>
              <a:t>need</a:t>
            </a:r>
            <a:r>
              <a:rPr lang="es-MX" dirty="0" smtClean="0"/>
              <a:t> </a:t>
            </a:r>
            <a:r>
              <a:rPr lang="es-MX" dirty="0" err="1" smtClean="0"/>
              <a:t>help</a:t>
            </a:r>
            <a:r>
              <a:rPr lang="es-MX" dirty="0" smtClean="0"/>
              <a:t> </a:t>
            </a:r>
            <a:r>
              <a:rPr lang="es-MX" dirty="0" err="1" smtClean="0"/>
              <a:t>here</a:t>
            </a:r>
            <a:r>
              <a:rPr lang="es-MX" dirty="0" smtClean="0"/>
              <a:t>, </a:t>
            </a:r>
            <a:r>
              <a:rPr lang="es-MX" dirty="0" err="1" smtClean="0"/>
              <a:t>for</a:t>
            </a:r>
            <a:r>
              <a:rPr lang="es-MX" dirty="0" smtClean="0"/>
              <a:t> </a:t>
            </a:r>
            <a:r>
              <a:rPr lang="es-MX" dirty="0" err="1" smtClean="0"/>
              <a:t>the</a:t>
            </a:r>
            <a:r>
              <a:rPr lang="es-MX" dirty="0" smtClean="0"/>
              <a:t> N15 and CN </a:t>
            </a:r>
            <a:r>
              <a:rPr lang="es-MX" dirty="0" err="1" smtClean="0"/>
              <a:t>models</a:t>
            </a:r>
            <a:r>
              <a:rPr lang="es-MX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0797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DUAL ISOTOPE C AND O</a:t>
            </a:r>
            <a:endParaRPr lang="en-U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 smtClean="0"/>
              <a:t>Visual </a:t>
            </a:r>
            <a:r>
              <a:rPr lang="es-MX" dirty="0" err="1" smtClean="0"/>
              <a:t>inspection</a:t>
            </a:r>
            <a:r>
              <a:rPr lang="es-MX" dirty="0" smtClean="0"/>
              <a:t> shows </a:t>
            </a:r>
            <a:r>
              <a:rPr lang="es-MX" dirty="0" err="1" smtClean="0"/>
              <a:t>clear</a:t>
            </a:r>
            <a:r>
              <a:rPr lang="es-MX" dirty="0" smtClean="0"/>
              <a:t> </a:t>
            </a:r>
            <a:r>
              <a:rPr lang="es-MX" dirty="0" err="1" smtClean="0"/>
              <a:t>patterns</a:t>
            </a:r>
            <a:r>
              <a:rPr lang="es-MX" dirty="0" smtClean="0"/>
              <a:t> </a:t>
            </a:r>
            <a:r>
              <a:rPr lang="es-MX" dirty="0" err="1" smtClean="0"/>
              <a:t>between</a:t>
            </a:r>
            <a:r>
              <a:rPr lang="es-MX" dirty="0" smtClean="0"/>
              <a:t> </a:t>
            </a:r>
            <a:r>
              <a:rPr lang="es-MX" dirty="0" err="1" smtClean="0"/>
              <a:t>the</a:t>
            </a:r>
            <a:r>
              <a:rPr lang="es-MX" dirty="0" smtClean="0"/>
              <a:t> </a:t>
            </a:r>
            <a:r>
              <a:rPr lang="es-MX" dirty="0" err="1" smtClean="0"/>
              <a:t>groups</a:t>
            </a:r>
            <a:r>
              <a:rPr lang="es-MX" dirty="0" smtClean="0"/>
              <a:t> </a:t>
            </a:r>
            <a:r>
              <a:rPr lang="es-MX" dirty="0" err="1" smtClean="0"/>
              <a:t>according</a:t>
            </a:r>
            <a:r>
              <a:rPr lang="es-MX" dirty="0" smtClean="0"/>
              <a:t> to </a:t>
            </a:r>
            <a:r>
              <a:rPr lang="es-MX" dirty="0" err="1" smtClean="0"/>
              <a:t>the</a:t>
            </a:r>
            <a:r>
              <a:rPr lang="es-MX" dirty="0" smtClean="0"/>
              <a:t> </a:t>
            </a:r>
            <a:r>
              <a:rPr lang="es-MX" dirty="0" err="1" smtClean="0"/>
              <a:t>elevations</a:t>
            </a:r>
            <a:r>
              <a:rPr lang="es-MX" dirty="0" smtClean="0"/>
              <a:t>.</a:t>
            </a:r>
          </a:p>
          <a:p>
            <a:r>
              <a:rPr lang="es-MX" dirty="0" smtClean="0"/>
              <a:t>I </a:t>
            </a:r>
            <a:r>
              <a:rPr lang="es-MX" dirty="0" err="1" smtClean="0"/>
              <a:t>created</a:t>
            </a:r>
            <a:r>
              <a:rPr lang="es-MX" dirty="0" smtClean="0"/>
              <a:t> </a:t>
            </a:r>
            <a:r>
              <a:rPr lang="es-MX" dirty="0" err="1" smtClean="0"/>
              <a:t>the</a:t>
            </a:r>
            <a:r>
              <a:rPr lang="es-MX" dirty="0" smtClean="0"/>
              <a:t> </a:t>
            </a:r>
            <a:r>
              <a:rPr lang="es-MX" dirty="0" err="1" smtClean="0"/>
              <a:t>plots</a:t>
            </a:r>
            <a:r>
              <a:rPr lang="es-MX" dirty="0" smtClean="0"/>
              <a:t> per </a:t>
            </a:r>
            <a:r>
              <a:rPr lang="es-MX" dirty="0" err="1" smtClean="0"/>
              <a:t>specie</a:t>
            </a:r>
            <a:r>
              <a:rPr lang="es-MX" dirty="0" smtClean="0"/>
              <a:t> </a:t>
            </a:r>
            <a:r>
              <a:rPr lang="es-MX" dirty="0" err="1" smtClean="0"/>
              <a:t>aiming</a:t>
            </a:r>
            <a:r>
              <a:rPr lang="es-MX" dirty="0" smtClean="0"/>
              <a:t> to </a:t>
            </a:r>
            <a:r>
              <a:rPr lang="es-MX" dirty="0" err="1" smtClean="0"/>
              <a:t>see</a:t>
            </a:r>
            <a:r>
              <a:rPr lang="es-MX" dirty="0" smtClean="0"/>
              <a:t> </a:t>
            </a:r>
            <a:r>
              <a:rPr lang="es-MX" dirty="0" err="1" smtClean="0"/>
              <a:t>clear</a:t>
            </a:r>
            <a:r>
              <a:rPr lang="es-MX" dirty="0" smtClean="0"/>
              <a:t> </a:t>
            </a:r>
            <a:r>
              <a:rPr lang="es-MX" dirty="0" err="1" smtClean="0"/>
              <a:t>differences</a:t>
            </a:r>
            <a:r>
              <a:rPr lang="es-MX" dirty="0" smtClean="0"/>
              <a:t> </a:t>
            </a:r>
            <a:r>
              <a:rPr lang="es-MX" dirty="0" err="1" smtClean="0"/>
              <a:t>between</a:t>
            </a:r>
            <a:r>
              <a:rPr lang="es-MX" dirty="0" smtClean="0"/>
              <a:t> </a:t>
            </a:r>
            <a:r>
              <a:rPr lang="es-MX" dirty="0" err="1" smtClean="0"/>
              <a:t>the</a:t>
            </a:r>
            <a:r>
              <a:rPr lang="es-MX" dirty="0" smtClean="0"/>
              <a:t> </a:t>
            </a:r>
            <a:r>
              <a:rPr lang="es-MX" dirty="0" err="1" smtClean="0"/>
              <a:t>treatments</a:t>
            </a:r>
            <a:r>
              <a:rPr lang="es-MX" dirty="0" smtClean="0"/>
              <a:t>. </a:t>
            </a:r>
            <a:r>
              <a:rPr lang="es-MX" dirty="0" err="1" smtClean="0"/>
              <a:t>Interesting</a:t>
            </a:r>
            <a:r>
              <a:rPr lang="es-MX" dirty="0" smtClean="0"/>
              <a:t> to </a:t>
            </a:r>
            <a:r>
              <a:rPr lang="es-MX" dirty="0" err="1" smtClean="0"/>
              <a:t>check</a:t>
            </a:r>
            <a:r>
              <a:rPr lang="es-MX" dirty="0" smtClean="0"/>
              <a:t> </a:t>
            </a:r>
            <a:r>
              <a:rPr lang="es-MX" i="1" dirty="0" err="1" smtClean="0"/>
              <a:t>Pouteria</a:t>
            </a:r>
            <a:r>
              <a:rPr lang="es-MX" i="1" dirty="0" smtClean="0"/>
              <a:t>, </a:t>
            </a:r>
            <a:r>
              <a:rPr lang="es-MX" i="1" dirty="0" err="1" smtClean="0"/>
              <a:t>Alchornea</a:t>
            </a:r>
            <a:r>
              <a:rPr lang="es-MX" i="1" dirty="0" smtClean="0"/>
              <a:t>, </a:t>
            </a:r>
            <a:r>
              <a:rPr lang="es-MX" i="1" dirty="0" err="1" smtClean="0"/>
              <a:t>Myrcia</a:t>
            </a:r>
            <a:r>
              <a:rPr lang="es-MX" i="1" dirty="0" smtClean="0"/>
              <a:t>, </a:t>
            </a:r>
            <a:r>
              <a:rPr lang="es-MX" i="1" dirty="0" err="1" smtClean="0"/>
              <a:t>Hedyosmum</a:t>
            </a:r>
            <a:r>
              <a:rPr lang="es-MX" i="1" dirty="0" smtClean="0"/>
              <a:t>.</a:t>
            </a:r>
          </a:p>
          <a:p>
            <a:r>
              <a:rPr lang="es-MX" dirty="0" err="1" smtClean="0"/>
              <a:t>Still</a:t>
            </a:r>
            <a:r>
              <a:rPr lang="es-MX" dirty="0" smtClean="0"/>
              <a:t> </a:t>
            </a:r>
            <a:r>
              <a:rPr lang="es-MX" dirty="0" err="1" smtClean="0"/>
              <a:t>need</a:t>
            </a:r>
            <a:r>
              <a:rPr lang="es-MX" dirty="0" smtClean="0"/>
              <a:t> to figure </a:t>
            </a:r>
            <a:r>
              <a:rPr lang="es-MX" dirty="0" err="1" smtClean="0"/>
              <a:t>it</a:t>
            </a:r>
            <a:r>
              <a:rPr lang="es-MX" dirty="0" smtClean="0"/>
              <a:t> more </a:t>
            </a:r>
            <a:r>
              <a:rPr lang="es-MX" dirty="0" err="1" smtClean="0"/>
              <a:t>how</a:t>
            </a:r>
            <a:r>
              <a:rPr lang="es-MX" dirty="0" smtClean="0"/>
              <a:t> to </a:t>
            </a:r>
            <a:r>
              <a:rPr lang="es-MX" dirty="0" err="1" smtClean="0"/>
              <a:t>interpret</a:t>
            </a:r>
            <a:r>
              <a:rPr lang="es-MX" dirty="0" smtClean="0"/>
              <a:t> </a:t>
            </a:r>
            <a:r>
              <a:rPr lang="es-MX" dirty="0" err="1" smtClean="0"/>
              <a:t>it</a:t>
            </a:r>
            <a:r>
              <a:rPr lang="es-MX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49885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contenido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1920" y="294793"/>
            <a:ext cx="8032809" cy="5900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11114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 rotWithShape="1">
          <a:blip r:embed="rId3"/>
          <a:srcRect l="63197" t="28502" r="17363" b="46350"/>
          <a:stretch/>
        </p:blipFill>
        <p:spPr>
          <a:xfrm>
            <a:off x="11317603" y="149181"/>
            <a:ext cx="718457" cy="979714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804" y="0"/>
            <a:ext cx="3168048" cy="3339515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57379" y="1"/>
            <a:ext cx="3192507" cy="3365298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56971" y="2"/>
            <a:ext cx="3184682" cy="3357048"/>
          </a:xfrm>
          <a:prstGeom prst="rect">
            <a:avLst/>
          </a:prstGeom>
        </p:spPr>
      </p:pic>
      <p:pic>
        <p:nvPicPr>
          <p:cNvPr id="9" name="Imagen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6073" y="3339515"/>
            <a:ext cx="3113779" cy="3282308"/>
          </a:xfrm>
          <a:prstGeom prst="rect">
            <a:avLst/>
          </a:prstGeom>
        </p:spPr>
      </p:pic>
      <p:pic>
        <p:nvPicPr>
          <p:cNvPr id="10" name="Imagen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83505" y="3311790"/>
            <a:ext cx="3166381" cy="3337757"/>
          </a:xfrm>
          <a:prstGeom prst="rect">
            <a:avLst/>
          </a:prstGeom>
        </p:spPr>
      </p:pic>
      <p:pic>
        <p:nvPicPr>
          <p:cNvPr id="11" name="Imagen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56971" y="3394017"/>
            <a:ext cx="3286126" cy="3463983"/>
          </a:xfrm>
          <a:prstGeom prst="rect">
            <a:avLst/>
          </a:prstGeom>
        </p:spPr>
      </p:pic>
      <p:sp>
        <p:nvSpPr>
          <p:cNvPr id="12" name="Rectángulo 11"/>
          <p:cNvSpPr/>
          <p:nvPr/>
        </p:nvSpPr>
        <p:spPr>
          <a:xfrm>
            <a:off x="286603" y="0"/>
            <a:ext cx="3562066" cy="6858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ángulo 12"/>
          <p:cNvSpPr/>
          <p:nvPr/>
        </p:nvSpPr>
        <p:spPr>
          <a:xfrm>
            <a:off x="3992600" y="8631"/>
            <a:ext cx="3389274" cy="6858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ángulo 13"/>
          <p:cNvSpPr/>
          <p:nvPr/>
        </p:nvSpPr>
        <p:spPr>
          <a:xfrm>
            <a:off x="7724983" y="80963"/>
            <a:ext cx="3389274" cy="6858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0774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NEXT STEPS AND QUESTIONS</a:t>
            </a:r>
            <a:endParaRPr lang="en-U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200" dirty="0"/>
              <a:t>I am currently exploring how to incorporate functional traits (SLA, wood density, leaf thickness and toughness), with the aim of using them to explain interspecific differences in physiological responses. I have started with species-level visualizations, but I am still refining their interpretation.</a:t>
            </a:r>
          </a:p>
          <a:p>
            <a:r>
              <a:rPr lang="en-US" sz="2200" dirty="0"/>
              <a:t>Once the trait-based framework is clearer, </a:t>
            </a:r>
            <a:r>
              <a:rPr lang="en-US" sz="2200" dirty="0" smtClean="0"/>
              <a:t>perhaps we can discuss, </a:t>
            </a:r>
            <a:r>
              <a:rPr lang="en-US" sz="2200" dirty="0"/>
              <a:t>to extend the analyses to tree size variables </a:t>
            </a:r>
            <a:r>
              <a:rPr lang="en-US" sz="2200" dirty="0" smtClean="0"/>
              <a:t>(I have DBH </a:t>
            </a:r>
            <a:r>
              <a:rPr lang="en-US" sz="2200" dirty="0"/>
              <a:t>and </a:t>
            </a:r>
            <a:r>
              <a:rPr lang="en-US" sz="2200" dirty="0" smtClean="0"/>
              <a:t>height on each individual and H seems to be interesting for </a:t>
            </a:r>
            <a:r>
              <a:rPr lang="en-US" sz="2200" dirty="0" err="1" smtClean="0"/>
              <a:t>iWUE</a:t>
            </a:r>
            <a:r>
              <a:rPr lang="en-US" sz="2200" dirty="0" smtClean="0"/>
              <a:t>). Potentially  we could use growth</a:t>
            </a:r>
            <a:r>
              <a:rPr lang="en-US" sz="2200" dirty="0"/>
              <a:t>, using the long-term monitoring data available since 2009. The experimental controls from 2009 (n = 9) would be used mainly as a baseline reference due to their limited sample size.</a:t>
            </a:r>
          </a:p>
          <a:p>
            <a:r>
              <a:rPr lang="en-US" sz="2200" dirty="0"/>
              <a:t>Regarding environmental drivers, elevation has been useful as an integrative gradient, but I would like to discuss the incorporation of explicit climatic variables to improve interpretability. </a:t>
            </a:r>
            <a:r>
              <a:rPr lang="en-US" sz="2200" dirty="0" smtClean="0"/>
              <a:t>I thought on working with PCA dimensions. </a:t>
            </a:r>
          </a:p>
          <a:p>
            <a:r>
              <a:rPr lang="en-US" sz="2200" dirty="0" smtClean="0"/>
              <a:t>Additionally</a:t>
            </a:r>
            <a:r>
              <a:rPr lang="en-US" sz="2200" dirty="0"/>
              <a:t>, I </a:t>
            </a:r>
            <a:r>
              <a:rPr lang="en-US" sz="2200" dirty="0" smtClean="0"/>
              <a:t>discussing about including </a:t>
            </a:r>
            <a:r>
              <a:rPr lang="en-US" sz="2200" dirty="0"/>
              <a:t>a Topographic Position Index (TPI) to account for local-scale variation related to topography and microclimate.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90484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629</TotalTime>
  <Words>1610</Words>
  <Application>Microsoft Office PowerPoint</Application>
  <PresentationFormat>Panorámica</PresentationFormat>
  <Paragraphs>532</Paragraphs>
  <Slides>20</Slides>
  <Notes>14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25" baseType="lpstr">
      <vt:lpstr>Arial</vt:lpstr>
      <vt:lpstr>Calibri</vt:lpstr>
      <vt:lpstr>Calibri Light</vt:lpstr>
      <vt:lpstr>Times New Roman</vt:lpstr>
      <vt:lpstr>Tema de Office</vt:lpstr>
      <vt:lpstr>Chapter 1: iWUE variation between  NUMEX experiment manipulation</vt:lpstr>
      <vt:lpstr>RQ:</vt:lpstr>
      <vt:lpstr>Presentación de PowerPoint</vt:lpstr>
      <vt:lpstr>Presentación de PowerPoint</vt:lpstr>
      <vt:lpstr>ANALYSIS PER SPECIE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ANALYSIS PER EACH ELEVATION</vt:lpstr>
      <vt:lpstr>Presentación de PowerPoint</vt:lpstr>
      <vt:lpstr>Presentación de PowerPoint</vt:lpstr>
      <vt:lpstr>Presentación de PowerPoint</vt:lpstr>
      <vt:lpstr>“COMPLETE” MODEL</vt:lpstr>
      <vt:lpstr>MODEL FOR ALL ELEVATIONS</vt:lpstr>
      <vt:lpstr>DUAL ISOTOPE C AND O</vt:lpstr>
      <vt:lpstr>Presentación de PowerPoint</vt:lpstr>
      <vt:lpstr>Presentación de PowerPoint</vt:lpstr>
      <vt:lpstr>NEXT STEPS AND QUESTIONS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selene.baez</dc:creator>
  <cp:lastModifiedBy>selene.baez</cp:lastModifiedBy>
  <cp:revision>28</cp:revision>
  <dcterms:created xsi:type="dcterms:W3CDTF">2025-12-15T21:47:15Z</dcterms:created>
  <dcterms:modified xsi:type="dcterms:W3CDTF">2026-01-22T12:55:53Z</dcterms:modified>
</cp:coreProperties>
</file>