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66" r:id="rId2"/>
    <p:sldId id="282" r:id="rId3"/>
    <p:sldId id="268" r:id="rId4"/>
    <p:sldId id="285" r:id="rId5"/>
    <p:sldId id="271" r:id="rId6"/>
    <p:sldId id="292" r:id="rId7"/>
    <p:sldId id="291" r:id="rId8"/>
    <p:sldId id="283" r:id="rId9"/>
    <p:sldId id="269" r:id="rId10"/>
    <p:sldId id="272" r:id="rId11"/>
    <p:sldId id="259" r:id="rId12"/>
    <p:sldId id="286" r:id="rId13"/>
    <p:sldId id="287" r:id="rId14"/>
    <p:sldId id="284" r:id="rId15"/>
    <p:sldId id="261" r:id="rId16"/>
    <p:sldId id="260" r:id="rId17"/>
    <p:sldId id="273" r:id="rId18"/>
    <p:sldId id="274" r:id="rId19"/>
    <p:sldId id="275" r:id="rId20"/>
    <p:sldId id="288" r:id="rId21"/>
    <p:sldId id="276" r:id="rId22"/>
    <p:sldId id="277" r:id="rId23"/>
    <p:sldId id="281" r:id="rId24"/>
    <p:sldId id="278" r:id="rId25"/>
    <p:sldId id="289" r:id="rId26"/>
    <p:sldId id="290" r:id="rId27"/>
    <p:sldId id="270" r:id="rId28"/>
    <p:sldId id="257" r:id="rId29"/>
    <p:sldId id="256" r:id="rId30"/>
    <p:sldId id="280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Estilo medio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93D81CF-94F2-401A-BA57-92F5A7B2D0C5}" styleName="Estilo medio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6E25E649-3F16-4E02-A733-19D2CDBF48F0}" styleName="Estilo medio 3 - Énfasis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85BE263C-DBD7-4A20-BB59-AAB30ACAA65A}" styleName="Estilo medio 3 - Énfasis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344D84-9AFB-497E-A393-DC336BA19D2E}" styleName="Estilo medio 3 - Énfasis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9631B5-78F2-41C9-869B-9F39066F8104}" styleName="Estilo medio 3 - Énfasis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4C1A8A3-306A-4EB7-A6B1-4F7E0EB9C5D6}" styleName="Estilo medio 3 - Énfasis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D7AC3CCA-C797-4891-BE02-D94E43425B78}" styleName="Estilo medio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343" autoAdjust="0"/>
  </p:normalViewPr>
  <p:slideViewPr>
    <p:cSldViewPr snapToGrid="0">
      <p:cViewPr varScale="1">
        <p:scale>
          <a:sx n="105" d="100"/>
          <a:sy n="105" d="100"/>
        </p:scale>
        <p:origin x="750" y="10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ADAB2D-2438-4DAF-8EF0-78196AA5F54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953BC2-43C1-4767-ADF3-5E906A4AA8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83427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53BC2-43C1-4767-ADF3-5E906A4AA83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0447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 smtClean="0"/>
              <a:t>Data</a:t>
            </a:r>
            <a:r>
              <a:rPr lang="es-MX" baseline="0" dirty="0" smtClean="0"/>
              <a:t> </a:t>
            </a:r>
            <a:r>
              <a:rPr lang="es-MX" baseline="0" dirty="0" err="1" smtClean="0"/>
              <a:t>collected</a:t>
            </a:r>
            <a:r>
              <a:rPr lang="es-MX" baseline="0" dirty="0" smtClean="0"/>
              <a:t> and </a:t>
            </a:r>
            <a:r>
              <a:rPr lang="es-MX" baseline="0" dirty="0" err="1" smtClean="0"/>
              <a:t>processed</a:t>
            </a:r>
            <a:r>
              <a:rPr lang="es-MX" baseline="0" dirty="0" smtClean="0"/>
              <a:t> in </a:t>
            </a:r>
            <a:r>
              <a:rPr lang="es-MX" baseline="0" dirty="0" err="1" smtClean="0"/>
              <a:t>green</a:t>
            </a:r>
            <a:r>
              <a:rPr lang="es-MX" baseline="0" dirty="0" smtClean="0"/>
              <a:t>. In red, </a:t>
            </a:r>
            <a:r>
              <a:rPr lang="es-MX" baseline="0" dirty="0" err="1" smtClean="0"/>
              <a:t>the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missing</a:t>
            </a:r>
            <a:r>
              <a:rPr lang="es-MX" baseline="0" dirty="0" smtClean="0"/>
              <a:t> data.</a:t>
            </a:r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53BC2-43C1-4767-ADF3-5E906A4AA83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0183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53BC2-43C1-4767-ADF3-5E906A4AA83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08316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53BC2-43C1-4767-ADF3-5E906A4AA83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5037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 err="1" smtClean="0"/>
              <a:t>The</a:t>
            </a:r>
            <a:r>
              <a:rPr lang="es-MX" dirty="0" smtClean="0"/>
              <a:t> </a:t>
            </a:r>
            <a:r>
              <a:rPr lang="es-MX" dirty="0" err="1" smtClean="0"/>
              <a:t>dotted</a:t>
            </a:r>
            <a:r>
              <a:rPr lang="es-MX" dirty="0" smtClean="0"/>
              <a:t> line </a:t>
            </a:r>
            <a:r>
              <a:rPr lang="es-MX" dirty="0" err="1" smtClean="0"/>
              <a:t>is</a:t>
            </a:r>
            <a:r>
              <a:rPr lang="es-MX" dirty="0" smtClean="0"/>
              <a:t> </a:t>
            </a:r>
            <a:r>
              <a:rPr lang="es-MX" dirty="0" err="1" smtClean="0"/>
              <a:t>the</a:t>
            </a:r>
            <a:r>
              <a:rPr lang="es-MX" dirty="0" smtClean="0"/>
              <a:t> mean</a:t>
            </a:r>
            <a:r>
              <a:rPr lang="es-MX" baseline="0" dirty="0" smtClean="0"/>
              <a:t> of </a:t>
            </a:r>
            <a:r>
              <a:rPr lang="es-MX" baseline="0" dirty="0" err="1" smtClean="0"/>
              <a:t>the</a:t>
            </a:r>
            <a:r>
              <a:rPr lang="es-MX" baseline="0" dirty="0" smtClean="0"/>
              <a:t> control.  </a:t>
            </a:r>
          </a:p>
          <a:p>
            <a:r>
              <a:rPr lang="es-MX" dirty="0" err="1" smtClean="0"/>
              <a:t>Weinmania</a:t>
            </a:r>
            <a:r>
              <a:rPr lang="es-MX" dirty="0" smtClean="0"/>
              <a:t> looks</a:t>
            </a:r>
            <a:r>
              <a:rPr lang="es-MX" baseline="0" dirty="0" smtClean="0"/>
              <a:t> </a:t>
            </a:r>
            <a:r>
              <a:rPr lang="es-MX" baseline="0" dirty="0" err="1" smtClean="0"/>
              <a:t>that</a:t>
            </a:r>
            <a:r>
              <a:rPr lang="es-MX" baseline="0" dirty="0" smtClean="0"/>
              <a:t> NP has </a:t>
            </a:r>
            <a:r>
              <a:rPr lang="es-MX" baseline="0" dirty="0" err="1" smtClean="0"/>
              <a:t>an</a:t>
            </a:r>
            <a:r>
              <a:rPr lang="es-MX" baseline="0" dirty="0" smtClean="0"/>
              <a:t> </a:t>
            </a:r>
            <a:r>
              <a:rPr lang="es-MX" baseline="0" dirty="0" err="1" smtClean="0"/>
              <a:t>strong</a:t>
            </a:r>
            <a:r>
              <a:rPr lang="es-MX" baseline="0" dirty="0" smtClean="0"/>
              <a:t> </a:t>
            </a:r>
            <a:r>
              <a:rPr lang="es-MX" baseline="0" dirty="0" err="1" smtClean="0"/>
              <a:t>effect</a:t>
            </a:r>
            <a:r>
              <a:rPr lang="es-MX" baseline="0" dirty="0" smtClean="0"/>
              <a:t> </a:t>
            </a:r>
            <a:r>
              <a:rPr lang="es-MX" baseline="0" dirty="0" err="1" smtClean="0"/>
              <a:t>on</a:t>
            </a:r>
            <a:r>
              <a:rPr lang="es-MX" baseline="0" dirty="0" smtClean="0"/>
              <a:t> </a:t>
            </a:r>
            <a:r>
              <a:rPr lang="es-MX" baseline="0" dirty="0" err="1" smtClean="0"/>
              <a:t>iWUE</a:t>
            </a:r>
            <a:r>
              <a:rPr lang="es-MX" baseline="0" dirty="0" smtClean="0"/>
              <a:t>, </a:t>
            </a:r>
            <a:r>
              <a:rPr lang="es-MX" baseline="0" dirty="0" err="1" smtClean="0"/>
              <a:t>but</a:t>
            </a:r>
            <a:r>
              <a:rPr lang="es-MX" baseline="0" dirty="0" smtClean="0"/>
              <a:t> </a:t>
            </a:r>
            <a:r>
              <a:rPr lang="es-MX" baseline="0" dirty="0" err="1" smtClean="0"/>
              <a:t>it</a:t>
            </a:r>
            <a:r>
              <a:rPr lang="es-MX" baseline="0" dirty="0" smtClean="0"/>
              <a:t> </a:t>
            </a:r>
            <a:r>
              <a:rPr lang="es-MX" baseline="0" dirty="0" err="1" smtClean="0"/>
              <a:t>is</a:t>
            </a:r>
            <a:r>
              <a:rPr lang="es-MX" baseline="0" dirty="0" smtClean="0"/>
              <a:t> </a:t>
            </a:r>
            <a:r>
              <a:rPr lang="es-MX" baseline="0" dirty="0" err="1" smtClean="0"/>
              <a:t>not</a:t>
            </a:r>
            <a:r>
              <a:rPr lang="es-MX" baseline="0" dirty="0" smtClean="0"/>
              <a:t> </a:t>
            </a:r>
            <a:r>
              <a:rPr lang="es-MX" baseline="0" dirty="0" err="1" smtClean="0"/>
              <a:t>statistical</a:t>
            </a:r>
            <a:r>
              <a:rPr lang="es-MX" baseline="0" dirty="0" smtClean="0"/>
              <a:t> </a:t>
            </a:r>
            <a:r>
              <a:rPr lang="es-MX" baseline="0" dirty="0" err="1" smtClean="0"/>
              <a:t>significant</a:t>
            </a:r>
            <a:r>
              <a:rPr lang="es-MX" baseline="0" dirty="0" smtClean="0"/>
              <a:t>.</a:t>
            </a:r>
          </a:p>
          <a:p>
            <a:r>
              <a:rPr lang="es-MX" baseline="0" dirty="0" err="1" smtClean="0"/>
              <a:t>What</a:t>
            </a:r>
            <a:r>
              <a:rPr lang="es-MX" baseline="0" dirty="0" smtClean="0"/>
              <a:t> I </a:t>
            </a:r>
            <a:r>
              <a:rPr lang="es-MX" baseline="0" dirty="0" err="1" smtClean="0"/>
              <a:t>see</a:t>
            </a:r>
            <a:r>
              <a:rPr lang="es-MX" baseline="0" dirty="0" smtClean="0"/>
              <a:t>: </a:t>
            </a:r>
            <a:r>
              <a:rPr lang="es-MX" baseline="0" dirty="0" err="1" smtClean="0"/>
              <a:t>With</a:t>
            </a:r>
            <a:r>
              <a:rPr lang="es-MX" baseline="0" dirty="0" smtClean="0"/>
              <a:t> N </a:t>
            </a:r>
            <a:r>
              <a:rPr lang="es-MX" baseline="0" dirty="0" err="1" smtClean="0"/>
              <a:t>the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iWUE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increases</a:t>
            </a:r>
            <a:r>
              <a:rPr lang="es-MX" baseline="0" dirty="0" smtClean="0"/>
              <a:t>, </a:t>
            </a:r>
            <a:r>
              <a:rPr lang="es-MX" baseline="0" dirty="0" err="1" smtClean="0"/>
              <a:t>with</a:t>
            </a:r>
            <a:r>
              <a:rPr lang="es-MX" baseline="0" dirty="0" smtClean="0"/>
              <a:t> P </a:t>
            </a:r>
            <a:r>
              <a:rPr lang="es-MX" baseline="0" dirty="0" err="1" smtClean="0"/>
              <a:t>iWUE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increases</a:t>
            </a:r>
            <a:r>
              <a:rPr lang="es-MX" baseline="0" dirty="0" smtClean="0"/>
              <a:t> as </a:t>
            </a:r>
            <a:r>
              <a:rPr lang="es-MX" baseline="0" dirty="0" err="1" smtClean="0"/>
              <a:t>well</a:t>
            </a:r>
            <a:r>
              <a:rPr lang="es-MX" baseline="0" dirty="0" smtClean="0"/>
              <a:t> </a:t>
            </a:r>
            <a:r>
              <a:rPr lang="es-MX" baseline="0" dirty="0" err="1" smtClean="0"/>
              <a:t>but</a:t>
            </a:r>
            <a:r>
              <a:rPr lang="es-MX" baseline="0" dirty="0" smtClean="0"/>
              <a:t> </a:t>
            </a:r>
            <a:r>
              <a:rPr lang="es-MX" baseline="0" dirty="0" err="1" smtClean="0"/>
              <a:t>less</a:t>
            </a:r>
            <a:r>
              <a:rPr lang="es-MX" baseline="0" dirty="0" smtClean="0"/>
              <a:t> </a:t>
            </a:r>
            <a:r>
              <a:rPr lang="es-MX" baseline="0" dirty="0" err="1" smtClean="0"/>
              <a:t>strongly</a:t>
            </a:r>
            <a:r>
              <a:rPr lang="es-MX" baseline="0" dirty="0" smtClean="0"/>
              <a:t>. </a:t>
            </a:r>
            <a:r>
              <a:rPr lang="es-MX" baseline="0" dirty="0" err="1" smtClean="0"/>
              <a:t>The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interaction</a:t>
            </a:r>
            <a:r>
              <a:rPr lang="es-MX" baseline="0" dirty="0" smtClean="0"/>
              <a:t> has a positive </a:t>
            </a:r>
            <a:r>
              <a:rPr lang="es-MX" baseline="0" dirty="0" err="1" smtClean="0"/>
              <a:t>effect</a:t>
            </a:r>
            <a:r>
              <a:rPr lang="es-MX" baseline="0" dirty="0" smtClean="0"/>
              <a:t> </a:t>
            </a:r>
            <a:r>
              <a:rPr lang="es-MX" baseline="0" dirty="0" err="1" smtClean="0"/>
              <a:t>on</a:t>
            </a:r>
            <a:r>
              <a:rPr lang="es-MX" baseline="0" dirty="0" smtClean="0"/>
              <a:t> </a:t>
            </a:r>
            <a:r>
              <a:rPr lang="es-MX" baseline="0" dirty="0" err="1" smtClean="0"/>
              <a:t>some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species</a:t>
            </a:r>
            <a:r>
              <a:rPr lang="es-MX" baseline="0" dirty="0" smtClean="0"/>
              <a:t> (</a:t>
            </a:r>
            <a:r>
              <a:rPr lang="es-MX" baseline="0" dirty="0" err="1" smtClean="0"/>
              <a:t>Puteria</a:t>
            </a:r>
            <a:r>
              <a:rPr lang="es-MX" baseline="0" dirty="0" smtClean="0"/>
              <a:t>, </a:t>
            </a:r>
            <a:r>
              <a:rPr lang="es-MX" baseline="0" dirty="0" err="1" smtClean="0"/>
              <a:t>Myrcia</a:t>
            </a:r>
            <a:r>
              <a:rPr lang="es-MX" baseline="0" dirty="0" smtClean="0"/>
              <a:t>, </a:t>
            </a:r>
            <a:r>
              <a:rPr lang="es-MX" baseline="0" dirty="0" err="1" smtClean="0"/>
              <a:t>Hedyosmum</a:t>
            </a:r>
            <a:r>
              <a:rPr lang="es-MX" baseline="0" dirty="0" smtClean="0"/>
              <a:t>) and </a:t>
            </a:r>
            <a:r>
              <a:rPr lang="es-MX" baseline="0" dirty="0" err="1" smtClean="0"/>
              <a:t>negative</a:t>
            </a:r>
            <a:r>
              <a:rPr lang="es-MX" baseline="0" dirty="0" smtClean="0"/>
              <a:t> (</a:t>
            </a:r>
            <a:r>
              <a:rPr lang="es-MX" baseline="0" dirty="0" err="1" smtClean="0"/>
              <a:t>less</a:t>
            </a:r>
            <a:r>
              <a:rPr lang="es-MX" baseline="0" dirty="0" smtClean="0"/>
              <a:t> tan control </a:t>
            </a:r>
            <a:r>
              <a:rPr lang="es-MX" baseline="0" dirty="0" err="1" smtClean="0"/>
              <a:t>on</a:t>
            </a:r>
            <a:r>
              <a:rPr lang="es-MX" baseline="0" dirty="0" smtClean="0"/>
              <a:t> </a:t>
            </a:r>
            <a:r>
              <a:rPr lang="es-MX" baseline="0" dirty="0" err="1" smtClean="0"/>
              <a:t>others</a:t>
            </a:r>
            <a:r>
              <a:rPr lang="es-MX" baseline="0" dirty="0" smtClean="0"/>
              <a:t> (</a:t>
            </a:r>
            <a:r>
              <a:rPr lang="es-MX" baseline="0" dirty="0" err="1" smtClean="0"/>
              <a:t>Alchornea</a:t>
            </a:r>
            <a:r>
              <a:rPr lang="es-MX" baseline="0" dirty="0" smtClean="0"/>
              <a:t>, </a:t>
            </a:r>
            <a:r>
              <a:rPr lang="es-MX" baseline="0" dirty="0" err="1" smtClean="0"/>
              <a:t>Weinmania</a:t>
            </a:r>
            <a:r>
              <a:rPr lang="es-MX" baseline="0" dirty="0" smtClean="0"/>
              <a:t>).</a:t>
            </a:r>
          </a:p>
          <a:p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53BC2-43C1-4767-ADF3-5E906A4AA83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5267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 err="1" smtClean="0"/>
              <a:t>The</a:t>
            </a:r>
            <a:r>
              <a:rPr lang="es-MX" dirty="0" smtClean="0"/>
              <a:t> </a:t>
            </a:r>
            <a:r>
              <a:rPr lang="es-MX" dirty="0" err="1" smtClean="0"/>
              <a:t>dotted</a:t>
            </a:r>
            <a:r>
              <a:rPr lang="es-MX" dirty="0" smtClean="0"/>
              <a:t> line </a:t>
            </a:r>
            <a:r>
              <a:rPr lang="es-MX" dirty="0" err="1" smtClean="0"/>
              <a:t>is</a:t>
            </a:r>
            <a:r>
              <a:rPr lang="es-MX" dirty="0" smtClean="0"/>
              <a:t> </a:t>
            </a:r>
            <a:r>
              <a:rPr lang="es-MX" dirty="0" err="1" smtClean="0"/>
              <a:t>the</a:t>
            </a:r>
            <a:r>
              <a:rPr lang="es-MX" dirty="0" smtClean="0"/>
              <a:t> mean</a:t>
            </a:r>
            <a:r>
              <a:rPr lang="es-MX" baseline="0" dirty="0" smtClean="0"/>
              <a:t> of </a:t>
            </a:r>
            <a:r>
              <a:rPr lang="es-MX" baseline="0" dirty="0" err="1" smtClean="0"/>
              <a:t>the</a:t>
            </a:r>
            <a:r>
              <a:rPr lang="es-MX" baseline="0" dirty="0" smtClean="0"/>
              <a:t> control.  </a:t>
            </a:r>
          </a:p>
          <a:p>
            <a:r>
              <a:rPr lang="es-MX" dirty="0" err="1" smtClean="0"/>
              <a:t>Weinmania</a:t>
            </a:r>
            <a:r>
              <a:rPr lang="es-MX" dirty="0" smtClean="0"/>
              <a:t> looks</a:t>
            </a:r>
            <a:r>
              <a:rPr lang="es-MX" baseline="0" dirty="0" smtClean="0"/>
              <a:t> </a:t>
            </a:r>
            <a:r>
              <a:rPr lang="es-MX" baseline="0" dirty="0" err="1" smtClean="0"/>
              <a:t>that</a:t>
            </a:r>
            <a:r>
              <a:rPr lang="es-MX" baseline="0" dirty="0" smtClean="0"/>
              <a:t> NP has </a:t>
            </a:r>
            <a:r>
              <a:rPr lang="es-MX" baseline="0" dirty="0" err="1" smtClean="0"/>
              <a:t>an</a:t>
            </a:r>
            <a:r>
              <a:rPr lang="es-MX" baseline="0" dirty="0" smtClean="0"/>
              <a:t> </a:t>
            </a:r>
            <a:r>
              <a:rPr lang="es-MX" baseline="0" dirty="0" err="1" smtClean="0"/>
              <a:t>strong</a:t>
            </a:r>
            <a:r>
              <a:rPr lang="es-MX" baseline="0" dirty="0" smtClean="0"/>
              <a:t> </a:t>
            </a:r>
            <a:r>
              <a:rPr lang="es-MX" baseline="0" dirty="0" err="1" smtClean="0"/>
              <a:t>effect</a:t>
            </a:r>
            <a:r>
              <a:rPr lang="es-MX" baseline="0" dirty="0" smtClean="0"/>
              <a:t> </a:t>
            </a:r>
            <a:r>
              <a:rPr lang="es-MX" baseline="0" dirty="0" err="1" smtClean="0"/>
              <a:t>on</a:t>
            </a:r>
            <a:r>
              <a:rPr lang="es-MX" baseline="0" dirty="0" smtClean="0"/>
              <a:t> </a:t>
            </a:r>
            <a:r>
              <a:rPr lang="es-MX" baseline="0" dirty="0" err="1" smtClean="0"/>
              <a:t>iWUE</a:t>
            </a:r>
            <a:r>
              <a:rPr lang="es-MX" baseline="0" dirty="0" smtClean="0"/>
              <a:t>, </a:t>
            </a:r>
            <a:r>
              <a:rPr lang="es-MX" baseline="0" dirty="0" err="1" smtClean="0"/>
              <a:t>but</a:t>
            </a:r>
            <a:r>
              <a:rPr lang="es-MX" baseline="0" dirty="0" smtClean="0"/>
              <a:t> </a:t>
            </a:r>
            <a:r>
              <a:rPr lang="es-MX" baseline="0" dirty="0" err="1" smtClean="0"/>
              <a:t>it</a:t>
            </a:r>
            <a:r>
              <a:rPr lang="es-MX" baseline="0" dirty="0" smtClean="0"/>
              <a:t> </a:t>
            </a:r>
            <a:r>
              <a:rPr lang="es-MX" baseline="0" dirty="0" err="1" smtClean="0"/>
              <a:t>is</a:t>
            </a:r>
            <a:r>
              <a:rPr lang="es-MX" baseline="0" dirty="0" smtClean="0"/>
              <a:t> </a:t>
            </a:r>
            <a:r>
              <a:rPr lang="es-MX" baseline="0" dirty="0" err="1" smtClean="0"/>
              <a:t>not</a:t>
            </a:r>
            <a:r>
              <a:rPr lang="es-MX" baseline="0" dirty="0" smtClean="0"/>
              <a:t> </a:t>
            </a:r>
            <a:r>
              <a:rPr lang="es-MX" baseline="0" dirty="0" err="1" smtClean="0"/>
              <a:t>statistical</a:t>
            </a:r>
            <a:r>
              <a:rPr lang="es-MX" baseline="0" dirty="0" smtClean="0"/>
              <a:t> </a:t>
            </a:r>
            <a:r>
              <a:rPr lang="es-MX" baseline="0" dirty="0" err="1" smtClean="0"/>
              <a:t>significant</a:t>
            </a:r>
            <a:r>
              <a:rPr lang="es-MX" baseline="0" dirty="0" smtClean="0"/>
              <a:t>.</a:t>
            </a:r>
          </a:p>
          <a:p>
            <a:r>
              <a:rPr lang="es-MX" baseline="0" dirty="0" err="1" smtClean="0"/>
              <a:t>What</a:t>
            </a:r>
            <a:r>
              <a:rPr lang="es-MX" baseline="0" dirty="0" smtClean="0"/>
              <a:t> I </a:t>
            </a:r>
            <a:r>
              <a:rPr lang="es-MX" baseline="0" dirty="0" err="1" smtClean="0"/>
              <a:t>see</a:t>
            </a:r>
            <a:r>
              <a:rPr lang="es-MX" baseline="0" dirty="0" smtClean="0"/>
              <a:t>: </a:t>
            </a:r>
            <a:r>
              <a:rPr lang="es-MX" baseline="0" dirty="0" err="1" smtClean="0"/>
              <a:t>With</a:t>
            </a:r>
            <a:r>
              <a:rPr lang="es-MX" baseline="0" dirty="0" smtClean="0"/>
              <a:t> N </a:t>
            </a:r>
            <a:r>
              <a:rPr lang="es-MX" baseline="0" dirty="0" err="1" smtClean="0"/>
              <a:t>the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iWUE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increases</a:t>
            </a:r>
            <a:r>
              <a:rPr lang="es-MX" baseline="0" dirty="0" smtClean="0"/>
              <a:t>, </a:t>
            </a:r>
            <a:r>
              <a:rPr lang="es-MX" baseline="0" dirty="0" err="1" smtClean="0"/>
              <a:t>with</a:t>
            </a:r>
            <a:r>
              <a:rPr lang="es-MX" baseline="0" dirty="0" smtClean="0"/>
              <a:t> P </a:t>
            </a:r>
            <a:r>
              <a:rPr lang="es-MX" baseline="0" dirty="0" err="1" smtClean="0"/>
              <a:t>iWUE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increases</a:t>
            </a:r>
            <a:r>
              <a:rPr lang="es-MX" baseline="0" dirty="0" smtClean="0"/>
              <a:t> as </a:t>
            </a:r>
            <a:r>
              <a:rPr lang="es-MX" baseline="0" dirty="0" err="1" smtClean="0"/>
              <a:t>well</a:t>
            </a:r>
            <a:r>
              <a:rPr lang="es-MX" baseline="0" dirty="0" smtClean="0"/>
              <a:t> </a:t>
            </a:r>
            <a:r>
              <a:rPr lang="es-MX" baseline="0" dirty="0" err="1" smtClean="0"/>
              <a:t>but</a:t>
            </a:r>
            <a:r>
              <a:rPr lang="es-MX" baseline="0" dirty="0" smtClean="0"/>
              <a:t> </a:t>
            </a:r>
            <a:r>
              <a:rPr lang="es-MX" baseline="0" dirty="0" err="1" smtClean="0"/>
              <a:t>less</a:t>
            </a:r>
            <a:r>
              <a:rPr lang="es-MX" baseline="0" dirty="0" smtClean="0"/>
              <a:t> </a:t>
            </a:r>
            <a:r>
              <a:rPr lang="es-MX" baseline="0" dirty="0" err="1" smtClean="0"/>
              <a:t>strongly</a:t>
            </a:r>
            <a:r>
              <a:rPr lang="es-MX" baseline="0" dirty="0" smtClean="0"/>
              <a:t>. </a:t>
            </a:r>
            <a:r>
              <a:rPr lang="es-MX" baseline="0" dirty="0" err="1" smtClean="0"/>
              <a:t>The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interaction</a:t>
            </a:r>
            <a:r>
              <a:rPr lang="es-MX" baseline="0" dirty="0" smtClean="0"/>
              <a:t> has a positive </a:t>
            </a:r>
            <a:r>
              <a:rPr lang="es-MX" baseline="0" dirty="0" err="1" smtClean="0"/>
              <a:t>effect</a:t>
            </a:r>
            <a:r>
              <a:rPr lang="es-MX" baseline="0" dirty="0" smtClean="0"/>
              <a:t> </a:t>
            </a:r>
            <a:r>
              <a:rPr lang="es-MX" baseline="0" dirty="0" err="1" smtClean="0"/>
              <a:t>on</a:t>
            </a:r>
            <a:r>
              <a:rPr lang="es-MX" baseline="0" dirty="0" smtClean="0"/>
              <a:t> </a:t>
            </a:r>
            <a:r>
              <a:rPr lang="es-MX" baseline="0" dirty="0" err="1" smtClean="0"/>
              <a:t>some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species</a:t>
            </a:r>
            <a:r>
              <a:rPr lang="es-MX" baseline="0" dirty="0" smtClean="0"/>
              <a:t> (</a:t>
            </a:r>
            <a:r>
              <a:rPr lang="es-MX" baseline="0" dirty="0" err="1" smtClean="0"/>
              <a:t>Puteria</a:t>
            </a:r>
            <a:r>
              <a:rPr lang="es-MX" baseline="0" dirty="0" smtClean="0"/>
              <a:t>, </a:t>
            </a:r>
            <a:r>
              <a:rPr lang="es-MX" baseline="0" dirty="0" err="1" smtClean="0"/>
              <a:t>Myrcia</a:t>
            </a:r>
            <a:r>
              <a:rPr lang="es-MX" baseline="0" dirty="0" smtClean="0"/>
              <a:t>, </a:t>
            </a:r>
            <a:r>
              <a:rPr lang="es-MX" baseline="0" dirty="0" err="1" smtClean="0"/>
              <a:t>Hedyosmum</a:t>
            </a:r>
            <a:r>
              <a:rPr lang="es-MX" baseline="0" dirty="0" smtClean="0"/>
              <a:t>) and </a:t>
            </a:r>
            <a:r>
              <a:rPr lang="es-MX" baseline="0" dirty="0" err="1" smtClean="0"/>
              <a:t>negative</a:t>
            </a:r>
            <a:r>
              <a:rPr lang="es-MX" baseline="0" dirty="0" smtClean="0"/>
              <a:t> (</a:t>
            </a:r>
            <a:r>
              <a:rPr lang="es-MX" baseline="0" dirty="0" err="1" smtClean="0"/>
              <a:t>less</a:t>
            </a:r>
            <a:r>
              <a:rPr lang="es-MX" baseline="0" dirty="0" smtClean="0"/>
              <a:t> tan control </a:t>
            </a:r>
            <a:r>
              <a:rPr lang="es-MX" baseline="0" dirty="0" err="1" smtClean="0"/>
              <a:t>on</a:t>
            </a:r>
            <a:r>
              <a:rPr lang="es-MX" baseline="0" dirty="0" smtClean="0"/>
              <a:t> </a:t>
            </a:r>
            <a:r>
              <a:rPr lang="es-MX" baseline="0" dirty="0" err="1" smtClean="0"/>
              <a:t>others</a:t>
            </a:r>
            <a:r>
              <a:rPr lang="es-MX" baseline="0" dirty="0" smtClean="0"/>
              <a:t> (</a:t>
            </a:r>
            <a:r>
              <a:rPr lang="es-MX" baseline="0" dirty="0" err="1" smtClean="0"/>
              <a:t>Alchornea</a:t>
            </a:r>
            <a:r>
              <a:rPr lang="es-MX" baseline="0" dirty="0" smtClean="0"/>
              <a:t>, </a:t>
            </a:r>
            <a:r>
              <a:rPr lang="es-MX" baseline="0" dirty="0" err="1" smtClean="0"/>
              <a:t>Weinmania</a:t>
            </a:r>
            <a:r>
              <a:rPr lang="es-MX" baseline="0" dirty="0" smtClean="0"/>
              <a:t>).</a:t>
            </a:r>
          </a:p>
          <a:p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53BC2-43C1-4767-ADF3-5E906A4AA83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88907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 err="1" smtClean="0"/>
              <a:t>None</a:t>
            </a:r>
            <a:r>
              <a:rPr lang="es-MX" dirty="0" smtClean="0"/>
              <a:t> of </a:t>
            </a:r>
            <a:r>
              <a:rPr lang="es-MX" dirty="0" err="1" smtClean="0"/>
              <a:t>them</a:t>
            </a:r>
            <a:r>
              <a:rPr lang="es-MX" dirty="0" smtClean="0"/>
              <a:t> are </a:t>
            </a:r>
            <a:r>
              <a:rPr lang="es-MX" dirty="0" err="1" smtClean="0"/>
              <a:t>nitrogen</a:t>
            </a:r>
            <a:r>
              <a:rPr lang="es-MX" dirty="0" smtClean="0"/>
              <a:t> </a:t>
            </a:r>
            <a:r>
              <a:rPr lang="es-MX" dirty="0" err="1" smtClean="0"/>
              <a:t>fixing</a:t>
            </a:r>
            <a:r>
              <a:rPr lang="es-MX" dirty="0" smtClean="0"/>
              <a:t> </a:t>
            </a:r>
            <a:r>
              <a:rPr lang="es-MX" dirty="0" err="1" smtClean="0"/>
              <a:t>species</a:t>
            </a:r>
            <a:r>
              <a:rPr lang="es-MX" dirty="0" smtClean="0"/>
              <a:t>.</a:t>
            </a:r>
          </a:p>
          <a:p>
            <a:r>
              <a:rPr lang="es-MX" dirty="0" err="1" smtClean="0"/>
              <a:t>How</a:t>
            </a:r>
            <a:r>
              <a:rPr lang="es-MX" dirty="0" smtClean="0"/>
              <a:t> to </a:t>
            </a:r>
            <a:r>
              <a:rPr lang="es-MX" dirty="0" err="1" smtClean="0"/>
              <a:t>interpret</a:t>
            </a:r>
            <a:r>
              <a:rPr lang="es-MX" dirty="0" smtClean="0"/>
              <a:t> </a:t>
            </a:r>
            <a:r>
              <a:rPr lang="es-MX" dirty="0" err="1" smtClean="0"/>
              <a:t>this</a:t>
            </a:r>
            <a:r>
              <a:rPr lang="es-MX" dirty="0" smtClean="0"/>
              <a:t> </a:t>
            </a:r>
            <a:r>
              <a:rPr lang="es-MX" dirty="0" err="1" smtClean="0"/>
              <a:t>one</a:t>
            </a:r>
            <a:r>
              <a:rPr lang="es-MX" dirty="0" smtClean="0"/>
              <a:t> </a:t>
            </a:r>
            <a:r>
              <a:rPr lang="es-MX" dirty="0" err="1" smtClean="0"/>
              <a:t>better</a:t>
            </a:r>
            <a:r>
              <a:rPr lang="es-MX" dirty="0" smtClean="0"/>
              <a:t>.</a:t>
            </a:r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53BC2-43C1-4767-ADF3-5E906A4AA839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49839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53BC2-43C1-4767-ADF3-5E906A4AA839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27660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 err="1" smtClean="0"/>
              <a:t>Pouteria</a:t>
            </a:r>
            <a:r>
              <a:rPr lang="es-MX" dirty="0" smtClean="0"/>
              <a:t> torta, </a:t>
            </a:r>
            <a:r>
              <a:rPr lang="es-MX" dirty="0" err="1" smtClean="0"/>
              <a:t>effect</a:t>
            </a:r>
            <a:r>
              <a:rPr lang="es-MX" dirty="0" smtClean="0"/>
              <a:t> of </a:t>
            </a:r>
            <a:r>
              <a:rPr lang="es-MX" dirty="0" err="1" smtClean="0"/>
              <a:t>the</a:t>
            </a:r>
            <a:r>
              <a:rPr lang="es-MX" dirty="0" smtClean="0"/>
              <a:t> N</a:t>
            </a:r>
            <a:r>
              <a:rPr lang="es-MX" baseline="0" dirty="0" smtClean="0"/>
              <a:t> and N*P </a:t>
            </a:r>
            <a:r>
              <a:rPr lang="es-MX" baseline="0" dirty="0" err="1" smtClean="0"/>
              <a:t>on</a:t>
            </a:r>
            <a:r>
              <a:rPr lang="es-MX" baseline="0" dirty="0" smtClean="0"/>
              <a:t> </a:t>
            </a:r>
            <a:r>
              <a:rPr lang="es-MX" baseline="0" dirty="0" err="1" smtClean="0"/>
              <a:t>iWUE</a:t>
            </a:r>
            <a:r>
              <a:rPr lang="es-MX" baseline="0" dirty="0" smtClean="0"/>
              <a:t>, and </a:t>
            </a:r>
            <a:r>
              <a:rPr lang="es-MX" baseline="0" dirty="0" err="1" smtClean="0"/>
              <a:t>effect</a:t>
            </a:r>
            <a:r>
              <a:rPr lang="es-MX" baseline="0" dirty="0" smtClean="0"/>
              <a:t> of P o d18O. </a:t>
            </a:r>
            <a:r>
              <a:rPr lang="es-MX" baseline="0" dirty="0" err="1" smtClean="0"/>
              <a:t>This</a:t>
            </a:r>
            <a:r>
              <a:rPr lang="es-MX" baseline="0" dirty="0" smtClean="0"/>
              <a:t> </a:t>
            </a:r>
            <a:r>
              <a:rPr lang="es-MX" baseline="0" dirty="0" err="1" smtClean="0"/>
              <a:t>is</a:t>
            </a:r>
            <a:r>
              <a:rPr lang="es-MX" baseline="0" dirty="0" smtClean="0"/>
              <a:t> </a:t>
            </a:r>
            <a:r>
              <a:rPr lang="es-MX" baseline="0" dirty="0" err="1" smtClean="0"/>
              <a:t>the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only</a:t>
            </a:r>
            <a:r>
              <a:rPr lang="es-MX" baseline="0" dirty="0" smtClean="0"/>
              <a:t> </a:t>
            </a:r>
            <a:r>
              <a:rPr lang="es-MX" baseline="0" dirty="0" err="1" smtClean="0"/>
              <a:t>specie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giving</a:t>
            </a:r>
            <a:r>
              <a:rPr lang="es-MX" baseline="0" dirty="0" smtClean="0"/>
              <a:t> a </a:t>
            </a:r>
            <a:r>
              <a:rPr lang="es-MX" baseline="0" dirty="0" err="1" smtClean="0"/>
              <a:t>statistical</a:t>
            </a:r>
            <a:r>
              <a:rPr lang="es-MX" baseline="0" dirty="0" smtClean="0"/>
              <a:t> </a:t>
            </a:r>
            <a:r>
              <a:rPr lang="es-MX" baseline="0" dirty="0" err="1" smtClean="0"/>
              <a:t>signal</a:t>
            </a:r>
            <a:r>
              <a:rPr lang="es-MX" baseline="0" dirty="0" smtClean="0"/>
              <a:t> response to </a:t>
            </a:r>
            <a:r>
              <a:rPr lang="es-MX" baseline="0" dirty="0" err="1" smtClean="0"/>
              <a:t>nutrient</a:t>
            </a:r>
            <a:r>
              <a:rPr lang="es-MX" baseline="0" dirty="0" smtClean="0"/>
              <a:t> </a:t>
            </a:r>
            <a:r>
              <a:rPr lang="es-MX" baseline="0" dirty="0" err="1" smtClean="0"/>
              <a:t>addition</a:t>
            </a:r>
            <a:r>
              <a:rPr lang="es-MX" baseline="0" dirty="0" smtClean="0"/>
              <a:t> </a:t>
            </a:r>
            <a:r>
              <a:rPr lang="es-MX" baseline="0" dirty="0" err="1" smtClean="0"/>
              <a:t>on</a:t>
            </a:r>
            <a:r>
              <a:rPr lang="es-MX" baseline="0" dirty="0" smtClean="0"/>
              <a:t> </a:t>
            </a:r>
            <a:r>
              <a:rPr lang="es-MX" baseline="0" dirty="0" err="1" smtClean="0"/>
              <a:t>iQUE</a:t>
            </a:r>
            <a:r>
              <a:rPr lang="es-MX" baseline="0" dirty="0" smtClean="0"/>
              <a:t>.</a:t>
            </a:r>
          </a:p>
          <a:p>
            <a:r>
              <a:rPr lang="es-MX" baseline="0" dirty="0" err="1" smtClean="0"/>
              <a:t>Alchornea</a:t>
            </a:r>
            <a:r>
              <a:rPr lang="es-MX" baseline="0" dirty="0" smtClean="0"/>
              <a:t>, </a:t>
            </a:r>
            <a:r>
              <a:rPr lang="es-MX" baseline="0" dirty="0" err="1" smtClean="0"/>
              <a:t>effect</a:t>
            </a:r>
            <a:r>
              <a:rPr lang="es-MX" baseline="0" dirty="0" smtClean="0"/>
              <a:t> of </a:t>
            </a:r>
            <a:r>
              <a:rPr lang="es-MX" baseline="0" dirty="0" err="1" smtClean="0"/>
              <a:t>the</a:t>
            </a:r>
            <a:r>
              <a:rPr lang="es-MX" baseline="0" dirty="0" smtClean="0"/>
              <a:t> N </a:t>
            </a:r>
            <a:r>
              <a:rPr lang="es-MX" baseline="0" dirty="0" err="1" smtClean="0"/>
              <a:t>on</a:t>
            </a:r>
            <a:r>
              <a:rPr lang="es-MX" baseline="0" dirty="0" smtClean="0"/>
              <a:t> d15N and C:N. </a:t>
            </a:r>
          </a:p>
          <a:p>
            <a:r>
              <a:rPr lang="es-MX" baseline="0" dirty="0" err="1" smtClean="0"/>
              <a:t>Myrcia</a:t>
            </a:r>
            <a:r>
              <a:rPr lang="es-MX" baseline="0" dirty="0" smtClean="0"/>
              <a:t>, </a:t>
            </a:r>
            <a:r>
              <a:rPr lang="es-MX" baseline="0" dirty="0" err="1" smtClean="0"/>
              <a:t>effect</a:t>
            </a:r>
            <a:r>
              <a:rPr lang="es-MX" baseline="0" dirty="0" smtClean="0"/>
              <a:t> of N </a:t>
            </a:r>
            <a:r>
              <a:rPr lang="es-MX" baseline="0" dirty="0" err="1" smtClean="0"/>
              <a:t>on</a:t>
            </a:r>
            <a:r>
              <a:rPr lang="es-MX" baseline="0" dirty="0" smtClean="0"/>
              <a:t> d18O, d15N, C:N</a:t>
            </a:r>
          </a:p>
          <a:p>
            <a:r>
              <a:rPr lang="es-MX" baseline="0" dirty="0" err="1" smtClean="0"/>
              <a:t>Hedyosmum</a:t>
            </a:r>
            <a:r>
              <a:rPr lang="es-MX" baseline="0" dirty="0" smtClean="0"/>
              <a:t>, </a:t>
            </a:r>
            <a:r>
              <a:rPr lang="es-MX" baseline="0" dirty="0" err="1" smtClean="0"/>
              <a:t>effect</a:t>
            </a:r>
            <a:r>
              <a:rPr lang="es-MX" baseline="0" dirty="0" smtClean="0"/>
              <a:t> of d15N and C:N. (+ p &lt;0.1)</a:t>
            </a:r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53BC2-43C1-4767-ADF3-5E906A4AA839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685413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 smtClean="0"/>
              <a:t>U </a:t>
            </a:r>
            <a:r>
              <a:rPr lang="es-MX" dirty="0" err="1" smtClean="0"/>
              <a:t>shaped</a:t>
            </a:r>
            <a:r>
              <a:rPr lang="es-MX" dirty="0" smtClean="0"/>
              <a:t>.</a:t>
            </a:r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53BC2-43C1-4767-ADF3-5E906A4AA83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241761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 err="1" smtClean="0"/>
              <a:t>Not</a:t>
            </a:r>
            <a:r>
              <a:rPr lang="es-MX" baseline="0" dirty="0" smtClean="0"/>
              <a:t> </a:t>
            </a:r>
            <a:r>
              <a:rPr lang="es-MX" baseline="0" dirty="0" err="1" smtClean="0"/>
              <a:t>sure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how</a:t>
            </a:r>
            <a:r>
              <a:rPr lang="es-MX" baseline="0" dirty="0" smtClean="0"/>
              <a:t> to </a:t>
            </a:r>
            <a:r>
              <a:rPr lang="es-MX" baseline="0" dirty="0" err="1" smtClean="0"/>
              <a:t>model</a:t>
            </a:r>
            <a:r>
              <a:rPr lang="es-MX" baseline="0" dirty="0" smtClean="0"/>
              <a:t> </a:t>
            </a:r>
            <a:r>
              <a:rPr lang="es-MX" baseline="0" dirty="0" err="1" smtClean="0"/>
              <a:t>them</a:t>
            </a:r>
            <a:r>
              <a:rPr lang="es-MX" baseline="0" dirty="0" smtClean="0"/>
              <a:t>.</a:t>
            </a:r>
          </a:p>
          <a:p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53BC2-43C1-4767-ADF3-5E906A4AA839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23790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 smtClean="0"/>
              <a:t>Con flecha errores</a:t>
            </a:r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53BC2-43C1-4767-ADF3-5E906A4AA839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82848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 smtClean="0"/>
              <a:t>Clear </a:t>
            </a:r>
            <a:r>
              <a:rPr lang="es-MX" dirty="0" err="1" smtClean="0"/>
              <a:t>differences</a:t>
            </a:r>
            <a:r>
              <a:rPr lang="es-MX" dirty="0" smtClean="0"/>
              <a:t> </a:t>
            </a:r>
            <a:r>
              <a:rPr lang="es-MX" dirty="0" err="1" smtClean="0"/>
              <a:t>between</a:t>
            </a:r>
            <a:r>
              <a:rPr lang="es-MX" dirty="0" smtClean="0"/>
              <a:t> </a:t>
            </a:r>
            <a:r>
              <a:rPr lang="es-MX" dirty="0" err="1" smtClean="0"/>
              <a:t>elevations</a:t>
            </a:r>
            <a:r>
              <a:rPr lang="es-MX" dirty="0" smtClean="0"/>
              <a:t>. </a:t>
            </a:r>
            <a:r>
              <a:rPr lang="es-MX" dirty="0" err="1" smtClean="0"/>
              <a:t>Higher</a:t>
            </a:r>
            <a:r>
              <a:rPr lang="es-MX" dirty="0" smtClean="0"/>
              <a:t> O18 </a:t>
            </a:r>
            <a:r>
              <a:rPr lang="es-MX" dirty="0" err="1" smtClean="0"/>
              <a:t>enrichment</a:t>
            </a:r>
            <a:r>
              <a:rPr lang="es-MX" dirty="0" smtClean="0"/>
              <a:t> in </a:t>
            </a:r>
            <a:r>
              <a:rPr lang="es-MX" dirty="0" err="1" smtClean="0"/>
              <a:t>the</a:t>
            </a:r>
            <a:r>
              <a:rPr lang="es-MX" dirty="0" smtClean="0"/>
              <a:t> </a:t>
            </a:r>
            <a:r>
              <a:rPr lang="es-MX" dirty="0" err="1" smtClean="0"/>
              <a:t>lowlands</a:t>
            </a:r>
            <a:r>
              <a:rPr lang="es-MX" dirty="0" smtClean="0"/>
              <a:t> and at 2000 m – </a:t>
            </a:r>
            <a:r>
              <a:rPr lang="es-MX" dirty="0" err="1" smtClean="0"/>
              <a:t>associated</a:t>
            </a:r>
            <a:r>
              <a:rPr lang="es-MX" dirty="0" smtClean="0"/>
              <a:t> </a:t>
            </a:r>
            <a:r>
              <a:rPr lang="es-MX" dirty="0" err="1" smtClean="0"/>
              <a:t>with</a:t>
            </a:r>
            <a:r>
              <a:rPr lang="es-MX" dirty="0" smtClean="0"/>
              <a:t> </a:t>
            </a:r>
            <a:r>
              <a:rPr lang="es-MX" dirty="0" err="1" smtClean="0"/>
              <a:t>higher</a:t>
            </a:r>
            <a:r>
              <a:rPr lang="es-MX" dirty="0" smtClean="0"/>
              <a:t> </a:t>
            </a:r>
            <a:r>
              <a:rPr lang="es-MX" dirty="0" err="1" smtClean="0"/>
              <a:t>transpiration</a:t>
            </a:r>
            <a:r>
              <a:rPr lang="es-MX" dirty="0" smtClean="0"/>
              <a:t>. </a:t>
            </a:r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53BC2-43C1-4767-ADF3-5E906A4AA839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097997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 err="1" smtClean="0"/>
              <a:t>Effects</a:t>
            </a:r>
            <a:r>
              <a:rPr lang="es-MX" baseline="0" dirty="0" smtClean="0"/>
              <a:t> of </a:t>
            </a:r>
            <a:r>
              <a:rPr lang="es-MX" baseline="0" dirty="0" err="1" smtClean="0"/>
              <a:t>treatment</a:t>
            </a:r>
            <a:r>
              <a:rPr lang="es-MX" baseline="0" dirty="0" smtClean="0"/>
              <a:t> in </a:t>
            </a:r>
            <a:r>
              <a:rPr lang="es-MX" baseline="0" dirty="0" err="1" smtClean="0"/>
              <a:t>Pouteria</a:t>
            </a:r>
            <a:r>
              <a:rPr lang="es-MX" baseline="0" dirty="0" smtClean="0"/>
              <a:t>, </a:t>
            </a:r>
            <a:r>
              <a:rPr lang="es-MX" baseline="0" dirty="0" err="1" smtClean="0"/>
              <a:t>Alchornea</a:t>
            </a:r>
            <a:r>
              <a:rPr lang="es-MX" baseline="0" dirty="0" smtClean="0"/>
              <a:t>, </a:t>
            </a:r>
            <a:r>
              <a:rPr lang="es-MX" baseline="0" dirty="0" err="1" smtClean="0"/>
              <a:t>Hedyosmum</a:t>
            </a:r>
            <a:r>
              <a:rPr lang="es-MX" baseline="0" dirty="0" smtClean="0"/>
              <a:t>. </a:t>
            </a:r>
            <a:r>
              <a:rPr lang="es-MX" baseline="0" dirty="0" err="1" smtClean="0"/>
              <a:t>Not</a:t>
            </a:r>
            <a:r>
              <a:rPr lang="es-MX" baseline="0" dirty="0" smtClean="0"/>
              <a:t> </a:t>
            </a:r>
            <a:r>
              <a:rPr lang="es-MX" baseline="0" dirty="0" err="1" smtClean="0"/>
              <a:t>sure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if</a:t>
            </a:r>
            <a:r>
              <a:rPr lang="es-MX" baseline="0" dirty="0" smtClean="0"/>
              <a:t> </a:t>
            </a:r>
            <a:r>
              <a:rPr lang="es-MX" baseline="0" dirty="0" err="1" smtClean="0"/>
              <a:t>these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graphics</a:t>
            </a:r>
            <a:r>
              <a:rPr lang="es-MX" baseline="0" dirty="0" smtClean="0"/>
              <a:t> are </a:t>
            </a:r>
            <a:r>
              <a:rPr lang="es-MX" baseline="0" dirty="0" err="1" smtClean="0"/>
              <a:t>actually</a:t>
            </a:r>
            <a:r>
              <a:rPr lang="es-MX" baseline="0" dirty="0" smtClean="0"/>
              <a:t> </a:t>
            </a:r>
            <a:r>
              <a:rPr lang="es-MX" baseline="0" dirty="0" err="1" smtClean="0"/>
              <a:t>useful</a:t>
            </a:r>
            <a:r>
              <a:rPr lang="es-MX" baseline="0" dirty="0" smtClean="0"/>
              <a:t>. </a:t>
            </a:r>
            <a:r>
              <a:rPr lang="es-MX" baseline="0" dirty="0" err="1" smtClean="0"/>
              <a:t>Dotted</a:t>
            </a:r>
            <a:r>
              <a:rPr lang="es-MX" baseline="0" dirty="0" smtClean="0"/>
              <a:t> </a:t>
            </a:r>
            <a:r>
              <a:rPr lang="es-MX" baseline="0" dirty="0" err="1" smtClean="0"/>
              <a:t>lines</a:t>
            </a:r>
            <a:r>
              <a:rPr lang="es-MX" baseline="0" dirty="0" smtClean="0"/>
              <a:t> are </a:t>
            </a:r>
            <a:r>
              <a:rPr lang="es-MX" baseline="0" dirty="0" err="1" smtClean="0"/>
              <a:t>the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means</a:t>
            </a:r>
            <a:r>
              <a:rPr lang="es-MX" baseline="0" dirty="0" smtClean="0"/>
              <a:t> of </a:t>
            </a:r>
            <a:r>
              <a:rPr lang="es-MX" baseline="0" dirty="0" err="1" smtClean="0"/>
              <a:t>the</a:t>
            </a:r>
            <a:r>
              <a:rPr lang="es-MX" baseline="0" dirty="0" smtClean="0"/>
              <a:t> control. </a:t>
            </a:r>
            <a:r>
              <a:rPr lang="es-MX" baseline="0" dirty="0" err="1" smtClean="0"/>
              <a:t>Maybe</a:t>
            </a:r>
            <a:r>
              <a:rPr lang="es-MX" baseline="0" dirty="0" smtClean="0"/>
              <a:t> I </a:t>
            </a:r>
            <a:r>
              <a:rPr lang="es-MX" baseline="0" dirty="0" err="1" smtClean="0"/>
              <a:t>should</a:t>
            </a:r>
            <a:r>
              <a:rPr lang="es-MX" baseline="0" dirty="0" smtClean="0"/>
              <a:t> </a:t>
            </a:r>
            <a:r>
              <a:rPr lang="es-MX" baseline="0" dirty="0" err="1" smtClean="0"/>
              <a:t>plot</a:t>
            </a:r>
            <a:r>
              <a:rPr lang="es-MX" baseline="0" dirty="0" smtClean="0"/>
              <a:t> </a:t>
            </a:r>
            <a:r>
              <a:rPr lang="es-MX" baseline="0" dirty="0" err="1" smtClean="0"/>
              <a:t>the</a:t>
            </a:r>
            <a:r>
              <a:rPr lang="es-MX" baseline="0" dirty="0" smtClean="0"/>
              <a:t> center </a:t>
            </a:r>
            <a:r>
              <a:rPr lang="es-MX" baseline="0" dirty="0" err="1" smtClean="0"/>
              <a:t>instead</a:t>
            </a:r>
            <a:r>
              <a:rPr lang="es-MX" baseline="0" dirty="0" smtClean="0"/>
              <a:t>?</a:t>
            </a:r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53BC2-43C1-4767-ADF3-5E906A4AA839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9740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 smtClean="0"/>
              <a:t>Haga clic para editar el estilo de subtítulo del patrón</a:t>
            </a:r>
            <a:endParaRPr lang="en-U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CBFA1-BD22-4292-9851-D341668FFB9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988EC-FB09-4E11-ADEE-111CC7D38E7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75068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CBFA1-BD22-4292-9851-D341668FFB9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988EC-FB09-4E11-ADEE-111CC7D38E7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14250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CBFA1-BD22-4292-9851-D341668FFB9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988EC-FB09-4E11-ADEE-111CC7D38E7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69005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CBFA1-BD22-4292-9851-D341668FFB9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988EC-FB09-4E11-ADEE-111CC7D38E7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9169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CBFA1-BD22-4292-9851-D341668FFB9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988EC-FB09-4E11-ADEE-111CC7D38E7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80815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CBFA1-BD22-4292-9851-D341668FFB9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988EC-FB09-4E11-ADEE-111CC7D38E7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53080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CBFA1-BD22-4292-9851-D341668FFB9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988EC-FB09-4E11-ADEE-111CC7D38E7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3261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CBFA1-BD22-4292-9851-D341668FFB9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988EC-FB09-4E11-ADEE-111CC7D38E7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2448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CBFA1-BD22-4292-9851-D341668FFB9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988EC-FB09-4E11-ADEE-111CC7D38E7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43382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CBFA1-BD22-4292-9851-D341668FFB9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988EC-FB09-4E11-ADEE-111CC7D38E7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0203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CBFA1-BD22-4292-9851-D341668FFB9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988EC-FB09-4E11-ADEE-111CC7D38E7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02987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2CBFA1-BD22-4292-9851-D341668FFB9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F988EC-FB09-4E11-ADEE-111CC7D38E7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52274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err="1" smtClean="0"/>
              <a:t>Chapter</a:t>
            </a:r>
            <a:r>
              <a:rPr lang="es-MX" dirty="0" smtClean="0"/>
              <a:t> 1: </a:t>
            </a:r>
            <a:r>
              <a:rPr lang="es-MX" dirty="0" err="1" smtClean="0"/>
              <a:t>iWUE</a:t>
            </a:r>
            <a:r>
              <a:rPr lang="es-MX" dirty="0" smtClean="0"/>
              <a:t> </a:t>
            </a:r>
            <a:r>
              <a:rPr lang="es-MX" dirty="0" err="1" smtClean="0"/>
              <a:t>variation</a:t>
            </a:r>
            <a:r>
              <a:rPr lang="es-MX" dirty="0" smtClean="0"/>
              <a:t> </a:t>
            </a:r>
            <a:r>
              <a:rPr lang="es-MX" dirty="0" err="1" smtClean="0"/>
              <a:t>between</a:t>
            </a:r>
            <a:r>
              <a:rPr lang="es-MX" dirty="0" smtClean="0"/>
              <a:t> </a:t>
            </a:r>
            <a:br>
              <a:rPr lang="es-MX" dirty="0" smtClean="0"/>
            </a:br>
            <a:r>
              <a:rPr lang="es-MX" dirty="0" smtClean="0"/>
              <a:t>NUMEX </a:t>
            </a:r>
            <a:r>
              <a:rPr lang="es-MX" dirty="0" err="1" smtClean="0"/>
              <a:t>experiment</a:t>
            </a:r>
            <a:r>
              <a:rPr lang="es-MX" dirty="0" smtClean="0"/>
              <a:t> </a:t>
            </a:r>
            <a:r>
              <a:rPr lang="es-MX" dirty="0" err="1" smtClean="0"/>
              <a:t>manipulation</a:t>
            </a:r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11254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ángulo 9"/>
          <p:cNvSpPr/>
          <p:nvPr/>
        </p:nvSpPr>
        <p:spPr>
          <a:xfrm>
            <a:off x="731520" y="3291840"/>
            <a:ext cx="11082528" cy="33741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7" name="Marcador de contenido 6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7997" y="4143772"/>
            <a:ext cx="2076056" cy="1905633"/>
          </a:xfrm>
        </p:spPr>
      </p:pic>
      <p:sp>
        <p:nvSpPr>
          <p:cNvPr id="4" name="Elipse 3"/>
          <p:cNvSpPr/>
          <p:nvPr/>
        </p:nvSpPr>
        <p:spPr>
          <a:xfrm>
            <a:off x="594360" y="337376"/>
            <a:ext cx="2926080" cy="2579560"/>
          </a:xfrm>
          <a:prstGeom prst="ellips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err="1" smtClean="0"/>
              <a:t>Nutrient</a:t>
            </a:r>
            <a:r>
              <a:rPr lang="es-MX" dirty="0" smtClean="0"/>
              <a:t> </a:t>
            </a:r>
            <a:r>
              <a:rPr lang="es-MX" dirty="0" err="1" smtClean="0"/>
              <a:t>addition</a:t>
            </a:r>
            <a:r>
              <a:rPr lang="es-MX" dirty="0" smtClean="0"/>
              <a:t> </a:t>
            </a:r>
            <a:r>
              <a:rPr lang="es-MX" dirty="0" err="1" smtClean="0"/>
              <a:t>experiment</a:t>
            </a:r>
            <a:endParaRPr lang="es-MX" dirty="0" smtClean="0"/>
          </a:p>
          <a:p>
            <a:pPr algn="ctr"/>
            <a:endParaRPr lang="es-MX" dirty="0"/>
          </a:p>
          <a:p>
            <a:pPr algn="ctr"/>
            <a:r>
              <a:rPr lang="es-MX" dirty="0" smtClean="0"/>
              <a:t>N, P, N*P</a:t>
            </a:r>
            <a:endParaRPr lang="en-US" dirty="0"/>
          </a:p>
        </p:txBody>
      </p:sp>
      <p:sp>
        <p:nvSpPr>
          <p:cNvPr id="5" name="Elipse 4"/>
          <p:cNvSpPr/>
          <p:nvPr/>
        </p:nvSpPr>
        <p:spPr>
          <a:xfrm>
            <a:off x="4581144" y="337375"/>
            <a:ext cx="2795016" cy="249199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err="1" smtClean="0"/>
              <a:t>Leaf</a:t>
            </a:r>
            <a:r>
              <a:rPr lang="es-MX" dirty="0" smtClean="0"/>
              <a:t> </a:t>
            </a:r>
            <a:r>
              <a:rPr lang="es-MX" dirty="0" err="1" smtClean="0"/>
              <a:t>functional</a:t>
            </a:r>
            <a:r>
              <a:rPr lang="es-MX" dirty="0" smtClean="0"/>
              <a:t> </a:t>
            </a:r>
            <a:r>
              <a:rPr lang="es-MX" dirty="0" err="1" smtClean="0"/>
              <a:t>traits</a:t>
            </a:r>
            <a:endParaRPr lang="es-MX" dirty="0" smtClean="0"/>
          </a:p>
          <a:p>
            <a:pPr marL="285750" indent="-285750" algn="ctr">
              <a:buFontTx/>
              <a:buChar char="-"/>
            </a:pPr>
            <a:r>
              <a:rPr lang="es-MX" sz="1200" dirty="0" err="1" smtClean="0"/>
              <a:t>Thoughness</a:t>
            </a:r>
            <a:endParaRPr lang="es-MX" sz="1200" dirty="0" smtClean="0"/>
          </a:p>
          <a:p>
            <a:pPr marL="285750" indent="-285750" algn="ctr">
              <a:buFontTx/>
              <a:buChar char="-"/>
            </a:pPr>
            <a:r>
              <a:rPr lang="es-MX" sz="1200" dirty="0" err="1" smtClean="0"/>
              <a:t>Thickness</a:t>
            </a:r>
            <a:endParaRPr lang="es-MX" sz="1200" dirty="0" smtClean="0"/>
          </a:p>
          <a:p>
            <a:pPr marL="285750" indent="-285750" algn="ctr">
              <a:buFontTx/>
              <a:buChar char="-"/>
            </a:pPr>
            <a:r>
              <a:rPr lang="es-MX" sz="1200" dirty="0" smtClean="0"/>
              <a:t>SLA / LA</a:t>
            </a:r>
          </a:p>
          <a:p>
            <a:pPr marL="285750" indent="-285750" algn="ctr">
              <a:buFontTx/>
              <a:buChar char="-"/>
            </a:pPr>
            <a:r>
              <a:rPr lang="es-MX" sz="1200" dirty="0" smtClean="0"/>
              <a:t>Carea / </a:t>
            </a:r>
            <a:r>
              <a:rPr lang="es-MX" sz="1200" dirty="0" err="1" smtClean="0"/>
              <a:t>Narea</a:t>
            </a:r>
            <a:endParaRPr lang="es-MX" sz="1200" dirty="0" smtClean="0"/>
          </a:p>
          <a:p>
            <a:pPr marL="285750" indent="-285750" algn="ctr">
              <a:buFontTx/>
              <a:buChar char="-"/>
            </a:pPr>
            <a:r>
              <a:rPr lang="es-MX" sz="1200" dirty="0" err="1" smtClean="0"/>
              <a:t>Leat</a:t>
            </a:r>
            <a:r>
              <a:rPr lang="es-MX" sz="1200" dirty="0" smtClean="0"/>
              <a:t> </a:t>
            </a:r>
            <a:r>
              <a:rPr lang="es-MX" sz="1200" dirty="0" err="1" smtClean="0"/>
              <a:t>water</a:t>
            </a:r>
            <a:r>
              <a:rPr lang="es-MX" sz="1200" dirty="0" smtClean="0"/>
              <a:t> </a:t>
            </a:r>
            <a:r>
              <a:rPr lang="es-MX" sz="1200" dirty="0" err="1" smtClean="0"/>
              <a:t>content</a:t>
            </a:r>
            <a:endParaRPr lang="en-US" sz="1200" dirty="0"/>
          </a:p>
        </p:txBody>
      </p:sp>
      <p:sp>
        <p:nvSpPr>
          <p:cNvPr id="6" name="Elipse 5"/>
          <p:cNvSpPr/>
          <p:nvPr/>
        </p:nvSpPr>
        <p:spPr>
          <a:xfrm>
            <a:off x="8357616" y="337375"/>
            <a:ext cx="2896248" cy="2491993"/>
          </a:xfrm>
          <a:prstGeom prst="ellips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err="1" smtClean="0"/>
              <a:t>Climatic</a:t>
            </a:r>
            <a:r>
              <a:rPr lang="es-MX" dirty="0" smtClean="0"/>
              <a:t> – </a:t>
            </a:r>
            <a:r>
              <a:rPr lang="es-MX" dirty="0" err="1" smtClean="0"/>
              <a:t>Using</a:t>
            </a:r>
            <a:r>
              <a:rPr lang="es-MX" dirty="0" smtClean="0"/>
              <a:t> </a:t>
            </a:r>
            <a:r>
              <a:rPr lang="es-MX" dirty="0" err="1" smtClean="0"/>
              <a:t>Elevation</a:t>
            </a:r>
            <a:r>
              <a:rPr lang="es-MX" dirty="0" smtClean="0"/>
              <a:t> as proxy</a:t>
            </a:r>
          </a:p>
          <a:p>
            <a:pPr algn="ctr"/>
            <a:r>
              <a:rPr lang="es-MX" dirty="0" smtClean="0"/>
              <a:t>1000, 2000, 3000</a:t>
            </a:r>
          </a:p>
          <a:p>
            <a:pPr algn="ctr"/>
            <a:endParaRPr lang="en-US" dirty="0"/>
          </a:p>
        </p:txBody>
      </p:sp>
      <p:pic>
        <p:nvPicPr>
          <p:cNvPr id="8" name="Imagen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6264" y="3721896"/>
            <a:ext cx="4887792" cy="2749383"/>
          </a:xfrm>
          <a:prstGeom prst="rect">
            <a:avLst/>
          </a:prstGeom>
        </p:spPr>
      </p:pic>
      <p:sp>
        <p:nvSpPr>
          <p:cNvPr id="9" name="CuadroTexto 8"/>
          <p:cNvSpPr txBox="1"/>
          <p:nvPr/>
        </p:nvSpPr>
        <p:spPr>
          <a:xfrm>
            <a:off x="4953000" y="4727256"/>
            <a:ext cx="13898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 err="1" smtClean="0"/>
              <a:t>iWUE</a:t>
            </a:r>
            <a:r>
              <a:rPr lang="es-MX" dirty="0" smtClean="0"/>
              <a:t> = A/g</a:t>
            </a:r>
            <a:endParaRPr lang="en-US" dirty="0"/>
          </a:p>
        </p:txBody>
      </p:sp>
      <p:sp>
        <p:nvSpPr>
          <p:cNvPr id="13" name="Flecha abajo 12"/>
          <p:cNvSpPr/>
          <p:nvPr/>
        </p:nvSpPr>
        <p:spPr>
          <a:xfrm>
            <a:off x="1476756" y="2462924"/>
            <a:ext cx="1161288" cy="1305944"/>
          </a:xfrm>
          <a:prstGeom prst="down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lecha abajo 13"/>
          <p:cNvSpPr/>
          <p:nvPr/>
        </p:nvSpPr>
        <p:spPr>
          <a:xfrm>
            <a:off x="5515356" y="2537104"/>
            <a:ext cx="1161288" cy="1305944"/>
          </a:xfrm>
          <a:prstGeom prst="down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lecha abajo 14"/>
          <p:cNvSpPr/>
          <p:nvPr/>
        </p:nvSpPr>
        <p:spPr>
          <a:xfrm>
            <a:off x="9261372" y="2324000"/>
            <a:ext cx="1161288" cy="1305944"/>
          </a:xfrm>
          <a:prstGeom prst="down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30271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4" name="Marcador de contenido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89915578"/>
              </p:ext>
            </p:extLst>
          </p:nvPr>
        </p:nvGraphicFramePr>
        <p:xfrm>
          <a:off x="130627" y="104503"/>
          <a:ext cx="11704322" cy="627017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023994">
                  <a:extLst>
                    <a:ext uri="{9D8B030D-6E8A-4147-A177-3AD203B41FA5}">
                      <a16:colId xmlns:a16="http://schemas.microsoft.com/office/drawing/2014/main" val="2141527110"/>
                    </a:ext>
                  </a:extLst>
                </a:gridCol>
                <a:gridCol w="1639613">
                  <a:extLst>
                    <a:ext uri="{9D8B030D-6E8A-4147-A177-3AD203B41FA5}">
                      <a16:colId xmlns:a16="http://schemas.microsoft.com/office/drawing/2014/main" val="1715079267"/>
                    </a:ext>
                  </a:extLst>
                </a:gridCol>
                <a:gridCol w="1502980">
                  <a:extLst>
                    <a:ext uri="{9D8B030D-6E8A-4147-A177-3AD203B41FA5}">
                      <a16:colId xmlns:a16="http://schemas.microsoft.com/office/drawing/2014/main" val="3874508906"/>
                    </a:ext>
                  </a:extLst>
                </a:gridCol>
                <a:gridCol w="3585529">
                  <a:extLst>
                    <a:ext uri="{9D8B030D-6E8A-4147-A177-3AD203B41FA5}">
                      <a16:colId xmlns:a16="http://schemas.microsoft.com/office/drawing/2014/main" val="3618229275"/>
                    </a:ext>
                  </a:extLst>
                </a:gridCol>
                <a:gridCol w="2952206">
                  <a:extLst>
                    <a:ext uri="{9D8B030D-6E8A-4147-A177-3AD203B41FA5}">
                      <a16:colId xmlns:a16="http://schemas.microsoft.com/office/drawing/2014/main" val="1325441615"/>
                    </a:ext>
                  </a:extLst>
                </a:gridCol>
              </a:tblGrid>
              <a:tr h="672517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>
                          <a:effectLst/>
                        </a:rPr>
                        <a:t>Site</a:t>
                      </a:r>
                      <a:endParaRPr lang="en-US" sz="2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</a:rPr>
                        <a:t>Elevation (m.s.n.m)</a:t>
                      </a:r>
                      <a:endParaRPr lang="en-US" sz="2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>
                          <a:effectLst/>
                        </a:rPr>
                        <a:t>N° Plots </a:t>
                      </a:r>
                      <a:endParaRPr lang="en-US" sz="2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dirty="0" err="1">
                          <a:effectLst/>
                        </a:rPr>
                        <a:t>Individuals</a:t>
                      </a:r>
                      <a:r>
                        <a:rPr lang="es-MX" sz="2000" dirty="0">
                          <a:effectLst/>
                        </a:rPr>
                        <a:t> per </a:t>
                      </a:r>
                      <a:r>
                        <a:rPr lang="es-MX" sz="2000" dirty="0" err="1">
                          <a:effectLst/>
                        </a:rPr>
                        <a:t>plot</a:t>
                      </a:r>
                      <a:endParaRPr lang="en-US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dirty="0">
                          <a:effectLst/>
                        </a:rPr>
                        <a:t>Status</a:t>
                      </a:r>
                      <a:endParaRPr lang="en-US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84099819"/>
                  </a:ext>
                </a:extLst>
              </a:tr>
              <a:tr h="2063501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2000" dirty="0" err="1">
                          <a:effectLst/>
                        </a:rPr>
                        <a:t>Cajanuma</a:t>
                      </a:r>
                      <a:endParaRPr lang="en-US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</a:rPr>
                        <a:t>3000</a:t>
                      </a:r>
                      <a:endParaRPr lang="en-US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2000" dirty="0" smtClean="0">
                          <a:effectLst/>
                        </a:rPr>
                        <a:t>16</a:t>
                      </a:r>
                    </a:p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dirty="0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2024</a:t>
                      </a:r>
                      <a:endParaRPr lang="en-US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</a:rPr>
                        <a:t>Between 7-10 per experimental </a:t>
                      </a:r>
                      <a:r>
                        <a:rPr lang="en-US" sz="2000" dirty="0" smtClean="0">
                          <a:effectLst/>
                        </a:rPr>
                        <a:t>group </a:t>
                      </a:r>
                    </a:p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endParaRPr lang="es-MX" sz="2000" dirty="0" smtClean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i="1" baseline="0" dirty="0" err="1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Pouteria</a:t>
                      </a:r>
                      <a:r>
                        <a:rPr lang="es-MX" sz="2000" i="1" baseline="0" dirty="0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torta </a:t>
                      </a:r>
                    </a:p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i="1" baseline="0" dirty="0" err="1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Clarisia</a:t>
                      </a:r>
                      <a:r>
                        <a:rPr lang="es-MX" sz="2000" i="1" baseline="0" dirty="0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s-MX" sz="2000" i="1" baseline="0" dirty="0" err="1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racemosa</a:t>
                      </a:r>
                      <a:endParaRPr lang="en-US" sz="2000" i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dirty="0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SLA,</a:t>
                      </a:r>
                      <a:r>
                        <a:rPr lang="es-MX" sz="2000" baseline="0" dirty="0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s-MX" sz="2000" baseline="0" dirty="0" err="1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thickness</a:t>
                      </a:r>
                      <a:r>
                        <a:rPr lang="es-MX" sz="2000" baseline="0" dirty="0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punch </a:t>
                      </a:r>
                      <a:r>
                        <a:rPr lang="es-MX" sz="2000" baseline="0" dirty="0" err="1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resistance</a:t>
                      </a:r>
                      <a:r>
                        <a:rPr lang="es-MX" sz="2000" b="1" baseline="0" dirty="0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C:N, 15N, 13C, 18O</a:t>
                      </a:r>
                      <a:r>
                        <a:rPr lang="es-MX" sz="2000" baseline="0" dirty="0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s-MX" sz="2000" baseline="0" dirty="0" err="1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nutrients</a:t>
                      </a:r>
                      <a:r>
                        <a:rPr lang="es-MX" sz="2000" baseline="0" dirty="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– pack to </a:t>
                      </a:r>
                      <a:r>
                        <a:rPr lang="es-MX" sz="2000" baseline="0" dirty="0" err="1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send</a:t>
                      </a:r>
                      <a:r>
                        <a:rPr lang="es-MX" sz="2000" baseline="0" dirty="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s-MX" sz="2000" baseline="0" dirty="0" err="1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Jürgen</a:t>
                      </a:r>
                      <a:r>
                        <a:rPr lang="es-MX" sz="2000" baseline="0" dirty="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. </a:t>
                      </a:r>
                      <a:endParaRPr lang="en-US" sz="20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582937422"/>
                  </a:ext>
                </a:extLst>
              </a:tr>
              <a:tr h="1175865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dirty="0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San Francisco</a:t>
                      </a:r>
                      <a:endParaRPr lang="en-US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dirty="0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2000</a:t>
                      </a:r>
                      <a:endParaRPr lang="en-US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dirty="0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16</a:t>
                      </a:r>
                    </a:p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dirty="0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2023</a:t>
                      </a:r>
                      <a:endParaRPr lang="en-US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2000" dirty="0" smtClean="0">
                          <a:effectLst/>
                        </a:rPr>
                        <a:t>Between 10 per experimental group</a:t>
                      </a:r>
                    </a:p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i="1" dirty="0" err="1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Myrcia</a:t>
                      </a:r>
                      <a:r>
                        <a:rPr lang="es-MX" sz="2000" i="1" baseline="0" dirty="0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y </a:t>
                      </a:r>
                      <a:r>
                        <a:rPr lang="es-MX" sz="2000" i="1" baseline="0" dirty="0" err="1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Alchornea</a:t>
                      </a:r>
                      <a:endParaRPr lang="es-MX" sz="2000" i="1" dirty="0" smtClean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b="1" baseline="0" dirty="0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C:N, 15N, 13C, 18º, </a:t>
                      </a:r>
                      <a:r>
                        <a:rPr lang="es-MX" sz="2000" b="1" baseline="0" dirty="0" err="1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nutrients</a:t>
                      </a:r>
                      <a:endParaRPr lang="es-MX" sz="2000" b="1" baseline="0" dirty="0" smtClean="0">
                        <a:solidFill>
                          <a:schemeClr val="accent6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73087911"/>
                  </a:ext>
                </a:extLst>
              </a:tr>
              <a:tr h="2358287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</a:rPr>
                        <a:t>Bombuscaro</a:t>
                      </a:r>
                      <a:endParaRPr lang="en-US" sz="2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</a:rPr>
                        <a:t>1</a:t>
                      </a:r>
                      <a:r>
                        <a:rPr lang="en-US" sz="2000" dirty="0" smtClean="0">
                          <a:effectLst/>
                        </a:rPr>
                        <a:t>000</a:t>
                      </a:r>
                      <a:endParaRPr lang="en-US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2000" dirty="0" smtClean="0">
                          <a:effectLst/>
                        </a:rPr>
                        <a:t>16</a:t>
                      </a:r>
                    </a:p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dirty="0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2024</a:t>
                      </a:r>
                      <a:endParaRPr lang="en-US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</a:rPr>
                        <a:t>Between 7-10 per experimental </a:t>
                      </a:r>
                      <a:r>
                        <a:rPr lang="en-US" sz="2000" dirty="0" smtClean="0">
                          <a:effectLst/>
                        </a:rPr>
                        <a:t>group</a:t>
                      </a:r>
                    </a:p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endParaRPr lang="es-MX" sz="2000" dirty="0" smtClean="0">
                        <a:effectLst/>
                      </a:endParaRPr>
                    </a:p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dirty="0" err="1" smtClean="0">
                          <a:effectLst/>
                        </a:rPr>
                        <a:t>Weinmania</a:t>
                      </a:r>
                      <a:r>
                        <a:rPr lang="es-MX" sz="2000" dirty="0" smtClean="0">
                          <a:effectLst/>
                        </a:rPr>
                        <a:t> </a:t>
                      </a:r>
                      <a:r>
                        <a:rPr lang="es-MX" sz="2000" baseline="0" dirty="0" smtClean="0">
                          <a:effectLst/>
                        </a:rPr>
                        <a:t>= </a:t>
                      </a:r>
                      <a:endParaRPr lang="es-MX" sz="2000" dirty="0" smtClean="0">
                        <a:effectLst/>
                      </a:endParaRPr>
                    </a:p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dirty="0" err="1" smtClean="0">
                          <a:effectLst/>
                        </a:rPr>
                        <a:t>Hedyosmum</a:t>
                      </a:r>
                      <a:r>
                        <a:rPr lang="es-MX" sz="2000" dirty="0" smtClean="0">
                          <a:effectLst/>
                        </a:rPr>
                        <a:t>  </a:t>
                      </a:r>
                      <a:r>
                        <a:rPr lang="es-MX" sz="2000" dirty="0" err="1" smtClean="0">
                          <a:effectLst/>
                        </a:rPr>
                        <a:t>purpurascens</a:t>
                      </a:r>
                      <a:r>
                        <a:rPr lang="es-MX" sz="2000" dirty="0" smtClean="0">
                          <a:effectLst/>
                        </a:rPr>
                        <a:t> = </a:t>
                      </a:r>
                      <a:endParaRPr lang="en-US" sz="2000" dirty="0" smtClean="0">
                        <a:effectLst/>
                      </a:endParaRPr>
                    </a:p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endParaRPr lang="en-US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2000" dirty="0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SLA,</a:t>
                      </a:r>
                      <a:r>
                        <a:rPr lang="es-MX" sz="2000" baseline="0" dirty="0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s-MX" sz="2000" baseline="0" dirty="0" err="1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thickness</a:t>
                      </a:r>
                      <a:r>
                        <a:rPr lang="es-MX" sz="2000" baseline="0" dirty="0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punch </a:t>
                      </a:r>
                      <a:r>
                        <a:rPr lang="es-MX" sz="2000" baseline="0" dirty="0" err="1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resistance</a:t>
                      </a:r>
                      <a:r>
                        <a:rPr lang="es-MX" sz="2000" b="1" baseline="0" dirty="0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s-MX" sz="2000" b="1" baseline="0" dirty="0" err="1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dry</a:t>
                      </a:r>
                      <a:r>
                        <a:rPr lang="es-MX" sz="2000" b="1" baseline="0" dirty="0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s-MX" sz="2000" b="1" baseline="0" dirty="0" err="1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matter</a:t>
                      </a:r>
                      <a:r>
                        <a:rPr lang="es-MX" sz="2000" b="1" baseline="0" dirty="0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C:N, 15N, 13C, 18O</a:t>
                      </a:r>
                      <a:r>
                        <a:rPr lang="es-MX" sz="2000" baseline="0" dirty="0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s-MX" sz="2000" baseline="0" dirty="0" err="1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nutrients</a:t>
                      </a:r>
                      <a:r>
                        <a:rPr lang="es-MX" sz="2000" baseline="0" dirty="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– pack to </a:t>
                      </a:r>
                      <a:r>
                        <a:rPr lang="es-MX" sz="2000" baseline="0" dirty="0" err="1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send</a:t>
                      </a:r>
                      <a:r>
                        <a:rPr lang="es-MX" sz="2000" baseline="0" dirty="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s-MX" sz="2000" baseline="0" dirty="0" err="1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Jürgen</a:t>
                      </a:r>
                      <a:endParaRPr lang="en-US" sz="2000" dirty="0" smtClean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endParaRPr lang="en-US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2182783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2473569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err="1" smtClean="0"/>
              <a:t>Available</a:t>
            </a:r>
            <a:r>
              <a:rPr lang="es-MX" dirty="0" smtClean="0"/>
              <a:t> </a:t>
            </a:r>
            <a:r>
              <a:rPr lang="es-MX" dirty="0" err="1" smtClean="0"/>
              <a:t>Info</a:t>
            </a:r>
            <a:r>
              <a:rPr lang="es-MX" dirty="0" smtClean="0"/>
              <a:t> </a:t>
            </a:r>
            <a:r>
              <a:rPr lang="es-MX" dirty="0" err="1" smtClean="0"/>
              <a:t>from</a:t>
            </a:r>
            <a:r>
              <a:rPr lang="es-MX" dirty="0" smtClean="0"/>
              <a:t> NUMEX</a:t>
            </a:r>
            <a:endParaRPr lang="en-US" dirty="0"/>
          </a:p>
        </p:txBody>
      </p:sp>
      <p:pic>
        <p:nvPicPr>
          <p:cNvPr id="4" name="Marcador de contenido 3"/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t="17095" r="1021"/>
          <a:stretch/>
        </p:blipFill>
        <p:spPr>
          <a:xfrm>
            <a:off x="371847" y="1608392"/>
            <a:ext cx="10917945" cy="4873753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3"/>
          <a:srcRect t="20857" r="2187"/>
          <a:stretch/>
        </p:blipFill>
        <p:spPr>
          <a:xfrm>
            <a:off x="4270082" y="1278766"/>
            <a:ext cx="7676795" cy="3310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29464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smtClean="0"/>
              <a:t>RQ:</a:t>
            </a:r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838200" y="1340993"/>
            <a:ext cx="10515600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s-MX" dirty="0" err="1" smtClean="0"/>
              <a:t>What</a:t>
            </a:r>
            <a:r>
              <a:rPr lang="es-MX" dirty="0" smtClean="0"/>
              <a:t> </a:t>
            </a:r>
            <a:r>
              <a:rPr lang="es-MX" dirty="0" smtClean="0"/>
              <a:t>are </a:t>
            </a:r>
            <a:r>
              <a:rPr lang="es-MX" dirty="0" err="1" smtClean="0"/>
              <a:t>the</a:t>
            </a:r>
            <a:r>
              <a:rPr lang="es-MX" dirty="0" smtClean="0"/>
              <a:t> </a:t>
            </a:r>
            <a:r>
              <a:rPr lang="es-MX" dirty="0" err="1" smtClean="0"/>
              <a:t>differences</a:t>
            </a:r>
            <a:r>
              <a:rPr lang="es-MX" dirty="0" smtClean="0"/>
              <a:t> in </a:t>
            </a:r>
            <a:r>
              <a:rPr lang="es-MX" dirty="0" err="1" smtClean="0"/>
              <a:t>the</a:t>
            </a:r>
            <a:r>
              <a:rPr lang="es-MX" dirty="0" smtClean="0"/>
              <a:t> </a:t>
            </a:r>
            <a:r>
              <a:rPr lang="es-MX" dirty="0" err="1" smtClean="0"/>
              <a:t>ecophysiological</a:t>
            </a:r>
            <a:r>
              <a:rPr lang="es-MX" dirty="0" smtClean="0"/>
              <a:t> – </a:t>
            </a:r>
            <a:r>
              <a:rPr lang="es-MX" dirty="0" err="1" smtClean="0"/>
              <a:t>iWUE</a:t>
            </a:r>
            <a:r>
              <a:rPr lang="es-MX" dirty="0" smtClean="0"/>
              <a:t> - responses </a:t>
            </a:r>
            <a:r>
              <a:rPr lang="es-MX" dirty="0" err="1" smtClean="0"/>
              <a:t>between</a:t>
            </a:r>
            <a:r>
              <a:rPr lang="es-MX" dirty="0" smtClean="0"/>
              <a:t> </a:t>
            </a:r>
            <a:r>
              <a:rPr lang="es-MX" dirty="0" err="1" smtClean="0"/>
              <a:t>treatments</a:t>
            </a:r>
            <a:r>
              <a:rPr lang="es-MX" dirty="0" smtClean="0"/>
              <a:t> </a:t>
            </a:r>
            <a:r>
              <a:rPr lang="es-MX" dirty="0" err="1" smtClean="0"/>
              <a:t>on</a:t>
            </a:r>
            <a:r>
              <a:rPr lang="es-MX" dirty="0" smtClean="0"/>
              <a:t> al </a:t>
            </a:r>
            <a:r>
              <a:rPr lang="es-MX" dirty="0" err="1" smtClean="0"/>
              <a:t>elevational</a:t>
            </a:r>
            <a:r>
              <a:rPr lang="es-MX" dirty="0" smtClean="0"/>
              <a:t> </a:t>
            </a:r>
            <a:r>
              <a:rPr lang="es-MX" dirty="0" err="1" smtClean="0"/>
              <a:t>gradient</a:t>
            </a:r>
            <a:r>
              <a:rPr lang="es-MX" dirty="0" smtClean="0"/>
              <a:t> (temperatura and N-</a:t>
            </a:r>
            <a:r>
              <a:rPr lang="es-MX" dirty="0" err="1" smtClean="0"/>
              <a:t>limitation</a:t>
            </a:r>
            <a:r>
              <a:rPr lang="es-MX" dirty="0" smtClean="0"/>
              <a:t>)?</a:t>
            </a:r>
            <a:endParaRPr lang="es-MX" dirty="0" smtClean="0"/>
          </a:p>
          <a:p>
            <a:pPr marL="0" indent="0">
              <a:buNone/>
            </a:pPr>
            <a:endParaRPr lang="es-MX" dirty="0" smtClean="0"/>
          </a:p>
          <a:p>
            <a:pPr marL="0" indent="0">
              <a:buNone/>
            </a:pPr>
            <a:r>
              <a:rPr lang="es-MX" sz="4800" dirty="0" smtClean="0">
                <a:latin typeface="+mj-lt"/>
              </a:rPr>
              <a:t>Ho:</a:t>
            </a:r>
          </a:p>
          <a:p>
            <a:pPr marL="0" indent="0">
              <a:buNone/>
            </a:pPr>
            <a:r>
              <a:rPr lang="es-MX" dirty="0" err="1" smtClean="0"/>
              <a:t>Nutrients</a:t>
            </a:r>
            <a:r>
              <a:rPr lang="es-MX" dirty="0" smtClean="0"/>
              <a:t> </a:t>
            </a:r>
            <a:r>
              <a:rPr lang="es-MX" dirty="0" err="1" smtClean="0"/>
              <a:t>will</a:t>
            </a:r>
            <a:r>
              <a:rPr lang="es-MX" dirty="0" smtClean="0"/>
              <a:t> </a:t>
            </a:r>
            <a:r>
              <a:rPr lang="es-MX" dirty="0" err="1" smtClean="0"/>
              <a:t>have</a:t>
            </a:r>
            <a:r>
              <a:rPr lang="es-MX" dirty="0" smtClean="0"/>
              <a:t> </a:t>
            </a:r>
            <a:r>
              <a:rPr lang="es-MX" dirty="0" err="1" smtClean="0"/>
              <a:t>an</a:t>
            </a:r>
            <a:r>
              <a:rPr lang="es-MX" dirty="0" smtClean="0"/>
              <a:t> </a:t>
            </a:r>
            <a:r>
              <a:rPr lang="es-MX" dirty="0" err="1" smtClean="0"/>
              <a:t>effect</a:t>
            </a:r>
            <a:r>
              <a:rPr lang="es-MX" dirty="0" smtClean="0"/>
              <a:t> </a:t>
            </a:r>
            <a:r>
              <a:rPr lang="es-MX" dirty="0" err="1" smtClean="0"/>
              <a:t>on</a:t>
            </a:r>
            <a:r>
              <a:rPr lang="es-MX" dirty="0" smtClean="0"/>
              <a:t> </a:t>
            </a:r>
            <a:r>
              <a:rPr lang="es-MX" dirty="0" err="1" smtClean="0"/>
              <a:t>photosyntethic</a:t>
            </a:r>
            <a:r>
              <a:rPr lang="es-MX" dirty="0" smtClean="0"/>
              <a:t> </a:t>
            </a:r>
            <a:r>
              <a:rPr lang="es-MX" dirty="0" err="1" smtClean="0"/>
              <a:t>capacity</a:t>
            </a:r>
            <a:r>
              <a:rPr lang="es-MX" dirty="0" smtClean="0"/>
              <a:t> to </a:t>
            </a:r>
            <a:r>
              <a:rPr lang="es-MX" dirty="0" err="1" smtClean="0"/>
              <a:t>increase</a:t>
            </a:r>
            <a:r>
              <a:rPr lang="es-MX" dirty="0" smtClean="0"/>
              <a:t> </a:t>
            </a:r>
            <a:r>
              <a:rPr lang="es-MX" dirty="0" err="1" smtClean="0"/>
              <a:t>iWUE</a:t>
            </a:r>
            <a:r>
              <a:rPr lang="es-MX" dirty="0" smtClean="0"/>
              <a:t> </a:t>
            </a:r>
            <a:r>
              <a:rPr lang="es-MX" dirty="0" err="1" smtClean="0"/>
              <a:t>specially</a:t>
            </a:r>
            <a:r>
              <a:rPr lang="es-MX" dirty="0" smtClean="0"/>
              <a:t> in N </a:t>
            </a:r>
            <a:r>
              <a:rPr lang="es-MX" dirty="0" err="1" smtClean="0"/>
              <a:t>limited</a:t>
            </a:r>
            <a:r>
              <a:rPr lang="es-MX" dirty="0" smtClean="0"/>
              <a:t> </a:t>
            </a:r>
            <a:r>
              <a:rPr lang="es-MX" dirty="0" err="1" smtClean="0"/>
              <a:t>areas</a:t>
            </a:r>
            <a:r>
              <a:rPr lang="es-MX" dirty="0" smtClean="0"/>
              <a:t> (</a:t>
            </a:r>
            <a:r>
              <a:rPr lang="es-MX" dirty="0" err="1" smtClean="0"/>
              <a:t>higher</a:t>
            </a:r>
            <a:r>
              <a:rPr lang="es-MX" dirty="0" smtClean="0"/>
              <a:t> </a:t>
            </a:r>
            <a:r>
              <a:rPr lang="es-MX" dirty="0" err="1" smtClean="0"/>
              <a:t>elevation</a:t>
            </a:r>
            <a:r>
              <a:rPr lang="es-MX" dirty="0" smtClean="0"/>
              <a:t>)</a:t>
            </a:r>
            <a:r>
              <a:rPr lang="es-MX" dirty="0" smtClean="0"/>
              <a:t>.</a:t>
            </a:r>
          </a:p>
          <a:p>
            <a:pPr marL="0" indent="0">
              <a:buNone/>
            </a:pPr>
            <a:r>
              <a:rPr lang="es-MX" sz="2400" dirty="0" smtClean="0"/>
              <a:t>- </a:t>
            </a:r>
            <a:r>
              <a:rPr lang="es-MX" sz="2400" dirty="0" err="1" smtClean="0"/>
              <a:t>Nitrogen</a:t>
            </a:r>
            <a:r>
              <a:rPr lang="es-MX" sz="2400" dirty="0" smtClean="0"/>
              <a:t> </a:t>
            </a:r>
            <a:r>
              <a:rPr lang="es-MX" sz="2400" dirty="0" err="1" smtClean="0"/>
              <a:t>addition</a:t>
            </a:r>
            <a:r>
              <a:rPr lang="es-MX" sz="2400" dirty="0" smtClean="0"/>
              <a:t> </a:t>
            </a:r>
            <a:r>
              <a:rPr lang="es-MX" sz="2400" dirty="0" err="1" smtClean="0"/>
              <a:t>decreases</a:t>
            </a:r>
            <a:r>
              <a:rPr lang="es-MX" sz="2400" dirty="0" smtClean="0"/>
              <a:t> </a:t>
            </a:r>
            <a:r>
              <a:rPr lang="es-MX" sz="2400" dirty="0" err="1" smtClean="0"/>
              <a:t>iWUE</a:t>
            </a:r>
            <a:r>
              <a:rPr lang="es-MX" sz="2400" dirty="0" smtClean="0"/>
              <a:t> </a:t>
            </a:r>
            <a:r>
              <a:rPr lang="es-MX" sz="2400" dirty="0" err="1" smtClean="0"/>
              <a:t>on</a:t>
            </a:r>
            <a:r>
              <a:rPr lang="es-MX" sz="2400" dirty="0" smtClean="0"/>
              <a:t> P-</a:t>
            </a:r>
            <a:r>
              <a:rPr lang="es-MX" sz="2400" dirty="0" err="1" smtClean="0"/>
              <a:t>limitated</a:t>
            </a:r>
            <a:r>
              <a:rPr lang="es-MX" sz="2400" dirty="0" smtClean="0"/>
              <a:t> </a:t>
            </a:r>
            <a:r>
              <a:rPr lang="es-MX" sz="2400" dirty="0" err="1" smtClean="0"/>
              <a:t>areas</a:t>
            </a:r>
            <a:r>
              <a:rPr lang="es-MX" sz="2400" dirty="0" smtClean="0"/>
              <a:t> (</a:t>
            </a:r>
            <a:r>
              <a:rPr lang="es-MX" sz="2400" dirty="0" err="1" smtClean="0"/>
              <a:t>Huang</a:t>
            </a:r>
            <a:r>
              <a:rPr lang="es-MX" sz="2400" dirty="0" smtClean="0"/>
              <a:t> et al, 2016).</a:t>
            </a:r>
            <a:endParaRPr lang="es-MX" sz="2400" dirty="0" smtClean="0"/>
          </a:p>
          <a:p>
            <a:pPr marL="0" indent="0" algn="just">
              <a:buNone/>
            </a:pPr>
            <a:r>
              <a:rPr lang="es-MX" dirty="0" smtClean="0"/>
              <a:t>- </a:t>
            </a:r>
            <a:r>
              <a:rPr lang="es-MX" dirty="0" err="1" smtClean="0"/>
              <a:t>Increase</a:t>
            </a:r>
            <a:r>
              <a:rPr lang="es-MX" dirty="0" smtClean="0"/>
              <a:t> of </a:t>
            </a:r>
            <a:r>
              <a:rPr lang="es-MX" dirty="0" err="1" smtClean="0"/>
              <a:t>water</a:t>
            </a:r>
            <a:r>
              <a:rPr lang="es-MX" dirty="0" smtClean="0"/>
              <a:t> </a:t>
            </a:r>
            <a:r>
              <a:rPr lang="es-MX" dirty="0" err="1" smtClean="0"/>
              <a:t>transpiration</a:t>
            </a:r>
            <a:r>
              <a:rPr lang="es-MX" dirty="0" smtClean="0"/>
              <a:t> </a:t>
            </a:r>
            <a:r>
              <a:rPr lang="es-MX" dirty="0" err="1" smtClean="0"/>
              <a:t>with</a:t>
            </a:r>
            <a:r>
              <a:rPr lang="es-MX" dirty="0" smtClean="0"/>
              <a:t> N </a:t>
            </a:r>
            <a:r>
              <a:rPr lang="en-US" dirty="0"/>
              <a:t>→</a:t>
            </a:r>
            <a:r>
              <a:rPr lang="es-MX" dirty="0" smtClean="0"/>
              <a:t> more </a:t>
            </a:r>
            <a:r>
              <a:rPr lang="es-MX" dirty="0" err="1" smtClean="0"/>
              <a:t>enrichment</a:t>
            </a:r>
            <a:r>
              <a:rPr lang="es-MX" dirty="0"/>
              <a:t> </a:t>
            </a:r>
            <a:r>
              <a:rPr lang="es-MX" dirty="0" smtClean="0"/>
              <a:t>of dO18</a:t>
            </a:r>
            <a:r>
              <a:rPr lang="es-MX" dirty="0" smtClean="0"/>
              <a:t>.</a:t>
            </a:r>
            <a:endParaRPr lang="es-MX" dirty="0" smtClean="0"/>
          </a:p>
        </p:txBody>
      </p:sp>
    </p:spTree>
    <p:extLst>
      <p:ext uri="{BB962C8B-B14F-4D97-AF65-F5344CB8AC3E}">
        <p14:creationId xmlns:p14="http://schemas.microsoft.com/office/powerpoint/2010/main" val="12260020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838200" y="1825625"/>
            <a:ext cx="10738104" cy="4351338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 rotWithShape="1">
          <a:blip r:embed="rId2"/>
          <a:srcRect l="25004" t="34055" r="17929" b="285"/>
          <a:stretch/>
        </p:blipFill>
        <p:spPr>
          <a:xfrm>
            <a:off x="-178269" y="0"/>
            <a:ext cx="7067042" cy="4333510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3"/>
          <a:srcRect l="18539" t="37341" r="15541" b="3055"/>
          <a:stretch/>
        </p:blipFill>
        <p:spPr>
          <a:xfrm>
            <a:off x="5263896" y="3352816"/>
            <a:ext cx="6818612" cy="3285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1218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err="1" smtClean="0"/>
              <a:t>Overview</a:t>
            </a:r>
            <a:endParaRPr lang="en-US" dirty="0"/>
          </a:p>
        </p:txBody>
      </p:sp>
      <p:graphicFrame>
        <p:nvGraphicFramePr>
          <p:cNvPr id="6" name="Marcador de contenido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52438916"/>
              </p:ext>
            </p:extLst>
          </p:nvPr>
        </p:nvGraphicFramePr>
        <p:xfrm>
          <a:off x="838200" y="2050574"/>
          <a:ext cx="10515600" cy="2956560"/>
        </p:xfrm>
        <a:graphic>
          <a:graphicData uri="http://schemas.openxmlformats.org/drawingml/2006/table">
            <a:tbl>
              <a:tblPr>
                <a:tableStyleId>{6E25E649-3F16-4E02-A733-19D2CDBF48F0}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3949033211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466839100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400463557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881038700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998413679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44967707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fontAlgn="ctr"/>
                      <a:endParaRPr lang="en-US" dirty="0">
                        <a:effectLst/>
                      </a:endParaRPr>
                    </a:p>
                  </a:txBody>
                  <a:tcPr marL="76200" marR="7620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en-US">
                        <a:effectLst/>
                      </a:endParaRPr>
                    </a:p>
                  </a:txBody>
                  <a:tcPr marL="76200" marR="7620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>
                          <a:effectLst/>
                        </a:rPr>
                        <a:t>C</a:t>
                      </a:r>
                    </a:p>
                  </a:txBody>
                  <a:tcPr marL="76200" marR="7620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>
                          <a:effectLst/>
                        </a:rPr>
                        <a:t>N</a:t>
                      </a:r>
                    </a:p>
                  </a:txBody>
                  <a:tcPr marL="76200" marR="7620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>
                          <a:effectLst/>
                        </a:rPr>
                        <a:t>NxP</a:t>
                      </a:r>
                    </a:p>
                  </a:txBody>
                  <a:tcPr marL="76200" marR="7620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>
                          <a:effectLst/>
                        </a:rPr>
                        <a:t>P</a:t>
                      </a:r>
                    </a:p>
                  </a:txBody>
                  <a:tcPr marL="76200" marR="7620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891088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 fontAlgn="ctr"/>
                      <a:r>
                        <a:rPr lang="en-US" dirty="0" smtClean="0">
                          <a:effectLst/>
                        </a:rPr>
                        <a:t>elevation</a:t>
                      </a:r>
                      <a:endParaRPr lang="en-US" dirty="0">
                        <a:effectLst/>
                      </a:endParaRP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s-MX" dirty="0" smtClean="0">
                          <a:effectLst/>
                        </a:rPr>
                        <a:t>especie</a:t>
                      </a:r>
                      <a:endParaRPr lang="en-US" dirty="0">
                        <a:effectLst/>
                      </a:endParaRP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dirty="0">
                        <a:effectLst/>
                      </a:endParaRP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>
                        <a:effectLst/>
                      </a:endParaRP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>
                        <a:effectLst/>
                      </a:endParaRP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>
                        <a:effectLst/>
                      </a:endParaRP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5003848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algn="r" fontAlgn="t"/>
                      <a:r>
                        <a:rPr lang="en-US" dirty="0">
                          <a:effectLst/>
                        </a:rPr>
                        <a:t>1000</a:t>
                      </a:r>
                      <a:endParaRPr lang="en-US" b="0" dirty="0">
                        <a:effectLst/>
                      </a:endParaRPr>
                    </a:p>
                  </a:txBody>
                  <a:tcPr marL="76200" marR="76200" marT="38100" marB="3810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1400" i="1" dirty="0" err="1">
                          <a:effectLst/>
                        </a:rPr>
                        <a:t>Clarisia</a:t>
                      </a:r>
                      <a:r>
                        <a:rPr lang="en-US" sz="1400" i="1" dirty="0">
                          <a:effectLst/>
                        </a:rPr>
                        <a:t> </a:t>
                      </a:r>
                      <a:r>
                        <a:rPr lang="en-US" sz="1400" i="1" dirty="0" err="1">
                          <a:effectLst/>
                        </a:rPr>
                        <a:t>racemosa</a:t>
                      </a:r>
                      <a:endParaRPr lang="en-US" sz="1400" b="0" i="1" dirty="0">
                        <a:effectLst/>
                      </a:endParaRPr>
                    </a:p>
                  </a:txBody>
                  <a:tcPr marL="76200" marR="76200" marT="38100" marB="3810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3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1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4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4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4465057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1400" i="1" dirty="0" err="1">
                          <a:effectLst/>
                        </a:rPr>
                        <a:t>Pouteria</a:t>
                      </a:r>
                      <a:r>
                        <a:rPr lang="en-US" sz="1400" i="1" dirty="0">
                          <a:effectLst/>
                        </a:rPr>
                        <a:t> </a:t>
                      </a:r>
                      <a:r>
                        <a:rPr lang="en-US" sz="1400" i="1" dirty="0" err="1">
                          <a:effectLst/>
                        </a:rPr>
                        <a:t>torta</a:t>
                      </a:r>
                      <a:endParaRPr lang="en-US" sz="1400" b="0" i="1" dirty="0">
                        <a:effectLst/>
                      </a:endParaRP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11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10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7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8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7182306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algn="r" fontAlgn="t"/>
                      <a:r>
                        <a:rPr lang="en-US">
                          <a:effectLst/>
                        </a:rPr>
                        <a:t>2000</a:t>
                      </a:r>
                      <a:endParaRPr lang="en-US" b="0">
                        <a:effectLst/>
                      </a:endParaRPr>
                    </a:p>
                  </a:txBody>
                  <a:tcPr marL="76200" marR="76200" marT="38100" marB="3810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1400" i="1" dirty="0" err="1">
                          <a:effectLst/>
                        </a:rPr>
                        <a:t>Alchornea</a:t>
                      </a:r>
                      <a:r>
                        <a:rPr lang="en-US" sz="1400" i="1" dirty="0">
                          <a:effectLst/>
                        </a:rPr>
                        <a:t> </a:t>
                      </a:r>
                      <a:r>
                        <a:rPr lang="en-US" sz="1400" i="1" dirty="0" err="1">
                          <a:effectLst/>
                        </a:rPr>
                        <a:t>lojaensis</a:t>
                      </a:r>
                      <a:endParaRPr lang="en-US" sz="1400" b="0" i="1" dirty="0">
                        <a:effectLst/>
                      </a:endParaRPr>
                    </a:p>
                  </a:txBody>
                  <a:tcPr marL="76200" marR="76200" marT="38100" marB="3810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12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9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8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15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735811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1400" i="1" dirty="0" err="1">
                          <a:effectLst/>
                        </a:rPr>
                        <a:t>Myrcia</a:t>
                      </a:r>
                      <a:r>
                        <a:rPr lang="en-US" sz="1400" i="1" dirty="0">
                          <a:effectLst/>
                        </a:rPr>
                        <a:t> </a:t>
                      </a:r>
                      <a:r>
                        <a:rPr lang="en-US" sz="1400" i="1" dirty="0" err="1">
                          <a:effectLst/>
                        </a:rPr>
                        <a:t>sp</a:t>
                      </a:r>
                      <a:r>
                        <a:rPr lang="en-US" sz="1400" i="1" dirty="0">
                          <a:effectLst/>
                        </a:rPr>
                        <a:t> </a:t>
                      </a:r>
                      <a:r>
                        <a:rPr lang="en-US" sz="1400" i="1" dirty="0" err="1">
                          <a:effectLst/>
                        </a:rPr>
                        <a:t>nov</a:t>
                      </a:r>
                      <a:endParaRPr lang="en-US" sz="1400" b="0" i="1" dirty="0">
                        <a:effectLst/>
                      </a:endParaRP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15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10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13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11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81439957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algn="r" fontAlgn="t"/>
                      <a:r>
                        <a:rPr lang="en-US">
                          <a:effectLst/>
                        </a:rPr>
                        <a:t>3000</a:t>
                      </a:r>
                      <a:endParaRPr lang="en-US" b="0">
                        <a:effectLst/>
                      </a:endParaRPr>
                    </a:p>
                  </a:txBody>
                  <a:tcPr marL="76200" marR="76200" marT="38100" marB="3810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1400" i="1" dirty="0" err="1">
                          <a:effectLst/>
                        </a:rPr>
                        <a:t>Hedyosmun</a:t>
                      </a:r>
                      <a:r>
                        <a:rPr lang="en-US" sz="1400" i="1" dirty="0">
                          <a:effectLst/>
                        </a:rPr>
                        <a:t> </a:t>
                      </a:r>
                      <a:r>
                        <a:rPr lang="en-US" sz="1400" i="1" dirty="0" err="1">
                          <a:effectLst/>
                        </a:rPr>
                        <a:t>purpurascens</a:t>
                      </a:r>
                      <a:endParaRPr lang="en-US" sz="1400" b="0" i="1" dirty="0">
                        <a:effectLst/>
                      </a:endParaRPr>
                    </a:p>
                  </a:txBody>
                  <a:tcPr marL="76200" marR="76200" marT="38100" marB="3810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5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6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3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7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4670539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1400" i="1" dirty="0" err="1">
                          <a:effectLst/>
                        </a:rPr>
                        <a:t>Weinmania</a:t>
                      </a:r>
                      <a:r>
                        <a:rPr lang="en-US" sz="1400" i="1" dirty="0">
                          <a:effectLst/>
                        </a:rPr>
                        <a:t> </a:t>
                      </a:r>
                      <a:r>
                        <a:rPr lang="en-US" sz="1400" i="1" dirty="0" err="1">
                          <a:effectLst/>
                        </a:rPr>
                        <a:t>loxensis</a:t>
                      </a:r>
                      <a:endParaRPr lang="en-US" sz="1400" b="0" i="1" dirty="0">
                        <a:effectLst/>
                      </a:endParaRP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5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5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2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6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0840225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196208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4" name="Marcador de contenido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65617821"/>
              </p:ext>
            </p:extLst>
          </p:nvPr>
        </p:nvGraphicFramePr>
        <p:xfrm>
          <a:off x="762545" y="365123"/>
          <a:ext cx="10591254" cy="5833827"/>
        </p:xfrm>
        <a:graphic>
          <a:graphicData uri="http://schemas.openxmlformats.org/drawingml/2006/table">
            <a:tbl>
              <a:tblPr>
                <a:tableStyleId>{9D7B26C5-4107-4FEC-AEDC-1716B250A1EF}</a:tableStyleId>
              </a:tblPr>
              <a:tblGrid>
                <a:gridCol w="1077649">
                  <a:extLst>
                    <a:ext uri="{9D8B030D-6E8A-4147-A177-3AD203B41FA5}">
                      <a16:colId xmlns:a16="http://schemas.microsoft.com/office/drawing/2014/main" val="1260707580"/>
                    </a:ext>
                  </a:extLst>
                </a:gridCol>
                <a:gridCol w="538823">
                  <a:extLst>
                    <a:ext uri="{9D8B030D-6E8A-4147-A177-3AD203B41FA5}">
                      <a16:colId xmlns:a16="http://schemas.microsoft.com/office/drawing/2014/main" val="3014617345"/>
                    </a:ext>
                  </a:extLst>
                </a:gridCol>
                <a:gridCol w="387279">
                  <a:extLst>
                    <a:ext uri="{9D8B030D-6E8A-4147-A177-3AD203B41FA5}">
                      <a16:colId xmlns:a16="http://schemas.microsoft.com/office/drawing/2014/main" val="1229990245"/>
                    </a:ext>
                  </a:extLst>
                </a:gridCol>
                <a:gridCol w="235735">
                  <a:extLst>
                    <a:ext uri="{9D8B030D-6E8A-4147-A177-3AD203B41FA5}">
                      <a16:colId xmlns:a16="http://schemas.microsoft.com/office/drawing/2014/main" val="3956905831"/>
                    </a:ext>
                  </a:extLst>
                </a:gridCol>
                <a:gridCol w="454632">
                  <a:extLst>
                    <a:ext uri="{9D8B030D-6E8A-4147-A177-3AD203B41FA5}">
                      <a16:colId xmlns:a16="http://schemas.microsoft.com/office/drawing/2014/main" val="3946183055"/>
                    </a:ext>
                  </a:extLst>
                </a:gridCol>
                <a:gridCol w="235735">
                  <a:extLst>
                    <a:ext uri="{9D8B030D-6E8A-4147-A177-3AD203B41FA5}">
                      <a16:colId xmlns:a16="http://schemas.microsoft.com/office/drawing/2014/main" val="2323033093"/>
                    </a:ext>
                  </a:extLst>
                </a:gridCol>
                <a:gridCol w="328345">
                  <a:extLst>
                    <a:ext uri="{9D8B030D-6E8A-4147-A177-3AD203B41FA5}">
                      <a16:colId xmlns:a16="http://schemas.microsoft.com/office/drawing/2014/main" val="1466050227"/>
                    </a:ext>
                  </a:extLst>
                </a:gridCol>
                <a:gridCol w="319927">
                  <a:extLst>
                    <a:ext uri="{9D8B030D-6E8A-4147-A177-3AD203B41FA5}">
                      <a16:colId xmlns:a16="http://schemas.microsoft.com/office/drawing/2014/main" val="287235157"/>
                    </a:ext>
                  </a:extLst>
                </a:gridCol>
                <a:gridCol w="277831">
                  <a:extLst>
                    <a:ext uri="{9D8B030D-6E8A-4147-A177-3AD203B41FA5}">
                      <a16:colId xmlns:a16="http://schemas.microsoft.com/office/drawing/2014/main" val="654398700"/>
                    </a:ext>
                  </a:extLst>
                </a:gridCol>
                <a:gridCol w="328345">
                  <a:extLst>
                    <a:ext uri="{9D8B030D-6E8A-4147-A177-3AD203B41FA5}">
                      <a16:colId xmlns:a16="http://schemas.microsoft.com/office/drawing/2014/main" val="2341519040"/>
                    </a:ext>
                  </a:extLst>
                </a:gridCol>
                <a:gridCol w="370442">
                  <a:extLst>
                    <a:ext uri="{9D8B030D-6E8A-4147-A177-3AD203B41FA5}">
                      <a16:colId xmlns:a16="http://schemas.microsoft.com/office/drawing/2014/main" val="1825801233"/>
                    </a:ext>
                  </a:extLst>
                </a:gridCol>
                <a:gridCol w="446214">
                  <a:extLst>
                    <a:ext uri="{9D8B030D-6E8A-4147-A177-3AD203B41FA5}">
                      <a16:colId xmlns:a16="http://schemas.microsoft.com/office/drawing/2014/main" val="3162057198"/>
                    </a:ext>
                  </a:extLst>
                </a:gridCol>
                <a:gridCol w="420957">
                  <a:extLst>
                    <a:ext uri="{9D8B030D-6E8A-4147-A177-3AD203B41FA5}">
                      <a16:colId xmlns:a16="http://schemas.microsoft.com/office/drawing/2014/main" val="374157891"/>
                    </a:ext>
                  </a:extLst>
                </a:gridCol>
                <a:gridCol w="454632">
                  <a:extLst>
                    <a:ext uri="{9D8B030D-6E8A-4147-A177-3AD203B41FA5}">
                      <a16:colId xmlns:a16="http://schemas.microsoft.com/office/drawing/2014/main" val="3906968907"/>
                    </a:ext>
                  </a:extLst>
                </a:gridCol>
                <a:gridCol w="429376">
                  <a:extLst>
                    <a:ext uri="{9D8B030D-6E8A-4147-A177-3AD203B41FA5}">
                      <a16:colId xmlns:a16="http://schemas.microsoft.com/office/drawing/2014/main" val="620438944"/>
                    </a:ext>
                  </a:extLst>
                </a:gridCol>
                <a:gridCol w="378860">
                  <a:extLst>
                    <a:ext uri="{9D8B030D-6E8A-4147-A177-3AD203B41FA5}">
                      <a16:colId xmlns:a16="http://schemas.microsoft.com/office/drawing/2014/main" val="3114154374"/>
                    </a:ext>
                  </a:extLst>
                </a:gridCol>
                <a:gridCol w="336765">
                  <a:extLst>
                    <a:ext uri="{9D8B030D-6E8A-4147-A177-3AD203B41FA5}">
                      <a16:colId xmlns:a16="http://schemas.microsoft.com/office/drawing/2014/main" val="2445696992"/>
                    </a:ext>
                  </a:extLst>
                </a:gridCol>
                <a:gridCol w="378860">
                  <a:extLst>
                    <a:ext uri="{9D8B030D-6E8A-4147-A177-3AD203B41FA5}">
                      <a16:colId xmlns:a16="http://schemas.microsoft.com/office/drawing/2014/main" val="88218582"/>
                    </a:ext>
                  </a:extLst>
                </a:gridCol>
                <a:gridCol w="387279">
                  <a:extLst>
                    <a:ext uri="{9D8B030D-6E8A-4147-A177-3AD203B41FA5}">
                      <a16:colId xmlns:a16="http://schemas.microsoft.com/office/drawing/2014/main" val="824080515"/>
                    </a:ext>
                  </a:extLst>
                </a:gridCol>
                <a:gridCol w="420957">
                  <a:extLst>
                    <a:ext uri="{9D8B030D-6E8A-4147-A177-3AD203B41FA5}">
                      <a16:colId xmlns:a16="http://schemas.microsoft.com/office/drawing/2014/main" val="3211996215"/>
                    </a:ext>
                  </a:extLst>
                </a:gridCol>
                <a:gridCol w="538823">
                  <a:extLst>
                    <a:ext uri="{9D8B030D-6E8A-4147-A177-3AD203B41FA5}">
                      <a16:colId xmlns:a16="http://schemas.microsoft.com/office/drawing/2014/main" val="1292124080"/>
                    </a:ext>
                  </a:extLst>
                </a:gridCol>
                <a:gridCol w="345185">
                  <a:extLst>
                    <a:ext uri="{9D8B030D-6E8A-4147-A177-3AD203B41FA5}">
                      <a16:colId xmlns:a16="http://schemas.microsoft.com/office/drawing/2014/main" val="765330943"/>
                    </a:ext>
                  </a:extLst>
                </a:gridCol>
                <a:gridCol w="437794">
                  <a:extLst>
                    <a:ext uri="{9D8B030D-6E8A-4147-A177-3AD203B41FA5}">
                      <a16:colId xmlns:a16="http://schemas.microsoft.com/office/drawing/2014/main" val="790748895"/>
                    </a:ext>
                  </a:extLst>
                </a:gridCol>
                <a:gridCol w="370442">
                  <a:extLst>
                    <a:ext uri="{9D8B030D-6E8A-4147-A177-3AD203B41FA5}">
                      <a16:colId xmlns:a16="http://schemas.microsoft.com/office/drawing/2014/main" val="809095449"/>
                    </a:ext>
                  </a:extLst>
                </a:gridCol>
                <a:gridCol w="328345">
                  <a:extLst>
                    <a:ext uri="{9D8B030D-6E8A-4147-A177-3AD203B41FA5}">
                      <a16:colId xmlns:a16="http://schemas.microsoft.com/office/drawing/2014/main" val="4135441283"/>
                    </a:ext>
                  </a:extLst>
                </a:gridCol>
                <a:gridCol w="362022">
                  <a:extLst>
                    <a:ext uri="{9D8B030D-6E8A-4147-A177-3AD203B41FA5}">
                      <a16:colId xmlns:a16="http://schemas.microsoft.com/office/drawing/2014/main" val="363667891"/>
                    </a:ext>
                  </a:extLst>
                </a:gridCol>
              </a:tblGrid>
              <a:tr h="1552060"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 anchor="b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 dirty="0">
                          <a:effectLst/>
                        </a:rPr>
                        <a:t> </a:t>
                      </a:r>
                      <a:endParaRPr 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l-GR" sz="1000" u="none" strike="noStrike" dirty="0">
                          <a:effectLst/>
                        </a:rPr>
                        <a:t>δ18</a:t>
                      </a:r>
                      <a:r>
                        <a:rPr lang="en-US" sz="1000" u="none" strike="noStrike" dirty="0">
                          <a:effectLst/>
                        </a:rPr>
                        <a:t>O in ‰ vs </a:t>
                      </a:r>
                      <a:r>
                        <a:rPr lang="en-US" sz="1000" u="none" strike="noStrike" dirty="0" err="1">
                          <a:effectLst/>
                        </a:rPr>
                        <a:t>DeltaSMOW</a:t>
                      </a:r>
                      <a:endParaRPr 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l-GR" sz="1000" u="none" strike="noStrike" dirty="0">
                          <a:effectLst/>
                        </a:rPr>
                        <a:t>δ13</a:t>
                      </a:r>
                      <a:r>
                        <a:rPr lang="en-US" sz="1000" u="none" strike="noStrike" dirty="0">
                          <a:effectLst/>
                        </a:rPr>
                        <a:t>C (‰ </a:t>
                      </a:r>
                      <a:r>
                        <a:rPr lang="en-US" sz="1000" u="none" strike="noStrike" dirty="0" err="1">
                          <a:effectLst/>
                        </a:rPr>
                        <a:t>v.s.V</a:t>
                      </a:r>
                      <a:r>
                        <a:rPr lang="en-US" sz="1000" u="none" strike="noStrike" dirty="0">
                          <a:effectLst/>
                        </a:rPr>
                        <a:t>-PDB)</a:t>
                      </a:r>
                      <a:endParaRPr 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 dirty="0">
                          <a:effectLst/>
                        </a:rPr>
                        <a:t>force to punch (</a:t>
                      </a:r>
                      <a:r>
                        <a:rPr lang="en-US" sz="1000" u="none" strike="noStrike" dirty="0" err="1">
                          <a:effectLst/>
                        </a:rPr>
                        <a:t>kN</a:t>
                      </a:r>
                      <a:r>
                        <a:rPr lang="en-US" sz="1000" u="none" strike="noStrike" dirty="0">
                          <a:effectLst/>
                        </a:rPr>
                        <a:t>/m)</a:t>
                      </a:r>
                      <a:endParaRPr 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thickness (mm)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Leaf area (cm²)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dry matter content (mg/g)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iWUE (</a:t>
                      </a:r>
                      <a:r>
                        <a:rPr lang="el-GR" sz="1000" u="none" strike="noStrike">
                          <a:effectLst/>
                        </a:rPr>
                        <a:t>μ</a:t>
                      </a:r>
                      <a:r>
                        <a:rPr lang="en-US" sz="1000" u="none" strike="noStrike">
                          <a:effectLst/>
                        </a:rPr>
                        <a:t>mol/mol)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Specific leaf area (g/cm²)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leaf water content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C:N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Narea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Carea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4765269"/>
                  </a:ext>
                </a:extLst>
              </a:tr>
              <a:tr h="301816"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mean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std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mean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std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mean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std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mean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std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 dirty="0">
                          <a:effectLst/>
                        </a:rPr>
                        <a:t>mean</a:t>
                      </a:r>
                      <a:endParaRPr 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std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mean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std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mean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std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mean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std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mean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std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mean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std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mean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std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mean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std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extLst>
                  <a:ext uri="{0D108BD9-81ED-4DB2-BD59-A6C34878D82A}">
                    <a16:rowId xmlns:a16="http://schemas.microsoft.com/office/drawing/2014/main" val="4229758635"/>
                  </a:ext>
                </a:extLst>
              </a:tr>
              <a:tr h="165113">
                <a:tc rowSpan="4">
                  <a:txBody>
                    <a:bodyPr/>
                    <a:lstStyle/>
                    <a:p>
                      <a:pPr algn="ctr" fontAlgn="t"/>
                      <a:r>
                        <a:rPr lang="en-US" sz="1000" b="1" i="1" u="none" strike="noStrike" dirty="0" err="1">
                          <a:effectLst/>
                        </a:rPr>
                        <a:t>Alchornea</a:t>
                      </a:r>
                      <a:r>
                        <a:rPr lang="en-US" sz="1000" b="1" i="1" u="none" strike="noStrike" dirty="0">
                          <a:effectLst/>
                        </a:rPr>
                        <a:t> </a:t>
                      </a:r>
                      <a:r>
                        <a:rPr lang="en-US" sz="1000" b="1" i="1" u="none" strike="noStrike" dirty="0" err="1">
                          <a:effectLst/>
                        </a:rPr>
                        <a:t>lojaensis</a:t>
                      </a:r>
                      <a:endParaRPr lang="en-US" sz="1000" b="1" i="1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C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29.67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-26.51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1.58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437.2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148.92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458.84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40.17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106.54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11.75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35.39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4.16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43.02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6.87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0.33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1.57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1148505449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29.73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-26.74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1.67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585.8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208.63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436.5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43.22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103.5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13.97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35.34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4.79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37.95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4.98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0.37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2.09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356520708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NP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29.51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-26.77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1.69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526.3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151.86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443.24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46.75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103.12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19.23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36.46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3.96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40.44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4.32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0.33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13.3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1.15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3681655595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29.54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-27.06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1.61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569.4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157.74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445.05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31.92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99.32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20.01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35.91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3.67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44.34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5.43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0.31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13.7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1.51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2489294264"/>
                  </a:ext>
                </a:extLst>
              </a:tr>
              <a:tr h="165113">
                <a:tc rowSpan="4">
                  <a:txBody>
                    <a:bodyPr/>
                    <a:lstStyle/>
                    <a:p>
                      <a:pPr algn="ctr" fontAlgn="t"/>
                      <a:r>
                        <a:rPr lang="en-US" sz="1000" b="1" i="1" u="none" strike="noStrike" dirty="0" err="1">
                          <a:effectLst/>
                        </a:rPr>
                        <a:t>Clarisia</a:t>
                      </a:r>
                      <a:r>
                        <a:rPr lang="en-US" sz="1000" b="1" i="1" u="none" strike="noStrike" dirty="0">
                          <a:effectLst/>
                        </a:rPr>
                        <a:t>  </a:t>
                      </a:r>
                      <a:r>
                        <a:rPr lang="en-US" sz="1000" b="1" i="1" u="none" strike="noStrike" dirty="0" err="1">
                          <a:effectLst/>
                        </a:rPr>
                        <a:t>racemosa</a:t>
                      </a:r>
                      <a:endParaRPr lang="en-US" sz="1000" b="1" i="1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C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26.51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-30.63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0.96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789.2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252.02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462.21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25.6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51.71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5.65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92.05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10.83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24.51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2.92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4.61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0.41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1888459054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 dirty="0">
                          <a:effectLst/>
                        </a:rPr>
                        <a:t>N</a:t>
                      </a:r>
                      <a:endParaRPr 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31.23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-31.8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827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444.58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36.04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112.1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22.29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3.99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1305250075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NP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30.74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2.3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-30.88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0.97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705.8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95.02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461.81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65.73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48.44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4.83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91.5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38.65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0.54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18.28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1.73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0.33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6.11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4.46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775986049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29.77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2.7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-29.84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0.98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720.4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70.29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452.38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16.12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62.23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16.55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95.65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6.27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22.65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3.13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4.59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1088505915"/>
                  </a:ext>
                </a:extLst>
              </a:tr>
              <a:tr h="165113">
                <a:tc rowSpan="4">
                  <a:txBody>
                    <a:bodyPr/>
                    <a:lstStyle/>
                    <a:p>
                      <a:pPr algn="ctr" fontAlgn="t"/>
                      <a:r>
                        <a:rPr lang="en-US" sz="1000" b="1" i="1" u="none" strike="noStrike" dirty="0" err="1">
                          <a:effectLst/>
                        </a:rPr>
                        <a:t>Hedyosmun</a:t>
                      </a:r>
                      <a:r>
                        <a:rPr lang="en-US" sz="1000" b="1" i="1" u="none" strike="noStrike" dirty="0">
                          <a:effectLst/>
                        </a:rPr>
                        <a:t>  </a:t>
                      </a:r>
                      <a:r>
                        <a:rPr lang="en-US" sz="1000" b="1" i="1" u="none" strike="noStrike" dirty="0" err="1">
                          <a:effectLst/>
                        </a:rPr>
                        <a:t>purpurascens</a:t>
                      </a:r>
                      <a:endParaRPr lang="en-US" sz="1000" b="1" i="1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C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26.34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-26.81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0.46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360.5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26.75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276.6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45.98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102.66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19.17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68.88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16.18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0.72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0.05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30.78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2.77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6.66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1.65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640899695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27.66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-26.35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2.1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0.46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294.3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117.09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303.57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21.05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108.64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27.31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60.87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6.61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0.7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25.77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5.26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7.21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1799138735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NP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26.68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-24.85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0.46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55.44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263.47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4.56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128.58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16.73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65.98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0.74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26.1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2.81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6.74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715414981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27.25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-27.29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0.69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0.45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431.7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97.78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248.34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11.95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96.24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21.08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75.91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12.42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0.75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28.12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2.51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5.89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1259538044"/>
                  </a:ext>
                </a:extLst>
              </a:tr>
              <a:tr h="165113">
                <a:tc rowSpan="4">
                  <a:txBody>
                    <a:bodyPr/>
                    <a:lstStyle/>
                    <a:p>
                      <a:pPr algn="ctr" fontAlgn="t"/>
                      <a:r>
                        <a:rPr lang="en-US" sz="1000" b="1" i="1" u="none" strike="noStrike" dirty="0" err="1">
                          <a:effectLst/>
                        </a:rPr>
                        <a:t>Myrcia</a:t>
                      </a:r>
                      <a:r>
                        <a:rPr lang="en-US" sz="1000" b="1" i="1" u="none" strike="noStrike" dirty="0">
                          <a:effectLst/>
                        </a:rPr>
                        <a:t> </a:t>
                      </a:r>
                      <a:r>
                        <a:rPr lang="en-US" sz="1000" b="1" i="1" u="none" strike="noStrike" dirty="0" err="1">
                          <a:effectLst/>
                        </a:rPr>
                        <a:t>sp</a:t>
                      </a:r>
                      <a:r>
                        <a:rPr lang="en-US" sz="1000" b="1" i="1" u="none" strike="noStrike" dirty="0">
                          <a:effectLst/>
                        </a:rPr>
                        <a:t> </a:t>
                      </a:r>
                      <a:r>
                        <a:rPr lang="en-US" sz="1000" b="1" i="1" u="none" strike="noStrike" dirty="0" err="1">
                          <a:effectLst/>
                        </a:rPr>
                        <a:t>nov</a:t>
                      </a:r>
                      <a:endParaRPr lang="en-US" sz="1000" b="1" i="1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C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30.63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-27.79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1.49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0.48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441.6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138.78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479.82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36.04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89.53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15.32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37.13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3.92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51.73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11.71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0.28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12.9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1.47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3184967367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31.75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-27.24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1.58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403.4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141.02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465.81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30.98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96.87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12.23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34.39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1.95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47.43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4.13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0.03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13.7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0.76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2307052857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NP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30.97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-27.27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0.49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441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241.41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472.77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38.37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96.48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13.26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35.38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3.41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47.79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4.16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13.3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235060837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30.31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-27.34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1.55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0.48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403.9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144.57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467.3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24.91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95.52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9.23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34.58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4.01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58.87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5.8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13.8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1.88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1026311945"/>
                  </a:ext>
                </a:extLst>
              </a:tr>
              <a:tr h="165113">
                <a:tc rowSpan="4">
                  <a:txBody>
                    <a:bodyPr/>
                    <a:lstStyle/>
                    <a:p>
                      <a:pPr algn="ctr" fontAlgn="t"/>
                      <a:r>
                        <a:rPr lang="en-US" sz="1000" b="1" i="1" u="none" strike="noStrike" dirty="0" err="1">
                          <a:effectLst/>
                        </a:rPr>
                        <a:t>Pouteria</a:t>
                      </a:r>
                      <a:r>
                        <a:rPr lang="en-US" sz="1000" b="1" i="1" u="none" strike="noStrike" dirty="0">
                          <a:effectLst/>
                        </a:rPr>
                        <a:t> </a:t>
                      </a:r>
                      <a:r>
                        <a:rPr lang="en-US" sz="1000" b="1" i="1" u="none" strike="noStrike" dirty="0" err="1">
                          <a:effectLst/>
                        </a:rPr>
                        <a:t>torta</a:t>
                      </a:r>
                      <a:endParaRPr lang="en-US" sz="1000" b="1" i="1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C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30.32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-31.55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0.78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1384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423.28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517.2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36.65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39.35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10.18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80.27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8.75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0.48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31.55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2.43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0.19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6.05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0.74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4144569447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29.32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-30.37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1482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393.07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567.65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103.37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55.19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24.44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77.51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15.42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0.43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30.55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2.74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0.21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6.38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1.34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1826526079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NP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28.45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-31.74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1332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479.13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498.3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49.19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36.88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18.06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101.5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52.75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29.27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1.73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5.37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1.53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1074707092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28.93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-31.27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1416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289.8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497.57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47.07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43.17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12.5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78.02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10.48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28.9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2.18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0.03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6.25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0.94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499016248"/>
                  </a:ext>
                </a:extLst>
              </a:tr>
              <a:tr h="165113">
                <a:tc rowSpan="4">
                  <a:txBody>
                    <a:bodyPr/>
                    <a:lstStyle/>
                    <a:p>
                      <a:pPr algn="ctr" fontAlgn="t"/>
                      <a:r>
                        <a:rPr lang="en-US" sz="1000" b="1" i="1" u="none" strike="noStrike" dirty="0" err="1">
                          <a:effectLst/>
                        </a:rPr>
                        <a:t>Weinmania</a:t>
                      </a:r>
                      <a:r>
                        <a:rPr lang="en-US" sz="1000" b="1" i="1" u="none" strike="noStrike" dirty="0">
                          <a:effectLst/>
                        </a:rPr>
                        <a:t>  </a:t>
                      </a:r>
                      <a:r>
                        <a:rPr lang="en-US" sz="1000" b="1" i="1" u="none" strike="noStrike" dirty="0" err="1">
                          <a:effectLst/>
                        </a:rPr>
                        <a:t>loxensis</a:t>
                      </a:r>
                      <a:endParaRPr lang="en-US" sz="1000" b="1" i="1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C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26.56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-27.7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29.36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4.07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458.37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24.12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90.8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3.58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70.1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5.89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43.15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5.79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6.37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147345336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26.46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-28.06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35.25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12.72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484.91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63.86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86.06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11.93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69.55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9.63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39.49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5.23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6.51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0.96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3778380067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NP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25.62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-29.03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38.68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3.7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447.24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11.29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73.08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10.56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72.21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6.39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41.18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0.31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6.39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0.44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547355019"/>
                  </a:ext>
                </a:extLst>
              </a:tr>
              <a:tr h="173368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26.12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-28.38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35.36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2.13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450.2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29.2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81.74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15.03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72.58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4.07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41.73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5.19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6.09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0.37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39877303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6447415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Marcador de contenido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95609165"/>
              </p:ext>
            </p:extLst>
          </p:nvPr>
        </p:nvGraphicFramePr>
        <p:xfrm>
          <a:off x="1229678" y="966209"/>
          <a:ext cx="9062715" cy="5613519"/>
        </p:xfrm>
        <a:graphic>
          <a:graphicData uri="http://schemas.openxmlformats.org/drawingml/2006/table">
            <a:tbl>
              <a:tblPr>
                <a:tableStyleId>{8EC20E35-A176-4012-BC5E-935CFFF8708E}</a:tableStyleId>
              </a:tblPr>
              <a:tblGrid>
                <a:gridCol w="1693507">
                  <a:extLst>
                    <a:ext uri="{9D8B030D-6E8A-4147-A177-3AD203B41FA5}">
                      <a16:colId xmlns:a16="http://schemas.microsoft.com/office/drawing/2014/main" val="17417421"/>
                    </a:ext>
                  </a:extLst>
                </a:gridCol>
                <a:gridCol w="669928">
                  <a:extLst>
                    <a:ext uri="{9D8B030D-6E8A-4147-A177-3AD203B41FA5}">
                      <a16:colId xmlns:a16="http://schemas.microsoft.com/office/drawing/2014/main" val="3571363669"/>
                    </a:ext>
                  </a:extLst>
                </a:gridCol>
                <a:gridCol w="669928">
                  <a:extLst>
                    <a:ext uri="{9D8B030D-6E8A-4147-A177-3AD203B41FA5}">
                      <a16:colId xmlns:a16="http://schemas.microsoft.com/office/drawing/2014/main" val="3746265573"/>
                    </a:ext>
                  </a:extLst>
                </a:gridCol>
                <a:gridCol w="669928">
                  <a:extLst>
                    <a:ext uri="{9D8B030D-6E8A-4147-A177-3AD203B41FA5}">
                      <a16:colId xmlns:a16="http://schemas.microsoft.com/office/drawing/2014/main" val="3384861894"/>
                    </a:ext>
                  </a:extLst>
                </a:gridCol>
                <a:gridCol w="669928">
                  <a:extLst>
                    <a:ext uri="{9D8B030D-6E8A-4147-A177-3AD203B41FA5}">
                      <a16:colId xmlns:a16="http://schemas.microsoft.com/office/drawing/2014/main" val="167853604"/>
                    </a:ext>
                  </a:extLst>
                </a:gridCol>
                <a:gridCol w="669928">
                  <a:extLst>
                    <a:ext uri="{9D8B030D-6E8A-4147-A177-3AD203B41FA5}">
                      <a16:colId xmlns:a16="http://schemas.microsoft.com/office/drawing/2014/main" val="288811621"/>
                    </a:ext>
                  </a:extLst>
                </a:gridCol>
                <a:gridCol w="669928">
                  <a:extLst>
                    <a:ext uri="{9D8B030D-6E8A-4147-A177-3AD203B41FA5}">
                      <a16:colId xmlns:a16="http://schemas.microsoft.com/office/drawing/2014/main" val="4225616419"/>
                    </a:ext>
                  </a:extLst>
                </a:gridCol>
                <a:gridCol w="669928">
                  <a:extLst>
                    <a:ext uri="{9D8B030D-6E8A-4147-A177-3AD203B41FA5}">
                      <a16:colId xmlns:a16="http://schemas.microsoft.com/office/drawing/2014/main" val="669438515"/>
                    </a:ext>
                  </a:extLst>
                </a:gridCol>
                <a:gridCol w="669928">
                  <a:extLst>
                    <a:ext uri="{9D8B030D-6E8A-4147-A177-3AD203B41FA5}">
                      <a16:colId xmlns:a16="http://schemas.microsoft.com/office/drawing/2014/main" val="3658029091"/>
                    </a:ext>
                  </a:extLst>
                </a:gridCol>
                <a:gridCol w="669928">
                  <a:extLst>
                    <a:ext uri="{9D8B030D-6E8A-4147-A177-3AD203B41FA5}">
                      <a16:colId xmlns:a16="http://schemas.microsoft.com/office/drawing/2014/main" val="1524687315"/>
                    </a:ext>
                  </a:extLst>
                </a:gridCol>
                <a:gridCol w="669928">
                  <a:extLst>
                    <a:ext uri="{9D8B030D-6E8A-4147-A177-3AD203B41FA5}">
                      <a16:colId xmlns:a16="http://schemas.microsoft.com/office/drawing/2014/main" val="1810213277"/>
                    </a:ext>
                  </a:extLst>
                </a:gridCol>
                <a:gridCol w="669928">
                  <a:extLst>
                    <a:ext uri="{9D8B030D-6E8A-4147-A177-3AD203B41FA5}">
                      <a16:colId xmlns:a16="http://schemas.microsoft.com/office/drawing/2014/main" val="3105762151"/>
                    </a:ext>
                  </a:extLst>
                </a:gridCol>
              </a:tblGrid>
              <a:tr h="374493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 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l-GR" sz="1200" b="1" u="none" strike="noStrike" dirty="0">
                          <a:effectLst/>
                        </a:rPr>
                        <a:t>δ15</a:t>
                      </a:r>
                      <a:r>
                        <a:rPr lang="en-US" sz="1200" b="1" u="none" strike="noStrike" dirty="0">
                          <a:effectLst/>
                        </a:rPr>
                        <a:t>N (‰ </a:t>
                      </a:r>
                      <a:r>
                        <a:rPr lang="en-US" sz="1200" b="1" u="none" strike="noStrike" dirty="0" err="1">
                          <a:effectLst/>
                        </a:rPr>
                        <a:t>v.s.AIR</a:t>
                      </a:r>
                      <a:r>
                        <a:rPr lang="en-US" sz="1200" b="1" u="none" strike="noStrike" dirty="0">
                          <a:effectLst/>
                        </a:rPr>
                        <a:t>)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l-GR" sz="1200" b="1" u="none" strike="noStrike">
                          <a:effectLst/>
                        </a:rPr>
                        <a:t>δ18</a:t>
                      </a:r>
                      <a:r>
                        <a:rPr lang="en-US" sz="1200" b="1" u="none" strike="noStrike">
                          <a:effectLst/>
                        </a:rPr>
                        <a:t>O in ‰ vs DeltaSMOW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l-GR" sz="1200" b="1" u="none" strike="noStrike" dirty="0">
                          <a:effectLst/>
                        </a:rPr>
                        <a:t>δ13</a:t>
                      </a:r>
                      <a:r>
                        <a:rPr lang="en-US" sz="1200" b="1" u="none" strike="noStrike" dirty="0">
                          <a:effectLst/>
                        </a:rPr>
                        <a:t>C (‰ </a:t>
                      </a:r>
                      <a:r>
                        <a:rPr lang="en-US" sz="1200" b="1" u="none" strike="noStrike" dirty="0" err="1">
                          <a:effectLst/>
                        </a:rPr>
                        <a:t>v.s.V</a:t>
                      </a:r>
                      <a:r>
                        <a:rPr lang="en-US" sz="1200" b="1" u="none" strike="noStrike" dirty="0">
                          <a:effectLst/>
                        </a:rPr>
                        <a:t>-PDB)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>
                          <a:effectLst/>
                        </a:rPr>
                        <a:t>iWUE (</a:t>
                      </a:r>
                      <a:r>
                        <a:rPr lang="el-GR" sz="1200" b="1" u="none" strike="noStrike">
                          <a:effectLst/>
                        </a:rPr>
                        <a:t>μ</a:t>
                      </a:r>
                      <a:r>
                        <a:rPr lang="en-US" sz="1200" b="1" u="none" strike="noStrike">
                          <a:effectLst/>
                        </a:rPr>
                        <a:t>mol/mol)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C:N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0790655"/>
                  </a:ext>
                </a:extLst>
              </a:tr>
              <a:tr h="201501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 dirty="0">
                          <a:effectLst/>
                        </a:rPr>
                        <a:t> 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mean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std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mean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std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mean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std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mean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std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mean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 dirty="0" err="1">
                          <a:effectLst/>
                        </a:rPr>
                        <a:t>std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extLst>
                  <a:ext uri="{0D108BD9-81ED-4DB2-BD59-A6C34878D82A}">
                    <a16:rowId xmlns:a16="http://schemas.microsoft.com/office/drawing/2014/main" val="4048178396"/>
                  </a:ext>
                </a:extLst>
              </a:tr>
              <a:tr h="201501">
                <a:tc>
                  <a:txBody>
                    <a:bodyPr/>
                    <a:lstStyle/>
                    <a:p>
                      <a:pPr algn="ctr" fontAlgn="t"/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404144853"/>
                  </a:ext>
                </a:extLst>
              </a:tr>
              <a:tr h="201501">
                <a:tc rowSpan="4">
                  <a:txBody>
                    <a:bodyPr/>
                    <a:lstStyle/>
                    <a:p>
                      <a:pPr algn="ctr" fontAlgn="t"/>
                      <a:r>
                        <a:rPr lang="en-US" sz="1200" b="1" i="1" u="none" strike="noStrike" dirty="0" err="1">
                          <a:effectLst/>
                        </a:rPr>
                        <a:t>Alchornea</a:t>
                      </a:r>
                      <a:r>
                        <a:rPr lang="en-US" sz="1200" b="1" i="1" u="none" strike="noStrike" dirty="0">
                          <a:effectLst/>
                        </a:rPr>
                        <a:t> </a:t>
                      </a:r>
                      <a:r>
                        <a:rPr lang="en-US" sz="1200" b="1" i="1" u="none" strike="noStrike" dirty="0" err="1">
                          <a:effectLst/>
                        </a:rPr>
                        <a:t>lojaensis</a:t>
                      </a:r>
                      <a:endParaRPr lang="en-US" sz="1200" b="1" i="1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C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-5.27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1.16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29.67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1.02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-26.51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0.89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93.16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10.84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43.02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6.87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3482680457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N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-2.57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1.57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29.74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1.14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-26.57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1.13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92.47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13.88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37.7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4.76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2616600859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NP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-2.44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0.69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29.51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1.12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-26.77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1.45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90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17.73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40.44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4.32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1115875983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P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-5.08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0.96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29.54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1.57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-27.06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1.51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86.5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18.45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44.34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5.43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706704794"/>
                  </a:ext>
                </a:extLst>
              </a:tr>
              <a:tr h="201501">
                <a:tc rowSpan="4">
                  <a:txBody>
                    <a:bodyPr/>
                    <a:lstStyle/>
                    <a:p>
                      <a:pPr algn="ctr" fontAlgn="t"/>
                      <a:r>
                        <a:rPr lang="en-US" sz="1200" b="1" i="1" u="none" strike="noStrike" dirty="0" err="1">
                          <a:effectLst/>
                        </a:rPr>
                        <a:t>Clarisia</a:t>
                      </a:r>
                      <a:r>
                        <a:rPr lang="en-US" sz="1200" b="1" i="1" u="none" strike="noStrike" dirty="0">
                          <a:effectLst/>
                        </a:rPr>
                        <a:t>  </a:t>
                      </a:r>
                      <a:r>
                        <a:rPr lang="en-US" sz="1200" b="1" i="1" u="none" strike="noStrike" dirty="0" err="1">
                          <a:effectLst/>
                        </a:rPr>
                        <a:t>racemosa</a:t>
                      </a:r>
                      <a:endParaRPr lang="en-US" sz="1200" b="1" i="1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C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0.61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0.82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26.51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0.53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-30.63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0.42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42.6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5.21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24.51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2.92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2792148718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N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0.47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31.23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-31.8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28.14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22.29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2311312959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NP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2.04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0.62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30.74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2.31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-30.88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0.36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39.57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4.45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18.28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1.73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1104714534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P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0.51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29.77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2.73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-29.84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1.24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52.29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15.26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22.65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3.13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1170240773"/>
                  </a:ext>
                </a:extLst>
              </a:tr>
              <a:tr h="201501">
                <a:tc rowSpan="4">
                  <a:txBody>
                    <a:bodyPr/>
                    <a:lstStyle/>
                    <a:p>
                      <a:pPr algn="ctr" fontAlgn="t"/>
                      <a:r>
                        <a:rPr lang="en-US" sz="1200" b="1" i="1" u="none" strike="noStrike" dirty="0" err="1">
                          <a:effectLst/>
                        </a:rPr>
                        <a:t>Hedyosmun</a:t>
                      </a:r>
                      <a:r>
                        <a:rPr lang="en-US" sz="1200" b="1" i="1" u="none" strike="noStrike" dirty="0">
                          <a:effectLst/>
                        </a:rPr>
                        <a:t>  </a:t>
                      </a:r>
                      <a:r>
                        <a:rPr lang="en-US" sz="1200" b="1" i="1" u="none" strike="noStrike" dirty="0" err="1">
                          <a:effectLst/>
                        </a:rPr>
                        <a:t>purpurascens</a:t>
                      </a:r>
                      <a:endParaRPr lang="en-US" sz="1200" b="1" i="1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C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-2.58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2.62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26.34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0.71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-26.81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1.44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89.58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17.68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30.78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2.77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3798447669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N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-1.13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1.59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27.66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1.99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-26.35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2.06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95.09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25.19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25.77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5.26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2262245943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NP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-0.77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0.64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26.68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1.48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-24.85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1.27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113.48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15.43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26.1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2.81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2811830134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P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-1.42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27.25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1.31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-27.29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1.59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83.66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19.44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28.12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2.51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222508474"/>
                  </a:ext>
                </a:extLst>
              </a:tr>
              <a:tr h="201501">
                <a:tc rowSpan="4">
                  <a:txBody>
                    <a:bodyPr/>
                    <a:lstStyle/>
                    <a:p>
                      <a:pPr algn="ctr" fontAlgn="t"/>
                      <a:r>
                        <a:rPr lang="en-US" sz="1200" b="1" i="1" u="none" strike="noStrike" dirty="0" err="1">
                          <a:effectLst/>
                        </a:rPr>
                        <a:t>Myrcia</a:t>
                      </a:r>
                      <a:r>
                        <a:rPr lang="en-US" sz="1200" b="1" i="1" u="none" strike="noStrike" dirty="0">
                          <a:effectLst/>
                        </a:rPr>
                        <a:t> </a:t>
                      </a:r>
                      <a:r>
                        <a:rPr lang="en-US" sz="1200" b="1" i="1" u="none" strike="noStrike" dirty="0" err="1">
                          <a:effectLst/>
                        </a:rPr>
                        <a:t>sp</a:t>
                      </a:r>
                      <a:r>
                        <a:rPr lang="en-US" sz="1200" b="1" i="1" u="none" strike="noStrike" dirty="0">
                          <a:effectLst/>
                        </a:rPr>
                        <a:t> </a:t>
                      </a:r>
                      <a:r>
                        <a:rPr lang="en-US" sz="1200" b="1" i="1" u="none" strike="noStrike" dirty="0" err="1">
                          <a:effectLst/>
                        </a:rPr>
                        <a:t>nov</a:t>
                      </a:r>
                      <a:endParaRPr lang="en-US" sz="1200" b="1" i="1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C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-3.58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1.98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30.63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0.52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-27.79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1.15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77.47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14.13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51.73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11.71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109465452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N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-2.79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0.43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31.75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1.73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-27.24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0.92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84.24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11.28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47.43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4.13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1671767005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NP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-1.64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0.76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30.97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0.94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-27.27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83.88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12.23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47.79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4.16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3378987753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P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-4.48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0.91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30.44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0.95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-27.34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0.66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83.09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8.12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58.04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6.25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2488563849"/>
                  </a:ext>
                </a:extLst>
              </a:tr>
              <a:tr h="201501">
                <a:tc rowSpan="4">
                  <a:txBody>
                    <a:bodyPr/>
                    <a:lstStyle/>
                    <a:p>
                      <a:pPr algn="ctr" fontAlgn="t"/>
                      <a:r>
                        <a:rPr lang="en-US" sz="1200" b="1" i="1" u="none" strike="noStrike" dirty="0" err="1">
                          <a:effectLst/>
                        </a:rPr>
                        <a:t>Pouteria</a:t>
                      </a:r>
                      <a:r>
                        <a:rPr lang="en-US" sz="1200" b="1" i="1" u="none" strike="noStrike" dirty="0">
                          <a:effectLst/>
                        </a:rPr>
                        <a:t> </a:t>
                      </a:r>
                      <a:r>
                        <a:rPr lang="en-US" sz="1200" b="1" i="1" u="none" strike="noStrike" dirty="0" err="1">
                          <a:effectLst/>
                        </a:rPr>
                        <a:t>torta</a:t>
                      </a:r>
                      <a:endParaRPr lang="en-US" sz="1200" b="1" i="1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C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1.28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0.85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30.32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1.47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-31.55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0.76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31.19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9.39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31.55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2.43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1930093120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N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1.49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1.06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29.32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1.39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-30.37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1.83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45.8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22.53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30.55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2.74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3300182467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NP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1.79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0.92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28.45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1.16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-31.74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1.35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28.92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16.66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29.27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1.73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900559333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P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1.01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0.76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28.93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1.24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-31.27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0.93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34.72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11.53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28.9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2.18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4066813900"/>
                  </a:ext>
                </a:extLst>
              </a:tr>
              <a:tr h="201501">
                <a:tc rowSpan="4">
                  <a:txBody>
                    <a:bodyPr/>
                    <a:lstStyle/>
                    <a:p>
                      <a:pPr algn="ctr" fontAlgn="t"/>
                      <a:r>
                        <a:rPr lang="en-US" sz="1200" b="1" i="1" u="none" strike="noStrike" dirty="0" err="1">
                          <a:effectLst/>
                        </a:rPr>
                        <a:t>Weinmania</a:t>
                      </a:r>
                      <a:r>
                        <a:rPr lang="en-US" sz="1200" b="1" i="1" u="none" strike="noStrike" dirty="0">
                          <a:effectLst/>
                        </a:rPr>
                        <a:t>  </a:t>
                      </a:r>
                      <a:r>
                        <a:rPr lang="en-US" sz="1200" b="1" i="1" u="none" strike="noStrike" dirty="0" err="1">
                          <a:effectLst/>
                        </a:rPr>
                        <a:t>loxensis</a:t>
                      </a:r>
                      <a:endParaRPr lang="en-US" sz="1200" b="1" i="1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C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-4.45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2.16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26.56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1.65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-27.7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0.27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78.64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3.3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43.15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5.79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1946902408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N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-3.05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0.59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26.46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0.77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-28.06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74.27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39.49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5.23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3035726881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NP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-4.53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1.52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25.62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0.75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-29.03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0.79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62.3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9.74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41.18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0.31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711646081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P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-5.05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1.96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26.12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0.88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-28.38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1.13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70.28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13.86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41.73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5.19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4288263570"/>
                  </a:ext>
                </a:extLst>
              </a:tr>
            </a:tbl>
          </a:graphicData>
        </a:graphic>
      </p:graphicFrame>
      <p:sp>
        <p:nvSpPr>
          <p:cNvPr id="2" name="CuadroTexto 1"/>
          <p:cNvSpPr txBox="1"/>
          <p:nvPr/>
        </p:nvSpPr>
        <p:spPr>
          <a:xfrm>
            <a:off x="1436914" y="317241"/>
            <a:ext cx="89573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800" b="1" dirty="0" err="1" smtClean="0"/>
              <a:t>Summary</a:t>
            </a:r>
            <a:r>
              <a:rPr lang="es-MX" sz="2800" b="1" dirty="0" smtClean="0"/>
              <a:t> of </a:t>
            </a:r>
            <a:r>
              <a:rPr lang="es-MX" sz="2800" b="1" dirty="0" err="1" smtClean="0"/>
              <a:t>the</a:t>
            </a:r>
            <a:r>
              <a:rPr lang="es-MX" sz="2800" b="1" dirty="0" smtClean="0"/>
              <a:t> response variables </a:t>
            </a:r>
            <a:r>
              <a:rPr lang="es-MX" sz="2800" b="1" dirty="0" err="1" smtClean="0"/>
              <a:t>analyzed</a:t>
            </a:r>
            <a:r>
              <a:rPr lang="es-MX" sz="2800" b="1" dirty="0" smtClean="0"/>
              <a:t> to </a:t>
            </a:r>
            <a:r>
              <a:rPr lang="es-MX" sz="2800" b="1" dirty="0" err="1" smtClean="0"/>
              <a:t>the</a:t>
            </a:r>
            <a:r>
              <a:rPr lang="es-MX" sz="2800" b="1" dirty="0" smtClean="0"/>
              <a:t> date</a:t>
            </a:r>
            <a:endParaRPr 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229004721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smtClean="0"/>
              <a:t>ANALYSIS PER SPECIE</a:t>
            </a:r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s-MX" dirty="0" smtClean="0"/>
              <a:t>I </a:t>
            </a:r>
            <a:r>
              <a:rPr lang="es-MX" dirty="0" err="1" smtClean="0"/>
              <a:t>ran</a:t>
            </a:r>
            <a:r>
              <a:rPr lang="es-MX" dirty="0" smtClean="0"/>
              <a:t> ANOVA </a:t>
            </a:r>
            <a:r>
              <a:rPr lang="es-MX" dirty="0" err="1" smtClean="0"/>
              <a:t>interaction</a:t>
            </a:r>
            <a:r>
              <a:rPr lang="es-MX" dirty="0" smtClean="0"/>
              <a:t> </a:t>
            </a:r>
            <a:r>
              <a:rPr lang="es-MX" dirty="0" err="1" smtClean="0"/>
              <a:t>tests</a:t>
            </a:r>
            <a:r>
              <a:rPr lang="es-MX" dirty="0" smtClean="0"/>
              <a:t> per </a:t>
            </a:r>
            <a:r>
              <a:rPr lang="es-MX" dirty="0" err="1" smtClean="0"/>
              <a:t>species</a:t>
            </a:r>
            <a:r>
              <a:rPr lang="es-MX" dirty="0" smtClean="0"/>
              <a:t> – </a:t>
            </a:r>
            <a:r>
              <a:rPr lang="es-MX" dirty="0" err="1" smtClean="0"/>
              <a:t>not</a:t>
            </a:r>
            <a:r>
              <a:rPr lang="es-MX" dirty="0" smtClean="0"/>
              <a:t> </a:t>
            </a:r>
            <a:r>
              <a:rPr lang="es-MX" dirty="0" err="1" smtClean="0"/>
              <a:t>showed</a:t>
            </a:r>
            <a:r>
              <a:rPr lang="es-MX" dirty="0" smtClean="0"/>
              <a:t>- </a:t>
            </a:r>
            <a:r>
              <a:rPr lang="es-MX" dirty="0" err="1" smtClean="0"/>
              <a:t>but</a:t>
            </a:r>
            <a:r>
              <a:rPr lang="es-MX" dirty="0" smtClean="0"/>
              <a:t> </a:t>
            </a:r>
            <a:r>
              <a:rPr lang="es-MX" dirty="0" err="1" smtClean="0"/>
              <a:t>decided</a:t>
            </a:r>
            <a:r>
              <a:rPr lang="es-MX" dirty="0" smtClean="0"/>
              <a:t> to </a:t>
            </a:r>
            <a:r>
              <a:rPr lang="es-MX" dirty="0" err="1" smtClean="0"/>
              <a:t>go</a:t>
            </a:r>
            <a:r>
              <a:rPr lang="es-MX" dirty="0" smtClean="0"/>
              <a:t> </a:t>
            </a:r>
            <a:r>
              <a:rPr lang="es-MX" dirty="0" err="1" smtClean="0"/>
              <a:t>with</a:t>
            </a:r>
            <a:r>
              <a:rPr lang="es-MX" dirty="0" smtClean="0"/>
              <a:t> </a:t>
            </a:r>
            <a:r>
              <a:rPr lang="es-MX" dirty="0" err="1" smtClean="0"/>
              <a:t>glmm</a:t>
            </a:r>
            <a:r>
              <a:rPr lang="es-MX" dirty="0" smtClean="0"/>
              <a:t> </a:t>
            </a:r>
            <a:r>
              <a:rPr lang="es-MX" dirty="0" err="1" smtClean="0"/>
              <a:t>for</a:t>
            </a:r>
            <a:r>
              <a:rPr lang="es-MX" dirty="0" smtClean="0"/>
              <a:t> </a:t>
            </a:r>
            <a:r>
              <a:rPr lang="es-MX" dirty="0" err="1" smtClean="0"/>
              <a:t>their</a:t>
            </a:r>
            <a:r>
              <a:rPr lang="es-MX" dirty="0" smtClean="0"/>
              <a:t> </a:t>
            </a:r>
            <a:r>
              <a:rPr lang="es-MX" dirty="0" err="1" smtClean="0"/>
              <a:t>statistic</a:t>
            </a:r>
            <a:r>
              <a:rPr lang="es-MX" dirty="0" smtClean="0"/>
              <a:t> </a:t>
            </a:r>
            <a:r>
              <a:rPr lang="es-MX" dirty="0" err="1" smtClean="0"/>
              <a:t>power</a:t>
            </a:r>
            <a:r>
              <a:rPr lang="es-MX" dirty="0" smtClean="0"/>
              <a:t>. </a:t>
            </a:r>
          </a:p>
          <a:p>
            <a:endParaRPr lang="es-MX" dirty="0" smtClean="0"/>
          </a:p>
          <a:p>
            <a:pPr marL="0" indent="0">
              <a:buNone/>
            </a:pPr>
            <a:r>
              <a:rPr lang="es-MX" sz="4000" dirty="0" err="1" smtClean="0">
                <a:solidFill>
                  <a:schemeClr val="accent1"/>
                </a:solidFill>
              </a:rPr>
              <a:t>lmer</a:t>
            </a:r>
            <a:r>
              <a:rPr lang="es-MX" sz="4000" dirty="0" smtClean="0">
                <a:solidFill>
                  <a:schemeClr val="accent1"/>
                </a:solidFill>
              </a:rPr>
              <a:t>(Response </a:t>
            </a:r>
            <a:r>
              <a:rPr lang="es-MX" sz="4000" dirty="0">
                <a:solidFill>
                  <a:schemeClr val="accent1"/>
                </a:solidFill>
              </a:rPr>
              <a:t>variable~ N * P + (1 | Block/</a:t>
            </a:r>
            <a:r>
              <a:rPr lang="es-MX" sz="4000" dirty="0" err="1">
                <a:solidFill>
                  <a:schemeClr val="accent1"/>
                </a:solidFill>
              </a:rPr>
              <a:t>Plot</a:t>
            </a:r>
            <a:r>
              <a:rPr lang="es-MX" sz="4000" dirty="0" smtClean="0">
                <a:solidFill>
                  <a:schemeClr val="accent1"/>
                </a:solidFill>
              </a:rPr>
              <a:t>))</a:t>
            </a:r>
          </a:p>
          <a:p>
            <a:pPr marL="0" indent="0">
              <a:buNone/>
            </a:pPr>
            <a:endParaRPr lang="es-MX" sz="4000" b="1" dirty="0">
              <a:solidFill>
                <a:schemeClr val="accent1"/>
              </a:solidFill>
            </a:endParaRPr>
          </a:p>
          <a:p>
            <a:r>
              <a:rPr lang="es-MX" b="1" dirty="0" smtClean="0"/>
              <a:t>Q-Q </a:t>
            </a:r>
            <a:r>
              <a:rPr lang="es-MX" b="1" dirty="0" err="1" smtClean="0"/>
              <a:t>plots</a:t>
            </a:r>
            <a:r>
              <a:rPr lang="es-MX" b="1" dirty="0" smtClean="0"/>
              <a:t> </a:t>
            </a:r>
            <a:r>
              <a:rPr lang="es-MX" b="1" dirty="0" err="1" smtClean="0"/>
              <a:t>evaluation</a:t>
            </a:r>
            <a:r>
              <a:rPr lang="es-MX" b="1" dirty="0" smtClean="0"/>
              <a:t> </a:t>
            </a:r>
            <a:r>
              <a:rPr lang="es-MX" b="1" dirty="0" err="1" smtClean="0"/>
              <a:t>but</a:t>
            </a:r>
            <a:r>
              <a:rPr lang="es-MX" b="1" dirty="0" smtClean="0"/>
              <a:t> </a:t>
            </a:r>
            <a:r>
              <a:rPr lang="es-MX" b="1" dirty="0" err="1" smtClean="0"/>
              <a:t>also</a:t>
            </a:r>
            <a:r>
              <a:rPr lang="es-MX" b="1" dirty="0" smtClean="0"/>
              <a:t> </a:t>
            </a:r>
            <a:r>
              <a:rPr lang="es-MX" b="1" dirty="0" err="1" smtClean="0"/>
              <a:t>integrating</a:t>
            </a:r>
            <a:r>
              <a:rPr lang="es-MX" b="1" dirty="0" smtClean="0"/>
              <a:t> </a:t>
            </a:r>
            <a:r>
              <a:rPr lang="es-MX" b="1" dirty="0" err="1" smtClean="0"/>
              <a:t>DHARMa</a:t>
            </a:r>
            <a:r>
              <a:rPr lang="es-MX" b="1" dirty="0" smtClean="0"/>
              <a:t> </a:t>
            </a:r>
            <a:r>
              <a:rPr lang="es-MX" b="1" dirty="0" err="1" smtClean="0"/>
              <a:t>analysis</a:t>
            </a:r>
            <a:r>
              <a:rPr lang="es-MX" b="1" dirty="0" smtClean="0"/>
              <a:t>- more </a:t>
            </a:r>
            <a:r>
              <a:rPr lang="es-MX" b="1" dirty="0" err="1" smtClean="0"/>
              <a:t>strict</a:t>
            </a:r>
            <a:r>
              <a:rPr lang="es-MX" b="1" dirty="0" smtClean="0"/>
              <a:t>. </a:t>
            </a:r>
            <a:endParaRPr lang="es-MX" dirty="0" smtClean="0"/>
          </a:p>
        </p:txBody>
      </p:sp>
    </p:spTree>
    <p:extLst>
      <p:ext uri="{BB962C8B-B14F-4D97-AF65-F5344CB8AC3E}">
        <p14:creationId xmlns:p14="http://schemas.microsoft.com/office/powerpoint/2010/main" val="42672992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ángulo 4"/>
          <p:cNvSpPr/>
          <p:nvPr/>
        </p:nvSpPr>
        <p:spPr>
          <a:xfrm>
            <a:off x="667512" y="164030"/>
            <a:ext cx="1691640" cy="40289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smtClean="0"/>
              <a:t>*</a:t>
            </a:r>
            <a:r>
              <a:rPr lang="es-MX" dirty="0" err="1" smtClean="0"/>
              <a:t>Missing</a:t>
            </a:r>
            <a:r>
              <a:rPr lang="es-MX" dirty="0" smtClean="0"/>
              <a:t> </a:t>
            </a:r>
            <a:r>
              <a:rPr lang="es-MX" dirty="0" err="1" smtClean="0"/>
              <a:t>values</a:t>
            </a:r>
            <a:endParaRPr lang="en-US" dirty="0"/>
          </a:p>
        </p:txBody>
      </p:sp>
      <p:pic>
        <p:nvPicPr>
          <p:cNvPr id="17" name="Imagen 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089" y="1108708"/>
            <a:ext cx="5662232" cy="4640584"/>
          </a:xfrm>
          <a:prstGeom prst="rect">
            <a:avLst/>
          </a:prstGeom>
        </p:spPr>
      </p:pic>
      <p:pic>
        <p:nvPicPr>
          <p:cNvPr id="21" name="Imagen 2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200148"/>
            <a:ext cx="5680746" cy="4661681"/>
          </a:xfrm>
          <a:prstGeom prst="rect">
            <a:avLst/>
          </a:prstGeom>
        </p:spPr>
      </p:pic>
      <p:sp>
        <p:nvSpPr>
          <p:cNvPr id="22" name="CuadroTexto 21"/>
          <p:cNvSpPr txBox="1"/>
          <p:nvPr/>
        </p:nvSpPr>
        <p:spPr>
          <a:xfrm>
            <a:off x="1068801" y="3793116"/>
            <a:ext cx="274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 smtClean="0"/>
              <a:t>*</a:t>
            </a:r>
            <a:endParaRPr lang="en-US" dirty="0"/>
          </a:p>
        </p:txBody>
      </p:sp>
      <p:sp>
        <p:nvSpPr>
          <p:cNvPr id="23" name="CuadroTexto 22"/>
          <p:cNvSpPr txBox="1"/>
          <p:nvPr/>
        </p:nvSpPr>
        <p:spPr>
          <a:xfrm>
            <a:off x="2359152" y="3793116"/>
            <a:ext cx="274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 smtClean="0"/>
              <a:t>*</a:t>
            </a:r>
            <a:endParaRPr lang="en-US" dirty="0"/>
          </a:p>
        </p:txBody>
      </p:sp>
      <p:sp>
        <p:nvSpPr>
          <p:cNvPr id="24" name="CuadroTexto 23"/>
          <p:cNvSpPr txBox="1"/>
          <p:nvPr/>
        </p:nvSpPr>
        <p:spPr>
          <a:xfrm>
            <a:off x="7641336" y="3977782"/>
            <a:ext cx="274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 smtClean="0"/>
              <a:t>*</a:t>
            </a:r>
            <a:endParaRPr lang="en-US" dirty="0"/>
          </a:p>
        </p:txBody>
      </p:sp>
      <p:sp>
        <p:nvSpPr>
          <p:cNvPr id="25" name="CuadroTexto 24"/>
          <p:cNvSpPr txBox="1"/>
          <p:nvPr/>
        </p:nvSpPr>
        <p:spPr>
          <a:xfrm>
            <a:off x="8936373" y="1688734"/>
            <a:ext cx="274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 smtClean="0"/>
              <a:t>*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02332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ángulo 4"/>
          <p:cNvSpPr/>
          <p:nvPr/>
        </p:nvSpPr>
        <p:spPr>
          <a:xfrm>
            <a:off x="667512" y="164030"/>
            <a:ext cx="1691640" cy="40289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Imagen 1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967552"/>
            <a:ext cx="5834464" cy="4781740"/>
          </a:xfrm>
          <a:prstGeom prst="rect">
            <a:avLst/>
          </a:prstGeom>
        </p:spPr>
      </p:pic>
      <p:cxnSp>
        <p:nvCxnSpPr>
          <p:cNvPr id="20" name="Conector recto 19"/>
          <p:cNvCxnSpPr/>
          <p:nvPr/>
        </p:nvCxnSpPr>
        <p:spPr>
          <a:xfrm flipV="1">
            <a:off x="7104888" y="566928"/>
            <a:ext cx="4507992" cy="577900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85747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6" name="Marcador de contenido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98652276"/>
              </p:ext>
            </p:extLst>
          </p:nvPr>
        </p:nvGraphicFramePr>
        <p:xfrm>
          <a:off x="722376" y="768093"/>
          <a:ext cx="10631423" cy="5559551"/>
        </p:xfrm>
        <a:graphic>
          <a:graphicData uri="http://schemas.openxmlformats.org/drawingml/2006/table">
            <a:tbl>
              <a:tblPr>
                <a:tableStyleId>{85BE263C-DBD7-4A20-BB59-AAB30ACAA65A}</a:tableStyleId>
              </a:tblPr>
              <a:tblGrid>
                <a:gridCol w="1271930">
                  <a:extLst>
                    <a:ext uri="{9D8B030D-6E8A-4147-A177-3AD203B41FA5}">
                      <a16:colId xmlns:a16="http://schemas.microsoft.com/office/drawing/2014/main" val="957602047"/>
                    </a:ext>
                  </a:extLst>
                </a:gridCol>
                <a:gridCol w="719961">
                  <a:extLst>
                    <a:ext uri="{9D8B030D-6E8A-4147-A177-3AD203B41FA5}">
                      <a16:colId xmlns:a16="http://schemas.microsoft.com/office/drawing/2014/main" val="1749157259"/>
                    </a:ext>
                  </a:extLst>
                </a:gridCol>
                <a:gridCol w="719961">
                  <a:extLst>
                    <a:ext uri="{9D8B030D-6E8A-4147-A177-3AD203B41FA5}">
                      <a16:colId xmlns:a16="http://schemas.microsoft.com/office/drawing/2014/main" val="2574355415"/>
                    </a:ext>
                  </a:extLst>
                </a:gridCol>
                <a:gridCol w="719961">
                  <a:extLst>
                    <a:ext uri="{9D8B030D-6E8A-4147-A177-3AD203B41FA5}">
                      <a16:colId xmlns:a16="http://schemas.microsoft.com/office/drawing/2014/main" val="3798723496"/>
                    </a:ext>
                  </a:extLst>
                </a:gridCol>
                <a:gridCol w="719961">
                  <a:extLst>
                    <a:ext uri="{9D8B030D-6E8A-4147-A177-3AD203B41FA5}">
                      <a16:colId xmlns:a16="http://schemas.microsoft.com/office/drawing/2014/main" val="542881834"/>
                    </a:ext>
                  </a:extLst>
                </a:gridCol>
                <a:gridCol w="719961">
                  <a:extLst>
                    <a:ext uri="{9D8B030D-6E8A-4147-A177-3AD203B41FA5}">
                      <a16:colId xmlns:a16="http://schemas.microsoft.com/office/drawing/2014/main" val="4104319525"/>
                    </a:ext>
                  </a:extLst>
                </a:gridCol>
                <a:gridCol w="719961">
                  <a:extLst>
                    <a:ext uri="{9D8B030D-6E8A-4147-A177-3AD203B41FA5}">
                      <a16:colId xmlns:a16="http://schemas.microsoft.com/office/drawing/2014/main" val="1200589546"/>
                    </a:ext>
                  </a:extLst>
                </a:gridCol>
                <a:gridCol w="719961">
                  <a:extLst>
                    <a:ext uri="{9D8B030D-6E8A-4147-A177-3AD203B41FA5}">
                      <a16:colId xmlns:a16="http://schemas.microsoft.com/office/drawing/2014/main" val="612151190"/>
                    </a:ext>
                  </a:extLst>
                </a:gridCol>
                <a:gridCol w="719961">
                  <a:extLst>
                    <a:ext uri="{9D8B030D-6E8A-4147-A177-3AD203B41FA5}">
                      <a16:colId xmlns:a16="http://schemas.microsoft.com/office/drawing/2014/main" val="260538774"/>
                    </a:ext>
                  </a:extLst>
                </a:gridCol>
                <a:gridCol w="719961">
                  <a:extLst>
                    <a:ext uri="{9D8B030D-6E8A-4147-A177-3AD203B41FA5}">
                      <a16:colId xmlns:a16="http://schemas.microsoft.com/office/drawing/2014/main" val="1517434615"/>
                    </a:ext>
                  </a:extLst>
                </a:gridCol>
                <a:gridCol w="719961">
                  <a:extLst>
                    <a:ext uri="{9D8B030D-6E8A-4147-A177-3AD203B41FA5}">
                      <a16:colId xmlns:a16="http://schemas.microsoft.com/office/drawing/2014/main" val="970010685"/>
                    </a:ext>
                  </a:extLst>
                </a:gridCol>
                <a:gridCol w="719961">
                  <a:extLst>
                    <a:ext uri="{9D8B030D-6E8A-4147-A177-3AD203B41FA5}">
                      <a16:colId xmlns:a16="http://schemas.microsoft.com/office/drawing/2014/main" val="4101434592"/>
                    </a:ext>
                  </a:extLst>
                </a:gridCol>
                <a:gridCol w="719961">
                  <a:extLst>
                    <a:ext uri="{9D8B030D-6E8A-4147-A177-3AD203B41FA5}">
                      <a16:colId xmlns:a16="http://schemas.microsoft.com/office/drawing/2014/main" val="2722010356"/>
                    </a:ext>
                  </a:extLst>
                </a:gridCol>
                <a:gridCol w="719961">
                  <a:extLst>
                    <a:ext uri="{9D8B030D-6E8A-4147-A177-3AD203B41FA5}">
                      <a16:colId xmlns:a16="http://schemas.microsoft.com/office/drawing/2014/main" val="2764505017"/>
                    </a:ext>
                  </a:extLst>
                </a:gridCol>
              </a:tblGrid>
              <a:tr h="198555">
                <a:tc>
                  <a:txBody>
                    <a:bodyPr/>
                    <a:lstStyle/>
                    <a:p>
                      <a:pPr algn="l" fontAlgn="ctr"/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estimates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estimates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estimates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estimates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estimates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estimates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estimates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estimates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estimates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estimates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estimates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gof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gof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597466623"/>
                  </a:ext>
                </a:extLst>
              </a:tr>
              <a:tr h="794221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term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(Intercept)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(Intercept)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N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N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P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P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N × P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N × P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SD (Intercept PlotBloque)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SD (Intercept Bloque)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SD (Observations)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Num.Obs.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AIC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752457056"/>
                  </a:ext>
                </a:extLst>
              </a:tr>
              <a:tr h="198555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statistic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std.error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std.error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std.error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std.error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272663899"/>
                  </a:ext>
                </a:extLst>
              </a:tr>
              <a:tr h="397111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 err="1">
                          <a:effectLst/>
                        </a:rPr>
                        <a:t>Pouteria</a:t>
                      </a:r>
                      <a:r>
                        <a:rPr lang="en-US" sz="900" u="none" strike="noStrike" dirty="0">
                          <a:effectLst/>
                        </a:rPr>
                        <a:t> </a:t>
                      </a:r>
                      <a:r>
                        <a:rPr lang="en-US" sz="900" u="none" strike="noStrike" dirty="0" err="1">
                          <a:effectLst/>
                        </a:rPr>
                        <a:t>iWUE</a:t>
                      </a:r>
                      <a:endParaRPr lang="en-US" sz="900" b="1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34.694***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-7.277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23.640*</a:t>
                      </a:r>
                      <a:endParaRPr lang="en-US" sz="9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-9.566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9.166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-10.255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-28.268+</a:t>
                      </a:r>
                      <a:endParaRPr lang="en-US" sz="9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-13.913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9.174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15.367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36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294.3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572795938"/>
                  </a:ext>
                </a:extLst>
              </a:tr>
              <a:tr h="397111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 err="1">
                          <a:effectLst/>
                        </a:rPr>
                        <a:t>Pouteria</a:t>
                      </a:r>
                      <a:r>
                        <a:rPr lang="en-US" sz="900" u="none" strike="noStrike" dirty="0">
                          <a:effectLst/>
                        </a:rPr>
                        <a:t> O18</a:t>
                      </a:r>
                      <a:endParaRPr lang="en-US" sz="900" b="1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30.290***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-0.435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-1.002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-0.617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-1.352*</a:t>
                      </a:r>
                      <a:endParaRPr lang="en-US" sz="9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-0.653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0.533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-0.941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0.255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1.325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36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132.4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34965098"/>
                  </a:ext>
                </a:extLst>
              </a:tr>
              <a:tr h="397111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 err="1">
                          <a:effectLst/>
                        </a:rPr>
                        <a:t>Clarisia</a:t>
                      </a:r>
                      <a:r>
                        <a:rPr lang="en-US" sz="900" u="none" strike="noStrike" dirty="0">
                          <a:effectLst/>
                        </a:rPr>
                        <a:t> </a:t>
                      </a:r>
                      <a:r>
                        <a:rPr lang="en-US" sz="900" u="none" strike="noStrike" dirty="0" err="1">
                          <a:effectLst/>
                        </a:rPr>
                        <a:t>iWUE</a:t>
                      </a:r>
                      <a:endParaRPr lang="en-US" sz="900" b="1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51.714***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-6.31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-15.672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-12.62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10.514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-8.347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1.879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-14.798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10.929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78.8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652984424"/>
                  </a:ext>
                </a:extLst>
              </a:tr>
              <a:tr h="198555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 err="1">
                          <a:effectLst/>
                        </a:rPr>
                        <a:t>Clarisia</a:t>
                      </a:r>
                      <a:r>
                        <a:rPr lang="en-US" sz="900" u="none" strike="noStrike" dirty="0">
                          <a:effectLst/>
                        </a:rPr>
                        <a:t> O18</a:t>
                      </a:r>
                      <a:endParaRPr lang="en-US" sz="900" b="1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26.510***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-1.316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4.719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-2.632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2.871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-1.891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-3.085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-3.202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1.302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1.87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52.9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541724834"/>
                  </a:ext>
                </a:extLst>
              </a:tr>
              <a:tr h="397111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 err="1">
                          <a:effectLst/>
                        </a:rPr>
                        <a:t>Alchornea</a:t>
                      </a:r>
                      <a:r>
                        <a:rPr lang="en-US" sz="900" u="none" strike="noStrike" dirty="0">
                          <a:effectLst/>
                        </a:rPr>
                        <a:t> </a:t>
                      </a:r>
                      <a:r>
                        <a:rPr lang="en-US" sz="900" u="none" strike="noStrike" dirty="0" err="1">
                          <a:effectLst/>
                        </a:rPr>
                        <a:t>iWUE</a:t>
                      </a:r>
                      <a:endParaRPr lang="en-US" sz="900" b="1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107.131***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-6.533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-3.013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-8.478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-8.036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-7.588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5.685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-11.874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7.04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7.079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14.39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44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358.5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039577987"/>
                  </a:ext>
                </a:extLst>
              </a:tr>
              <a:tr h="397111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 err="1">
                          <a:effectLst/>
                        </a:rPr>
                        <a:t>Alchornea</a:t>
                      </a:r>
                      <a:r>
                        <a:rPr lang="en-US" sz="900" u="none" strike="noStrike" dirty="0">
                          <a:effectLst/>
                        </a:rPr>
                        <a:t> O18</a:t>
                      </a:r>
                      <a:endParaRPr lang="en-US" sz="900" b="1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29.713***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-0.483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0.07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-0.749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-0.017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-0.671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-0.273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-1.043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0.694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1.147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43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152.2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019645502"/>
                  </a:ext>
                </a:extLst>
              </a:tr>
              <a:tr h="397111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 err="1">
                          <a:effectLst/>
                        </a:rPr>
                        <a:t>Myrcia</a:t>
                      </a:r>
                      <a:r>
                        <a:rPr lang="en-US" sz="900" u="none" strike="noStrike" dirty="0">
                          <a:effectLst/>
                        </a:rPr>
                        <a:t> </a:t>
                      </a:r>
                      <a:r>
                        <a:rPr lang="en-US" sz="900" u="none" strike="noStrike" dirty="0" err="1">
                          <a:effectLst/>
                        </a:rPr>
                        <a:t>iWUE</a:t>
                      </a:r>
                      <a:endParaRPr lang="en-US" sz="900" b="1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89.534***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-3.355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7.332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-5.305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5.987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-5.158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-6.368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-7.515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12.994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49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382.5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972164676"/>
                  </a:ext>
                </a:extLst>
              </a:tr>
              <a:tr h="198555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 err="1">
                          <a:effectLst/>
                        </a:rPr>
                        <a:t>Myrcia</a:t>
                      </a:r>
                      <a:r>
                        <a:rPr lang="en-US" sz="900" u="none" strike="noStrike" dirty="0">
                          <a:effectLst/>
                        </a:rPr>
                        <a:t> O18</a:t>
                      </a:r>
                      <a:endParaRPr lang="en-US" sz="900" b="1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30.627***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-0.27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1.122*</a:t>
                      </a:r>
                      <a:endParaRPr lang="en-US" sz="9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-0.428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-0.316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-0.416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-0.46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-0.611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1.047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48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152.8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562072775"/>
                  </a:ext>
                </a:extLst>
              </a:tr>
              <a:tr h="397111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 err="1">
                          <a:effectLst/>
                        </a:rPr>
                        <a:t>Hedyosmum</a:t>
                      </a:r>
                      <a:r>
                        <a:rPr lang="en-US" sz="900" u="none" strike="noStrike" dirty="0">
                          <a:effectLst/>
                        </a:rPr>
                        <a:t> </a:t>
                      </a:r>
                      <a:r>
                        <a:rPr lang="en-US" sz="900" u="none" strike="noStrike" dirty="0" err="1">
                          <a:effectLst/>
                        </a:rPr>
                        <a:t>iWUE</a:t>
                      </a:r>
                      <a:endParaRPr lang="en-US" sz="900" b="1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102.657***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-9.956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5.981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-13.481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-6.416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-13.036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26.357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-20.439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22.263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21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174.2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513454980"/>
                  </a:ext>
                </a:extLst>
              </a:tr>
              <a:tr h="397111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 err="1">
                          <a:effectLst/>
                        </a:rPr>
                        <a:t>Hedyosmum</a:t>
                      </a:r>
                      <a:r>
                        <a:rPr lang="en-US" sz="900" u="none" strike="noStrike" dirty="0">
                          <a:effectLst/>
                        </a:rPr>
                        <a:t> O18</a:t>
                      </a:r>
                      <a:endParaRPr lang="en-US" sz="900" b="1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26.293***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-0.69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1.224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-0.929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0.914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-0.874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-1.825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-1.37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0.589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0.38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1.312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21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81.3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704535307"/>
                  </a:ext>
                </a:extLst>
              </a:tr>
              <a:tr h="397111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 err="1">
                          <a:effectLst/>
                        </a:rPr>
                        <a:t>Weinmania</a:t>
                      </a:r>
                      <a:r>
                        <a:rPr lang="en-US" sz="900" u="none" strike="noStrike" dirty="0">
                          <a:effectLst/>
                        </a:rPr>
                        <a:t> </a:t>
                      </a:r>
                      <a:r>
                        <a:rPr lang="en-US" sz="900" u="none" strike="noStrike" dirty="0" err="1">
                          <a:effectLst/>
                        </a:rPr>
                        <a:t>iWUE</a:t>
                      </a:r>
                      <a:endParaRPr lang="en-US" sz="900" b="1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90.481***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-5.404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-4.607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-7.062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-8.175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-6.771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-3.361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-11.484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3.618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11.095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127.7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819921202"/>
                  </a:ext>
                </a:extLst>
              </a:tr>
              <a:tr h="397111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 err="1">
                          <a:effectLst/>
                        </a:rPr>
                        <a:t>Weinmania</a:t>
                      </a:r>
                      <a:r>
                        <a:rPr lang="en-US" sz="900" u="none" strike="noStrike" dirty="0">
                          <a:effectLst/>
                        </a:rPr>
                        <a:t> O18</a:t>
                      </a:r>
                      <a:endParaRPr lang="en-US" sz="900" b="1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26.557***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-0.503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-0.099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-0.711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-0.433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-0.681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-0.409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-1.162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1.125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62.7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4632482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47681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195754"/>
            <a:ext cx="10515600" cy="1325563"/>
          </a:xfrm>
        </p:spPr>
        <p:txBody>
          <a:bodyPr/>
          <a:lstStyle/>
          <a:p>
            <a:endParaRPr lang="en-US"/>
          </a:p>
        </p:txBody>
      </p:sp>
      <p:pic>
        <p:nvPicPr>
          <p:cNvPr id="7" name="Marcador de contenido 6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4295" y="3855770"/>
            <a:ext cx="3423464" cy="2805762"/>
          </a:xfrm>
          <a:prstGeom prst="rect">
            <a:avLst/>
          </a:prstGeom>
        </p:spPr>
      </p:pic>
      <p:sp>
        <p:nvSpPr>
          <p:cNvPr id="4" name="Rectángulo 3"/>
          <p:cNvSpPr/>
          <p:nvPr/>
        </p:nvSpPr>
        <p:spPr>
          <a:xfrm>
            <a:off x="838200" y="365125"/>
            <a:ext cx="4309872" cy="402898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dirty="0" err="1" smtClean="0"/>
              <a:t>Additional</a:t>
            </a:r>
            <a:r>
              <a:rPr lang="es-MX" dirty="0" smtClean="0"/>
              <a:t> – </a:t>
            </a:r>
            <a:r>
              <a:rPr lang="es-MX" dirty="0" err="1" smtClean="0"/>
              <a:t>Leaf</a:t>
            </a:r>
            <a:r>
              <a:rPr lang="es-MX" dirty="0" smtClean="0"/>
              <a:t> </a:t>
            </a:r>
            <a:r>
              <a:rPr lang="es-MX" dirty="0" err="1" smtClean="0"/>
              <a:t>morpho</a:t>
            </a:r>
            <a:r>
              <a:rPr lang="es-MX" dirty="0" smtClean="0"/>
              <a:t> </a:t>
            </a:r>
            <a:r>
              <a:rPr lang="es-MX" dirty="0" err="1" smtClean="0"/>
              <a:t>traits</a:t>
            </a:r>
            <a:r>
              <a:rPr lang="es-MX" dirty="0" smtClean="0"/>
              <a:t> </a:t>
            </a:r>
            <a:endParaRPr lang="en-US" dirty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864" y="937394"/>
            <a:ext cx="3631895" cy="2980372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2114" y="846329"/>
            <a:ext cx="3676650" cy="3009441"/>
          </a:xfrm>
          <a:prstGeom prst="rect">
            <a:avLst/>
          </a:prstGeom>
        </p:spPr>
      </p:pic>
      <p:pic>
        <p:nvPicPr>
          <p:cNvPr id="8" name="Imagen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2114" y="3759321"/>
            <a:ext cx="3654181" cy="2998660"/>
          </a:xfrm>
          <a:prstGeom prst="rect">
            <a:avLst/>
          </a:prstGeom>
        </p:spPr>
      </p:pic>
      <p:pic>
        <p:nvPicPr>
          <p:cNvPr id="9" name="Imagen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23738" y="858535"/>
            <a:ext cx="3534912" cy="2900786"/>
          </a:xfrm>
          <a:prstGeom prst="rect">
            <a:avLst/>
          </a:prstGeom>
        </p:spPr>
      </p:pic>
      <p:pic>
        <p:nvPicPr>
          <p:cNvPr id="10" name="Imagen 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4930" y="3759321"/>
            <a:ext cx="3572527" cy="2931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61057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Marcador de contenido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0614" y="0"/>
            <a:ext cx="6858000" cy="6858000"/>
          </a:xfrm>
        </p:spPr>
      </p:pic>
    </p:spTree>
    <p:extLst>
      <p:ext uri="{BB962C8B-B14F-4D97-AF65-F5344CB8AC3E}">
        <p14:creationId xmlns:p14="http://schemas.microsoft.com/office/powerpoint/2010/main" val="15468057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Marcador de contenido 5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3017" y="149290"/>
            <a:ext cx="6708710" cy="6708710"/>
          </a:xfrm>
        </p:spPr>
      </p:pic>
    </p:spTree>
    <p:extLst>
      <p:ext uri="{BB962C8B-B14F-4D97-AF65-F5344CB8AC3E}">
        <p14:creationId xmlns:p14="http://schemas.microsoft.com/office/powerpoint/2010/main" val="15258890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168" y="1096447"/>
            <a:ext cx="11220450" cy="5162550"/>
          </a:xfrm>
          <a:prstGeom prst="rect">
            <a:avLst/>
          </a:prstGeom>
        </p:spPr>
      </p:pic>
      <p:sp>
        <p:nvSpPr>
          <p:cNvPr id="9" name="Rectángulo 8"/>
          <p:cNvSpPr/>
          <p:nvPr/>
        </p:nvSpPr>
        <p:spPr>
          <a:xfrm>
            <a:off x="-144379" y="4764505"/>
            <a:ext cx="1179095" cy="204537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ángulo 1"/>
          <p:cNvSpPr/>
          <p:nvPr/>
        </p:nvSpPr>
        <p:spPr>
          <a:xfrm>
            <a:off x="1885490" y="382262"/>
            <a:ext cx="47634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MX" dirty="0" err="1">
                <a:solidFill>
                  <a:schemeClr val="accent1"/>
                </a:solidFill>
              </a:rPr>
              <a:t>lmer</a:t>
            </a:r>
            <a:r>
              <a:rPr lang="es-MX" dirty="0">
                <a:solidFill>
                  <a:schemeClr val="accent1"/>
                </a:solidFill>
              </a:rPr>
              <a:t>(Response variable~ N * P + (1 | Block/</a:t>
            </a:r>
            <a:r>
              <a:rPr lang="es-MX" dirty="0" err="1">
                <a:solidFill>
                  <a:schemeClr val="accent1"/>
                </a:solidFill>
              </a:rPr>
              <a:t>Plot</a:t>
            </a:r>
            <a:r>
              <a:rPr lang="es-MX" dirty="0">
                <a:solidFill>
                  <a:schemeClr val="accent1"/>
                </a:solidFill>
              </a:rPr>
              <a:t>))</a:t>
            </a:r>
          </a:p>
        </p:txBody>
      </p:sp>
    </p:spTree>
    <p:extLst>
      <p:ext uri="{BB962C8B-B14F-4D97-AF65-F5344CB8AC3E}">
        <p14:creationId xmlns:p14="http://schemas.microsoft.com/office/powerpoint/2010/main" val="21456561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smtClean="0"/>
              <a:t>ANALYSIS PER EACH ELEVATION</a:t>
            </a:r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s-MX" sz="3600" dirty="0" err="1" smtClean="0">
                <a:solidFill>
                  <a:schemeClr val="accent1"/>
                </a:solidFill>
              </a:rPr>
              <a:t>lmer</a:t>
            </a:r>
            <a:r>
              <a:rPr lang="es-MX" sz="3600" dirty="0" smtClean="0">
                <a:solidFill>
                  <a:schemeClr val="accent1"/>
                </a:solidFill>
              </a:rPr>
              <a:t>(Response </a:t>
            </a:r>
            <a:r>
              <a:rPr lang="es-MX" sz="3600" dirty="0">
                <a:solidFill>
                  <a:schemeClr val="accent1"/>
                </a:solidFill>
              </a:rPr>
              <a:t>variable~ </a:t>
            </a:r>
            <a:r>
              <a:rPr lang="es-MX" sz="3600" dirty="0" smtClean="0">
                <a:solidFill>
                  <a:schemeClr val="accent1"/>
                </a:solidFill>
              </a:rPr>
              <a:t>N </a:t>
            </a:r>
            <a:r>
              <a:rPr lang="es-MX" sz="3600" dirty="0">
                <a:solidFill>
                  <a:schemeClr val="accent1"/>
                </a:solidFill>
              </a:rPr>
              <a:t>* P + (1 | </a:t>
            </a:r>
            <a:r>
              <a:rPr lang="es-MX" sz="3600" dirty="0" err="1" smtClean="0">
                <a:solidFill>
                  <a:srgbClr val="FF0000"/>
                </a:solidFill>
              </a:rPr>
              <a:t>specie</a:t>
            </a:r>
            <a:r>
              <a:rPr lang="es-MX" sz="3600" dirty="0" smtClean="0">
                <a:solidFill>
                  <a:schemeClr val="accent1"/>
                </a:solidFill>
              </a:rPr>
              <a:t>)+ (</a:t>
            </a:r>
            <a:r>
              <a:rPr lang="es-MX" sz="3600" dirty="0">
                <a:solidFill>
                  <a:schemeClr val="accent1"/>
                </a:solidFill>
              </a:rPr>
              <a:t>1 | Block/</a:t>
            </a:r>
            <a:r>
              <a:rPr lang="es-MX" sz="3600" dirty="0" err="1">
                <a:solidFill>
                  <a:schemeClr val="accent1"/>
                </a:solidFill>
              </a:rPr>
              <a:t>Plot</a:t>
            </a:r>
            <a:r>
              <a:rPr lang="es-MX" sz="3600" dirty="0" smtClean="0">
                <a:solidFill>
                  <a:schemeClr val="accent1"/>
                </a:solidFill>
              </a:rPr>
              <a:t>)). </a:t>
            </a:r>
          </a:p>
          <a:p>
            <a:pPr marL="0" indent="0">
              <a:buNone/>
            </a:pPr>
            <a:endParaRPr lang="es-MX" dirty="0" smtClean="0"/>
          </a:p>
          <a:p>
            <a:pPr marL="0" indent="0">
              <a:buNone/>
            </a:pPr>
            <a:r>
              <a:rPr lang="es-MX" dirty="0" err="1" smtClean="0"/>
              <a:t>Specie</a:t>
            </a:r>
            <a:r>
              <a:rPr lang="es-MX" dirty="0" smtClean="0"/>
              <a:t> </a:t>
            </a:r>
            <a:r>
              <a:rPr lang="es-MX" dirty="0" err="1" smtClean="0"/>
              <a:t>only</a:t>
            </a:r>
            <a:r>
              <a:rPr lang="es-MX" dirty="0" smtClean="0"/>
              <a:t> </a:t>
            </a:r>
            <a:r>
              <a:rPr lang="es-MX" dirty="0" err="1" smtClean="0"/>
              <a:t>two</a:t>
            </a:r>
            <a:r>
              <a:rPr lang="es-MX" dirty="0" smtClean="0"/>
              <a:t> per </a:t>
            </a:r>
            <a:r>
              <a:rPr lang="es-MX" dirty="0" err="1" smtClean="0"/>
              <a:t>elevation</a:t>
            </a:r>
            <a:r>
              <a:rPr lang="es-MX" dirty="0" smtClean="0"/>
              <a:t>. </a:t>
            </a:r>
            <a:r>
              <a:rPr lang="es-MX" dirty="0" err="1" smtClean="0"/>
              <a:t>Model</a:t>
            </a:r>
            <a:r>
              <a:rPr lang="es-MX" dirty="0" smtClean="0"/>
              <a:t> </a:t>
            </a:r>
            <a:r>
              <a:rPr lang="es-MX" dirty="0" err="1" smtClean="0"/>
              <a:t>too</a:t>
            </a:r>
            <a:r>
              <a:rPr lang="es-MX" dirty="0" smtClean="0"/>
              <a:t> </a:t>
            </a:r>
            <a:r>
              <a:rPr lang="es-MX" dirty="0" err="1" smtClean="0"/>
              <a:t>complex</a:t>
            </a:r>
            <a:r>
              <a:rPr lang="es-MX" smtClean="0"/>
              <a:t>. </a:t>
            </a:r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258852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 rotWithShape="1">
          <a:blip r:embed="rId3"/>
          <a:srcRect l="28867" t="228" r="19776" b="96450"/>
          <a:stretch/>
        </p:blipFill>
        <p:spPr>
          <a:xfrm>
            <a:off x="186613" y="149290"/>
            <a:ext cx="5909388" cy="503854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3"/>
          <a:srcRect l="-1" t="60533" r="49165" b="-1"/>
          <a:stretch/>
        </p:blipFill>
        <p:spPr>
          <a:xfrm>
            <a:off x="5915828" y="513184"/>
            <a:ext cx="6089559" cy="6231559"/>
          </a:xfrm>
          <a:prstGeom prst="rect">
            <a:avLst/>
          </a:prstGeom>
        </p:spPr>
      </p:pic>
      <p:pic>
        <p:nvPicPr>
          <p:cNvPr id="7" name="Imagen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144" y="689024"/>
            <a:ext cx="5324856" cy="6055719"/>
          </a:xfrm>
          <a:prstGeom prst="rect">
            <a:avLst/>
          </a:prstGeom>
        </p:spPr>
      </p:pic>
      <p:pic>
        <p:nvPicPr>
          <p:cNvPr id="8" name="Imagen 7"/>
          <p:cNvPicPr>
            <a:picLocks noChangeAspect="1"/>
          </p:cNvPicPr>
          <p:nvPr/>
        </p:nvPicPr>
        <p:blipFill rotWithShape="1">
          <a:blip r:embed="rId3"/>
          <a:srcRect l="-1" t="57282" r="49165" b="38955"/>
          <a:stretch/>
        </p:blipFill>
        <p:spPr>
          <a:xfrm>
            <a:off x="6061617" y="648035"/>
            <a:ext cx="6089559" cy="594049"/>
          </a:xfrm>
          <a:prstGeom prst="rect">
            <a:avLst/>
          </a:prstGeom>
        </p:spPr>
      </p:pic>
      <p:sp>
        <p:nvSpPr>
          <p:cNvPr id="9" name="CuadroTexto 8"/>
          <p:cNvSpPr txBox="1"/>
          <p:nvPr/>
        </p:nvSpPr>
        <p:spPr>
          <a:xfrm>
            <a:off x="1712613" y="1972198"/>
            <a:ext cx="274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 smtClean="0"/>
              <a:t>*</a:t>
            </a:r>
            <a:endParaRPr lang="en-US" dirty="0"/>
          </a:p>
        </p:txBody>
      </p:sp>
      <p:sp>
        <p:nvSpPr>
          <p:cNvPr id="10" name="CuadroTexto 9"/>
          <p:cNvSpPr txBox="1"/>
          <p:nvPr/>
        </p:nvSpPr>
        <p:spPr>
          <a:xfrm>
            <a:off x="2361837" y="1985913"/>
            <a:ext cx="274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 smtClean="0"/>
              <a:t>*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79767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4" name="Marcador de contenido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87719816"/>
              </p:ext>
            </p:extLst>
          </p:nvPr>
        </p:nvGraphicFramePr>
        <p:xfrm>
          <a:off x="411480" y="1920238"/>
          <a:ext cx="11247120" cy="3485479"/>
        </p:xfrm>
        <a:graphic>
          <a:graphicData uri="http://schemas.openxmlformats.org/drawingml/2006/table">
            <a:tbl>
              <a:tblPr>
                <a:tableStyleId>{793D81CF-94F2-401A-BA57-92F5A7B2D0C5}</a:tableStyleId>
              </a:tblPr>
              <a:tblGrid>
                <a:gridCol w="702945">
                  <a:extLst>
                    <a:ext uri="{9D8B030D-6E8A-4147-A177-3AD203B41FA5}">
                      <a16:colId xmlns:a16="http://schemas.microsoft.com/office/drawing/2014/main" val="180387934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698657292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14975431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1632512197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1303248969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1448818541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3682127306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323679762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1441247363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2155237168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1040626622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2692399921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2380336270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2102231915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3994850107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1792851195"/>
                    </a:ext>
                  </a:extLst>
                </a:gridCol>
              </a:tblGrid>
              <a:tr h="871370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1" u="none" strike="noStrike" dirty="0">
                          <a:effectLst/>
                        </a:rPr>
                        <a:t>term</a:t>
                      </a:r>
                      <a:endParaRPr lang="en-US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(Intercept)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(Intercept)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N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N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P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P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N × P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N × P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SD (Intercept name)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SD (Observations)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SD (Intercept PlotBloque)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SD (Intercept Bloque)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SD (Intercept Plot)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Num.Obs.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AIC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extLst>
                  <a:ext uri="{0D108BD9-81ED-4DB2-BD59-A6C34878D82A}">
                    <a16:rowId xmlns:a16="http://schemas.microsoft.com/office/drawing/2014/main" val="60981850"/>
                  </a:ext>
                </a:extLst>
              </a:tr>
              <a:tr h="2178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1" u="none" strike="noStrike">
                          <a:effectLst/>
                        </a:rPr>
                        <a:t>statistic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 err="1">
                          <a:effectLst/>
                        </a:rPr>
                        <a:t>std.error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std.error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std.error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std.error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extLst>
                  <a:ext uri="{0D108BD9-81ED-4DB2-BD59-A6C34878D82A}">
                    <a16:rowId xmlns:a16="http://schemas.microsoft.com/office/drawing/2014/main" val="3340744877"/>
                  </a:ext>
                </a:extLst>
              </a:tr>
              <a:tr h="6535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1" u="none" strike="noStrike" dirty="0">
                          <a:effectLst/>
                        </a:rPr>
                        <a:t>3000 m - </a:t>
                      </a:r>
                      <a:r>
                        <a:rPr lang="en-US" sz="900" b="1" u="none" strike="noStrike" dirty="0" err="1">
                          <a:effectLst/>
                        </a:rPr>
                        <a:t>iWUE</a:t>
                      </a:r>
                      <a:r>
                        <a:rPr lang="en-US" sz="900" b="1" u="none" strike="noStrike" dirty="0">
                          <a:effectLst/>
                        </a:rPr>
                        <a:t> (</a:t>
                      </a:r>
                      <a:r>
                        <a:rPr lang="el-GR" sz="900" b="1" u="none" strike="noStrike" dirty="0">
                          <a:effectLst/>
                        </a:rPr>
                        <a:t>μ</a:t>
                      </a:r>
                      <a:r>
                        <a:rPr lang="en-US" sz="900" b="1" u="none" strike="noStrike" dirty="0" err="1">
                          <a:effectLst/>
                        </a:rPr>
                        <a:t>mol</a:t>
                      </a:r>
                      <a:r>
                        <a:rPr lang="en-US" sz="900" b="1" u="none" strike="noStrike" dirty="0">
                          <a:effectLst/>
                        </a:rPr>
                        <a:t>/</a:t>
                      </a:r>
                      <a:r>
                        <a:rPr lang="en-US" sz="900" b="1" u="none" strike="noStrike" dirty="0" err="1">
                          <a:effectLst/>
                        </a:rPr>
                        <a:t>mol</a:t>
                      </a:r>
                      <a:r>
                        <a:rPr lang="en-US" sz="900" b="1" u="none" strike="noStrike" dirty="0">
                          <a:effectLst/>
                        </a:rPr>
                        <a:t>)</a:t>
                      </a:r>
                      <a:endParaRPr lang="en-US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96.643***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-11.665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1.11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-8.173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-7.574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-7.851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14.668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-12.749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14.051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18.633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3.199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39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332.1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extLst>
                  <a:ext uri="{0D108BD9-81ED-4DB2-BD59-A6C34878D82A}">
                    <a16:rowId xmlns:a16="http://schemas.microsoft.com/office/drawing/2014/main" val="2471620117"/>
                  </a:ext>
                </a:extLst>
              </a:tr>
              <a:tr h="435685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1" u="none" strike="noStrike" dirty="0">
                          <a:effectLst/>
                        </a:rPr>
                        <a:t>3000 m - O18</a:t>
                      </a:r>
                      <a:endParaRPr lang="en-US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26.436***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-0.543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0.629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-0.675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0.362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-0.652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-1.205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-1.023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0.346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1.196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0.598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39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143.2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extLst>
                  <a:ext uri="{0D108BD9-81ED-4DB2-BD59-A6C34878D82A}">
                    <a16:rowId xmlns:a16="http://schemas.microsoft.com/office/drawing/2014/main" val="3761637330"/>
                  </a:ext>
                </a:extLst>
              </a:tr>
              <a:tr h="435685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1" u="none" strike="noStrike" dirty="0">
                          <a:effectLst/>
                        </a:rPr>
                        <a:t>2000 m </a:t>
                      </a:r>
                      <a:r>
                        <a:rPr lang="en-US" sz="900" b="1" u="none" strike="noStrike" dirty="0" err="1">
                          <a:effectLst/>
                        </a:rPr>
                        <a:t>iWUE</a:t>
                      </a:r>
                      <a:endParaRPr lang="en-US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98.039***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-6.548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3.31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-5.619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-1.388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-5.34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-2.517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-7.944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6.72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13.685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5.269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4.985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93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759.2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extLst>
                  <a:ext uri="{0D108BD9-81ED-4DB2-BD59-A6C34878D82A}">
                    <a16:rowId xmlns:a16="http://schemas.microsoft.com/office/drawing/2014/main" val="1930081792"/>
                  </a:ext>
                </a:extLst>
              </a:tr>
              <a:tr h="2178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1" u="none" strike="noStrike" dirty="0">
                          <a:effectLst/>
                        </a:rPr>
                        <a:t>2000 m O18</a:t>
                      </a:r>
                      <a:endParaRPr lang="en-US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30.148***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-0.646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0.634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-0.41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-0.168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-0.382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-0.368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-0.578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0.832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1.145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0.297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91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303.8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extLst>
                  <a:ext uri="{0D108BD9-81ED-4DB2-BD59-A6C34878D82A}">
                    <a16:rowId xmlns:a16="http://schemas.microsoft.com/office/drawing/2014/main" val="2172725862"/>
                  </a:ext>
                </a:extLst>
              </a:tr>
              <a:tr h="435685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1" u="none" strike="noStrike" dirty="0">
                          <a:effectLst/>
                        </a:rPr>
                        <a:t>1000 m </a:t>
                      </a:r>
                      <a:r>
                        <a:rPr lang="en-US" sz="900" b="1" u="none" strike="noStrike" dirty="0" err="1">
                          <a:effectLst/>
                        </a:rPr>
                        <a:t>iWUE</a:t>
                      </a:r>
                      <a:endParaRPr lang="en-US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41.272***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-7.528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16.923*</a:t>
                      </a:r>
                      <a:endParaRPr lang="en-US" sz="9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-8.077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9.378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-8.299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-24.480*</a:t>
                      </a:r>
                      <a:endParaRPr lang="en-US" sz="9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-11.407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6.473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14.983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7.592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48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396.7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extLst>
                  <a:ext uri="{0D108BD9-81ED-4DB2-BD59-A6C34878D82A}">
                    <a16:rowId xmlns:a16="http://schemas.microsoft.com/office/drawing/2014/main" val="1399244300"/>
                  </a:ext>
                </a:extLst>
              </a:tr>
              <a:tr h="2178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1" u="none" strike="noStrike" dirty="0">
                          <a:effectLst/>
                        </a:rPr>
                        <a:t>1000 m O18</a:t>
                      </a:r>
                      <a:endParaRPr lang="en-US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29.272***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-0.565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0.323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-0.748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-0.172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-0.704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-0.128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-1.044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1.777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0.54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48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203.5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extLst>
                  <a:ext uri="{0D108BD9-81ED-4DB2-BD59-A6C34878D82A}">
                    <a16:rowId xmlns:a16="http://schemas.microsoft.com/office/drawing/2014/main" val="35039789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722443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Marcador de contenido 5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096000" y="1242818"/>
            <a:ext cx="5909388" cy="5098514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 rotWithShape="1">
          <a:blip r:embed="rId4"/>
          <a:srcRect l="51410" t="8718" r="-2766" b="47016"/>
          <a:stretch/>
        </p:blipFill>
        <p:spPr>
          <a:xfrm>
            <a:off x="186612" y="144403"/>
            <a:ext cx="5909388" cy="6713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77417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460" y="1985962"/>
            <a:ext cx="12172950" cy="2886075"/>
          </a:xfrm>
          <a:prstGeom prst="rect">
            <a:avLst/>
          </a:prstGeom>
        </p:spPr>
      </p:pic>
      <p:sp>
        <p:nvSpPr>
          <p:cNvPr id="9" name="Flecha derecha 8"/>
          <p:cNvSpPr/>
          <p:nvPr/>
        </p:nvSpPr>
        <p:spPr>
          <a:xfrm>
            <a:off x="-84221" y="4728411"/>
            <a:ext cx="240632" cy="19250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30175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smtClean="0"/>
              <a:t>“COMPLETE” MODEL</a:t>
            </a:r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s-MX" dirty="0" err="1" smtClean="0">
                <a:solidFill>
                  <a:schemeClr val="accent1"/>
                </a:solidFill>
              </a:rPr>
              <a:t>lmer</a:t>
            </a:r>
            <a:r>
              <a:rPr lang="es-MX" dirty="0" smtClean="0">
                <a:solidFill>
                  <a:schemeClr val="accent1"/>
                </a:solidFill>
              </a:rPr>
              <a:t>(Response </a:t>
            </a:r>
            <a:r>
              <a:rPr lang="es-MX" dirty="0">
                <a:solidFill>
                  <a:schemeClr val="accent1"/>
                </a:solidFill>
              </a:rPr>
              <a:t>variable~ </a:t>
            </a:r>
            <a:r>
              <a:rPr lang="es-MX" dirty="0" smtClean="0">
                <a:solidFill>
                  <a:schemeClr val="accent1"/>
                </a:solidFill>
              </a:rPr>
              <a:t>N </a:t>
            </a:r>
            <a:r>
              <a:rPr lang="es-MX" dirty="0">
                <a:solidFill>
                  <a:schemeClr val="accent1"/>
                </a:solidFill>
              </a:rPr>
              <a:t>* P </a:t>
            </a:r>
            <a:r>
              <a:rPr lang="es-MX" dirty="0" smtClean="0">
                <a:solidFill>
                  <a:schemeClr val="accent1"/>
                </a:solidFill>
              </a:rPr>
              <a:t>+ </a:t>
            </a:r>
            <a:r>
              <a:rPr lang="es-MX" dirty="0" err="1" smtClean="0">
                <a:solidFill>
                  <a:schemeClr val="accent1"/>
                </a:solidFill>
              </a:rPr>
              <a:t>elevation</a:t>
            </a:r>
            <a:r>
              <a:rPr lang="es-MX" dirty="0" smtClean="0">
                <a:solidFill>
                  <a:schemeClr val="accent1"/>
                </a:solidFill>
              </a:rPr>
              <a:t> +  </a:t>
            </a:r>
            <a:r>
              <a:rPr lang="es-MX" dirty="0">
                <a:solidFill>
                  <a:schemeClr val="accent1"/>
                </a:solidFill>
              </a:rPr>
              <a:t>(1 | </a:t>
            </a:r>
            <a:r>
              <a:rPr lang="es-MX" dirty="0" err="1" smtClean="0">
                <a:solidFill>
                  <a:schemeClr val="accent1"/>
                </a:solidFill>
              </a:rPr>
              <a:t>specie</a:t>
            </a:r>
            <a:r>
              <a:rPr lang="es-MX" dirty="0" smtClean="0">
                <a:solidFill>
                  <a:schemeClr val="accent1"/>
                </a:solidFill>
              </a:rPr>
              <a:t>)+ (</a:t>
            </a:r>
            <a:r>
              <a:rPr lang="es-MX" dirty="0">
                <a:solidFill>
                  <a:schemeClr val="accent1"/>
                </a:solidFill>
              </a:rPr>
              <a:t>1 | Block/</a:t>
            </a:r>
            <a:r>
              <a:rPr lang="es-MX" dirty="0" err="1">
                <a:solidFill>
                  <a:schemeClr val="accent1"/>
                </a:solidFill>
              </a:rPr>
              <a:t>Plot</a:t>
            </a:r>
            <a:r>
              <a:rPr lang="es-MX" dirty="0" smtClean="0">
                <a:solidFill>
                  <a:schemeClr val="accent1"/>
                </a:solidFill>
              </a:rPr>
              <a:t>))</a:t>
            </a:r>
          </a:p>
          <a:p>
            <a:pPr marL="0" indent="0">
              <a:buNone/>
            </a:pPr>
            <a:endParaRPr lang="es-MX" dirty="0">
              <a:solidFill>
                <a:schemeClr val="accent1"/>
              </a:solidFill>
            </a:endParaRPr>
          </a:p>
          <a:p>
            <a:pPr marL="0" indent="0">
              <a:buNone/>
            </a:pPr>
            <a:r>
              <a:rPr lang="es-MX" dirty="0" err="1">
                <a:solidFill>
                  <a:schemeClr val="accent1"/>
                </a:solidFill>
              </a:rPr>
              <a:t>lmer</a:t>
            </a:r>
            <a:r>
              <a:rPr lang="es-MX" dirty="0">
                <a:solidFill>
                  <a:schemeClr val="accent1"/>
                </a:solidFill>
              </a:rPr>
              <a:t>(Response variable~ </a:t>
            </a:r>
            <a:r>
              <a:rPr lang="es-MX" dirty="0" smtClean="0">
                <a:solidFill>
                  <a:schemeClr val="accent1"/>
                </a:solidFill>
              </a:rPr>
              <a:t>N </a:t>
            </a:r>
            <a:r>
              <a:rPr lang="es-MX" dirty="0">
                <a:solidFill>
                  <a:schemeClr val="accent1"/>
                </a:solidFill>
              </a:rPr>
              <a:t>* P + </a:t>
            </a:r>
            <a:r>
              <a:rPr lang="es-MX" dirty="0" err="1">
                <a:solidFill>
                  <a:schemeClr val="accent1"/>
                </a:solidFill>
              </a:rPr>
              <a:t>elevation</a:t>
            </a:r>
            <a:r>
              <a:rPr lang="es-MX" dirty="0">
                <a:solidFill>
                  <a:schemeClr val="accent1"/>
                </a:solidFill>
              </a:rPr>
              <a:t> +  </a:t>
            </a:r>
            <a:r>
              <a:rPr lang="es-MX" dirty="0" smtClean="0">
                <a:solidFill>
                  <a:schemeClr val="accent1"/>
                </a:solidFill>
              </a:rPr>
              <a:t>(</a:t>
            </a:r>
            <a:r>
              <a:rPr lang="es-MX" dirty="0" err="1" smtClean="0">
                <a:solidFill>
                  <a:schemeClr val="accent1"/>
                </a:solidFill>
              </a:rPr>
              <a:t>elevation</a:t>
            </a:r>
            <a:r>
              <a:rPr lang="es-MX" dirty="0" smtClean="0">
                <a:solidFill>
                  <a:schemeClr val="accent1"/>
                </a:solidFill>
              </a:rPr>
              <a:t> </a:t>
            </a:r>
            <a:r>
              <a:rPr lang="es-MX" dirty="0">
                <a:solidFill>
                  <a:schemeClr val="accent1"/>
                </a:solidFill>
              </a:rPr>
              <a:t>| </a:t>
            </a:r>
            <a:r>
              <a:rPr lang="es-MX" dirty="0" err="1">
                <a:solidFill>
                  <a:schemeClr val="accent1"/>
                </a:solidFill>
              </a:rPr>
              <a:t>specie</a:t>
            </a:r>
            <a:r>
              <a:rPr lang="es-MX" dirty="0">
                <a:solidFill>
                  <a:schemeClr val="accent1"/>
                </a:solidFill>
              </a:rPr>
              <a:t>)+ (1 | Block/</a:t>
            </a:r>
            <a:r>
              <a:rPr lang="es-MX" dirty="0" err="1">
                <a:solidFill>
                  <a:schemeClr val="accent1"/>
                </a:solidFill>
              </a:rPr>
              <a:t>Plot</a:t>
            </a:r>
            <a:r>
              <a:rPr lang="es-MX" dirty="0">
                <a:solidFill>
                  <a:schemeClr val="accent1"/>
                </a:solidFill>
              </a:rPr>
              <a:t>))</a:t>
            </a:r>
          </a:p>
          <a:p>
            <a:pPr marL="0" indent="0">
              <a:buNone/>
            </a:pPr>
            <a:endParaRPr lang="es-MX" dirty="0" smtClean="0">
              <a:solidFill>
                <a:schemeClr val="accent1"/>
              </a:solidFill>
            </a:endParaRPr>
          </a:p>
          <a:p>
            <a:pPr marL="0" indent="0">
              <a:buNone/>
            </a:pPr>
            <a:r>
              <a:rPr lang="es-MX" dirty="0" err="1">
                <a:solidFill>
                  <a:schemeClr val="accent1"/>
                </a:solidFill>
              </a:rPr>
              <a:t>lmer</a:t>
            </a:r>
            <a:r>
              <a:rPr lang="es-MX" dirty="0">
                <a:solidFill>
                  <a:schemeClr val="accent1"/>
                </a:solidFill>
              </a:rPr>
              <a:t>(Response variable~ </a:t>
            </a:r>
            <a:r>
              <a:rPr lang="es-MX" dirty="0" smtClean="0">
                <a:solidFill>
                  <a:schemeClr val="accent1"/>
                </a:solidFill>
              </a:rPr>
              <a:t>N </a:t>
            </a:r>
            <a:r>
              <a:rPr lang="es-MX" dirty="0">
                <a:solidFill>
                  <a:schemeClr val="accent1"/>
                </a:solidFill>
              </a:rPr>
              <a:t>* P </a:t>
            </a:r>
            <a:r>
              <a:rPr lang="es-MX" dirty="0" smtClean="0">
                <a:solidFill>
                  <a:schemeClr val="accent1"/>
                </a:solidFill>
              </a:rPr>
              <a:t>+ </a:t>
            </a:r>
            <a:r>
              <a:rPr lang="es-MX" dirty="0" err="1" smtClean="0">
                <a:solidFill>
                  <a:schemeClr val="accent1"/>
                </a:solidFill>
              </a:rPr>
              <a:t>leaf</a:t>
            </a:r>
            <a:r>
              <a:rPr lang="es-MX" dirty="0" smtClean="0">
                <a:solidFill>
                  <a:schemeClr val="accent1"/>
                </a:solidFill>
              </a:rPr>
              <a:t> </a:t>
            </a:r>
            <a:r>
              <a:rPr lang="es-MX" dirty="0" err="1" smtClean="0">
                <a:solidFill>
                  <a:schemeClr val="accent1"/>
                </a:solidFill>
              </a:rPr>
              <a:t>traits</a:t>
            </a:r>
            <a:r>
              <a:rPr lang="es-MX" dirty="0" smtClean="0">
                <a:solidFill>
                  <a:schemeClr val="accent1"/>
                </a:solidFill>
              </a:rPr>
              <a:t> + </a:t>
            </a:r>
            <a:r>
              <a:rPr lang="es-MX" dirty="0" err="1">
                <a:solidFill>
                  <a:schemeClr val="accent1"/>
                </a:solidFill>
              </a:rPr>
              <a:t>elevation</a:t>
            </a:r>
            <a:r>
              <a:rPr lang="es-MX" dirty="0">
                <a:solidFill>
                  <a:schemeClr val="accent1"/>
                </a:solidFill>
              </a:rPr>
              <a:t> +  (1 | </a:t>
            </a:r>
            <a:r>
              <a:rPr lang="es-MX" dirty="0" err="1">
                <a:solidFill>
                  <a:schemeClr val="accent1"/>
                </a:solidFill>
              </a:rPr>
              <a:t>specie</a:t>
            </a:r>
            <a:r>
              <a:rPr lang="es-MX" dirty="0">
                <a:solidFill>
                  <a:schemeClr val="accent1"/>
                </a:solidFill>
              </a:rPr>
              <a:t>)+ (1 | Block/</a:t>
            </a:r>
            <a:r>
              <a:rPr lang="es-MX" dirty="0" err="1">
                <a:solidFill>
                  <a:schemeClr val="accent1"/>
                </a:solidFill>
              </a:rPr>
              <a:t>Plot</a:t>
            </a:r>
            <a:r>
              <a:rPr lang="es-MX" dirty="0">
                <a:solidFill>
                  <a:schemeClr val="accent1"/>
                </a:solidFill>
              </a:rPr>
              <a:t>))</a:t>
            </a:r>
          </a:p>
          <a:p>
            <a:pPr marL="0" indent="0">
              <a:buNone/>
            </a:pPr>
            <a:endParaRPr lang="es-MX" dirty="0"/>
          </a:p>
          <a:p>
            <a:r>
              <a:rPr lang="es-MX" dirty="0" err="1" smtClean="0"/>
              <a:t>For</a:t>
            </a:r>
            <a:r>
              <a:rPr lang="es-MX" dirty="0" smtClean="0"/>
              <a:t> </a:t>
            </a:r>
            <a:r>
              <a:rPr lang="es-MX" dirty="0" err="1" smtClean="0"/>
              <a:t>iWUE</a:t>
            </a:r>
            <a:r>
              <a:rPr lang="es-MX" dirty="0" smtClean="0"/>
              <a:t> and d18O </a:t>
            </a:r>
            <a:r>
              <a:rPr lang="es-MX" dirty="0" err="1" smtClean="0"/>
              <a:t>the</a:t>
            </a:r>
            <a:r>
              <a:rPr lang="es-MX" dirty="0" smtClean="0"/>
              <a:t> </a:t>
            </a:r>
            <a:r>
              <a:rPr lang="es-MX" dirty="0" err="1" smtClean="0"/>
              <a:t>model</a:t>
            </a:r>
            <a:r>
              <a:rPr lang="es-MX" dirty="0" smtClean="0"/>
              <a:t> </a:t>
            </a:r>
            <a:r>
              <a:rPr lang="es-MX" dirty="0" err="1" smtClean="0"/>
              <a:t>with</a:t>
            </a:r>
            <a:r>
              <a:rPr lang="es-MX" dirty="0" smtClean="0"/>
              <a:t> </a:t>
            </a:r>
            <a:r>
              <a:rPr lang="es-MX" dirty="0" err="1" smtClean="0"/>
              <a:t>elevation</a:t>
            </a:r>
            <a:r>
              <a:rPr lang="es-MX" dirty="0" smtClean="0"/>
              <a:t> as a </a:t>
            </a:r>
            <a:r>
              <a:rPr lang="es-MX" dirty="0" err="1" smtClean="0"/>
              <a:t>quadratic</a:t>
            </a:r>
            <a:r>
              <a:rPr lang="es-MX" dirty="0" smtClean="0"/>
              <a:t> factor </a:t>
            </a:r>
            <a:r>
              <a:rPr lang="es-MX" dirty="0" err="1" smtClean="0"/>
              <a:t>worked</a:t>
            </a:r>
            <a:r>
              <a:rPr lang="es-MX" dirty="0" smtClean="0"/>
              <a:t> </a:t>
            </a:r>
            <a:r>
              <a:rPr lang="es-MX" dirty="0" err="1" smtClean="0"/>
              <a:t>the</a:t>
            </a:r>
            <a:r>
              <a:rPr lang="es-MX" dirty="0" smtClean="0"/>
              <a:t> </a:t>
            </a:r>
            <a:r>
              <a:rPr lang="es-MX" dirty="0" err="1" smtClean="0"/>
              <a:t>best</a:t>
            </a:r>
            <a:r>
              <a:rPr lang="es-MX" dirty="0" smtClean="0"/>
              <a:t>.</a:t>
            </a:r>
          </a:p>
          <a:p>
            <a:r>
              <a:rPr lang="es-MX" dirty="0" smtClean="0"/>
              <a:t>A I </a:t>
            </a:r>
            <a:r>
              <a:rPr lang="es-MX" dirty="0" err="1" smtClean="0"/>
              <a:t>used</a:t>
            </a:r>
            <a:r>
              <a:rPr lang="es-MX" dirty="0" smtClean="0"/>
              <a:t> </a:t>
            </a:r>
            <a:r>
              <a:rPr lang="es-MX" dirty="0" err="1"/>
              <a:t>DHARMa</a:t>
            </a:r>
            <a:r>
              <a:rPr lang="es-MX" dirty="0"/>
              <a:t> </a:t>
            </a:r>
            <a:r>
              <a:rPr lang="es-MX" dirty="0" err="1"/>
              <a:t>package</a:t>
            </a:r>
            <a:r>
              <a:rPr lang="es-MX" dirty="0"/>
              <a:t> </a:t>
            </a:r>
            <a:r>
              <a:rPr lang="es-MX" dirty="0" err="1"/>
              <a:t>for</a:t>
            </a:r>
            <a:r>
              <a:rPr lang="es-MX" dirty="0"/>
              <a:t> </a:t>
            </a:r>
            <a:r>
              <a:rPr lang="es-MX" dirty="0" smtClean="0"/>
              <a:t>diagnosis.</a:t>
            </a:r>
            <a:endParaRPr lang="es-MX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87031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smtClean="0"/>
              <a:t>MODEL FOR ALL ELEVATIONS</a:t>
            </a:r>
            <a:endParaRPr lang="en-US" dirty="0"/>
          </a:p>
        </p:txBody>
      </p:sp>
      <p:graphicFrame>
        <p:nvGraphicFramePr>
          <p:cNvPr id="4" name="Marcador de contenido 3"/>
          <p:cNvGraphicFramePr>
            <a:graphicFrameLocks noGrp="1"/>
          </p:cNvGraphicFramePr>
          <p:nvPr>
            <p:ph idx="1"/>
          </p:nvPr>
        </p:nvGraphicFramePr>
        <p:xfrm>
          <a:off x="838200" y="3878558"/>
          <a:ext cx="10515600" cy="245472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554532596"/>
                    </a:ext>
                  </a:extLst>
                </a:gridCol>
              </a:tblGrid>
              <a:tr h="242860">
                <a:tc>
                  <a:txBody>
                    <a:bodyPr/>
                    <a:lstStyle/>
                    <a:p>
                      <a:pPr algn="l" fontAlgn="b"/>
                      <a:endParaRPr lang="en-US" sz="1200" dirty="0">
                        <a:effectLst/>
                      </a:endParaRPr>
                    </a:p>
                  </a:txBody>
                  <a:tcPr marL="31296" marR="31296" marT="31296" marB="31296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6394063"/>
                  </a:ext>
                </a:extLst>
              </a:tr>
            </a:tbl>
          </a:graphicData>
        </a:graphic>
      </p:graphicFrame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2" name="CuadroTexto 11"/>
          <p:cNvSpPr txBox="1"/>
          <p:nvPr/>
        </p:nvSpPr>
        <p:spPr>
          <a:xfrm>
            <a:off x="4311725" y="4799534"/>
            <a:ext cx="4620126" cy="1200329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s-MX" dirty="0" smtClean="0"/>
              <a:t>I </a:t>
            </a:r>
            <a:r>
              <a:rPr lang="es-MX" dirty="0" err="1" smtClean="0"/>
              <a:t>need</a:t>
            </a:r>
            <a:r>
              <a:rPr lang="es-MX" dirty="0" smtClean="0"/>
              <a:t> </a:t>
            </a:r>
            <a:r>
              <a:rPr lang="es-MX" dirty="0" err="1" smtClean="0"/>
              <a:t>help</a:t>
            </a:r>
            <a:r>
              <a:rPr lang="es-MX" dirty="0" smtClean="0"/>
              <a:t> </a:t>
            </a:r>
            <a:r>
              <a:rPr lang="es-MX" dirty="0" err="1" smtClean="0"/>
              <a:t>here</a:t>
            </a:r>
            <a:r>
              <a:rPr lang="es-MX" dirty="0" smtClean="0"/>
              <a:t>:</a:t>
            </a:r>
          </a:p>
          <a:p>
            <a:endParaRPr lang="es-MX" dirty="0"/>
          </a:p>
          <a:p>
            <a:pPr marL="285750" indent="-285750">
              <a:buFontTx/>
              <a:buChar char="-"/>
            </a:pPr>
            <a:r>
              <a:rPr lang="es-MX" dirty="0" err="1" smtClean="0"/>
              <a:t>Still</a:t>
            </a:r>
            <a:r>
              <a:rPr lang="es-MX" dirty="0" smtClean="0"/>
              <a:t> </a:t>
            </a:r>
            <a:r>
              <a:rPr lang="es-MX" dirty="0" err="1" smtClean="0"/>
              <a:t>need</a:t>
            </a:r>
            <a:r>
              <a:rPr lang="es-MX" dirty="0" smtClean="0"/>
              <a:t> to define </a:t>
            </a:r>
            <a:r>
              <a:rPr lang="es-MX" dirty="0" err="1" smtClean="0"/>
              <a:t>which</a:t>
            </a:r>
            <a:r>
              <a:rPr lang="es-MX" dirty="0" smtClean="0"/>
              <a:t> </a:t>
            </a:r>
            <a:r>
              <a:rPr lang="es-MX" dirty="0" err="1" smtClean="0"/>
              <a:t>one</a:t>
            </a:r>
            <a:r>
              <a:rPr lang="es-MX" dirty="0" smtClean="0"/>
              <a:t> </a:t>
            </a:r>
            <a:r>
              <a:rPr lang="es-MX" dirty="0" err="1" smtClean="0"/>
              <a:t>is</a:t>
            </a:r>
            <a:r>
              <a:rPr lang="es-MX" dirty="0" smtClean="0"/>
              <a:t> </a:t>
            </a:r>
            <a:r>
              <a:rPr lang="es-MX" dirty="0" err="1" smtClean="0"/>
              <a:t>better</a:t>
            </a:r>
            <a:r>
              <a:rPr lang="es-MX" dirty="0" smtClean="0"/>
              <a:t>.</a:t>
            </a:r>
          </a:p>
          <a:p>
            <a:pPr marL="285750" indent="-285750">
              <a:buFontTx/>
              <a:buChar char="-"/>
            </a:pPr>
            <a:r>
              <a:rPr lang="es-MX" dirty="0" smtClean="0"/>
              <a:t>PCA of </a:t>
            </a:r>
            <a:r>
              <a:rPr lang="es-MX" dirty="0" err="1" smtClean="0"/>
              <a:t>traits</a:t>
            </a:r>
            <a:r>
              <a:rPr lang="es-MX" dirty="0" smtClean="0"/>
              <a:t>/</a:t>
            </a:r>
            <a:r>
              <a:rPr lang="es-MX" dirty="0" err="1" smtClean="0"/>
              <a:t>choose</a:t>
            </a:r>
            <a:r>
              <a:rPr lang="es-MX" dirty="0" smtClean="0"/>
              <a:t> </a:t>
            </a:r>
            <a:r>
              <a:rPr lang="es-MX" dirty="0" err="1" smtClean="0"/>
              <a:t>traits</a:t>
            </a:r>
            <a:r>
              <a:rPr lang="es-MX" dirty="0" smtClean="0"/>
              <a:t>.</a:t>
            </a:r>
            <a:endParaRPr lang="en-US"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 rotWithShape="1">
          <a:blip r:embed="rId2"/>
          <a:srcRect t="35600" r="331" b="27326"/>
          <a:stretch/>
        </p:blipFill>
        <p:spPr>
          <a:xfrm>
            <a:off x="550506" y="2055812"/>
            <a:ext cx="10161037" cy="245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0797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smtClean="0"/>
              <a:t>BONUS</a:t>
            </a:r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7867650" cy="4886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82860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532" y="253465"/>
            <a:ext cx="8232517" cy="1821272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169" y="2129601"/>
            <a:ext cx="8363880" cy="1850333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3532" y="4114871"/>
            <a:ext cx="8307556" cy="1837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64523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smtClean="0"/>
              <a:t>TRENDS IN ELEVATION:</a:t>
            </a:r>
            <a:br>
              <a:rPr lang="es-MX" dirty="0" smtClean="0"/>
            </a:br>
            <a:r>
              <a:rPr lang="es-MX" dirty="0" smtClean="0"/>
              <a:t>DUAL ISOTOPE C AND O</a:t>
            </a:r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MX" dirty="0" smtClean="0"/>
              <a:t>Visual </a:t>
            </a:r>
            <a:r>
              <a:rPr lang="es-MX" dirty="0" err="1" smtClean="0"/>
              <a:t>inspection</a:t>
            </a:r>
            <a:r>
              <a:rPr lang="es-MX" dirty="0" smtClean="0"/>
              <a:t> shows </a:t>
            </a:r>
            <a:r>
              <a:rPr lang="es-MX" dirty="0" err="1" smtClean="0"/>
              <a:t>clear</a:t>
            </a:r>
            <a:r>
              <a:rPr lang="es-MX" dirty="0" smtClean="0"/>
              <a:t> </a:t>
            </a:r>
            <a:r>
              <a:rPr lang="es-MX" dirty="0" err="1" smtClean="0"/>
              <a:t>patterns</a:t>
            </a:r>
            <a:r>
              <a:rPr lang="es-MX" dirty="0" smtClean="0"/>
              <a:t> </a:t>
            </a:r>
            <a:r>
              <a:rPr lang="es-MX" dirty="0" err="1" smtClean="0"/>
              <a:t>between</a:t>
            </a:r>
            <a:r>
              <a:rPr lang="es-MX" dirty="0" smtClean="0"/>
              <a:t> </a:t>
            </a:r>
            <a:r>
              <a:rPr lang="es-MX" dirty="0" err="1" smtClean="0"/>
              <a:t>the</a:t>
            </a:r>
            <a:r>
              <a:rPr lang="es-MX" dirty="0" smtClean="0"/>
              <a:t> </a:t>
            </a:r>
            <a:r>
              <a:rPr lang="es-MX" dirty="0" err="1" smtClean="0"/>
              <a:t>groups</a:t>
            </a:r>
            <a:r>
              <a:rPr lang="es-MX" dirty="0" smtClean="0"/>
              <a:t> </a:t>
            </a:r>
            <a:r>
              <a:rPr lang="es-MX" dirty="0" err="1" smtClean="0"/>
              <a:t>according</a:t>
            </a:r>
            <a:r>
              <a:rPr lang="es-MX" dirty="0" smtClean="0"/>
              <a:t> to </a:t>
            </a:r>
            <a:r>
              <a:rPr lang="es-MX" dirty="0" err="1" smtClean="0"/>
              <a:t>the</a:t>
            </a:r>
            <a:r>
              <a:rPr lang="es-MX" dirty="0" smtClean="0"/>
              <a:t> </a:t>
            </a:r>
            <a:r>
              <a:rPr lang="es-MX" dirty="0" err="1" smtClean="0"/>
              <a:t>elevations</a:t>
            </a:r>
            <a:r>
              <a:rPr lang="es-MX" dirty="0" smtClean="0"/>
              <a:t>.</a:t>
            </a:r>
          </a:p>
          <a:p>
            <a:r>
              <a:rPr lang="es-MX" dirty="0" smtClean="0"/>
              <a:t>I </a:t>
            </a:r>
            <a:r>
              <a:rPr lang="es-MX" dirty="0" err="1" smtClean="0"/>
              <a:t>created</a:t>
            </a:r>
            <a:r>
              <a:rPr lang="es-MX" dirty="0" smtClean="0"/>
              <a:t> </a:t>
            </a:r>
            <a:r>
              <a:rPr lang="es-MX" dirty="0" err="1" smtClean="0"/>
              <a:t>the</a:t>
            </a:r>
            <a:r>
              <a:rPr lang="es-MX" dirty="0" smtClean="0"/>
              <a:t> </a:t>
            </a:r>
            <a:r>
              <a:rPr lang="es-MX" dirty="0" err="1" smtClean="0"/>
              <a:t>plots</a:t>
            </a:r>
            <a:r>
              <a:rPr lang="es-MX" dirty="0" smtClean="0"/>
              <a:t> per </a:t>
            </a:r>
            <a:r>
              <a:rPr lang="es-MX" dirty="0" err="1" smtClean="0"/>
              <a:t>specie</a:t>
            </a:r>
            <a:r>
              <a:rPr lang="es-MX" dirty="0" smtClean="0"/>
              <a:t> </a:t>
            </a:r>
            <a:r>
              <a:rPr lang="es-MX" dirty="0" err="1" smtClean="0"/>
              <a:t>aiming</a:t>
            </a:r>
            <a:r>
              <a:rPr lang="es-MX" dirty="0" smtClean="0"/>
              <a:t> to </a:t>
            </a:r>
            <a:r>
              <a:rPr lang="es-MX" dirty="0" err="1" smtClean="0"/>
              <a:t>see</a:t>
            </a:r>
            <a:r>
              <a:rPr lang="es-MX" dirty="0" smtClean="0"/>
              <a:t> </a:t>
            </a:r>
            <a:r>
              <a:rPr lang="es-MX" dirty="0" err="1" smtClean="0"/>
              <a:t>clear</a:t>
            </a:r>
            <a:r>
              <a:rPr lang="es-MX" dirty="0" smtClean="0"/>
              <a:t> </a:t>
            </a:r>
            <a:r>
              <a:rPr lang="es-MX" dirty="0" err="1" smtClean="0"/>
              <a:t>differences</a:t>
            </a:r>
            <a:r>
              <a:rPr lang="es-MX" dirty="0" smtClean="0"/>
              <a:t> </a:t>
            </a:r>
            <a:r>
              <a:rPr lang="es-MX" dirty="0" err="1" smtClean="0"/>
              <a:t>between</a:t>
            </a:r>
            <a:r>
              <a:rPr lang="es-MX" dirty="0" smtClean="0"/>
              <a:t> </a:t>
            </a:r>
            <a:r>
              <a:rPr lang="es-MX" dirty="0" err="1" smtClean="0"/>
              <a:t>the</a:t>
            </a:r>
            <a:r>
              <a:rPr lang="es-MX" dirty="0" smtClean="0"/>
              <a:t> </a:t>
            </a:r>
            <a:r>
              <a:rPr lang="es-MX" dirty="0" err="1" smtClean="0"/>
              <a:t>treatments</a:t>
            </a:r>
            <a:r>
              <a:rPr lang="es-MX" dirty="0" smtClean="0"/>
              <a:t>. </a:t>
            </a:r>
            <a:r>
              <a:rPr lang="es-MX" dirty="0" err="1" smtClean="0"/>
              <a:t>Interesting</a:t>
            </a:r>
            <a:r>
              <a:rPr lang="es-MX" dirty="0" smtClean="0"/>
              <a:t> to </a:t>
            </a:r>
            <a:r>
              <a:rPr lang="es-MX" dirty="0" err="1" smtClean="0"/>
              <a:t>check</a:t>
            </a:r>
            <a:r>
              <a:rPr lang="es-MX" dirty="0" smtClean="0"/>
              <a:t> </a:t>
            </a:r>
            <a:r>
              <a:rPr lang="es-MX" i="1" dirty="0" err="1" smtClean="0"/>
              <a:t>Pouteria</a:t>
            </a:r>
            <a:r>
              <a:rPr lang="es-MX" i="1" dirty="0" smtClean="0"/>
              <a:t>, </a:t>
            </a:r>
            <a:r>
              <a:rPr lang="es-MX" i="1" dirty="0" err="1" smtClean="0"/>
              <a:t>Alchornea</a:t>
            </a:r>
            <a:r>
              <a:rPr lang="es-MX" i="1" dirty="0" smtClean="0"/>
              <a:t>, </a:t>
            </a:r>
            <a:r>
              <a:rPr lang="es-MX" i="1" dirty="0" err="1" smtClean="0"/>
              <a:t>Myrcia</a:t>
            </a:r>
            <a:r>
              <a:rPr lang="es-MX" i="1" dirty="0" smtClean="0"/>
              <a:t>, </a:t>
            </a:r>
            <a:r>
              <a:rPr lang="es-MX" i="1" dirty="0" err="1" smtClean="0"/>
              <a:t>Hedyosmum</a:t>
            </a:r>
            <a:r>
              <a:rPr lang="es-MX" i="1" dirty="0" smtClean="0"/>
              <a:t>.</a:t>
            </a:r>
          </a:p>
          <a:p>
            <a:r>
              <a:rPr lang="es-MX" dirty="0" err="1" smtClean="0"/>
              <a:t>Still</a:t>
            </a:r>
            <a:r>
              <a:rPr lang="es-MX" dirty="0" smtClean="0"/>
              <a:t> </a:t>
            </a:r>
            <a:r>
              <a:rPr lang="es-MX" dirty="0" err="1" smtClean="0"/>
              <a:t>need</a:t>
            </a:r>
            <a:r>
              <a:rPr lang="es-MX" dirty="0" smtClean="0"/>
              <a:t> to figure </a:t>
            </a:r>
            <a:r>
              <a:rPr lang="es-MX" dirty="0" err="1" smtClean="0"/>
              <a:t>it</a:t>
            </a:r>
            <a:r>
              <a:rPr lang="es-MX" dirty="0" smtClean="0"/>
              <a:t> more </a:t>
            </a:r>
            <a:r>
              <a:rPr lang="es-MX" dirty="0" err="1" smtClean="0"/>
              <a:t>how</a:t>
            </a:r>
            <a:r>
              <a:rPr lang="es-MX" dirty="0" smtClean="0"/>
              <a:t> to </a:t>
            </a:r>
            <a:r>
              <a:rPr lang="es-MX" dirty="0" err="1" smtClean="0"/>
              <a:t>interpret</a:t>
            </a:r>
            <a:r>
              <a:rPr lang="es-MX" dirty="0" smtClean="0"/>
              <a:t> </a:t>
            </a:r>
            <a:r>
              <a:rPr lang="es-MX" dirty="0" err="1" smtClean="0"/>
              <a:t>it</a:t>
            </a:r>
            <a:r>
              <a:rPr lang="es-MX" dirty="0" smtClean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49885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" name="Marcador de contenido 2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5683523" y="949713"/>
            <a:ext cx="6666667" cy="4114286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8657" y="1227190"/>
            <a:ext cx="4845323" cy="3559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11114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3"/>
          <a:srcRect l="63197" t="28502" r="17363" b="46350"/>
          <a:stretch/>
        </p:blipFill>
        <p:spPr>
          <a:xfrm>
            <a:off x="11317603" y="149181"/>
            <a:ext cx="718457" cy="979714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804" y="0"/>
            <a:ext cx="3168048" cy="3339515"/>
          </a:xfrm>
          <a:prstGeom prst="rect">
            <a:avLst/>
          </a:prstGeom>
        </p:spPr>
      </p:pic>
      <p:pic>
        <p:nvPicPr>
          <p:cNvPr id="7" name="Imagen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57379" y="1"/>
            <a:ext cx="3192507" cy="3365298"/>
          </a:xfrm>
          <a:prstGeom prst="rect">
            <a:avLst/>
          </a:prstGeom>
        </p:spPr>
      </p:pic>
      <p:pic>
        <p:nvPicPr>
          <p:cNvPr id="8" name="Imagen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56971" y="2"/>
            <a:ext cx="3184682" cy="3357048"/>
          </a:xfrm>
          <a:prstGeom prst="rect">
            <a:avLst/>
          </a:prstGeom>
        </p:spPr>
      </p:pic>
      <p:pic>
        <p:nvPicPr>
          <p:cNvPr id="9" name="Imagen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6073" y="3339515"/>
            <a:ext cx="3113779" cy="3282308"/>
          </a:xfrm>
          <a:prstGeom prst="rect">
            <a:avLst/>
          </a:prstGeom>
        </p:spPr>
      </p:pic>
      <p:pic>
        <p:nvPicPr>
          <p:cNvPr id="10" name="Imagen 9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83505" y="3311790"/>
            <a:ext cx="3166381" cy="3337757"/>
          </a:xfrm>
          <a:prstGeom prst="rect">
            <a:avLst/>
          </a:prstGeom>
        </p:spPr>
      </p:pic>
      <p:pic>
        <p:nvPicPr>
          <p:cNvPr id="11" name="Imagen 10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56971" y="3394017"/>
            <a:ext cx="3286126" cy="3463983"/>
          </a:xfrm>
          <a:prstGeom prst="rect">
            <a:avLst/>
          </a:prstGeom>
        </p:spPr>
      </p:pic>
      <p:sp>
        <p:nvSpPr>
          <p:cNvPr id="12" name="Rectángulo 11"/>
          <p:cNvSpPr/>
          <p:nvPr/>
        </p:nvSpPr>
        <p:spPr>
          <a:xfrm>
            <a:off x="286603" y="0"/>
            <a:ext cx="3562066" cy="6858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ángulo 12"/>
          <p:cNvSpPr/>
          <p:nvPr/>
        </p:nvSpPr>
        <p:spPr>
          <a:xfrm>
            <a:off x="3992600" y="8631"/>
            <a:ext cx="3389274" cy="6858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ángulo 13"/>
          <p:cNvSpPr/>
          <p:nvPr/>
        </p:nvSpPr>
        <p:spPr>
          <a:xfrm>
            <a:off x="7724983" y="80963"/>
            <a:ext cx="3389274" cy="6858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20774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smtClean="0"/>
              <a:t>NEXT STEPS AND QUESTIONS</a:t>
            </a:r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200" dirty="0" smtClean="0"/>
              <a:t>Refining – how better integrate traits. PCA?</a:t>
            </a:r>
          </a:p>
          <a:p>
            <a:r>
              <a:rPr lang="en-US" sz="2200" dirty="0" smtClean="0"/>
              <a:t>The </a:t>
            </a:r>
            <a:r>
              <a:rPr lang="en-US" sz="2200" dirty="0"/>
              <a:t>experimental controls from 2009 (n = 9) would be used mainly as a baseline reference due to their limited sample size.</a:t>
            </a:r>
          </a:p>
          <a:p>
            <a:r>
              <a:rPr lang="en-US" sz="2200" dirty="0"/>
              <a:t>Regarding environmental drivers, elevation has been useful as an integrative gradient, but I would like to discuss the incorporation of explicit climatic variables to improve </a:t>
            </a:r>
            <a:r>
              <a:rPr lang="en-US" sz="2200" dirty="0" smtClean="0"/>
              <a:t>interpretability or TPI?. I thought on working with PCA dimensions.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9048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2066</TotalTime>
  <Words>2552</Words>
  <Application>Microsoft Office PowerPoint</Application>
  <PresentationFormat>Panorámica</PresentationFormat>
  <Paragraphs>1406</Paragraphs>
  <Slides>30</Slides>
  <Notes>14</Notes>
  <HiddenSlides>9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30</vt:i4>
      </vt:variant>
    </vt:vector>
  </HeadingPairs>
  <TitlesOfParts>
    <vt:vector size="35" baseType="lpstr">
      <vt:lpstr>Arial</vt:lpstr>
      <vt:lpstr>Calibri</vt:lpstr>
      <vt:lpstr>Calibri Light</vt:lpstr>
      <vt:lpstr>Times New Roman</vt:lpstr>
      <vt:lpstr>Tema de Office</vt:lpstr>
      <vt:lpstr>Chapter 1: iWUE variation between  NUMEX experiment manipulation</vt:lpstr>
      <vt:lpstr>Presentación de PowerPoint</vt:lpstr>
      <vt:lpstr>Presentación de PowerPoint</vt:lpstr>
      <vt:lpstr>Available Info from NUMEX</vt:lpstr>
      <vt:lpstr>RQ:</vt:lpstr>
      <vt:lpstr>Presentación de PowerPoint</vt:lpstr>
      <vt:lpstr>Overview</vt:lpstr>
      <vt:lpstr>Presentación de PowerPoint</vt:lpstr>
      <vt:lpstr>Presentación de PowerPoint</vt:lpstr>
      <vt:lpstr>ANALYSIS PER SPECIE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ANALYSIS PER EACH ELEVATION</vt:lpstr>
      <vt:lpstr>Presentación de PowerPoint</vt:lpstr>
      <vt:lpstr>Presentación de PowerPoint</vt:lpstr>
      <vt:lpstr>Presentación de PowerPoint</vt:lpstr>
      <vt:lpstr>Presentación de PowerPoint</vt:lpstr>
      <vt:lpstr>“COMPLETE” MODEL</vt:lpstr>
      <vt:lpstr>MODEL FOR ALL ELEVATIONS</vt:lpstr>
      <vt:lpstr>BONUS</vt:lpstr>
      <vt:lpstr>Presentación de PowerPoint</vt:lpstr>
      <vt:lpstr>TRENDS IN ELEVATION: DUAL ISOTOPE C AND O</vt:lpstr>
      <vt:lpstr>Presentación de PowerPoint</vt:lpstr>
      <vt:lpstr>Presentación de PowerPoint</vt:lpstr>
      <vt:lpstr>NEXT STEPS AND QUESTIONS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selene.baez</dc:creator>
  <cp:lastModifiedBy>selene.baez</cp:lastModifiedBy>
  <cp:revision>43</cp:revision>
  <dcterms:created xsi:type="dcterms:W3CDTF">2025-12-15T21:47:15Z</dcterms:created>
  <dcterms:modified xsi:type="dcterms:W3CDTF">2026-02-18T11:27:10Z</dcterms:modified>
</cp:coreProperties>
</file>