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66" r:id="rId2"/>
    <p:sldId id="282" r:id="rId3"/>
    <p:sldId id="268" r:id="rId4"/>
    <p:sldId id="285" r:id="rId5"/>
    <p:sldId id="271" r:id="rId6"/>
    <p:sldId id="292" r:id="rId7"/>
    <p:sldId id="291" r:id="rId8"/>
    <p:sldId id="283" r:id="rId9"/>
    <p:sldId id="269" r:id="rId10"/>
    <p:sldId id="272" r:id="rId11"/>
    <p:sldId id="259" r:id="rId12"/>
    <p:sldId id="287" r:id="rId13"/>
    <p:sldId id="284" r:id="rId14"/>
    <p:sldId id="261" r:id="rId15"/>
    <p:sldId id="260" r:id="rId16"/>
    <p:sldId id="273" r:id="rId17"/>
    <p:sldId id="274" r:id="rId18"/>
    <p:sldId id="275" r:id="rId19"/>
    <p:sldId id="288" r:id="rId20"/>
    <p:sldId id="276" r:id="rId21"/>
    <p:sldId id="277" r:id="rId22"/>
    <p:sldId id="281" r:id="rId23"/>
    <p:sldId id="278" r:id="rId24"/>
    <p:sldId id="289" r:id="rId25"/>
    <p:sldId id="290" r:id="rId26"/>
    <p:sldId id="270" r:id="rId27"/>
    <p:sldId id="257" r:id="rId28"/>
    <p:sldId id="256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Estilo medio 3 - Énfasis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343" autoAdjust="0"/>
  </p:normalViewPr>
  <p:slideViewPr>
    <p:cSldViewPr snapToGrid="0">
      <p:cViewPr>
        <p:scale>
          <a:sx n="75" d="100"/>
          <a:sy n="75" d="100"/>
        </p:scale>
        <p:origin x="456" y="-1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ADAB2D-2438-4DAF-8EF0-78196AA5F544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53BC2-43C1-4767-ADF3-5E906A4AA8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4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47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Data</a:t>
            </a:r>
            <a:r>
              <a:rPr lang="es-MX" baseline="0" dirty="0" smtClean="0"/>
              <a:t> </a:t>
            </a:r>
            <a:r>
              <a:rPr lang="es-MX" baseline="0" dirty="0" err="1" smtClean="0"/>
              <a:t>collected</a:t>
            </a:r>
            <a:r>
              <a:rPr lang="es-MX" baseline="0" dirty="0" smtClean="0"/>
              <a:t> and </a:t>
            </a:r>
            <a:r>
              <a:rPr lang="es-MX" baseline="0" dirty="0" err="1" smtClean="0"/>
              <a:t>processed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green</a:t>
            </a:r>
            <a:r>
              <a:rPr lang="es-MX" baseline="0" dirty="0" smtClean="0"/>
              <a:t>. In red,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missing</a:t>
            </a:r>
            <a:r>
              <a:rPr lang="es-MX" baseline="0" dirty="0" smtClean="0"/>
              <a:t> data.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018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31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03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dotted</a:t>
            </a:r>
            <a:r>
              <a:rPr lang="es-MX" dirty="0" smtClean="0"/>
              <a:t> line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mean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 </a:t>
            </a:r>
          </a:p>
          <a:p>
            <a:r>
              <a:rPr lang="es-MX" dirty="0" err="1" smtClean="0"/>
              <a:t>Weinmania</a:t>
            </a:r>
            <a:r>
              <a:rPr lang="es-MX" dirty="0" smtClean="0"/>
              <a:t> looks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NP has </a:t>
            </a:r>
            <a:r>
              <a:rPr lang="es-MX" baseline="0" dirty="0" err="1" smtClean="0"/>
              <a:t>an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significant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What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: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P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 as </a:t>
            </a:r>
            <a:r>
              <a:rPr lang="es-MX" baseline="0" dirty="0" err="1" smtClean="0"/>
              <a:t>well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strongly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interaction</a:t>
            </a:r>
            <a:r>
              <a:rPr lang="es-MX" baseline="0" dirty="0" smtClean="0"/>
              <a:t> has a positive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some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Puteria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) and </a:t>
            </a:r>
            <a:r>
              <a:rPr lang="es-MX" baseline="0" dirty="0" err="1" smtClean="0"/>
              <a:t>negative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tan control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others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).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6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None</a:t>
            </a:r>
            <a:r>
              <a:rPr lang="es-MX" dirty="0" smtClean="0"/>
              <a:t> of </a:t>
            </a:r>
            <a:r>
              <a:rPr lang="es-MX" dirty="0" err="1" smtClean="0"/>
              <a:t>them</a:t>
            </a:r>
            <a:r>
              <a:rPr lang="es-MX" dirty="0" smtClean="0"/>
              <a:t> are </a:t>
            </a:r>
            <a:r>
              <a:rPr lang="es-MX" dirty="0" err="1" smtClean="0"/>
              <a:t>nitrogen</a:t>
            </a:r>
            <a:r>
              <a:rPr lang="es-MX" dirty="0" smtClean="0"/>
              <a:t> </a:t>
            </a:r>
            <a:r>
              <a:rPr lang="es-MX" dirty="0" err="1" smtClean="0"/>
              <a:t>fixing</a:t>
            </a:r>
            <a:r>
              <a:rPr lang="es-MX" dirty="0" smtClean="0"/>
              <a:t> </a:t>
            </a:r>
            <a:r>
              <a:rPr lang="es-MX" dirty="0" err="1" smtClean="0"/>
              <a:t>species</a:t>
            </a:r>
            <a:r>
              <a:rPr lang="es-MX" dirty="0" smtClean="0"/>
              <a:t>.</a:t>
            </a:r>
          </a:p>
          <a:p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this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839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766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Pouteria</a:t>
            </a:r>
            <a:r>
              <a:rPr lang="es-MX" dirty="0" smtClean="0"/>
              <a:t> torta, </a:t>
            </a:r>
            <a:r>
              <a:rPr lang="es-MX" dirty="0" err="1" smtClean="0"/>
              <a:t>effect</a:t>
            </a:r>
            <a:r>
              <a:rPr lang="es-MX" dirty="0" smtClean="0"/>
              <a:t> of </a:t>
            </a:r>
            <a:r>
              <a:rPr lang="es-MX" dirty="0" err="1" smtClean="0"/>
              <a:t>the</a:t>
            </a:r>
            <a:r>
              <a:rPr lang="es-MX" dirty="0" smtClean="0"/>
              <a:t> N</a:t>
            </a:r>
            <a:r>
              <a:rPr lang="es-MX" baseline="0" dirty="0" smtClean="0"/>
              <a:t> and N*P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and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P o d18O. </a:t>
            </a:r>
            <a:r>
              <a:rPr lang="es-MX" baseline="0" dirty="0" err="1" smtClean="0"/>
              <a:t>This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giving</a:t>
            </a:r>
            <a:r>
              <a:rPr lang="es-MX" baseline="0" dirty="0" smtClean="0"/>
              <a:t> a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signal</a:t>
            </a:r>
            <a:r>
              <a:rPr lang="es-MX" baseline="0" dirty="0" smtClean="0"/>
              <a:t> response to </a:t>
            </a:r>
            <a:r>
              <a:rPr lang="es-MX" baseline="0" dirty="0" err="1" smtClean="0"/>
              <a:t>nutrient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addition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iQUE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d15N and C:N. </a:t>
            </a:r>
          </a:p>
          <a:p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d18O, d15N, C:N</a:t>
            </a:r>
          </a:p>
          <a:p>
            <a:r>
              <a:rPr lang="es-MX" baseline="0" dirty="0" err="1" smtClean="0"/>
              <a:t>Hedyosmum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d15N and C:N. (+ p &lt;0.1)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54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U </a:t>
            </a:r>
            <a:r>
              <a:rPr lang="es-MX" dirty="0" err="1" smtClean="0"/>
              <a:t>shaped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17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how</a:t>
            </a:r>
            <a:r>
              <a:rPr lang="es-MX" baseline="0" dirty="0" smtClean="0"/>
              <a:t> to </a:t>
            </a:r>
            <a:r>
              <a:rPr lang="es-MX" baseline="0" dirty="0" err="1" smtClean="0"/>
              <a:t>model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them</a:t>
            </a:r>
            <a:r>
              <a:rPr lang="es-MX" baseline="0" dirty="0" smtClean="0"/>
              <a:t>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37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Con flecha errores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284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Clear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 </a:t>
            </a:r>
            <a:r>
              <a:rPr lang="es-MX" dirty="0" err="1" smtClean="0"/>
              <a:t>Higher</a:t>
            </a:r>
            <a:r>
              <a:rPr lang="es-MX" dirty="0" smtClean="0"/>
              <a:t> O18 </a:t>
            </a:r>
            <a:r>
              <a:rPr lang="es-MX" dirty="0" err="1" smtClean="0"/>
              <a:t>enrichment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lowlands</a:t>
            </a:r>
            <a:r>
              <a:rPr lang="es-MX" dirty="0" smtClean="0"/>
              <a:t> and at 2000 m – </a:t>
            </a:r>
            <a:r>
              <a:rPr lang="es-MX" dirty="0" err="1" smtClean="0"/>
              <a:t>associated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7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Effects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treatment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Pouteria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if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these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graphics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actually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useful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Dotted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lines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means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</a:t>
            </a:r>
            <a:r>
              <a:rPr lang="es-MX" baseline="0" dirty="0" err="1" smtClean="0"/>
              <a:t>Maybe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should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plot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center </a:t>
            </a:r>
            <a:r>
              <a:rPr lang="es-MX" baseline="0" dirty="0" err="1" smtClean="0"/>
              <a:t>instead</a:t>
            </a:r>
            <a:r>
              <a:rPr lang="es-MX" baseline="0" dirty="0" smtClean="0"/>
              <a:t>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7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6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25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900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16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81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08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2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3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2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98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CBFA1-BD22-4292-9851-D341668FFB9E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2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Chapter</a:t>
            </a:r>
            <a:r>
              <a:rPr lang="es-MX" dirty="0" smtClean="0"/>
              <a:t> 1: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variation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br>
              <a:rPr lang="es-MX" dirty="0" smtClean="0"/>
            </a:br>
            <a:r>
              <a:rPr lang="es-MX" dirty="0" smtClean="0"/>
              <a:t>NUMEX </a:t>
            </a:r>
            <a:r>
              <a:rPr lang="es-MX" dirty="0" err="1" smtClean="0"/>
              <a:t>experiment</a:t>
            </a:r>
            <a:r>
              <a:rPr lang="es-MX" dirty="0" smtClean="0"/>
              <a:t> </a:t>
            </a:r>
            <a:r>
              <a:rPr lang="es-MX" dirty="0" err="1" smtClean="0"/>
              <a:t>manipulation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25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731520" y="3291840"/>
            <a:ext cx="11082528" cy="337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7997" y="4143772"/>
            <a:ext cx="2076056" cy="1905633"/>
          </a:xfrm>
        </p:spPr>
      </p:pic>
      <p:sp>
        <p:nvSpPr>
          <p:cNvPr id="4" name="Elipse 3"/>
          <p:cNvSpPr/>
          <p:nvPr/>
        </p:nvSpPr>
        <p:spPr>
          <a:xfrm>
            <a:off x="594360" y="337376"/>
            <a:ext cx="2926080" cy="257956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Nutrient</a:t>
            </a:r>
            <a:r>
              <a:rPr lang="es-MX" dirty="0" smtClean="0"/>
              <a:t> </a:t>
            </a:r>
            <a:r>
              <a:rPr lang="es-MX" dirty="0" err="1" smtClean="0"/>
              <a:t>addition</a:t>
            </a:r>
            <a:r>
              <a:rPr lang="es-MX" dirty="0" smtClean="0"/>
              <a:t> </a:t>
            </a:r>
            <a:r>
              <a:rPr lang="es-MX" dirty="0" err="1" smtClean="0"/>
              <a:t>experiment</a:t>
            </a:r>
            <a:endParaRPr lang="es-MX" dirty="0" smtClean="0"/>
          </a:p>
          <a:p>
            <a:pPr algn="ctr"/>
            <a:endParaRPr lang="es-MX" dirty="0"/>
          </a:p>
          <a:p>
            <a:pPr algn="ctr"/>
            <a:r>
              <a:rPr lang="es-MX" dirty="0" smtClean="0"/>
              <a:t>N, P, N*P</a:t>
            </a:r>
            <a:endParaRPr lang="en-US" dirty="0"/>
          </a:p>
        </p:txBody>
      </p:sp>
      <p:sp>
        <p:nvSpPr>
          <p:cNvPr id="5" name="Elipse 4"/>
          <p:cNvSpPr/>
          <p:nvPr/>
        </p:nvSpPr>
        <p:spPr>
          <a:xfrm>
            <a:off x="4581144" y="337375"/>
            <a:ext cx="2795016" cy="249199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functional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endParaRPr lang="es-MX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Thoughness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Thickness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SLA / LA</a:t>
            </a:r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Carea / </a:t>
            </a:r>
            <a:r>
              <a:rPr lang="es-MX" sz="1200" dirty="0" err="1" smtClean="0"/>
              <a:t>Narea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Leat</a:t>
            </a:r>
            <a:r>
              <a:rPr lang="es-MX" sz="1200" dirty="0" smtClean="0"/>
              <a:t> </a:t>
            </a:r>
            <a:r>
              <a:rPr lang="es-MX" sz="1200" dirty="0" err="1" smtClean="0"/>
              <a:t>water</a:t>
            </a:r>
            <a:r>
              <a:rPr lang="es-MX" sz="1200" dirty="0" smtClean="0"/>
              <a:t> </a:t>
            </a:r>
            <a:r>
              <a:rPr lang="es-MX" sz="1200" dirty="0" err="1" smtClean="0"/>
              <a:t>content</a:t>
            </a:r>
            <a:endParaRPr lang="en-US" sz="1200" dirty="0"/>
          </a:p>
        </p:txBody>
      </p:sp>
      <p:sp>
        <p:nvSpPr>
          <p:cNvPr id="6" name="Elipse 5"/>
          <p:cNvSpPr/>
          <p:nvPr/>
        </p:nvSpPr>
        <p:spPr>
          <a:xfrm>
            <a:off x="8357616" y="337375"/>
            <a:ext cx="2896248" cy="2491993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Climatic</a:t>
            </a:r>
            <a:r>
              <a:rPr lang="es-MX" dirty="0" smtClean="0"/>
              <a:t> – </a:t>
            </a:r>
            <a:r>
              <a:rPr lang="es-MX" dirty="0" err="1" smtClean="0"/>
              <a:t>Using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proxy</a:t>
            </a:r>
          </a:p>
          <a:p>
            <a:pPr algn="ctr"/>
            <a:r>
              <a:rPr lang="es-MX" dirty="0" smtClean="0"/>
              <a:t>1000, 2000, 3000</a:t>
            </a:r>
          </a:p>
          <a:p>
            <a:pPr algn="ctr"/>
            <a:endParaRPr lang="en-US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264" y="3721896"/>
            <a:ext cx="4887792" cy="2749383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4953000" y="4727256"/>
            <a:ext cx="1389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 smtClean="0"/>
              <a:t>iWUE</a:t>
            </a:r>
            <a:r>
              <a:rPr lang="es-MX" dirty="0" smtClean="0"/>
              <a:t> = A/g</a:t>
            </a:r>
            <a:endParaRPr lang="en-US" dirty="0"/>
          </a:p>
        </p:txBody>
      </p:sp>
      <p:sp>
        <p:nvSpPr>
          <p:cNvPr id="13" name="Flecha abajo 12"/>
          <p:cNvSpPr/>
          <p:nvPr/>
        </p:nvSpPr>
        <p:spPr>
          <a:xfrm>
            <a:off x="1476756" y="246292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echa abajo 13"/>
          <p:cNvSpPr/>
          <p:nvPr/>
        </p:nvSpPr>
        <p:spPr>
          <a:xfrm>
            <a:off x="5515356" y="253710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echa abajo 14"/>
          <p:cNvSpPr/>
          <p:nvPr/>
        </p:nvSpPr>
        <p:spPr>
          <a:xfrm>
            <a:off x="9261372" y="2324000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027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9915578"/>
              </p:ext>
            </p:extLst>
          </p:nvPr>
        </p:nvGraphicFramePr>
        <p:xfrm>
          <a:off x="130627" y="104503"/>
          <a:ext cx="11704322" cy="62701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3994">
                  <a:extLst>
                    <a:ext uri="{9D8B030D-6E8A-4147-A177-3AD203B41FA5}">
                      <a16:colId xmlns:a16="http://schemas.microsoft.com/office/drawing/2014/main" val="2141527110"/>
                    </a:ext>
                  </a:extLst>
                </a:gridCol>
                <a:gridCol w="1639613">
                  <a:extLst>
                    <a:ext uri="{9D8B030D-6E8A-4147-A177-3AD203B41FA5}">
                      <a16:colId xmlns:a16="http://schemas.microsoft.com/office/drawing/2014/main" val="1715079267"/>
                    </a:ext>
                  </a:extLst>
                </a:gridCol>
                <a:gridCol w="1502980">
                  <a:extLst>
                    <a:ext uri="{9D8B030D-6E8A-4147-A177-3AD203B41FA5}">
                      <a16:colId xmlns:a16="http://schemas.microsoft.com/office/drawing/2014/main" val="3874508906"/>
                    </a:ext>
                  </a:extLst>
                </a:gridCol>
                <a:gridCol w="3585529">
                  <a:extLst>
                    <a:ext uri="{9D8B030D-6E8A-4147-A177-3AD203B41FA5}">
                      <a16:colId xmlns:a16="http://schemas.microsoft.com/office/drawing/2014/main" val="3618229275"/>
                    </a:ext>
                  </a:extLst>
                </a:gridCol>
                <a:gridCol w="2952206">
                  <a:extLst>
                    <a:ext uri="{9D8B030D-6E8A-4147-A177-3AD203B41FA5}">
                      <a16:colId xmlns:a16="http://schemas.microsoft.com/office/drawing/2014/main" val="1325441615"/>
                    </a:ext>
                  </a:extLst>
                </a:gridCol>
              </a:tblGrid>
              <a:tr h="67251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Site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Elevation (m.s.n.m)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N° Plots 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>
                          <a:effectLst/>
                        </a:rPr>
                        <a:t>Individuals</a:t>
                      </a:r>
                      <a:r>
                        <a:rPr lang="es-MX" sz="2000" dirty="0">
                          <a:effectLst/>
                        </a:rPr>
                        <a:t> per </a:t>
                      </a:r>
                      <a:r>
                        <a:rPr lang="es-MX" sz="2000" dirty="0" err="1">
                          <a:effectLst/>
                        </a:rPr>
                        <a:t>plot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>
                          <a:effectLst/>
                        </a:rPr>
                        <a:t>Status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4099819"/>
                  </a:ext>
                </a:extLst>
              </a:tr>
              <a:tr h="206350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Cajanuma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3000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Pouteria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torta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Clarisia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racemosa</a:t>
                      </a:r>
                      <a:endParaRPr lang="en-US" sz="2000" i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</a:t>
                      </a:r>
                      <a:endParaRPr lang="en-US" sz="20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2937422"/>
                  </a:ext>
                </a:extLst>
              </a:tr>
              <a:tr h="117586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San Francisco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2023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Between 10 per experimental 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Myrcia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Alchornea</a:t>
                      </a:r>
                      <a:endParaRPr lang="es-MX" sz="2000" i="1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C:N, 15N, 13C, 18º,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endParaRPr lang="es-MX" sz="2000" b="1" baseline="0" dirty="0" smtClean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3087911"/>
                  </a:ext>
                </a:extLst>
              </a:tr>
              <a:tr h="235828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Bombuscaro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1</a:t>
                      </a:r>
                      <a:r>
                        <a:rPr lang="en-US" sz="2000" dirty="0" smtClean="0">
                          <a:effectLst/>
                        </a:rPr>
                        <a:t>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Weinmania</a:t>
                      </a:r>
                      <a:r>
                        <a:rPr lang="es-MX" sz="2000" dirty="0" smtClean="0">
                          <a:effectLst/>
                        </a:rPr>
                        <a:t> </a:t>
                      </a:r>
                      <a:r>
                        <a:rPr lang="es-MX" sz="2000" baseline="0" dirty="0" smtClean="0">
                          <a:effectLst/>
                        </a:rPr>
                        <a:t>= </a:t>
                      </a: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Hedyosmum</a:t>
                      </a:r>
                      <a:r>
                        <a:rPr lang="es-MX" sz="2000" dirty="0" smtClean="0">
                          <a:effectLst/>
                        </a:rPr>
                        <a:t>  </a:t>
                      </a:r>
                      <a:r>
                        <a:rPr lang="es-MX" sz="2000" dirty="0" err="1" smtClean="0">
                          <a:effectLst/>
                        </a:rPr>
                        <a:t>purpurascens</a:t>
                      </a:r>
                      <a:r>
                        <a:rPr lang="es-MX" sz="2000" dirty="0" smtClean="0">
                          <a:effectLst/>
                        </a:rPr>
                        <a:t> = </a:t>
                      </a:r>
                      <a:endParaRPr lang="en-US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dry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matter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endParaRPr lang="en-US" sz="20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18278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4735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Available</a:t>
            </a:r>
            <a:r>
              <a:rPr lang="es-MX" dirty="0" smtClean="0"/>
              <a:t> </a:t>
            </a:r>
            <a:r>
              <a:rPr lang="es-MX" dirty="0" err="1" smtClean="0"/>
              <a:t>Info</a:t>
            </a:r>
            <a:r>
              <a:rPr lang="es-MX" dirty="0" smtClean="0"/>
              <a:t> </a:t>
            </a:r>
            <a:r>
              <a:rPr lang="es-MX" dirty="0" err="1" smtClean="0"/>
              <a:t>from</a:t>
            </a:r>
            <a:r>
              <a:rPr lang="es-MX" dirty="0" smtClean="0"/>
              <a:t> NUMEX</a:t>
            </a:r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7095" r="1021"/>
          <a:stretch/>
        </p:blipFill>
        <p:spPr>
          <a:xfrm>
            <a:off x="371847" y="1608392"/>
            <a:ext cx="10917945" cy="487375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t="20857" r="2187"/>
          <a:stretch/>
        </p:blipFill>
        <p:spPr>
          <a:xfrm>
            <a:off x="4270082" y="1278766"/>
            <a:ext cx="7676795" cy="331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6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RQ: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340993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MX" dirty="0" err="1" smtClean="0"/>
              <a:t>What</a:t>
            </a:r>
            <a:r>
              <a:rPr lang="es-MX" dirty="0" smtClean="0"/>
              <a:t> are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ecophysiological</a:t>
            </a:r>
            <a:r>
              <a:rPr lang="es-MX" dirty="0" smtClean="0"/>
              <a:t> – </a:t>
            </a:r>
            <a:r>
              <a:rPr lang="es-MX" dirty="0" err="1" smtClean="0"/>
              <a:t>iWUE</a:t>
            </a:r>
            <a:r>
              <a:rPr lang="es-MX" dirty="0" smtClean="0"/>
              <a:t> - responses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al </a:t>
            </a:r>
            <a:r>
              <a:rPr lang="es-MX" dirty="0" err="1" smtClean="0"/>
              <a:t>elevational</a:t>
            </a:r>
            <a:r>
              <a:rPr lang="es-MX" dirty="0" smtClean="0"/>
              <a:t> </a:t>
            </a:r>
            <a:r>
              <a:rPr lang="es-MX" dirty="0" err="1" smtClean="0"/>
              <a:t>gradient</a:t>
            </a:r>
            <a:r>
              <a:rPr lang="es-MX" dirty="0" smtClean="0"/>
              <a:t> (temperatura and N-</a:t>
            </a:r>
            <a:r>
              <a:rPr lang="es-MX" dirty="0" err="1" smtClean="0"/>
              <a:t>limitation</a:t>
            </a:r>
            <a:r>
              <a:rPr lang="es-MX" dirty="0" smtClean="0"/>
              <a:t>)?</a:t>
            </a:r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sz="4800" dirty="0" smtClean="0">
                <a:latin typeface="+mj-lt"/>
              </a:rPr>
              <a:t>Ho:</a:t>
            </a:r>
          </a:p>
          <a:p>
            <a:pPr marL="0" indent="0">
              <a:buNone/>
            </a:pPr>
            <a:r>
              <a:rPr lang="es-MX" dirty="0" err="1" smtClean="0"/>
              <a:t>Nutrients</a:t>
            </a:r>
            <a:r>
              <a:rPr lang="es-MX" dirty="0" smtClean="0"/>
              <a:t> </a:t>
            </a:r>
            <a:r>
              <a:rPr lang="es-MX" dirty="0" err="1" smtClean="0"/>
              <a:t>will</a:t>
            </a:r>
            <a:r>
              <a:rPr lang="es-MX" dirty="0" smtClean="0"/>
              <a:t> </a:t>
            </a:r>
            <a:r>
              <a:rPr lang="es-MX" dirty="0" err="1" smtClean="0"/>
              <a:t>have</a:t>
            </a:r>
            <a:r>
              <a:rPr lang="es-MX" dirty="0" smtClean="0"/>
              <a:t> </a:t>
            </a:r>
            <a:r>
              <a:rPr lang="es-MX" dirty="0" err="1" smtClean="0"/>
              <a:t>an</a:t>
            </a:r>
            <a:r>
              <a:rPr lang="es-MX" dirty="0" smtClean="0"/>
              <a:t> </a:t>
            </a:r>
            <a:r>
              <a:rPr lang="es-MX" dirty="0" err="1" smtClean="0"/>
              <a:t>effect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</a:t>
            </a:r>
            <a:r>
              <a:rPr lang="es-MX" dirty="0" err="1" smtClean="0"/>
              <a:t>photosyntethic</a:t>
            </a:r>
            <a:r>
              <a:rPr lang="es-MX" dirty="0" smtClean="0"/>
              <a:t> </a:t>
            </a:r>
            <a:r>
              <a:rPr lang="es-MX" dirty="0" err="1" smtClean="0"/>
              <a:t>capacity</a:t>
            </a:r>
            <a:r>
              <a:rPr lang="es-MX" dirty="0" smtClean="0"/>
              <a:t> to </a:t>
            </a:r>
            <a:r>
              <a:rPr lang="es-MX" dirty="0" err="1" smtClean="0"/>
              <a:t>increase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specially</a:t>
            </a:r>
            <a:r>
              <a:rPr lang="es-MX" dirty="0" smtClean="0"/>
              <a:t> in N </a:t>
            </a:r>
            <a:r>
              <a:rPr lang="es-MX" dirty="0" err="1" smtClean="0"/>
              <a:t>limited</a:t>
            </a:r>
            <a:r>
              <a:rPr lang="es-MX" dirty="0" smtClean="0"/>
              <a:t> </a:t>
            </a:r>
            <a:r>
              <a:rPr lang="es-MX" dirty="0" err="1" smtClean="0"/>
              <a:t>areas</a:t>
            </a:r>
            <a:r>
              <a:rPr lang="es-MX" dirty="0" smtClean="0"/>
              <a:t> (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).</a:t>
            </a:r>
          </a:p>
          <a:p>
            <a:pPr marL="0" indent="0">
              <a:buNone/>
            </a:pPr>
            <a:r>
              <a:rPr lang="es-MX" sz="2400" dirty="0" smtClean="0"/>
              <a:t>- </a:t>
            </a:r>
            <a:r>
              <a:rPr lang="es-MX" sz="2400" dirty="0" err="1" smtClean="0"/>
              <a:t>Nitrogen</a:t>
            </a:r>
            <a:r>
              <a:rPr lang="es-MX" sz="2400" dirty="0" smtClean="0"/>
              <a:t> </a:t>
            </a:r>
            <a:r>
              <a:rPr lang="es-MX" sz="2400" dirty="0" err="1" smtClean="0"/>
              <a:t>addition</a:t>
            </a:r>
            <a:r>
              <a:rPr lang="es-MX" sz="2400" dirty="0" smtClean="0"/>
              <a:t> </a:t>
            </a:r>
            <a:r>
              <a:rPr lang="es-MX" sz="2400" dirty="0" err="1" smtClean="0"/>
              <a:t>decreases</a:t>
            </a:r>
            <a:r>
              <a:rPr lang="es-MX" sz="2400" dirty="0" smtClean="0"/>
              <a:t> </a:t>
            </a:r>
            <a:r>
              <a:rPr lang="es-MX" sz="2400" dirty="0" err="1" smtClean="0"/>
              <a:t>iWUE</a:t>
            </a:r>
            <a:r>
              <a:rPr lang="es-MX" sz="2400" dirty="0" smtClean="0"/>
              <a:t> </a:t>
            </a:r>
            <a:r>
              <a:rPr lang="es-MX" sz="2400" dirty="0" err="1" smtClean="0"/>
              <a:t>on</a:t>
            </a:r>
            <a:r>
              <a:rPr lang="es-MX" sz="2400" dirty="0" smtClean="0"/>
              <a:t> P-</a:t>
            </a:r>
            <a:r>
              <a:rPr lang="es-MX" sz="2400" dirty="0" err="1" smtClean="0"/>
              <a:t>limitated</a:t>
            </a:r>
            <a:r>
              <a:rPr lang="es-MX" sz="2400" dirty="0" smtClean="0"/>
              <a:t> </a:t>
            </a:r>
            <a:r>
              <a:rPr lang="es-MX" sz="2400" dirty="0" err="1" smtClean="0"/>
              <a:t>areas</a:t>
            </a:r>
            <a:r>
              <a:rPr lang="es-MX" sz="2400" dirty="0" smtClean="0"/>
              <a:t> (</a:t>
            </a:r>
            <a:r>
              <a:rPr lang="es-MX" sz="2400" dirty="0" err="1" smtClean="0"/>
              <a:t>Huang</a:t>
            </a:r>
            <a:r>
              <a:rPr lang="es-MX" sz="2400" dirty="0" smtClean="0"/>
              <a:t> et al, 2016).</a:t>
            </a:r>
          </a:p>
          <a:p>
            <a:pPr marL="0" indent="0" algn="just">
              <a:buNone/>
            </a:pPr>
            <a:r>
              <a:rPr lang="es-MX" dirty="0" smtClean="0"/>
              <a:t>- </a:t>
            </a:r>
            <a:r>
              <a:rPr lang="es-MX" dirty="0" err="1" smtClean="0"/>
              <a:t>Increase</a:t>
            </a:r>
            <a:r>
              <a:rPr lang="es-MX" dirty="0" smtClean="0"/>
              <a:t> of </a:t>
            </a:r>
            <a:r>
              <a:rPr lang="es-MX" dirty="0" err="1" smtClean="0"/>
              <a:t>water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N </a:t>
            </a:r>
            <a:r>
              <a:rPr lang="en-US" dirty="0"/>
              <a:t>→</a:t>
            </a:r>
            <a:r>
              <a:rPr lang="es-MX" dirty="0" smtClean="0"/>
              <a:t> more </a:t>
            </a:r>
            <a:r>
              <a:rPr lang="es-MX" dirty="0" err="1" smtClean="0"/>
              <a:t>enrichment</a:t>
            </a:r>
            <a:r>
              <a:rPr lang="es-MX" dirty="0"/>
              <a:t> </a:t>
            </a:r>
            <a:r>
              <a:rPr lang="es-MX" dirty="0" smtClean="0"/>
              <a:t>of dO18.</a:t>
            </a:r>
          </a:p>
        </p:txBody>
      </p:sp>
    </p:spTree>
    <p:extLst>
      <p:ext uri="{BB962C8B-B14F-4D97-AF65-F5344CB8AC3E}">
        <p14:creationId xmlns:p14="http://schemas.microsoft.com/office/powerpoint/2010/main" val="1226002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10738104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l="25004" t="34055" r="17929" b="285"/>
          <a:stretch/>
        </p:blipFill>
        <p:spPr>
          <a:xfrm>
            <a:off x="-178269" y="0"/>
            <a:ext cx="7067042" cy="433351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18539" t="37341" r="15541" b="3055"/>
          <a:stretch/>
        </p:blipFill>
        <p:spPr>
          <a:xfrm>
            <a:off x="5263896" y="3352816"/>
            <a:ext cx="6818612" cy="3285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2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1025777"/>
              </p:ext>
            </p:extLst>
          </p:nvPr>
        </p:nvGraphicFramePr>
        <p:xfrm>
          <a:off x="838200" y="3429000"/>
          <a:ext cx="10515600" cy="2956560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94903321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668391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004635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810387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998413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4496770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C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NxP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108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/>
                      <a:r>
                        <a:rPr lang="en-US" dirty="0" smtClean="0">
                          <a:effectLst/>
                        </a:rPr>
                        <a:t>elevation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s-MX" dirty="0" smtClean="0">
                          <a:effectLst/>
                        </a:rPr>
                        <a:t>especie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03848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 dirty="0">
                          <a:effectLst/>
                        </a:rPr>
                        <a:t>1000</a:t>
                      </a:r>
                      <a:endParaRPr lang="en-US" b="0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Clarisia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racemosa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6505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Pouteria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torta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1823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2000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Alchornea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lojaensis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9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73581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Myrcia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sp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nov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1439957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3000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Hedyosmun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purpurascens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67053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Weinmania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loxensis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84022532"/>
                  </a:ext>
                </a:extLst>
              </a:tr>
            </a:tbl>
          </a:graphicData>
        </a:graphic>
      </p:graphicFrame>
      <p:sp>
        <p:nvSpPr>
          <p:cNvPr id="3" name="Títu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620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5617821"/>
              </p:ext>
            </p:extLst>
          </p:nvPr>
        </p:nvGraphicFramePr>
        <p:xfrm>
          <a:off x="762545" y="365123"/>
          <a:ext cx="10591254" cy="5833827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7649">
                  <a:extLst>
                    <a:ext uri="{9D8B030D-6E8A-4147-A177-3AD203B41FA5}">
                      <a16:colId xmlns:a16="http://schemas.microsoft.com/office/drawing/2014/main" val="1260707580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3014617345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122999024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395690583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4618305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2323033093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1466050227"/>
                    </a:ext>
                  </a:extLst>
                </a:gridCol>
                <a:gridCol w="319927">
                  <a:extLst>
                    <a:ext uri="{9D8B030D-6E8A-4147-A177-3AD203B41FA5}">
                      <a16:colId xmlns:a16="http://schemas.microsoft.com/office/drawing/2014/main" val="287235157"/>
                    </a:ext>
                  </a:extLst>
                </a:gridCol>
                <a:gridCol w="277831">
                  <a:extLst>
                    <a:ext uri="{9D8B030D-6E8A-4147-A177-3AD203B41FA5}">
                      <a16:colId xmlns:a16="http://schemas.microsoft.com/office/drawing/2014/main" val="654398700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2341519040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1825801233"/>
                    </a:ext>
                  </a:extLst>
                </a:gridCol>
                <a:gridCol w="446214">
                  <a:extLst>
                    <a:ext uri="{9D8B030D-6E8A-4147-A177-3AD203B41FA5}">
                      <a16:colId xmlns:a16="http://schemas.microsoft.com/office/drawing/2014/main" val="3162057198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7415789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06968907"/>
                    </a:ext>
                  </a:extLst>
                </a:gridCol>
                <a:gridCol w="429376">
                  <a:extLst>
                    <a:ext uri="{9D8B030D-6E8A-4147-A177-3AD203B41FA5}">
                      <a16:colId xmlns:a16="http://schemas.microsoft.com/office/drawing/2014/main" val="620438944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3114154374"/>
                    </a:ext>
                  </a:extLst>
                </a:gridCol>
                <a:gridCol w="336765">
                  <a:extLst>
                    <a:ext uri="{9D8B030D-6E8A-4147-A177-3AD203B41FA5}">
                      <a16:colId xmlns:a16="http://schemas.microsoft.com/office/drawing/2014/main" val="2445696992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88218582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824080515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211996215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1292124080"/>
                    </a:ext>
                  </a:extLst>
                </a:gridCol>
                <a:gridCol w="345185">
                  <a:extLst>
                    <a:ext uri="{9D8B030D-6E8A-4147-A177-3AD203B41FA5}">
                      <a16:colId xmlns:a16="http://schemas.microsoft.com/office/drawing/2014/main" val="765330943"/>
                    </a:ext>
                  </a:extLst>
                </a:gridCol>
                <a:gridCol w="437794">
                  <a:extLst>
                    <a:ext uri="{9D8B030D-6E8A-4147-A177-3AD203B41FA5}">
                      <a16:colId xmlns:a16="http://schemas.microsoft.com/office/drawing/2014/main" val="790748895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809095449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4135441283"/>
                    </a:ext>
                  </a:extLst>
                </a:gridCol>
                <a:gridCol w="362022">
                  <a:extLst>
                    <a:ext uri="{9D8B030D-6E8A-4147-A177-3AD203B41FA5}">
                      <a16:colId xmlns:a16="http://schemas.microsoft.com/office/drawing/2014/main" val="363667891"/>
                    </a:ext>
                  </a:extLst>
                </a:gridCol>
              </a:tblGrid>
              <a:tr h="1552060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δ18</a:t>
                      </a:r>
                      <a:r>
                        <a:rPr lang="en-US" sz="1000" u="none" strike="noStrike" dirty="0">
                          <a:effectLst/>
                        </a:rPr>
                        <a:t>O in ‰ vs </a:t>
                      </a:r>
                      <a:r>
                        <a:rPr lang="en-US" sz="1000" u="none" strike="noStrike" dirty="0" err="1">
                          <a:effectLst/>
                        </a:rPr>
                        <a:t>DeltaSMOW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δ13</a:t>
                      </a:r>
                      <a:r>
                        <a:rPr lang="en-US" sz="1000" u="none" strike="noStrike" dirty="0">
                          <a:effectLst/>
                        </a:rPr>
                        <a:t>C (‰ </a:t>
                      </a:r>
                      <a:r>
                        <a:rPr lang="en-US" sz="1000" u="none" strike="noStrike" dirty="0" err="1">
                          <a:effectLst/>
                        </a:rPr>
                        <a:t>v.s.V</a:t>
                      </a:r>
                      <a:r>
                        <a:rPr lang="en-US" sz="1000" u="none" strike="noStrike" dirty="0">
                          <a:effectLst/>
                        </a:rPr>
                        <a:t>-PDB)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force to punch (</a:t>
                      </a:r>
                      <a:r>
                        <a:rPr lang="en-US" sz="1000" u="none" strike="noStrike" dirty="0" err="1">
                          <a:effectLst/>
                        </a:rPr>
                        <a:t>kN</a:t>
                      </a:r>
                      <a:r>
                        <a:rPr lang="en-US" sz="1000" u="none" strike="noStrike" dirty="0">
                          <a:effectLst/>
                        </a:rPr>
                        <a:t>/m)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thickness (mm)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area (cm²)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dry matter content (mg/g)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iWUE (</a:t>
                      </a:r>
                      <a:r>
                        <a:rPr lang="el-GR" sz="1000" u="none" strike="noStrike">
                          <a:effectLst/>
                        </a:rPr>
                        <a:t>μ</a:t>
                      </a:r>
                      <a:r>
                        <a:rPr lang="en-US" sz="1000" u="none" strike="noStrike">
                          <a:effectLst/>
                        </a:rPr>
                        <a:t>mol/mol)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Specific leaf area (g/cm²)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water content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C:N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5269"/>
                  </a:ext>
                </a:extLst>
              </a:tr>
              <a:tr h="301816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mean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extLst>
                  <a:ext uri="{0D108BD9-81ED-4DB2-BD59-A6C34878D82A}">
                    <a16:rowId xmlns:a16="http://schemas.microsoft.com/office/drawing/2014/main" val="422975863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lojaensis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29.67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148.92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106.54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1485054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208.63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436.5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56520708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526.3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151.86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443.24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46.75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6816555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569.4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157.74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445.05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99.32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48929426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racemosa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252.02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92.05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88459054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112.1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30525007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461.81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48.44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0.54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759860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452.38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8850591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purpurascens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276.6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102.66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68.88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6408996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294.3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117.09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303.57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108.64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25.77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79913873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-24.85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263.47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128.58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2.81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15414981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97.78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248.34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25953804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nov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89.53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51.73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1849673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465.81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47.43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0705285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241.41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4.16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506083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144.57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467.3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2631194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torta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423.28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14456944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393.07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567.65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77.51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2652607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498.3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74707092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289.8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497.57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99016248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loxensis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47345336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484.91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63.86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86.06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69.55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6.51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0.96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7783800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73.08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547355019"/>
                  </a:ext>
                </a:extLst>
              </a:tr>
              <a:tr h="1733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987730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474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5609165"/>
              </p:ext>
            </p:extLst>
          </p:nvPr>
        </p:nvGraphicFramePr>
        <p:xfrm>
          <a:off x="1229678" y="966209"/>
          <a:ext cx="9062715" cy="5613519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693507">
                  <a:extLst>
                    <a:ext uri="{9D8B030D-6E8A-4147-A177-3AD203B41FA5}">
                      <a16:colId xmlns:a16="http://schemas.microsoft.com/office/drawing/2014/main" val="174174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57136366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746265573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38486189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6785360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2888116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422561641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6694385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65802909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5246873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810213277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105762151"/>
                    </a:ext>
                  </a:extLst>
                </a:gridCol>
              </a:tblGrid>
              <a:tr h="374493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 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δ15</a:t>
                      </a:r>
                      <a:r>
                        <a:rPr lang="en-US" sz="1200" b="1" u="none" strike="noStrike" dirty="0">
                          <a:effectLst/>
                        </a:rPr>
                        <a:t>N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v.s.AIR</a:t>
                      </a:r>
                      <a:r>
                        <a:rPr lang="en-US" sz="1200" b="1" u="none" strike="noStrike" dirty="0">
                          <a:effectLst/>
                        </a:rPr>
                        <a:t>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>
                          <a:effectLst/>
                        </a:rPr>
                        <a:t>δ18</a:t>
                      </a:r>
                      <a:r>
                        <a:rPr lang="en-US" sz="1200" b="1" u="none" strike="noStrike">
                          <a:effectLst/>
                        </a:rPr>
                        <a:t>O in ‰ vs DeltaSMOW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δ13</a:t>
                      </a:r>
                      <a:r>
                        <a:rPr lang="en-US" sz="1200" b="1" u="none" strike="noStrike" dirty="0">
                          <a:effectLst/>
                        </a:rPr>
                        <a:t>C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v.s.V</a:t>
                      </a:r>
                      <a:r>
                        <a:rPr lang="en-US" sz="1200" b="1" u="none" strike="noStrike" dirty="0">
                          <a:effectLst/>
                        </a:rPr>
                        <a:t>-PDB)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>
                          <a:effectLst/>
                        </a:rPr>
                        <a:t>iWUE (</a:t>
                      </a:r>
                      <a:r>
                        <a:rPr lang="el-GR" sz="1200" b="1" u="none" strike="noStrike">
                          <a:effectLst/>
                        </a:rPr>
                        <a:t>μ</a:t>
                      </a:r>
                      <a:r>
                        <a:rPr lang="en-US" sz="1200" b="1" u="none" strike="noStrike">
                          <a:effectLst/>
                        </a:rPr>
                        <a:t>mol/mol)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C:N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790655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>
                          <a:effectLst/>
                        </a:rPr>
                        <a:t> 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 err="1">
                          <a:effectLst/>
                        </a:rPr>
                        <a:t>std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extLst>
                  <a:ext uri="{0D108BD9-81ED-4DB2-BD59-A6C34878D82A}">
                    <a16:rowId xmlns:a16="http://schemas.microsoft.com/office/drawing/2014/main" val="4048178396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414485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lojaensis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29.67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93.16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43.02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6.87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48268045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92.47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4.76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6166008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1587598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86.5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44.34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0670479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racemosa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42.6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24.51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79214871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31.23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3113129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0.36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047145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7024077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purpurascens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89.58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79844766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1.99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95.09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6224594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-24.85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113.48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8118301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1.59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19.44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250847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nov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77.47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09465452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84.24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11.28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671767005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30.97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12.23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4.16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7898775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8.12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58.04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488563849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torta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-31.55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31.55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30093120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-30.37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1.83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45.8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30.55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0018246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16.66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29.27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90055933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34.72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28.9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2.18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66813900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loxensis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78.64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43.15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5.79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4690240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26.46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74.27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0357268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-29.03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62.3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41.18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0.31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116460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-28.38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1.13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70.28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5.19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288263570"/>
                  </a:ext>
                </a:extLst>
              </a:tr>
            </a:tbl>
          </a:graphicData>
        </a:graphic>
      </p:graphicFrame>
      <p:sp>
        <p:nvSpPr>
          <p:cNvPr id="2" name="CuadroTexto 1"/>
          <p:cNvSpPr txBox="1"/>
          <p:nvPr/>
        </p:nvSpPr>
        <p:spPr>
          <a:xfrm>
            <a:off x="1436914" y="317241"/>
            <a:ext cx="8957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b="1" dirty="0" err="1" smtClean="0"/>
              <a:t>Summary</a:t>
            </a:r>
            <a:r>
              <a:rPr lang="es-MX" sz="2800" b="1" dirty="0" smtClean="0"/>
              <a:t> of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response variables </a:t>
            </a:r>
            <a:r>
              <a:rPr lang="es-MX" sz="2800" b="1" dirty="0" err="1" smtClean="0"/>
              <a:t>analyzed</a:t>
            </a:r>
            <a:r>
              <a:rPr lang="es-MX" sz="2800" b="1" dirty="0" smtClean="0"/>
              <a:t> to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date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290047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SPECIE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ran</a:t>
            </a:r>
            <a:r>
              <a:rPr lang="es-MX" dirty="0" smtClean="0"/>
              <a:t> ANOVA </a:t>
            </a:r>
            <a:r>
              <a:rPr lang="es-MX" dirty="0" err="1" smtClean="0"/>
              <a:t>interaction</a:t>
            </a:r>
            <a:r>
              <a:rPr lang="es-MX" dirty="0" smtClean="0"/>
              <a:t> </a:t>
            </a:r>
            <a:r>
              <a:rPr lang="es-MX" dirty="0" err="1" smtClean="0"/>
              <a:t>tests</a:t>
            </a:r>
            <a:r>
              <a:rPr lang="es-MX" dirty="0" smtClean="0"/>
              <a:t> per </a:t>
            </a:r>
            <a:r>
              <a:rPr lang="es-MX" dirty="0" err="1" smtClean="0"/>
              <a:t>species</a:t>
            </a:r>
            <a:r>
              <a:rPr lang="es-MX" dirty="0" smtClean="0"/>
              <a:t> – </a:t>
            </a:r>
            <a:r>
              <a:rPr lang="es-MX" dirty="0" err="1" smtClean="0"/>
              <a:t>not</a:t>
            </a:r>
            <a:r>
              <a:rPr lang="es-MX" dirty="0" smtClean="0"/>
              <a:t> </a:t>
            </a:r>
            <a:r>
              <a:rPr lang="es-MX" dirty="0" err="1" smtClean="0"/>
              <a:t>showed</a:t>
            </a:r>
            <a:r>
              <a:rPr lang="es-MX" dirty="0" smtClean="0"/>
              <a:t>- </a:t>
            </a:r>
            <a:r>
              <a:rPr lang="es-MX" dirty="0" err="1" smtClean="0"/>
              <a:t>but</a:t>
            </a:r>
            <a:r>
              <a:rPr lang="es-MX" dirty="0" smtClean="0"/>
              <a:t> </a:t>
            </a:r>
            <a:r>
              <a:rPr lang="es-MX" dirty="0" err="1" smtClean="0"/>
              <a:t>decided</a:t>
            </a:r>
            <a:r>
              <a:rPr lang="es-MX" dirty="0" smtClean="0"/>
              <a:t> to </a:t>
            </a:r>
            <a:r>
              <a:rPr lang="es-MX" dirty="0" err="1" smtClean="0"/>
              <a:t>go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glmm</a:t>
            </a:r>
            <a:r>
              <a:rPr lang="es-MX" dirty="0" smtClean="0"/>
              <a:t> </a:t>
            </a:r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their</a:t>
            </a:r>
            <a:r>
              <a:rPr lang="es-MX" dirty="0" smtClean="0"/>
              <a:t> </a:t>
            </a:r>
            <a:r>
              <a:rPr lang="es-MX" dirty="0" err="1" smtClean="0"/>
              <a:t>statistic</a:t>
            </a:r>
            <a:r>
              <a:rPr lang="es-MX" dirty="0" smtClean="0"/>
              <a:t> </a:t>
            </a:r>
            <a:r>
              <a:rPr lang="es-MX" dirty="0" err="1" smtClean="0"/>
              <a:t>power</a:t>
            </a:r>
            <a:r>
              <a:rPr lang="es-MX" dirty="0" smtClean="0"/>
              <a:t>. </a:t>
            </a:r>
          </a:p>
          <a:p>
            <a:endParaRPr lang="es-MX" dirty="0" smtClean="0"/>
          </a:p>
          <a:p>
            <a:pPr marL="0" indent="0">
              <a:buNone/>
            </a:pPr>
            <a:r>
              <a:rPr lang="es-MX" sz="4000" dirty="0" err="1" smtClean="0">
                <a:solidFill>
                  <a:schemeClr val="accent1"/>
                </a:solidFill>
              </a:rPr>
              <a:t>lmer</a:t>
            </a:r>
            <a:r>
              <a:rPr lang="es-MX" sz="4000" dirty="0" smtClean="0">
                <a:solidFill>
                  <a:schemeClr val="accent1"/>
                </a:solidFill>
              </a:rPr>
              <a:t>(Response </a:t>
            </a:r>
            <a:r>
              <a:rPr lang="es-MX" sz="4000" dirty="0">
                <a:solidFill>
                  <a:schemeClr val="accent1"/>
                </a:solidFill>
              </a:rPr>
              <a:t>variable~ N * P + (1 | </a:t>
            </a:r>
            <a:r>
              <a:rPr lang="es-MX" sz="4000" dirty="0" smtClean="0">
                <a:solidFill>
                  <a:schemeClr val="accent1"/>
                </a:solidFill>
              </a:rPr>
              <a:t>Block))</a:t>
            </a:r>
          </a:p>
          <a:p>
            <a:pPr marL="0" indent="0">
              <a:buNone/>
            </a:pPr>
            <a:endParaRPr lang="es-MX" sz="4000" b="1" dirty="0">
              <a:solidFill>
                <a:schemeClr val="accent1"/>
              </a:solidFill>
            </a:endParaRPr>
          </a:p>
          <a:p>
            <a:r>
              <a:rPr lang="es-MX" b="1" dirty="0" smtClean="0"/>
              <a:t>Q-Q </a:t>
            </a:r>
            <a:r>
              <a:rPr lang="es-MX" b="1" dirty="0" err="1" smtClean="0"/>
              <a:t>plots</a:t>
            </a:r>
            <a:r>
              <a:rPr lang="es-MX" b="1" dirty="0" smtClean="0"/>
              <a:t> </a:t>
            </a:r>
            <a:r>
              <a:rPr lang="es-MX" b="1" dirty="0" err="1" smtClean="0"/>
              <a:t>evaluation</a:t>
            </a:r>
            <a:r>
              <a:rPr lang="es-MX" b="1" dirty="0" smtClean="0"/>
              <a:t> </a:t>
            </a:r>
            <a:r>
              <a:rPr lang="es-MX" b="1" dirty="0" err="1" smtClean="0"/>
              <a:t>but</a:t>
            </a:r>
            <a:r>
              <a:rPr lang="es-MX" b="1" dirty="0" smtClean="0"/>
              <a:t> </a:t>
            </a:r>
            <a:r>
              <a:rPr lang="es-MX" b="1" dirty="0" err="1" smtClean="0"/>
              <a:t>also</a:t>
            </a:r>
            <a:r>
              <a:rPr lang="es-MX" b="1" dirty="0" smtClean="0"/>
              <a:t> </a:t>
            </a:r>
            <a:r>
              <a:rPr lang="es-MX" b="1" dirty="0" err="1" smtClean="0"/>
              <a:t>integrating</a:t>
            </a:r>
            <a:r>
              <a:rPr lang="es-MX" b="1" dirty="0" smtClean="0"/>
              <a:t> </a:t>
            </a:r>
            <a:r>
              <a:rPr lang="es-MX" b="1" dirty="0" err="1" smtClean="0"/>
              <a:t>DHARMa</a:t>
            </a:r>
            <a:r>
              <a:rPr lang="es-MX" b="1" dirty="0" smtClean="0"/>
              <a:t> </a:t>
            </a:r>
            <a:r>
              <a:rPr lang="es-MX" b="1" dirty="0" err="1" smtClean="0"/>
              <a:t>analysis</a:t>
            </a:r>
            <a:r>
              <a:rPr lang="es-MX" b="1" dirty="0" smtClean="0"/>
              <a:t>- more </a:t>
            </a:r>
            <a:r>
              <a:rPr lang="es-MX" b="1" dirty="0" err="1" smtClean="0"/>
              <a:t>strict</a:t>
            </a:r>
            <a:r>
              <a:rPr lang="es-MX" b="1" dirty="0" smtClean="0"/>
              <a:t>. </a:t>
            </a:r>
            <a:endParaRPr lang="es-MX" dirty="0" smtClean="0"/>
          </a:p>
        </p:txBody>
      </p:sp>
    </p:spTree>
    <p:extLst>
      <p:ext uri="{BB962C8B-B14F-4D97-AF65-F5344CB8AC3E}">
        <p14:creationId xmlns:p14="http://schemas.microsoft.com/office/powerpoint/2010/main" val="4267299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978308"/>
            <a:ext cx="5758747" cy="4725690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8230580" y="1570698"/>
            <a:ext cx="18461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* </a:t>
            </a:r>
            <a:r>
              <a:rPr lang="es-MX" dirty="0" smtClean="0"/>
              <a:t>            *     *     *</a:t>
            </a:r>
            <a:endParaRPr lang="en-US" dirty="0"/>
          </a:p>
          <a:p>
            <a:endParaRPr lang="en-US" dirty="0"/>
          </a:p>
          <a:p>
            <a:r>
              <a:rPr lang="es-MX" dirty="0" smtClean="0"/>
              <a:t>                 </a:t>
            </a:r>
            <a:endParaRPr lang="en-US" dirty="0"/>
          </a:p>
        </p:txBody>
      </p:sp>
      <p:sp>
        <p:nvSpPr>
          <p:cNvPr id="25" name="CuadroTexto 24"/>
          <p:cNvSpPr txBox="1"/>
          <p:nvPr/>
        </p:nvSpPr>
        <p:spPr>
          <a:xfrm>
            <a:off x="7784296" y="3545015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302" y="978307"/>
            <a:ext cx="5745197" cy="4714570"/>
          </a:xfrm>
          <a:prstGeom prst="rect">
            <a:avLst/>
          </a:prstGeom>
        </p:spPr>
      </p:pic>
      <p:sp>
        <p:nvSpPr>
          <p:cNvPr id="8" name="CuadroTexto 7"/>
          <p:cNvSpPr txBox="1"/>
          <p:nvPr/>
        </p:nvSpPr>
        <p:spPr>
          <a:xfrm>
            <a:off x="9054574" y="3545015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9" name="CuadroTexto 8"/>
          <p:cNvSpPr txBox="1"/>
          <p:nvPr/>
        </p:nvSpPr>
        <p:spPr>
          <a:xfrm>
            <a:off x="10687268" y="1375626"/>
            <a:ext cx="18461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* </a:t>
            </a:r>
            <a:r>
              <a:rPr lang="es-MX" dirty="0" smtClean="0"/>
              <a:t>            *</a:t>
            </a:r>
            <a:endParaRPr lang="en-US" dirty="0"/>
          </a:p>
          <a:p>
            <a:endParaRPr lang="en-US" dirty="0"/>
          </a:p>
          <a:p>
            <a:r>
              <a:rPr lang="es-MX" dirty="0" smtClean="0"/>
              <a:t>              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233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681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195754"/>
            <a:ext cx="10515600" cy="1325563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4295" y="3855770"/>
            <a:ext cx="3423464" cy="2805762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838200" y="365125"/>
            <a:ext cx="4309872" cy="40289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 err="1" smtClean="0"/>
              <a:t>Additional</a:t>
            </a:r>
            <a:r>
              <a:rPr lang="es-MX" dirty="0" smtClean="0"/>
              <a:t> – </a:t>
            </a:r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morpho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 </a:t>
            </a:r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64" y="937394"/>
            <a:ext cx="3631895" cy="298037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2114" y="846329"/>
            <a:ext cx="3676650" cy="300944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114" y="3759321"/>
            <a:ext cx="3654181" cy="2998660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738" y="858535"/>
            <a:ext cx="3534912" cy="2900786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4930" y="3759321"/>
            <a:ext cx="3572527" cy="2931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5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614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154680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017" y="149290"/>
            <a:ext cx="6708710" cy="6708710"/>
          </a:xfrm>
        </p:spPr>
      </p:pic>
    </p:spTree>
    <p:extLst>
      <p:ext uri="{BB962C8B-B14F-4D97-AF65-F5344CB8AC3E}">
        <p14:creationId xmlns:p14="http://schemas.microsoft.com/office/powerpoint/2010/main" val="1525889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68" y="1096447"/>
            <a:ext cx="11220450" cy="5162550"/>
          </a:xfrm>
          <a:prstGeom prst="rect">
            <a:avLst/>
          </a:prstGeom>
        </p:spPr>
      </p:pic>
      <p:sp>
        <p:nvSpPr>
          <p:cNvPr id="9" name="Rectángulo 8"/>
          <p:cNvSpPr/>
          <p:nvPr/>
        </p:nvSpPr>
        <p:spPr>
          <a:xfrm>
            <a:off x="-144379" y="4764505"/>
            <a:ext cx="1179095" cy="20453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ángulo 1"/>
          <p:cNvSpPr/>
          <p:nvPr/>
        </p:nvSpPr>
        <p:spPr>
          <a:xfrm>
            <a:off x="1885490" y="382262"/>
            <a:ext cx="4763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N * P 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2145656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EACH ELEVATION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MX" sz="3600" dirty="0" err="1" smtClean="0">
                <a:solidFill>
                  <a:schemeClr val="accent1"/>
                </a:solidFill>
              </a:rPr>
              <a:t>lmer</a:t>
            </a:r>
            <a:r>
              <a:rPr lang="es-MX" sz="3600" dirty="0" smtClean="0">
                <a:solidFill>
                  <a:schemeClr val="accent1"/>
                </a:solidFill>
              </a:rPr>
              <a:t>(Response </a:t>
            </a:r>
            <a:r>
              <a:rPr lang="es-MX" sz="3600" dirty="0">
                <a:solidFill>
                  <a:schemeClr val="accent1"/>
                </a:solidFill>
              </a:rPr>
              <a:t>variable~ </a:t>
            </a:r>
            <a:r>
              <a:rPr lang="es-MX" sz="3600" dirty="0" smtClean="0">
                <a:solidFill>
                  <a:schemeClr val="accent1"/>
                </a:solidFill>
              </a:rPr>
              <a:t>N </a:t>
            </a:r>
            <a:r>
              <a:rPr lang="es-MX" sz="3600" dirty="0">
                <a:solidFill>
                  <a:schemeClr val="accent1"/>
                </a:solidFill>
              </a:rPr>
              <a:t>* P + (1 | </a:t>
            </a:r>
            <a:r>
              <a:rPr lang="es-MX" sz="3600" dirty="0" err="1" smtClean="0">
                <a:solidFill>
                  <a:srgbClr val="FF0000"/>
                </a:solidFill>
              </a:rPr>
              <a:t>specie</a:t>
            </a:r>
            <a:r>
              <a:rPr lang="es-MX" sz="3600" dirty="0" smtClean="0">
                <a:solidFill>
                  <a:schemeClr val="accent1"/>
                </a:solidFill>
              </a:rPr>
              <a:t>)+ (</a:t>
            </a:r>
            <a:r>
              <a:rPr lang="es-MX" sz="3600" dirty="0">
                <a:solidFill>
                  <a:schemeClr val="accent1"/>
                </a:solidFill>
              </a:rPr>
              <a:t>1 | Block/</a:t>
            </a:r>
            <a:r>
              <a:rPr lang="es-MX" sz="3600" dirty="0" err="1">
                <a:solidFill>
                  <a:schemeClr val="accent1"/>
                </a:solidFill>
              </a:rPr>
              <a:t>Plot</a:t>
            </a:r>
            <a:r>
              <a:rPr lang="es-MX" sz="3600" dirty="0" smtClean="0">
                <a:solidFill>
                  <a:schemeClr val="accent1"/>
                </a:solidFill>
              </a:rPr>
              <a:t>)). </a:t>
            </a:r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only</a:t>
            </a:r>
            <a:r>
              <a:rPr lang="es-MX" dirty="0" smtClean="0"/>
              <a:t> </a:t>
            </a:r>
            <a:r>
              <a:rPr lang="es-MX" dirty="0" err="1" smtClean="0"/>
              <a:t>two</a:t>
            </a:r>
            <a:r>
              <a:rPr lang="es-MX" dirty="0" smtClean="0"/>
              <a:t> per </a:t>
            </a:r>
            <a:r>
              <a:rPr lang="es-MX" dirty="0" err="1" smtClean="0"/>
              <a:t>elevation</a:t>
            </a:r>
            <a:r>
              <a:rPr lang="es-MX" dirty="0" smtClean="0"/>
              <a:t>.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too</a:t>
            </a:r>
            <a:r>
              <a:rPr lang="es-MX" dirty="0" smtClean="0"/>
              <a:t> </a:t>
            </a:r>
            <a:r>
              <a:rPr lang="es-MX" dirty="0" err="1" smtClean="0"/>
              <a:t>complex</a:t>
            </a:r>
            <a:r>
              <a:rPr lang="es-MX" smtClean="0"/>
              <a:t>. 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5885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28867" t="228" r="19776" b="96450"/>
          <a:stretch/>
        </p:blipFill>
        <p:spPr>
          <a:xfrm>
            <a:off x="186613" y="149290"/>
            <a:ext cx="5909388" cy="50385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-1" t="60533" r="49165" b="-1"/>
          <a:stretch/>
        </p:blipFill>
        <p:spPr>
          <a:xfrm>
            <a:off x="5915828" y="513184"/>
            <a:ext cx="6089559" cy="6231559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144" y="689024"/>
            <a:ext cx="5324856" cy="605571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3"/>
          <a:srcRect l="-1" t="57282" r="49165" b="38955"/>
          <a:stretch/>
        </p:blipFill>
        <p:spPr>
          <a:xfrm>
            <a:off x="6061617" y="648035"/>
            <a:ext cx="6089559" cy="594049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1712613" y="1972198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10" name="CuadroTexto 9"/>
          <p:cNvSpPr txBox="1"/>
          <p:nvPr/>
        </p:nvSpPr>
        <p:spPr>
          <a:xfrm>
            <a:off x="2361837" y="1985913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976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7719816"/>
              </p:ext>
            </p:extLst>
          </p:nvPr>
        </p:nvGraphicFramePr>
        <p:xfrm>
          <a:off x="411480" y="1920238"/>
          <a:ext cx="11247120" cy="348547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702945">
                  <a:extLst>
                    <a:ext uri="{9D8B030D-6E8A-4147-A177-3AD203B41FA5}">
                      <a16:colId xmlns:a16="http://schemas.microsoft.com/office/drawing/2014/main" val="180387934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69865729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97543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63251219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303248969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881854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682127306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2367976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1247363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55237168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04062662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69239992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380336270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02231915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99485010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792851195"/>
                    </a:ext>
                  </a:extLst>
                </a:gridCol>
              </a:tblGrid>
              <a:tr h="8713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term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name)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6098185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>
                          <a:effectLst/>
                        </a:rPr>
                        <a:t>statistic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std.error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340744877"/>
                  </a:ext>
                </a:extLst>
              </a:tr>
              <a:tr h="6535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r>
                        <a:rPr lang="en-US" sz="900" b="1" u="none" strike="noStrike" dirty="0">
                          <a:effectLst/>
                        </a:rPr>
                        <a:t> (</a:t>
                      </a:r>
                      <a:r>
                        <a:rPr lang="el-GR" sz="900" b="1" u="none" strike="noStrike" dirty="0">
                          <a:effectLst/>
                        </a:rPr>
                        <a:t>μ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/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)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96.643***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-11.665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-7.574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-7.851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14.668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-12.749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14.051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18.633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3.199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332.1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471620117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26.436***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-0.652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-1.205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1.196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143.2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761637330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98.039***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3.31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-5.619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-1.388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-2.517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-7.944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5.269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4.985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759.2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930081792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30.148***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-0.382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0.832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0.297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303.8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172725862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41.272***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-7.528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16.923*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-8.077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9.378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-8.299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-24.480*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6.473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14.983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7.592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396.7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39924430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29.272***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-0.565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1.777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203.5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503978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244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242818"/>
            <a:ext cx="5909388" cy="5098514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4"/>
          <a:srcRect l="51410" t="8718" r="-2766" b="47016"/>
          <a:stretch/>
        </p:blipFill>
        <p:spPr>
          <a:xfrm>
            <a:off x="186612" y="144403"/>
            <a:ext cx="5909388" cy="671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741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60" y="1985962"/>
            <a:ext cx="12172950" cy="2886075"/>
          </a:xfrm>
          <a:prstGeom prst="rect">
            <a:avLst/>
          </a:prstGeom>
        </p:spPr>
      </p:pic>
      <p:sp>
        <p:nvSpPr>
          <p:cNvPr id="9" name="Flecha derecha 8"/>
          <p:cNvSpPr/>
          <p:nvPr/>
        </p:nvSpPr>
        <p:spPr>
          <a:xfrm>
            <a:off x="-84221" y="4728411"/>
            <a:ext cx="240632" cy="192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17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“COMPLETE” MODEL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 err="1" smtClean="0">
                <a:solidFill>
                  <a:schemeClr val="accent1"/>
                </a:solidFill>
              </a:rPr>
              <a:t>lmer</a:t>
            </a:r>
            <a:r>
              <a:rPr lang="es-MX" dirty="0" smtClean="0">
                <a:solidFill>
                  <a:schemeClr val="accent1"/>
                </a:solidFill>
              </a:rPr>
              <a:t>(Response </a:t>
            </a:r>
            <a:r>
              <a:rPr lang="es-MX" dirty="0">
                <a:solidFill>
                  <a:schemeClr val="accent1"/>
                </a:solidFill>
              </a:rPr>
              <a:t>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+  </a:t>
            </a:r>
            <a:r>
              <a:rPr lang="es-MX" dirty="0">
                <a:solidFill>
                  <a:schemeClr val="accent1"/>
                </a:solidFill>
              </a:rPr>
              <a:t>(1 | </a:t>
            </a:r>
            <a:r>
              <a:rPr lang="es-MX" dirty="0" err="1" smtClean="0">
                <a:solidFill>
                  <a:schemeClr val="accent1"/>
                </a:solidFill>
              </a:rPr>
              <a:t>specie</a:t>
            </a:r>
            <a:r>
              <a:rPr lang="es-MX" dirty="0" smtClean="0">
                <a:solidFill>
                  <a:schemeClr val="accent1"/>
                </a:solidFill>
              </a:rPr>
              <a:t>)+ (</a:t>
            </a:r>
            <a:r>
              <a:rPr lang="es-MX" dirty="0">
                <a:solidFill>
                  <a:schemeClr val="accent1"/>
                </a:solidFill>
              </a:rPr>
              <a:t>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</a:t>
            </a:r>
            <a:r>
              <a:rPr lang="es-MX" dirty="0" smtClean="0">
                <a:solidFill>
                  <a:schemeClr val="accent1"/>
                </a:solidFill>
              </a:rPr>
              <a:t>(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>
                <a:solidFill>
                  <a:schemeClr val="accent1"/>
                </a:solidFill>
              </a:rPr>
              <a:t>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 smtClean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leaf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 err="1" smtClean="0">
                <a:solidFill>
                  <a:schemeClr val="accent1"/>
                </a:solidFill>
              </a:rPr>
              <a:t>traits</a:t>
            </a:r>
            <a:r>
              <a:rPr lang="es-MX" dirty="0" smtClean="0">
                <a:solidFill>
                  <a:schemeClr val="accent1"/>
                </a:solidFill>
              </a:rPr>
              <a:t>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(1 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and d18O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a </a:t>
            </a:r>
            <a:r>
              <a:rPr lang="es-MX" dirty="0" err="1" smtClean="0"/>
              <a:t>quadratic</a:t>
            </a:r>
            <a:r>
              <a:rPr lang="es-MX" dirty="0" smtClean="0"/>
              <a:t> factor </a:t>
            </a:r>
            <a:r>
              <a:rPr lang="es-MX" dirty="0" err="1" smtClean="0"/>
              <a:t>worked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best</a:t>
            </a:r>
            <a:r>
              <a:rPr lang="es-MX" dirty="0" smtClean="0"/>
              <a:t>.</a:t>
            </a:r>
          </a:p>
          <a:p>
            <a:r>
              <a:rPr lang="es-MX" dirty="0" smtClean="0"/>
              <a:t>A I </a:t>
            </a:r>
            <a:r>
              <a:rPr lang="es-MX" dirty="0" err="1" smtClean="0"/>
              <a:t>used</a:t>
            </a:r>
            <a:r>
              <a:rPr lang="es-MX" dirty="0" smtClean="0"/>
              <a:t> </a:t>
            </a:r>
            <a:r>
              <a:rPr lang="es-MX" dirty="0" err="1"/>
              <a:t>DHARMa</a:t>
            </a:r>
            <a:r>
              <a:rPr lang="es-MX" dirty="0"/>
              <a:t> </a:t>
            </a:r>
            <a:r>
              <a:rPr lang="es-MX" dirty="0" err="1"/>
              <a:t>package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smtClean="0"/>
              <a:t>diagnosis.</a:t>
            </a:r>
            <a:endParaRPr lang="es-MX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703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MODEL FOR ALL ELEVATIONS</a:t>
            </a:r>
            <a:endParaRPr lang="en-US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</p:nvPr>
        </p:nvGraphicFramePr>
        <p:xfrm>
          <a:off x="838200" y="3878558"/>
          <a:ext cx="10515600" cy="245472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554532596"/>
                    </a:ext>
                  </a:extLst>
                </a:gridCol>
              </a:tblGrid>
              <a:tr h="242860">
                <a:tc>
                  <a:txBody>
                    <a:bodyPr/>
                    <a:lstStyle/>
                    <a:p>
                      <a:pPr algn="l" fontAlgn="b"/>
                      <a:endParaRPr lang="en-US" sz="1200" dirty="0">
                        <a:effectLst/>
                      </a:endParaRPr>
                    </a:p>
                  </a:txBody>
                  <a:tcPr marL="31296" marR="31296" marT="31296" marB="31296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394063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CuadroTexto 11"/>
          <p:cNvSpPr txBox="1"/>
          <p:nvPr/>
        </p:nvSpPr>
        <p:spPr>
          <a:xfrm>
            <a:off x="4311725" y="4799534"/>
            <a:ext cx="4620126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need</a:t>
            </a:r>
            <a:r>
              <a:rPr lang="es-MX" dirty="0" smtClean="0"/>
              <a:t> </a:t>
            </a:r>
            <a:r>
              <a:rPr lang="es-MX" dirty="0" err="1" smtClean="0"/>
              <a:t>help</a:t>
            </a:r>
            <a:r>
              <a:rPr lang="es-MX" dirty="0" smtClean="0"/>
              <a:t> </a:t>
            </a:r>
            <a:r>
              <a:rPr lang="es-MX" dirty="0" err="1" smtClean="0"/>
              <a:t>here</a:t>
            </a:r>
            <a:r>
              <a:rPr lang="es-MX" dirty="0" smtClean="0"/>
              <a:t>:</a:t>
            </a:r>
          </a:p>
          <a:p>
            <a:endParaRPr lang="es-MX" dirty="0"/>
          </a:p>
          <a:p>
            <a:pPr marL="285750" indent="-285750">
              <a:buFontTx/>
              <a:buChar char="-"/>
            </a:pPr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define </a:t>
            </a:r>
            <a:r>
              <a:rPr lang="es-MX" dirty="0" err="1" smtClean="0"/>
              <a:t>which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</a:p>
          <a:p>
            <a:pPr marL="285750" indent="-285750">
              <a:buFontTx/>
              <a:buChar char="-"/>
            </a:pPr>
            <a:r>
              <a:rPr lang="es-MX" dirty="0" smtClean="0"/>
              <a:t>PCA of </a:t>
            </a:r>
            <a:r>
              <a:rPr lang="es-MX" dirty="0" err="1" smtClean="0"/>
              <a:t>traits</a:t>
            </a:r>
            <a:r>
              <a:rPr lang="es-MX" dirty="0" smtClean="0"/>
              <a:t>/</a:t>
            </a:r>
            <a:r>
              <a:rPr lang="es-MX" dirty="0" err="1" smtClean="0"/>
              <a:t>choose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.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t="35600" r="331" b="27326"/>
          <a:stretch/>
        </p:blipFill>
        <p:spPr>
          <a:xfrm>
            <a:off x="550506" y="2055812"/>
            <a:ext cx="10161037" cy="245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79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BONUS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8676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6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32" y="253465"/>
            <a:ext cx="8232517" cy="182127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69" y="2129601"/>
            <a:ext cx="8363880" cy="185033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32" y="4114871"/>
            <a:ext cx="8307556" cy="183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52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TRENDS IN ELEVATION:</a:t>
            </a:r>
            <a:br>
              <a:rPr lang="es-MX" dirty="0" smtClean="0"/>
            </a:br>
            <a:r>
              <a:rPr lang="es-MX" dirty="0" smtClean="0"/>
              <a:t>DUAL ISOTOPE C AND O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 smtClean="0"/>
              <a:t>Visual </a:t>
            </a:r>
            <a:r>
              <a:rPr lang="es-MX" dirty="0" err="1" smtClean="0"/>
              <a:t>inspection</a:t>
            </a:r>
            <a:r>
              <a:rPr lang="es-MX" dirty="0" smtClean="0"/>
              <a:t> shows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patterns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groups</a:t>
            </a:r>
            <a:r>
              <a:rPr lang="es-MX" dirty="0" smtClean="0"/>
              <a:t> </a:t>
            </a:r>
            <a:r>
              <a:rPr lang="es-MX" dirty="0" err="1" smtClean="0"/>
              <a:t>according</a:t>
            </a:r>
            <a:r>
              <a:rPr lang="es-MX" dirty="0" smtClean="0"/>
              <a:t> to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</a:t>
            </a:r>
          </a:p>
          <a:p>
            <a:r>
              <a:rPr lang="es-MX" dirty="0" smtClean="0"/>
              <a:t>I </a:t>
            </a:r>
            <a:r>
              <a:rPr lang="es-MX" dirty="0" err="1" smtClean="0"/>
              <a:t>created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plots</a:t>
            </a:r>
            <a:r>
              <a:rPr lang="es-MX" dirty="0" smtClean="0"/>
              <a:t> per </a:t>
            </a: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aiming</a:t>
            </a:r>
            <a:r>
              <a:rPr lang="es-MX" dirty="0" smtClean="0"/>
              <a:t> to </a:t>
            </a:r>
            <a:r>
              <a:rPr lang="es-MX" dirty="0" err="1" smtClean="0"/>
              <a:t>see</a:t>
            </a:r>
            <a:r>
              <a:rPr lang="es-MX" dirty="0" smtClean="0"/>
              <a:t>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. </a:t>
            </a:r>
            <a:r>
              <a:rPr lang="es-MX" dirty="0" err="1" smtClean="0"/>
              <a:t>Interesting</a:t>
            </a:r>
            <a:r>
              <a:rPr lang="es-MX" dirty="0" smtClean="0"/>
              <a:t> to </a:t>
            </a:r>
            <a:r>
              <a:rPr lang="es-MX" dirty="0" err="1" smtClean="0"/>
              <a:t>check</a:t>
            </a:r>
            <a:r>
              <a:rPr lang="es-MX" dirty="0" smtClean="0"/>
              <a:t> </a:t>
            </a:r>
            <a:r>
              <a:rPr lang="es-MX" i="1" dirty="0" err="1" smtClean="0"/>
              <a:t>Pouteria</a:t>
            </a:r>
            <a:r>
              <a:rPr lang="es-MX" i="1" dirty="0" smtClean="0"/>
              <a:t>, </a:t>
            </a:r>
            <a:r>
              <a:rPr lang="es-MX" i="1" dirty="0" err="1" smtClean="0"/>
              <a:t>Alchornea</a:t>
            </a:r>
            <a:r>
              <a:rPr lang="es-MX" i="1" dirty="0" smtClean="0"/>
              <a:t>, </a:t>
            </a:r>
            <a:r>
              <a:rPr lang="es-MX" i="1" dirty="0" err="1" smtClean="0"/>
              <a:t>Myrcia</a:t>
            </a:r>
            <a:r>
              <a:rPr lang="es-MX" i="1" dirty="0" smtClean="0"/>
              <a:t>, </a:t>
            </a:r>
            <a:r>
              <a:rPr lang="es-MX" i="1" dirty="0" err="1" smtClean="0"/>
              <a:t>Hedyosmum</a:t>
            </a:r>
            <a:r>
              <a:rPr lang="es-MX" i="1" dirty="0" smtClean="0"/>
              <a:t>.</a:t>
            </a:r>
          </a:p>
          <a:p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figure </a:t>
            </a:r>
            <a:r>
              <a:rPr lang="es-MX" dirty="0" err="1" smtClean="0"/>
              <a:t>it</a:t>
            </a:r>
            <a:r>
              <a:rPr lang="es-MX" dirty="0" smtClean="0"/>
              <a:t> more </a:t>
            </a:r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it</a:t>
            </a:r>
            <a:r>
              <a:rPr lang="es-MX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988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83523" y="949713"/>
            <a:ext cx="6666667" cy="41142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57" y="1227190"/>
            <a:ext cx="4845323" cy="355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111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63197" t="28502" r="17363" b="46350"/>
          <a:stretch/>
        </p:blipFill>
        <p:spPr>
          <a:xfrm>
            <a:off x="11317603" y="149181"/>
            <a:ext cx="718457" cy="97971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04" y="0"/>
            <a:ext cx="3168048" cy="3339515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379" y="1"/>
            <a:ext cx="3192507" cy="3365298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971" y="2"/>
            <a:ext cx="3184682" cy="335704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073" y="3339515"/>
            <a:ext cx="3113779" cy="3282308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3505" y="3311790"/>
            <a:ext cx="3166381" cy="3337757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971" y="3394017"/>
            <a:ext cx="3286126" cy="3463983"/>
          </a:xfrm>
          <a:prstGeom prst="rect">
            <a:avLst/>
          </a:prstGeom>
        </p:spPr>
      </p:pic>
      <p:sp>
        <p:nvSpPr>
          <p:cNvPr id="12" name="Rectángulo 11"/>
          <p:cNvSpPr/>
          <p:nvPr/>
        </p:nvSpPr>
        <p:spPr>
          <a:xfrm>
            <a:off x="286603" y="0"/>
            <a:ext cx="3562066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/>
          <p:cNvSpPr/>
          <p:nvPr/>
        </p:nvSpPr>
        <p:spPr>
          <a:xfrm>
            <a:off x="3992600" y="8631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7724983" y="80963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77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NEXT STEPS AND QUESTIONS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Refining – how better integrate traits. PCA?</a:t>
            </a:r>
          </a:p>
          <a:p>
            <a:r>
              <a:rPr lang="en-US" sz="2200" dirty="0" smtClean="0"/>
              <a:t>The </a:t>
            </a:r>
            <a:r>
              <a:rPr lang="en-US" sz="2200" dirty="0"/>
              <a:t>experimental controls from 2009 (n = 9) would be used mainly as a baseline reference due to their limited sample size.</a:t>
            </a:r>
          </a:p>
          <a:p>
            <a:r>
              <a:rPr lang="en-US" sz="2200" dirty="0"/>
              <a:t>Regarding environmental drivers, elevation has been useful as an integrative gradient, but I would like to discuss the incorporation of explicit climatic variables to improve </a:t>
            </a:r>
            <a:r>
              <a:rPr lang="en-US" sz="2200" dirty="0" smtClean="0"/>
              <a:t>interpretability or TPI?. I thought on working with PCA dimensions.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48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2282</TotalTime>
  <Words>2153</Words>
  <Application>Microsoft Office PowerPoint</Application>
  <PresentationFormat>Panorámica</PresentationFormat>
  <Paragraphs>1197</Paragraphs>
  <Slides>29</Slides>
  <Notes>13</Notes>
  <HiddenSlides>10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Times New Roman</vt:lpstr>
      <vt:lpstr>Tema de Office</vt:lpstr>
      <vt:lpstr>Chapter 1: iWUE variation between  NUMEX experiment manipulation</vt:lpstr>
      <vt:lpstr>Presentación de PowerPoint</vt:lpstr>
      <vt:lpstr>Presentación de PowerPoint</vt:lpstr>
      <vt:lpstr>Available Info from NUMEX</vt:lpstr>
      <vt:lpstr>RQ:</vt:lpstr>
      <vt:lpstr>Presentación de PowerPoint</vt:lpstr>
      <vt:lpstr>Presentación de PowerPoint</vt:lpstr>
      <vt:lpstr>Presentación de PowerPoint</vt:lpstr>
      <vt:lpstr>Presentación de PowerPoint</vt:lpstr>
      <vt:lpstr>ANALYSIS PER SPECIE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ANALYSIS PER EACH ELEVATION</vt:lpstr>
      <vt:lpstr>Presentación de PowerPoint</vt:lpstr>
      <vt:lpstr>Presentación de PowerPoint</vt:lpstr>
      <vt:lpstr>Presentación de PowerPoint</vt:lpstr>
      <vt:lpstr>Presentación de PowerPoint</vt:lpstr>
      <vt:lpstr>“COMPLETE” MODEL</vt:lpstr>
      <vt:lpstr>MODEL FOR ALL ELEVATIONS</vt:lpstr>
      <vt:lpstr>BONUS</vt:lpstr>
      <vt:lpstr>Presentación de PowerPoint</vt:lpstr>
      <vt:lpstr>TRENDS IN ELEVATION: DUAL ISOTOPE C AND O</vt:lpstr>
      <vt:lpstr>Presentación de PowerPoint</vt:lpstr>
      <vt:lpstr>Presentación de PowerPoint</vt:lpstr>
      <vt:lpstr>NEXT STEPS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selene.baez</dc:creator>
  <cp:lastModifiedBy>selene.baez</cp:lastModifiedBy>
  <cp:revision>50</cp:revision>
  <dcterms:created xsi:type="dcterms:W3CDTF">2025-12-15T21:47:15Z</dcterms:created>
  <dcterms:modified xsi:type="dcterms:W3CDTF">2026-02-24T16:28:41Z</dcterms:modified>
</cp:coreProperties>
</file>