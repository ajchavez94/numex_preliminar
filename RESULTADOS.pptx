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67" r:id="rId2"/>
    <p:sldId id="259" r:id="rId3"/>
    <p:sldId id="262" r:id="rId4"/>
    <p:sldId id="264" r:id="rId5"/>
    <p:sldId id="257" r:id="rId6"/>
    <p:sldId id="270" r:id="rId7"/>
    <p:sldId id="260" r:id="rId8"/>
    <p:sldId id="266" r:id="rId9"/>
    <p:sldId id="26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66241" autoAdjust="0"/>
  </p:normalViewPr>
  <p:slideViewPr>
    <p:cSldViewPr snapToGrid="0" showGuides="1">
      <p:cViewPr varScale="1">
        <p:scale>
          <a:sx n="72" d="100"/>
          <a:sy n="72" d="100"/>
        </p:scale>
        <p:origin x="1992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88E1C-9E16-4837-8FE7-B15F160F0F0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3F3BFB-D9DC-44A8-A360-D24B8A5210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153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Efectos modelo </a:t>
            </a:r>
            <a:r>
              <a:rPr lang="es-MX" dirty="0" err="1" smtClean="0"/>
              <a:t>lmer</a:t>
            </a:r>
            <a:r>
              <a:rPr lang="es-MX" baseline="0" dirty="0" smtClean="0"/>
              <a:t> contra control. Cual será mejor para publicar?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3F3BFB-D9DC-44A8-A360-D24B8A5210C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20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DUMMIES.</a:t>
            </a:r>
            <a:r>
              <a:rPr lang="es-MX" baseline="0" dirty="0" smtClean="0"/>
              <a:t> La interpretación del </a:t>
            </a:r>
            <a:r>
              <a:rPr lang="es-MX" baseline="0" dirty="0" err="1" smtClean="0"/>
              <a:t>NxP</a:t>
            </a:r>
            <a:r>
              <a:rPr lang="es-MX" baseline="0" dirty="0" smtClean="0"/>
              <a:t> es diferente. Antagonismo 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3F3BFB-D9DC-44A8-A360-D24B8A5210C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197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SMA</a:t>
            </a:r>
            <a:r>
              <a:rPr lang="es-MX" baseline="0" dirty="0" smtClean="0"/>
              <a:t> </a:t>
            </a:r>
            <a:r>
              <a:rPr lang="es-MX" baseline="0" dirty="0" err="1" smtClean="0"/>
              <a:t>correlation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between</a:t>
            </a:r>
            <a:r>
              <a:rPr lang="es-MX" baseline="0" dirty="0" smtClean="0"/>
              <a:t> variables. </a:t>
            </a:r>
            <a:r>
              <a:rPr lang="en-US" dirty="0" smtClean="0"/>
              <a:t>Scaling relationships between </a:t>
            </a:r>
            <a:r>
              <a:rPr lang="en-US" dirty="0" err="1" smtClean="0"/>
              <a:t>Asat</a:t>
            </a:r>
            <a:r>
              <a:rPr lang="en-US" dirty="0" smtClean="0"/>
              <a:t> and leaf nutrients were assessed using standardized major axis (SMA) </a:t>
            </a:r>
            <a:r>
              <a:rPr lang="en-US" dirty="0" err="1" smtClean="0"/>
              <a:t>regres</a:t>
            </a:r>
            <a:r>
              <a:rPr lang="en-US" dirty="0" smtClean="0"/>
              <a:t>- </a:t>
            </a:r>
            <a:r>
              <a:rPr lang="en-US" dirty="0" err="1" smtClean="0"/>
              <a:t>sion</a:t>
            </a:r>
            <a:r>
              <a:rPr lang="en-US" dirty="0" smtClean="0"/>
              <a:t> (Wright et al. 2004; Warton et al. 2006; </a:t>
            </a:r>
            <a:r>
              <a:rPr lang="en-US" dirty="0" err="1" smtClean="0"/>
              <a:t>Mantlana</a:t>
            </a:r>
            <a:r>
              <a:rPr lang="en-US" dirty="0" smtClean="0"/>
              <a:t> et al. 2008). SMA regression is a regression method preferred when one is more interested in the true slope of a relation- ship, rather than predicting values for a dependent variable from a predictor variable. It is thus commonly used to establish </a:t>
            </a:r>
            <a:r>
              <a:rPr lang="en-US" dirty="0" err="1" smtClean="0"/>
              <a:t>allometric</a:t>
            </a:r>
            <a:r>
              <a:rPr lang="en-US" dirty="0" smtClean="0"/>
              <a:t> scaling relationships, especially when the two variables are not measured on comparable scales (Warton et al. 2006). All statistical analyses were done in </a:t>
            </a:r>
            <a:r>
              <a:rPr lang="en-US" dirty="0" err="1" smtClean="0"/>
              <a:t>RStudio</a:t>
            </a:r>
            <a:r>
              <a:rPr lang="en-US" dirty="0" smtClean="0"/>
              <a:t> (V 1.1.456).</a:t>
            </a:r>
          </a:p>
          <a:p>
            <a:r>
              <a:rPr lang="es-MX" dirty="0" err="1" smtClean="0"/>
              <a:t>Graphic</a:t>
            </a:r>
            <a:r>
              <a:rPr lang="es-MX" dirty="0" smtClean="0"/>
              <a:t> to </a:t>
            </a:r>
            <a:r>
              <a:rPr lang="es-MX" dirty="0" err="1" smtClean="0"/>
              <a:t>depict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that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although</a:t>
            </a:r>
            <a:r>
              <a:rPr lang="es-MX" baseline="0" dirty="0" smtClean="0"/>
              <a:t> </a:t>
            </a:r>
            <a:r>
              <a:rPr lang="es-MX" baseline="0" dirty="0" err="1" smtClean="0"/>
              <a:t>nutrients</a:t>
            </a:r>
            <a:r>
              <a:rPr lang="es-MX" baseline="0" dirty="0" smtClean="0"/>
              <a:t> are </a:t>
            </a:r>
            <a:r>
              <a:rPr lang="es-MX" baseline="0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enough</a:t>
            </a:r>
            <a:r>
              <a:rPr lang="es-MX" baseline="0" dirty="0" smtClean="0"/>
              <a:t> to </a:t>
            </a:r>
            <a:r>
              <a:rPr lang="es-MX" baseline="0" dirty="0" err="1" smtClean="0"/>
              <a:t>see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shifts</a:t>
            </a:r>
            <a:r>
              <a:rPr lang="es-MX" baseline="0" dirty="0" smtClean="0"/>
              <a:t>. At 2000 and 3000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responses are more similar. </a:t>
            </a:r>
          </a:p>
          <a:p>
            <a:r>
              <a:rPr lang="es-MX" baseline="0" dirty="0" err="1" smtClean="0"/>
              <a:t>Pouteria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Hedyosmum</a:t>
            </a:r>
            <a:r>
              <a:rPr lang="es-MX" baseline="0" dirty="0" smtClean="0"/>
              <a:t> y </a:t>
            </a:r>
            <a:r>
              <a:rPr lang="es-MX" baseline="0" dirty="0" err="1" smtClean="0"/>
              <a:t>Weinmania</a:t>
            </a:r>
            <a:r>
              <a:rPr lang="es-MX" baseline="0" dirty="0" smtClean="0"/>
              <a:t> tienen resultados que se pueden discutir. Solo en estas </a:t>
            </a:r>
            <a:r>
              <a:rPr lang="es-MX" baseline="0" dirty="0" err="1" smtClean="0"/>
              <a:t>Narea</a:t>
            </a:r>
            <a:r>
              <a:rPr lang="es-MX" baseline="0" dirty="0" smtClean="0"/>
              <a:t> funciona como predictor, pero no necesariamente en todas. 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3F3BFB-D9DC-44A8-A360-D24B8A5210C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5353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3F3BFB-D9DC-44A8-A360-D24B8A5210C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0360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3F3BFB-D9DC-44A8-A360-D24B8A5210C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596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072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76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998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110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571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046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465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4506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8929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585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4135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828C04-B849-41DA-B09B-25717358C15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751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b="1" dirty="0" err="1" smtClean="0"/>
              <a:t>Results</a:t>
            </a:r>
            <a:r>
              <a:rPr lang="es-MX" b="1" dirty="0" smtClean="0"/>
              <a:t> </a:t>
            </a:r>
            <a:r>
              <a:rPr lang="es-MX" b="1" dirty="0" err="1" smtClean="0"/>
              <a:t>Keypoints</a:t>
            </a:r>
            <a:endParaRPr lang="en-US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 err="1" smtClean="0"/>
              <a:t>iWUE</a:t>
            </a:r>
            <a:r>
              <a:rPr lang="es-MX" dirty="0" smtClean="0"/>
              <a:t> </a:t>
            </a:r>
            <a:r>
              <a:rPr lang="es-MX" dirty="0" err="1" smtClean="0"/>
              <a:t>does</a:t>
            </a:r>
            <a:r>
              <a:rPr lang="es-MX" dirty="0" smtClean="0"/>
              <a:t> </a:t>
            </a:r>
            <a:r>
              <a:rPr lang="es-MX" dirty="0" err="1" smtClean="0"/>
              <a:t>not</a:t>
            </a:r>
            <a:r>
              <a:rPr lang="es-MX" dirty="0" smtClean="0"/>
              <a:t> show </a:t>
            </a:r>
            <a:r>
              <a:rPr lang="es-MX" dirty="0" err="1" smtClean="0"/>
              <a:t>changes</a:t>
            </a:r>
            <a:r>
              <a:rPr lang="es-MX" dirty="0" smtClean="0"/>
              <a:t> per </a:t>
            </a:r>
            <a:r>
              <a:rPr lang="es-MX" dirty="0" err="1" smtClean="0"/>
              <a:t>treatments</a:t>
            </a:r>
            <a:r>
              <a:rPr lang="es-MX" dirty="0" smtClean="0"/>
              <a:t> </a:t>
            </a:r>
            <a:r>
              <a:rPr lang="es-MX" dirty="0" err="1" smtClean="0"/>
              <a:t>although</a:t>
            </a:r>
            <a:r>
              <a:rPr lang="es-MX" dirty="0" smtClean="0"/>
              <a:t> </a:t>
            </a:r>
            <a:r>
              <a:rPr lang="es-MX" dirty="0" err="1" smtClean="0"/>
              <a:t>there</a:t>
            </a:r>
            <a:r>
              <a:rPr lang="es-MX" dirty="0" smtClean="0"/>
              <a:t> are </a:t>
            </a:r>
            <a:r>
              <a:rPr lang="es-MX" dirty="0" err="1" smtClean="0"/>
              <a:t>differences</a:t>
            </a:r>
            <a:r>
              <a:rPr lang="es-MX" dirty="0" smtClean="0"/>
              <a:t> in </a:t>
            </a:r>
            <a:r>
              <a:rPr lang="es-MX" dirty="0" err="1" smtClean="0"/>
              <a:t>leaf</a:t>
            </a:r>
            <a:r>
              <a:rPr lang="es-MX" dirty="0" smtClean="0"/>
              <a:t> </a:t>
            </a:r>
            <a:r>
              <a:rPr lang="es-MX" dirty="0" err="1" smtClean="0"/>
              <a:t>nutrients</a:t>
            </a:r>
            <a:r>
              <a:rPr lang="es-MX" dirty="0" smtClean="0"/>
              <a:t> (ex. </a:t>
            </a:r>
            <a:r>
              <a:rPr lang="es-MX" dirty="0" err="1" smtClean="0"/>
              <a:t>Narea</a:t>
            </a:r>
            <a:r>
              <a:rPr lang="es-MX" dirty="0" smtClean="0"/>
              <a:t>, </a:t>
            </a:r>
            <a:r>
              <a:rPr lang="es-MX" dirty="0" err="1" smtClean="0"/>
              <a:t>or</a:t>
            </a:r>
            <a:r>
              <a:rPr lang="es-MX" dirty="0" smtClean="0"/>
              <a:t> N(mg/g)). (</a:t>
            </a:r>
            <a:r>
              <a:rPr lang="es-MX" dirty="0" err="1" smtClean="0"/>
              <a:t>slide</a:t>
            </a:r>
            <a:r>
              <a:rPr lang="es-MX" dirty="0" smtClean="0"/>
              <a:t> 5)</a:t>
            </a:r>
          </a:p>
          <a:p>
            <a:r>
              <a:rPr lang="es-MX" dirty="0" smtClean="0"/>
              <a:t>Responses </a:t>
            </a:r>
            <a:r>
              <a:rPr lang="es-MX" dirty="0" err="1" smtClean="0"/>
              <a:t>change</a:t>
            </a:r>
            <a:r>
              <a:rPr lang="es-MX" dirty="0" smtClean="0"/>
              <a:t> per </a:t>
            </a:r>
            <a:r>
              <a:rPr lang="es-MX" dirty="0" err="1" smtClean="0"/>
              <a:t>specie</a:t>
            </a:r>
            <a:r>
              <a:rPr lang="es-MX" dirty="0" smtClean="0"/>
              <a:t> ( </a:t>
            </a:r>
            <a:r>
              <a:rPr lang="es-MX" dirty="0" err="1" smtClean="0"/>
              <a:t>Pioner</a:t>
            </a:r>
            <a:r>
              <a:rPr lang="es-MX" dirty="0" smtClean="0"/>
              <a:t> vs non-</a:t>
            </a:r>
            <a:r>
              <a:rPr lang="es-MX" dirty="0" err="1" smtClean="0"/>
              <a:t>pioners</a:t>
            </a:r>
            <a:r>
              <a:rPr lang="es-MX" dirty="0" smtClean="0"/>
              <a:t>?/</a:t>
            </a:r>
            <a:r>
              <a:rPr lang="es-MX" dirty="0" err="1" smtClean="0"/>
              <a:t>Acquisitive</a:t>
            </a:r>
            <a:r>
              <a:rPr lang="es-MX" dirty="0" smtClean="0"/>
              <a:t> vs </a:t>
            </a:r>
            <a:r>
              <a:rPr lang="es-MX" dirty="0" err="1" smtClean="0"/>
              <a:t>conservative</a:t>
            </a:r>
            <a:r>
              <a:rPr lang="es-MX" dirty="0" smtClean="0"/>
              <a:t>?).- Preguntar </a:t>
            </a:r>
            <a:r>
              <a:rPr lang="es-MX" dirty="0" err="1" smtClean="0"/>
              <a:t>Jürgen</a:t>
            </a:r>
            <a:r>
              <a:rPr lang="es-MX" dirty="0"/>
              <a:t> </a:t>
            </a:r>
            <a:r>
              <a:rPr lang="es-MX" dirty="0" smtClean="0"/>
              <a:t>estrategias de especies.</a:t>
            </a:r>
          </a:p>
          <a:p>
            <a:r>
              <a:rPr lang="es-MX" dirty="0" err="1" smtClean="0"/>
              <a:t>Species</a:t>
            </a:r>
            <a:r>
              <a:rPr lang="es-MX" dirty="0" smtClean="0"/>
              <a:t> at 2000 </a:t>
            </a:r>
            <a:r>
              <a:rPr lang="es-MX" dirty="0" err="1" smtClean="0"/>
              <a:t>asl</a:t>
            </a:r>
            <a:r>
              <a:rPr lang="es-MX" dirty="0" smtClean="0"/>
              <a:t> and 3000 </a:t>
            </a:r>
            <a:r>
              <a:rPr lang="es-MX" dirty="0" err="1" smtClean="0"/>
              <a:t>asl</a:t>
            </a:r>
            <a:r>
              <a:rPr lang="es-MX" dirty="0" smtClean="0"/>
              <a:t> more similar in </a:t>
            </a:r>
            <a:r>
              <a:rPr lang="es-MX" dirty="0" err="1" smtClean="0"/>
              <a:t>their</a:t>
            </a:r>
            <a:r>
              <a:rPr lang="es-MX" dirty="0" smtClean="0"/>
              <a:t> responses tan at 1000. (</a:t>
            </a:r>
            <a:r>
              <a:rPr lang="es-MX" dirty="0" err="1" smtClean="0"/>
              <a:t>slide</a:t>
            </a:r>
            <a:r>
              <a:rPr lang="es-MX" dirty="0" smtClean="0"/>
              <a:t> 6).</a:t>
            </a:r>
            <a:r>
              <a:rPr lang="es-MX" dirty="0"/>
              <a:t> </a:t>
            </a:r>
            <a:r>
              <a:rPr lang="es-MX" dirty="0" err="1"/>
              <a:t>Higher</a:t>
            </a:r>
            <a:r>
              <a:rPr lang="es-MX" dirty="0"/>
              <a:t> </a:t>
            </a:r>
            <a:r>
              <a:rPr lang="es-MX" dirty="0" err="1"/>
              <a:t>iWUE</a:t>
            </a:r>
            <a:r>
              <a:rPr lang="es-MX" dirty="0"/>
              <a:t> at </a:t>
            </a:r>
            <a:r>
              <a:rPr lang="es-MX" dirty="0" err="1"/>
              <a:t>mid</a:t>
            </a:r>
            <a:r>
              <a:rPr lang="es-MX" dirty="0"/>
              <a:t> and </a:t>
            </a:r>
            <a:r>
              <a:rPr lang="es-MX" dirty="0" err="1"/>
              <a:t>higher</a:t>
            </a:r>
            <a:r>
              <a:rPr lang="es-MX" dirty="0"/>
              <a:t> </a:t>
            </a:r>
            <a:r>
              <a:rPr lang="es-MX" dirty="0" err="1"/>
              <a:t>elevations</a:t>
            </a:r>
            <a:r>
              <a:rPr lang="es-MX" dirty="0"/>
              <a:t> </a:t>
            </a:r>
            <a:r>
              <a:rPr lang="es-MX" dirty="0" err="1"/>
              <a:t>associated</a:t>
            </a:r>
            <a:r>
              <a:rPr lang="es-MX" dirty="0"/>
              <a:t> </a:t>
            </a:r>
            <a:r>
              <a:rPr lang="es-MX" dirty="0" err="1"/>
              <a:t>with</a:t>
            </a:r>
            <a:r>
              <a:rPr lang="es-MX" dirty="0"/>
              <a:t> </a:t>
            </a:r>
            <a:r>
              <a:rPr lang="es-MX" dirty="0" err="1"/>
              <a:t>conservative</a:t>
            </a:r>
            <a:r>
              <a:rPr lang="es-MX" dirty="0"/>
              <a:t> </a:t>
            </a:r>
            <a:r>
              <a:rPr lang="es-MX" dirty="0" err="1"/>
              <a:t>traits</a:t>
            </a:r>
            <a:r>
              <a:rPr lang="es-MX" dirty="0"/>
              <a:t> ( </a:t>
            </a:r>
            <a:r>
              <a:rPr lang="es-MX" dirty="0" err="1"/>
              <a:t>smaller</a:t>
            </a:r>
            <a:r>
              <a:rPr lang="es-MX" dirty="0"/>
              <a:t> SLA, </a:t>
            </a:r>
            <a:r>
              <a:rPr lang="es-MX" dirty="0" err="1"/>
              <a:t>higher</a:t>
            </a:r>
            <a:r>
              <a:rPr lang="es-MX" dirty="0"/>
              <a:t> N </a:t>
            </a:r>
            <a:r>
              <a:rPr lang="es-MX" dirty="0" err="1" smtClean="0"/>
              <a:t>content</a:t>
            </a:r>
            <a:r>
              <a:rPr lang="es-MX" dirty="0" smtClean="0"/>
              <a:t>). </a:t>
            </a:r>
            <a:endParaRPr lang="es-MX" dirty="0"/>
          </a:p>
          <a:p>
            <a:endParaRPr lang="es-MX" dirty="0" smtClean="0"/>
          </a:p>
          <a:p>
            <a:endParaRPr lang="es-MX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7884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uadroTexto 6"/>
          <p:cNvSpPr txBox="1"/>
          <p:nvPr/>
        </p:nvSpPr>
        <p:spPr>
          <a:xfrm>
            <a:off x="1460827" y="766814"/>
            <a:ext cx="101773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s-MX" sz="1600" b="1" i="1" dirty="0" smtClean="0"/>
              <a:t>  </a:t>
            </a:r>
            <a:r>
              <a:rPr lang="es-MX" sz="1600" b="1" i="1" dirty="0" err="1" smtClean="0"/>
              <a:t>P.torta</a:t>
            </a:r>
            <a:r>
              <a:rPr lang="es-MX" sz="1600" b="1" i="1" dirty="0" smtClean="0"/>
              <a:t>                         C. </a:t>
            </a:r>
            <a:r>
              <a:rPr lang="es-MX" sz="1600" b="1" i="1" dirty="0" err="1" smtClean="0"/>
              <a:t>racemosa</a:t>
            </a:r>
            <a:r>
              <a:rPr lang="es-MX" sz="1600" b="1" i="1" dirty="0" smtClean="0"/>
              <a:t>               M. </a:t>
            </a:r>
            <a:r>
              <a:rPr lang="es-MX" sz="1600" b="1" i="1" dirty="0" err="1" smtClean="0"/>
              <a:t>sp</a:t>
            </a:r>
            <a:r>
              <a:rPr lang="es-MX" sz="1600" b="1" i="1" dirty="0" smtClean="0"/>
              <a:t>. Nov.                A. </a:t>
            </a:r>
            <a:r>
              <a:rPr lang="es-MX" sz="1600" b="1" i="1" dirty="0" err="1" smtClean="0"/>
              <a:t>lojaensis</a:t>
            </a:r>
            <a:r>
              <a:rPr lang="es-MX" sz="1600" b="1" i="1" dirty="0" smtClean="0"/>
              <a:t>               H. </a:t>
            </a:r>
            <a:r>
              <a:rPr lang="es-MX" sz="1600" b="1" i="1" dirty="0" err="1" smtClean="0"/>
              <a:t>purpurascens</a:t>
            </a:r>
            <a:r>
              <a:rPr lang="es-MX" sz="1600" b="1" i="1" dirty="0" smtClean="0"/>
              <a:t>       W. </a:t>
            </a:r>
            <a:r>
              <a:rPr lang="es-MX" sz="1600" b="1" i="1" dirty="0" err="1" smtClean="0"/>
              <a:t>loxensis</a:t>
            </a:r>
            <a:endParaRPr lang="en-US" sz="1600" b="1" i="1" dirty="0"/>
          </a:p>
        </p:txBody>
      </p:sp>
      <p:sp>
        <p:nvSpPr>
          <p:cNvPr id="12" name="Rectángulo 11"/>
          <p:cNvSpPr/>
          <p:nvPr/>
        </p:nvSpPr>
        <p:spPr>
          <a:xfrm>
            <a:off x="1648276" y="568664"/>
            <a:ext cx="3237881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1000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3" name="Rectángulo 12"/>
          <p:cNvSpPr/>
          <p:nvPr/>
        </p:nvSpPr>
        <p:spPr>
          <a:xfrm>
            <a:off x="5032612" y="582246"/>
            <a:ext cx="3151693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2000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4" name="Rectángulo 13"/>
          <p:cNvSpPr/>
          <p:nvPr/>
        </p:nvSpPr>
        <p:spPr>
          <a:xfrm>
            <a:off x="8338474" y="591123"/>
            <a:ext cx="3299654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2"/>
                </a:solidFill>
              </a:rPr>
              <a:t>3</a:t>
            </a:r>
            <a:r>
              <a:rPr lang="es-MX" dirty="0" smtClean="0">
                <a:solidFill>
                  <a:schemeClr val="tx2"/>
                </a:solidFill>
              </a:rPr>
              <a:t>000 m</a:t>
            </a:r>
            <a:endParaRPr lang="en-US" dirty="0">
              <a:solidFill>
                <a:schemeClr val="tx2"/>
              </a:solidFill>
            </a:endParaRPr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2"/>
          <a:srcRect t="17800" b="7982"/>
          <a:stretch/>
        </p:blipFill>
        <p:spPr>
          <a:xfrm>
            <a:off x="466664" y="1122363"/>
            <a:ext cx="11433874" cy="5301618"/>
          </a:xfrm>
          <a:prstGeom prst="rect">
            <a:avLst/>
          </a:prstGeom>
        </p:spPr>
      </p:pic>
      <p:sp>
        <p:nvSpPr>
          <p:cNvPr id="19" name="CuadroTexto 18"/>
          <p:cNvSpPr txBox="1"/>
          <p:nvPr/>
        </p:nvSpPr>
        <p:spPr>
          <a:xfrm>
            <a:off x="1648276" y="1174520"/>
            <a:ext cx="113361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900" dirty="0" smtClean="0"/>
              <a:t>39.35      3.78     -2.47         3.82          51.71   -15.67    -3.28      -3.28              </a:t>
            </a:r>
            <a:r>
              <a:rPr lang="es-MX" sz="900" dirty="0"/>
              <a:t>89.53   </a:t>
            </a:r>
            <a:r>
              <a:rPr lang="es-MX" sz="900" dirty="0" smtClean="0"/>
              <a:t>7.332   </a:t>
            </a:r>
            <a:r>
              <a:rPr lang="es-MX" sz="900" dirty="0"/>
              <a:t>  6.950     </a:t>
            </a:r>
            <a:r>
              <a:rPr lang="es-MX" sz="900" dirty="0" smtClean="0"/>
              <a:t> </a:t>
            </a:r>
            <a:r>
              <a:rPr lang="es-MX" sz="900" dirty="0"/>
              <a:t>5.99      </a:t>
            </a:r>
            <a:r>
              <a:rPr lang="es-MX" sz="900" dirty="0" smtClean="0"/>
              <a:t>        106.57    -2.23     -3.50    -</a:t>
            </a:r>
            <a:r>
              <a:rPr lang="es-MX" sz="900" dirty="0"/>
              <a:t>7.96 </a:t>
            </a:r>
            <a:r>
              <a:rPr lang="es-MX" sz="900" dirty="0" smtClean="0"/>
              <a:t>             102.66   5.98    </a:t>
            </a:r>
            <a:r>
              <a:rPr lang="es-MX" sz="900" dirty="0"/>
              <a:t> </a:t>
            </a:r>
            <a:r>
              <a:rPr lang="es-MX" sz="900" dirty="0" smtClean="0"/>
              <a:t> 25.92   -6.42              90.48   -4.61    -8.18      16.14      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473806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uadroTexto 6"/>
          <p:cNvSpPr txBox="1"/>
          <p:nvPr/>
        </p:nvSpPr>
        <p:spPr>
          <a:xfrm>
            <a:off x="1460827" y="766814"/>
            <a:ext cx="101773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s-MX" sz="1600" b="1" i="1" dirty="0" smtClean="0"/>
              <a:t>  </a:t>
            </a:r>
            <a:r>
              <a:rPr lang="es-MX" sz="1600" b="1" i="1" dirty="0" err="1" smtClean="0"/>
              <a:t>P.torta</a:t>
            </a:r>
            <a:r>
              <a:rPr lang="es-MX" sz="1600" b="1" i="1" dirty="0" smtClean="0"/>
              <a:t>                         C. </a:t>
            </a:r>
            <a:r>
              <a:rPr lang="es-MX" sz="1600" b="1" i="1" dirty="0" err="1" smtClean="0"/>
              <a:t>racemosa</a:t>
            </a:r>
            <a:r>
              <a:rPr lang="es-MX" sz="1600" b="1" i="1" dirty="0" smtClean="0"/>
              <a:t>               M. </a:t>
            </a:r>
            <a:r>
              <a:rPr lang="es-MX" sz="1600" b="1" i="1" dirty="0" err="1" smtClean="0"/>
              <a:t>sp</a:t>
            </a:r>
            <a:r>
              <a:rPr lang="es-MX" sz="1600" b="1" i="1" dirty="0" smtClean="0"/>
              <a:t>. Nov.                A. </a:t>
            </a:r>
            <a:r>
              <a:rPr lang="es-MX" sz="1600" b="1" i="1" dirty="0" err="1" smtClean="0"/>
              <a:t>lojaensis</a:t>
            </a:r>
            <a:r>
              <a:rPr lang="es-MX" sz="1600" b="1" i="1" dirty="0" smtClean="0"/>
              <a:t>               H. </a:t>
            </a:r>
            <a:r>
              <a:rPr lang="es-MX" sz="1600" b="1" i="1" dirty="0" err="1" smtClean="0"/>
              <a:t>purpurascens</a:t>
            </a:r>
            <a:r>
              <a:rPr lang="es-MX" sz="1600" b="1" i="1" dirty="0" smtClean="0"/>
              <a:t>       W. </a:t>
            </a:r>
            <a:r>
              <a:rPr lang="es-MX" sz="1600" b="1" i="1" dirty="0" err="1" smtClean="0"/>
              <a:t>loxensis</a:t>
            </a:r>
            <a:endParaRPr lang="en-US" sz="1600" b="1" i="1" dirty="0"/>
          </a:p>
        </p:txBody>
      </p:sp>
      <p:sp>
        <p:nvSpPr>
          <p:cNvPr id="12" name="Rectángulo 11"/>
          <p:cNvSpPr/>
          <p:nvPr/>
        </p:nvSpPr>
        <p:spPr>
          <a:xfrm>
            <a:off x="1648276" y="568664"/>
            <a:ext cx="3237881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1000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3" name="Rectángulo 12"/>
          <p:cNvSpPr/>
          <p:nvPr/>
        </p:nvSpPr>
        <p:spPr>
          <a:xfrm>
            <a:off x="5032612" y="582246"/>
            <a:ext cx="3151693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2000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4" name="Rectángulo 13"/>
          <p:cNvSpPr/>
          <p:nvPr/>
        </p:nvSpPr>
        <p:spPr>
          <a:xfrm>
            <a:off x="8338474" y="591123"/>
            <a:ext cx="3299654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2"/>
                </a:solidFill>
              </a:rPr>
              <a:t>3</a:t>
            </a:r>
            <a:r>
              <a:rPr lang="es-MX" dirty="0" smtClean="0">
                <a:solidFill>
                  <a:schemeClr val="tx2"/>
                </a:solidFill>
              </a:rPr>
              <a:t>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9" name="CuadroTexto 18"/>
          <p:cNvSpPr txBox="1"/>
          <p:nvPr/>
        </p:nvSpPr>
        <p:spPr>
          <a:xfrm>
            <a:off x="1648276" y="1174520"/>
            <a:ext cx="113361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900" dirty="0" smtClean="0"/>
              <a:t>39.35      3.78     -2.47         3.82          51.71   -15.67    -3.28      -3.28              </a:t>
            </a:r>
            <a:r>
              <a:rPr lang="es-MX" sz="900" dirty="0"/>
              <a:t>89.53   </a:t>
            </a:r>
            <a:r>
              <a:rPr lang="es-MX" sz="900" dirty="0" smtClean="0"/>
              <a:t>7.332   </a:t>
            </a:r>
            <a:r>
              <a:rPr lang="es-MX" sz="900" dirty="0"/>
              <a:t>  6.950     </a:t>
            </a:r>
            <a:r>
              <a:rPr lang="es-MX" sz="900" dirty="0" smtClean="0"/>
              <a:t> </a:t>
            </a:r>
            <a:r>
              <a:rPr lang="es-MX" sz="900" dirty="0"/>
              <a:t>5.99      </a:t>
            </a:r>
            <a:r>
              <a:rPr lang="es-MX" sz="900" dirty="0" smtClean="0"/>
              <a:t>        106.57    -2.23     -3.50    -</a:t>
            </a:r>
            <a:r>
              <a:rPr lang="es-MX" sz="900" dirty="0"/>
              <a:t>7.96 </a:t>
            </a:r>
            <a:r>
              <a:rPr lang="es-MX" sz="900" dirty="0" smtClean="0"/>
              <a:t>             102.66   5.98    </a:t>
            </a:r>
            <a:r>
              <a:rPr lang="es-MX" sz="900" dirty="0"/>
              <a:t> </a:t>
            </a:r>
            <a:r>
              <a:rPr lang="es-MX" sz="900" dirty="0" smtClean="0"/>
              <a:t> 25.92   -6.42              90.48   -4.61    -8.18      16.14      </a:t>
            </a:r>
            <a:endParaRPr lang="en-US" sz="90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/>
          <a:srcRect l="269" t="17666" r="2560" b="7537"/>
          <a:stretch/>
        </p:blipFill>
        <p:spPr>
          <a:xfrm>
            <a:off x="589290" y="1122363"/>
            <a:ext cx="11013419" cy="5301619"/>
          </a:xfrm>
          <a:prstGeom prst="rect">
            <a:avLst/>
          </a:prstGeom>
        </p:spPr>
      </p:pic>
      <p:sp>
        <p:nvSpPr>
          <p:cNvPr id="11" name="CuadroTexto 10"/>
          <p:cNvSpPr txBox="1"/>
          <p:nvPr/>
        </p:nvSpPr>
        <p:spPr>
          <a:xfrm>
            <a:off x="1772552" y="1149453"/>
            <a:ext cx="113361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050" dirty="0" smtClean="0"/>
              <a:t>1.9   0.13   0.15    </a:t>
            </a:r>
            <a:r>
              <a:rPr lang="es-MX" sz="1050" dirty="0">
                <a:solidFill>
                  <a:srgbClr val="FF0000"/>
                </a:solidFill>
              </a:rPr>
              <a:t>+</a:t>
            </a:r>
            <a:r>
              <a:rPr lang="es-MX" sz="1050" dirty="0" smtClean="0">
                <a:solidFill>
                  <a:srgbClr val="FF0000"/>
                </a:solidFill>
              </a:rPr>
              <a:t>0.25</a:t>
            </a:r>
            <a:r>
              <a:rPr lang="es-MX" sz="1050" dirty="0" smtClean="0"/>
              <a:t>          1.89    -0.10    0.32    0.16            2.46 </a:t>
            </a:r>
            <a:r>
              <a:rPr lang="es-MX" sz="1050" dirty="0" smtClean="0">
                <a:solidFill>
                  <a:srgbClr val="FF0000"/>
                </a:solidFill>
              </a:rPr>
              <a:t>+0.45   </a:t>
            </a:r>
            <a:r>
              <a:rPr lang="es-MX" sz="1050" dirty="0" smtClean="0"/>
              <a:t>-0.12   </a:t>
            </a:r>
            <a:r>
              <a:rPr lang="es-MX" sz="1050" dirty="0" smtClean="0">
                <a:solidFill>
                  <a:srgbClr val="FF0000"/>
                </a:solidFill>
              </a:rPr>
              <a:t>+0.33</a:t>
            </a:r>
            <a:r>
              <a:rPr lang="es-MX" sz="1050" dirty="0" smtClean="0"/>
              <a:t>          3.30      0.44   -0.16    0.03          2.14     </a:t>
            </a:r>
            <a:r>
              <a:rPr lang="es-MX" sz="1050" dirty="0" smtClean="0">
                <a:solidFill>
                  <a:srgbClr val="FF0000"/>
                </a:solidFill>
              </a:rPr>
              <a:t>0.70</a:t>
            </a:r>
            <a:r>
              <a:rPr lang="es-MX" sz="1050" dirty="0" smtClean="0"/>
              <a:t>    -0.02     0.45        1.48     0.18    0.00      0.07           </a:t>
            </a:r>
            <a:endParaRPr lang="en-US" sz="1050" dirty="0"/>
          </a:p>
        </p:txBody>
      </p:sp>
      <p:sp>
        <p:nvSpPr>
          <p:cNvPr id="5" name="Rectángulo 4"/>
          <p:cNvSpPr/>
          <p:nvPr/>
        </p:nvSpPr>
        <p:spPr>
          <a:xfrm>
            <a:off x="2820838" y="1405352"/>
            <a:ext cx="310551" cy="2422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*</a:t>
            </a:r>
            <a:endParaRPr lang="en-US" dirty="0"/>
          </a:p>
        </p:txBody>
      </p:sp>
      <p:sp>
        <p:nvSpPr>
          <p:cNvPr id="6" name="CuadroTexto 5"/>
          <p:cNvSpPr txBox="1"/>
          <p:nvPr/>
        </p:nvSpPr>
        <p:spPr>
          <a:xfrm>
            <a:off x="2872596" y="1280258"/>
            <a:ext cx="129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sp>
        <p:nvSpPr>
          <p:cNvPr id="15" name="CuadroTexto 14"/>
          <p:cNvSpPr txBox="1"/>
          <p:nvPr/>
        </p:nvSpPr>
        <p:spPr>
          <a:xfrm>
            <a:off x="5397260" y="1270482"/>
            <a:ext cx="52707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**</a:t>
            </a:r>
            <a:r>
              <a:rPr lang="en-US" dirty="0" smtClean="0"/>
              <a:t>          </a:t>
            </a:r>
            <a:r>
              <a:rPr lang="es-MX" dirty="0" smtClean="0"/>
              <a:t>*                                                **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53669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uadroTexto 6"/>
          <p:cNvSpPr txBox="1"/>
          <p:nvPr/>
        </p:nvSpPr>
        <p:spPr>
          <a:xfrm>
            <a:off x="1460827" y="766814"/>
            <a:ext cx="101773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s-MX" sz="1600" b="1" i="1" dirty="0" smtClean="0"/>
              <a:t>  </a:t>
            </a:r>
            <a:r>
              <a:rPr lang="es-MX" sz="1600" b="1" i="1" dirty="0" err="1" smtClean="0"/>
              <a:t>P.torta</a:t>
            </a:r>
            <a:r>
              <a:rPr lang="es-MX" sz="1600" b="1" i="1" dirty="0" smtClean="0"/>
              <a:t>                         C. </a:t>
            </a:r>
            <a:r>
              <a:rPr lang="es-MX" sz="1600" b="1" i="1" dirty="0" err="1" smtClean="0"/>
              <a:t>racemosa</a:t>
            </a:r>
            <a:r>
              <a:rPr lang="es-MX" sz="1600" b="1" i="1" dirty="0" smtClean="0"/>
              <a:t>               M. </a:t>
            </a:r>
            <a:r>
              <a:rPr lang="es-MX" sz="1600" b="1" i="1" dirty="0" err="1" smtClean="0"/>
              <a:t>sp</a:t>
            </a:r>
            <a:r>
              <a:rPr lang="es-MX" sz="1600" b="1" i="1" dirty="0" smtClean="0"/>
              <a:t>. Nov.                A. </a:t>
            </a:r>
            <a:r>
              <a:rPr lang="es-MX" sz="1600" b="1" i="1" dirty="0" err="1" smtClean="0"/>
              <a:t>lojaensis</a:t>
            </a:r>
            <a:r>
              <a:rPr lang="es-MX" sz="1600" b="1" i="1" dirty="0" smtClean="0"/>
              <a:t>               H. </a:t>
            </a:r>
            <a:r>
              <a:rPr lang="es-MX" sz="1600" b="1" i="1" dirty="0" err="1" smtClean="0"/>
              <a:t>purpurascens</a:t>
            </a:r>
            <a:r>
              <a:rPr lang="es-MX" sz="1600" b="1" i="1" dirty="0" smtClean="0"/>
              <a:t>       W. </a:t>
            </a:r>
            <a:r>
              <a:rPr lang="es-MX" sz="1600" b="1" i="1" dirty="0" err="1" smtClean="0"/>
              <a:t>loxensis</a:t>
            </a:r>
            <a:endParaRPr lang="en-US" sz="1600" b="1" i="1" dirty="0"/>
          </a:p>
        </p:txBody>
      </p:sp>
      <p:sp>
        <p:nvSpPr>
          <p:cNvPr id="12" name="Rectángulo 11"/>
          <p:cNvSpPr/>
          <p:nvPr/>
        </p:nvSpPr>
        <p:spPr>
          <a:xfrm>
            <a:off x="1648276" y="568664"/>
            <a:ext cx="3237881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1000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3" name="Rectángulo 12"/>
          <p:cNvSpPr/>
          <p:nvPr/>
        </p:nvSpPr>
        <p:spPr>
          <a:xfrm>
            <a:off x="5032612" y="582246"/>
            <a:ext cx="3151693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2000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4" name="Rectángulo 13"/>
          <p:cNvSpPr/>
          <p:nvPr/>
        </p:nvSpPr>
        <p:spPr>
          <a:xfrm>
            <a:off x="8338474" y="591123"/>
            <a:ext cx="3299654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2"/>
                </a:solidFill>
              </a:rPr>
              <a:t>3</a:t>
            </a:r>
            <a:r>
              <a:rPr lang="es-MX" dirty="0" smtClean="0">
                <a:solidFill>
                  <a:schemeClr val="tx2"/>
                </a:solidFill>
              </a:rPr>
              <a:t>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9" name="CuadroTexto 18"/>
          <p:cNvSpPr txBox="1"/>
          <p:nvPr/>
        </p:nvSpPr>
        <p:spPr>
          <a:xfrm>
            <a:off x="1648276" y="1174520"/>
            <a:ext cx="113361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900" dirty="0" smtClean="0"/>
              <a:t>39.35      3.78     -2.47         3.82          51.71   -15.67    -3.28      -3.28              </a:t>
            </a:r>
            <a:r>
              <a:rPr lang="es-MX" sz="900" dirty="0"/>
              <a:t>89.53   </a:t>
            </a:r>
            <a:r>
              <a:rPr lang="es-MX" sz="900" dirty="0" smtClean="0"/>
              <a:t>7.332   </a:t>
            </a:r>
            <a:r>
              <a:rPr lang="es-MX" sz="900" dirty="0"/>
              <a:t>  6.950     </a:t>
            </a:r>
            <a:r>
              <a:rPr lang="es-MX" sz="900" dirty="0" smtClean="0"/>
              <a:t> </a:t>
            </a:r>
            <a:r>
              <a:rPr lang="es-MX" sz="900" dirty="0"/>
              <a:t>5.99      </a:t>
            </a:r>
            <a:r>
              <a:rPr lang="es-MX" sz="900" dirty="0" smtClean="0"/>
              <a:t>        106.57    -2.23     -3.50    -</a:t>
            </a:r>
            <a:r>
              <a:rPr lang="es-MX" sz="900" dirty="0"/>
              <a:t>7.96 </a:t>
            </a:r>
            <a:r>
              <a:rPr lang="es-MX" sz="900" dirty="0" smtClean="0"/>
              <a:t>             102.66   5.98    </a:t>
            </a:r>
            <a:r>
              <a:rPr lang="es-MX" sz="900" dirty="0"/>
              <a:t> </a:t>
            </a:r>
            <a:r>
              <a:rPr lang="es-MX" sz="900" dirty="0" smtClean="0"/>
              <a:t> 25.92   -6.42              90.48   -4.61    -8.18      16.14      </a:t>
            </a:r>
            <a:endParaRPr lang="en-US" sz="900" dirty="0"/>
          </a:p>
        </p:txBody>
      </p:sp>
      <p:sp>
        <p:nvSpPr>
          <p:cNvPr id="11" name="CuadroTexto 10"/>
          <p:cNvSpPr txBox="1"/>
          <p:nvPr/>
        </p:nvSpPr>
        <p:spPr>
          <a:xfrm>
            <a:off x="1772552" y="1149453"/>
            <a:ext cx="113361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050" dirty="0" smtClean="0"/>
              <a:t>1.9   0.13   0.15    </a:t>
            </a:r>
            <a:r>
              <a:rPr lang="es-MX" sz="1050" dirty="0">
                <a:solidFill>
                  <a:srgbClr val="FF0000"/>
                </a:solidFill>
              </a:rPr>
              <a:t>+</a:t>
            </a:r>
            <a:r>
              <a:rPr lang="es-MX" sz="1050" dirty="0" smtClean="0">
                <a:solidFill>
                  <a:srgbClr val="FF0000"/>
                </a:solidFill>
              </a:rPr>
              <a:t>0.25</a:t>
            </a:r>
            <a:r>
              <a:rPr lang="es-MX" sz="1050" dirty="0" smtClean="0"/>
              <a:t>          1.89    -0.10    0.32    0.16            2.46 </a:t>
            </a:r>
            <a:r>
              <a:rPr lang="es-MX" sz="1050" dirty="0" smtClean="0">
                <a:solidFill>
                  <a:srgbClr val="FF0000"/>
                </a:solidFill>
              </a:rPr>
              <a:t>+0.45   </a:t>
            </a:r>
            <a:r>
              <a:rPr lang="es-MX" sz="1050" dirty="0" smtClean="0"/>
              <a:t>-0.12 </a:t>
            </a:r>
            <a:r>
              <a:rPr lang="es-MX" sz="1050" dirty="0" smtClean="0">
                <a:solidFill>
                  <a:srgbClr val="FF0000"/>
                </a:solidFill>
              </a:rPr>
              <a:t>+0.33</a:t>
            </a:r>
            <a:r>
              <a:rPr lang="es-MX" sz="1050" dirty="0" smtClean="0"/>
              <a:t>           3.30   0.44   -0.16    0.03         2.14     </a:t>
            </a:r>
            <a:r>
              <a:rPr lang="es-MX" sz="1050" dirty="0" smtClean="0">
                <a:solidFill>
                  <a:srgbClr val="FF0000"/>
                </a:solidFill>
              </a:rPr>
              <a:t>0.702</a:t>
            </a:r>
            <a:r>
              <a:rPr lang="es-MX" sz="1050" dirty="0" smtClean="0"/>
              <a:t>   -0.02  0.45        1.48   0.182   0.00     0.07           </a:t>
            </a:r>
            <a:endParaRPr lang="en-US" sz="1050" dirty="0"/>
          </a:p>
        </p:txBody>
      </p:sp>
      <p:sp>
        <p:nvSpPr>
          <p:cNvPr id="5" name="Rectángulo 4"/>
          <p:cNvSpPr/>
          <p:nvPr/>
        </p:nvSpPr>
        <p:spPr>
          <a:xfrm>
            <a:off x="2820838" y="1405352"/>
            <a:ext cx="310551" cy="2422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*</a:t>
            </a:r>
            <a:endParaRPr lang="en-US" dirty="0"/>
          </a:p>
        </p:txBody>
      </p:sp>
      <p:sp>
        <p:nvSpPr>
          <p:cNvPr id="6" name="CuadroTexto 5"/>
          <p:cNvSpPr txBox="1"/>
          <p:nvPr/>
        </p:nvSpPr>
        <p:spPr>
          <a:xfrm>
            <a:off x="2872596" y="1280258"/>
            <a:ext cx="129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sp>
        <p:nvSpPr>
          <p:cNvPr id="15" name="CuadroTexto 14"/>
          <p:cNvSpPr txBox="1"/>
          <p:nvPr/>
        </p:nvSpPr>
        <p:spPr>
          <a:xfrm>
            <a:off x="5397260" y="1270482"/>
            <a:ext cx="52707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**</a:t>
            </a:r>
            <a:r>
              <a:rPr lang="en-US" dirty="0" smtClean="0"/>
              <a:t>          </a:t>
            </a:r>
            <a:r>
              <a:rPr lang="es-MX" dirty="0" smtClean="0"/>
              <a:t>*                                                **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2"/>
          <a:srcRect l="319" t="17810" r="2608" b="7690"/>
          <a:stretch/>
        </p:blipFill>
        <p:spPr>
          <a:xfrm>
            <a:off x="483799" y="1105368"/>
            <a:ext cx="11224401" cy="5381696"/>
          </a:xfrm>
          <a:prstGeom prst="rect">
            <a:avLst/>
          </a:prstGeom>
        </p:spPr>
      </p:pic>
      <p:sp>
        <p:nvSpPr>
          <p:cNvPr id="16" name="CuadroTexto 15"/>
          <p:cNvSpPr txBox="1"/>
          <p:nvPr/>
        </p:nvSpPr>
        <p:spPr>
          <a:xfrm>
            <a:off x="1648276" y="1136959"/>
            <a:ext cx="113361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050" dirty="0" smtClean="0"/>
              <a:t>80.27   -2.08   -0.78 -2.25          92.05   </a:t>
            </a:r>
            <a:r>
              <a:rPr lang="es-MX" sz="1050" dirty="0" smtClean="0">
                <a:solidFill>
                  <a:srgbClr val="FF0000"/>
                </a:solidFill>
              </a:rPr>
              <a:t>24.50    14.37   </a:t>
            </a:r>
            <a:r>
              <a:rPr lang="es-MX" sz="1050" dirty="0" smtClean="0"/>
              <a:t>7.69        37.13  </a:t>
            </a:r>
            <a:r>
              <a:rPr lang="es-MX" sz="1050" dirty="0" smtClean="0">
                <a:solidFill>
                  <a:srgbClr val="FF0000"/>
                </a:solidFill>
              </a:rPr>
              <a:t>-2.74    </a:t>
            </a:r>
            <a:r>
              <a:rPr lang="es-MX" sz="1050" dirty="0" smtClean="0"/>
              <a:t>-1.75   </a:t>
            </a:r>
            <a:r>
              <a:rPr lang="es-MX" sz="1050" dirty="0" smtClean="0">
                <a:solidFill>
                  <a:srgbClr val="FF0000"/>
                </a:solidFill>
              </a:rPr>
              <a:t>-2.55          </a:t>
            </a:r>
            <a:r>
              <a:rPr lang="es-MX" sz="1050" dirty="0" smtClean="0"/>
              <a:t>35.31  -0.00   0.84    0.53            68.88   -8.0   -2.9       7.02            70.10  -0.55  2.11    2.48</a:t>
            </a:r>
            <a:endParaRPr lang="en-US" sz="1050" dirty="0"/>
          </a:p>
        </p:txBody>
      </p:sp>
      <p:sp>
        <p:nvSpPr>
          <p:cNvPr id="17" name="CuadroTexto 16"/>
          <p:cNvSpPr txBox="1"/>
          <p:nvPr/>
        </p:nvSpPr>
        <p:spPr>
          <a:xfrm>
            <a:off x="3738113" y="1223878"/>
            <a:ext cx="52707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r>
              <a:rPr lang="en-US" dirty="0" smtClean="0"/>
              <a:t>        </a:t>
            </a:r>
            <a:r>
              <a:rPr lang="es-MX" dirty="0" smtClean="0"/>
              <a:t>*                    +             +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765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/>
          <p:cNvSpPr/>
          <p:nvPr/>
        </p:nvSpPr>
        <p:spPr>
          <a:xfrm>
            <a:off x="122829" y="203981"/>
            <a:ext cx="11941791" cy="627870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uadroTexto 7"/>
          <p:cNvSpPr txBox="1"/>
          <p:nvPr/>
        </p:nvSpPr>
        <p:spPr>
          <a:xfrm rot="16200000">
            <a:off x="-3924304" y="2024542"/>
            <a:ext cx="80980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 smtClean="0"/>
          </a:p>
          <a:p>
            <a:r>
              <a:rPr lang="en-US" sz="1400" b="1" dirty="0" smtClean="0"/>
              <a:t>SLA (g/m2</a:t>
            </a:r>
            <a:r>
              <a:rPr lang="en-US" sz="1400" b="1" dirty="0" smtClean="0"/>
              <a:t>)              </a:t>
            </a:r>
            <a:r>
              <a:rPr lang="en-US" sz="1400" b="1" dirty="0" err="1" smtClean="0"/>
              <a:t>P</a:t>
            </a:r>
            <a:r>
              <a:rPr lang="en-US" sz="1400" b="1" dirty="0" err="1" smtClean="0"/>
              <a:t>area</a:t>
            </a:r>
            <a:r>
              <a:rPr lang="en-US" sz="1400" b="1" dirty="0" smtClean="0"/>
              <a:t>(g/m</a:t>
            </a:r>
            <a:r>
              <a:rPr lang="en-US" sz="1400" b="1" baseline="30000" dirty="0" smtClean="0"/>
              <a:t>2</a:t>
            </a:r>
            <a:r>
              <a:rPr lang="en-US" sz="1400" b="1" dirty="0" smtClean="0"/>
              <a:t> </a:t>
            </a:r>
            <a:r>
              <a:rPr lang="en-US" sz="1400" b="1" dirty="0"/>
              <a:t>)   </a:t>
            </a:r>
            <a:r>
              <a:rPr lang="en-US" sz="1400" b="1" dirty="0" smtClean="0"/>
              <a:t>               </a:t>
            </a:r>
            <a:r>
              <a:rPr lang="en-US" sz="1400" b="1" dirty="0" err="1" smtClean="0"/>
              <a:t>Narea</a:t>
            </a:r>
            <a:r>
              <a:rPr lang="en-US" sz="1400" b="1" dirty="0" smtClean="0"/>
              <a:t>(g/m</a:t>
            </a:r>
            <a:r>
              <a:rPr lang="en-US" sz="1400" b="1" baseline="30000" dirty="0" smtClean="0"/>
              <a:t>2</a:t>
            </a:r>
            <a:r>
              <a:rPr lang="en-US" sz="1400" b="1" dirty="0" smtClean="0"/>
              <a:t> )      </a:t>
            </a:r>
            <a:r>
              <a:rPr lang="en-US" sz="1400" b="1" dirty="0" smtClean="0"/>
              <a:t>    </a:t>
            </a:r>
            <a:r>
              <a:rPr lang="en-US" sz="1400" b="1" dirty="0" err="1" smtClean="0"/>
              <a:t>iWUE</a:t>
            </a:r>
            <a:r>
              <a:rPr lang="en-US" sz="1400" b="1" dirty="0" smtClean="0"/>
              <a:t> (</a:t>
            </a:r>
            <a:r>
              <a:rPr lang="el-GR" sz="1400" b="1" dirty="0" smtClean="0"/>
              <a:t>μ</a:t>
            </a:r>
            <a:r>
              <a:rPr lang="en-US" sz="1400" b="1" dirty="0" err="1" smtClean="0"/>
              <a:t>mol</a:t>
            </a:r>
            <a:r>
              <a:rPr lang="en-US" sz="1400" b="1" dirty="0" smtClean="0"/>
              <a:t>/</a:t>
            </a:r>
            <a:r>
              <a:rPr lang="en-US" sz="1400" b="1" dirty="0" err="1" smtClean="0"/>
              <a:t>mol</a:t>
            </a:r>
            <a:r>
              <a:rPr lang="en-US" sz="1400" b="1" dirty="0" smtClean="0"/>
              <a:t>)</a:t>
            </a:r>
            <a:endParaRPr lang="en-US" sz="1400" b="1" dirty="0"/>
          </a:p>
        </p:txBody>
      </p:sp>
      <p:sp>
        <p:nvSpPr>
          <p:cNvPr id="9" name="Rectángulo 8"/>
          <p:cNvSpPr/>
          <p:nvPr/>
        </p:nvSpPr>
        <p:spPr>
          <a:xfrm>
            <a:off x="430238" y="134270"/>
            <a:ext cx="3810000" cy="35843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1000 m</a:t>
            </a:r>
            <a:endParaRPr lang="en-US" dirty="0"/>
          </a:p>
        </p:txBody>
      </p:sp>
      <p:sp>
        <p:nvSpPr>
          <p:cNvPr id="12" name="Rectángulo 11"/>
          <p:cNvSpPr/>
          <p:nvPr/>
        </p:nvSpPr>
        <p:spPr>
          <a:xfrm>
            <a:off x="428469" y="114231"/>
            <a:ext cx="3814129" cy="54035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ángulo 13"/>
          <p:cNvSpPr/>
          <p:nvPr/>
        </p:nvSpPr>
        <p:spPr>
          <a:xfrm>
            <a:off x="4253972" y="791567"/>
            <a:ext cx="3814129" cy="54035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 14"/>
          <p:cNvSpPr/>
          <p:nvPr/>
        </p:nvSpPr>
        <p:spPr>
          <a:xfrm>
            <a:off x="8075345" y="790905"/>
            <a:ext cx="3814129" cy="54035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ángulo 15"/>
          <p:cNvSpPr/>
          <p:nvPr/>
        </p:nvSpPr>
        <p:spPr>
          <a:xfrm>
            <a:off x="4261217" y="115005"/>
            <a:ext cx="3810000" cy="35843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2</a:t>
            </a:r>
            <a:r>
              <a:rPr lang="es-MX" dirty="0" smtClean="0"/>
              <a:t>000 m</a:t>
            </a:r>
            <a:endParaRPr lang="en-US" dirty="0"/>
          </a:p>
        </p:txBody>
      </p:sp>
      <p:sp>
        <p:nvSpPr>
          <p:cNvPr id="18" name="Rectángulo 17"/>
          <p:cNvSpPr/>
          <p:nvPr/>
        </p:nvSpPr>
        <p:spPr>
          <a:xfrm>
            <a:off x="8068101" y="115005"/>
            <a:ext cx="3810000" cy="35843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3</a:t>
            </a:r>
            <a:r>
              <a:rPr lang="es-MX" dirty="0" smtClean="0"/>
              <a:t>000 m</a:t>
            </a:r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3"/>
          <a:srcRect l="1254" t="4675" r="416" b="2362"/>
          <a:stretch/>
        </p:blipFill>
        <p:spPr>
          <a:xfrm>
            <a:off x="406945" y="512742"/>
            <a:ext cx="11657675" cy="5969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766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/>
          <p:cNvSpPr/>
          <p:nvPr/>
        </p:nvSpPr>
        <p:spPr>
          <a:xfrm>
            <a:off x="122829" y="203981"/>
            <a:ext cx="11941791" cy="627870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uadroTexto 7"/>
          <p:cNvSpPr txBox="1"/>
          <p:nvPr/>
        </p:nvSpPr>
        <p:spPr>
          <a:xfrm rot="16200000">
            <a:off x="-3924304" y="2024542"/>
            <a:ext cx="80980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 smtClean="0"/>
          </a:p>
          <a:p>
            <a:r>
              <a:rPr lang="en-US" sz="1400" b="1" dirty="0" smtClean="0"/>
              <a:t>SLA (g/m2</a:t>
            </a:r>
            <a:r>
              <a:rPr lang="en-US" sz="1400" b="1" dirty="0" smtClean="0"/>
              <a:t>)              </a:t>
            </a:r>
            <a:r>
              <a:rPr lang="en-US" sz="1400" b="1" dirty="0" err="1" smtClean="0"/>
              <a:t>P</a:t>
            </a:r>
            <a:r>
              <a:rPr lang="en-US" sz="1400" b="1" dirty="0" err="1" smtClean="0"/>
              <a:t>area</a:t>
            </a:r>
            <a:r>
              <a:rPr lang="en-US" sz="1400" b="1" dirty="0" smtClean="0"/>
              <a:t>(g/m</a:t>
            </a:r>
            <a:r>
              <a:rPr lang="en-US" sz="1400" b="1" baseline="30000" dirty="0" smtClean="0"/>
              <a:t>2</a:t>
            </a:r>
            <a:r>
              <a:rPr lang="en-US" sz="1400" b="1" dirty="0" smtClean="0"/>
              <a:t> </a:t>
            </a:r>
            <a:r>
              <a:rPr lang="en-US" sz="1400" b="1" dirty="0"/>
              <a:t>)   </a:t>
            </a:r>
            <a:r>
              <a:rPr lang="en-US" sz="1400" b="1" dirty="0" smtClean="0"/>
              <a:t>               </a:t>
            </a:r>
            <a:r>
              <a:rPr lang="en-US" sz="1400" b="1" dirty="0" err="1" smtClean="0"/>
              <a:t>Narea</a:t>
            </a:r>
            <a:r>
              <a:rPr lang="en-US" sz="1400" b="1" dirty="0" smtClean="0"/>
              <a:t>(g/m</a:t>
            </a:r>
            <a:r>
              <a:rPr lang="en-US" sz="1400" b="1" baseline="30000" dirty="0" smtClean="0"/>
              <a:t>2</a:t>
            </a:r>
            <a:r>
              <a:rPr lang="en-US" sz="1400" b="1" dirty="0" smtClean="0"/>
              <a:t> )      </a:t>
            </a:r>
            <a:r>
              <a:rPr lang="en-US" sz="1400" b="1" dirty="0" smtClean="0"/>
              <a:t>    </a:t>
            </a:r>
            <a:r>
              <a:rPr lang="en-US" sz="1400" b="1" dirty="0" err="1" smtClean="0"/>
              <a:t>iWUE</a:t>
            </a:r>
            <a:r>
              <a:rPr lang="en-US" sz="1400" b="1" dirty="0" smtClean="0"/>
              <a:t> (</a:t>
            </a:r>
            <a:r>
              <a:rPr lang="el-GR" sz="1400" b="1" dirty="0" smtClean="0"/>
              <a:t>μ</a:t>
            </a:r>
            <a:r>
              <a:rPr lang="en-US" sz="1400" b="1" dirty="0" err="1" smtClean="0"/>
              <a:t>mol</a:t>
            </a:r>
            <a:r>
              <a:rPr lang="en-US" sz="1400" b="1" dirty="0" smtClean="0"/>
              <a:t>/</a:t>
            </a:r>
            <a:r>
              <a:rPr lang="en-US" sz="1400" b="1" dirty="0" err="1" smtClean="0"/>
              <a:t>mol</a:t>
            </a:r>
            <a:r>
              <a:rPr lang="en-US" sz="1400" b="1" dirty="0" smtClean="0"/>
              <a:t>)</a:t>
            </a:r>
            <a:endParaRPr lang="en-US" sz="1400" b="1" dirty="0"/>
          </a:p>
        </p:txBody>
      </p:sp>
      <p:sp>
        <p:nvSpPr>
          <p:cNvPr id="9" name="Rectángulo 8"/>
          <p:cNvSpPr/>
          <p:nvPr/>
        </p:nvSpPr>
        <p:spPr>
          <a:xfrm>
            <a:off x="430238" y="134270"/>
            <a:ext cx="3810000" cy="35843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1000 m</a:t>
            </a:r>
            <a:endParaRPr lang="en-US" dirty="0"/>
          </a:p>
        </p:txBody>
      </p:sp>
      <p:sp>
        <p:nvSpPr>
          <p:cNvPr id="12" name="Rectángulo 11"/>
          <p:cNvSpPr/>
          <p:nvPr/>
        </p:nvSpPr>
        <p:spPr>
          <a:xfrm>
            <a:off x="428469" y="114231"/>
            <a:ext cx="3814129" cy="54035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ángulo 13"/>
          <p:cNvSpPr/>
          <p:nvPr/>
        </p:nvSpPr>
        <p:spPr>
          <a:xfrm>
            <a:off x="4253972" y="791567"/>
            <a:ext cx="3814129" cy="54035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 14"/>
          <p:cNvSpPr/>
          <p:nvPr/>
        </p:nvSpPr>
        <p:spPr>
          <a:xfrm>
            <a:off x="8075345" y="790905"/>
            <a:ext cx="3814129" cy="54035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ángulo 15"/>
          <p:cNvSpPr/>
          <p:nvPr/>
        </p:nvSpPr>
        <p:spPr>
          <a:xfrm>
            <a:off x="4261217" y="115005"/>
            <a:ext cx="3810000" cy="35843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2</a:t>
            </a:r>
            <a:r>
              <a:rPr lang="es-MX" dirty="0" smtClean="0"/>
              <a:t>000 m</a:t>
            </a:r>
            <a:endParaRPr lang="en-US" dirty="0"/>
          </a:p>
        </p:txBody>
      </p:sp>
      <p:sp>
        <p:nvSpPr>
          <p:cNvPr id="18" name="Rectángulo 17"/>
          <p:cNvSpPr/>
          <p:nvPr/>
        </p:nvSpPr>
        <p:spPr>
          <a:xfrm>
            <a:off x="8068101" y="115005"/>
            <a:ext cx="3810000" cy="35843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3</a:t>
            </a:r>
            <a:r>
              <a:rPr lang="es-MX" dirty="0" smtClean="0"/>
              <a:t>000 m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 rotWithShape="1">
          <a:blip r:embed="rId3"/>
          <a:srcRect l="798" t="3932" r="897" b="2325"/>
          <a:stretch/>
        </p:blipFill>
        <p:spPr>
          <a:xfrm>
            <a:off x="417095" y="479452"/>
            <a:ext cx="11622157" cy="600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552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AutoShape 2" descr="http://127.0.0.1:13579/chunk_output/A8884044528A0A49/B0905F8C/c01s2ylc54ika/000020.png"/>
          <p:cNvSpPr>
            <a:spLocks noChangeAspect="1" noChangeArrowheads="1"/>
          </p:cNvSpPr>
          <p:nvPr/>
        </p:nvSpPr>
        <p:spPr bwMode="auto">
          <a:xfrm>
            <a:off x="63500" y="-1365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/>
          <a:srcRect l="1056" t="18263" r="1343" b="2796"/>
          <a:stretch/>
        </p:blipFill>
        <p:spPr>
          <a:xfrm>
            <a:off x="63500" y="459366"/>
            <a:ext cx="12068175" cy="5287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504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587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uadroTexto 4"/>
          <p:cNvSpPr txBox="1"/>
          <p:nvPr/>
        </p:nvSpPr>
        <p:spPr>
          <a:xfrm>
            <a:off x="349102" y="5957957"/>
            <a:ext cx="103236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b="1" dirty="0" smtClean="0">
                <a:solidFill>
                  <a:srgbClr val="FF0000"/>
                </a:solidFill>
              </a:rPr>
              <a:t>REVISANDO TODAVIA</a:t>
            </a:r>
            <a:endParaRPr lang="en-US" sz="4000" b="1" dirty="0">
              <a:solidFill>
                <a:srgbClr val="FF0000"/>
              </a:solidFill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3"/>
          <a:srcRect l="521" t="16108" r="778" b="2220"/>
          <a:stretch/>
        </p:blipFill>
        <p:spPr>
          <a:xfrm>
            <a:off x="-1" y="191387"/>
            <a:ext cx="12525153" cy="5613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450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608</Words>
  <Application>Microsoft Office PowerPoint</Application>
  <PresentationFormat>Panorámica</PresentationFormat>
  <Paragraphs>51</Paragraphs>
  <Slides>9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Tema de Office</vt:lpstr>
      <vt:lpstr>Results Keypoints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selene.baez</dc:creator>
  <cp:lastModifiedBy>selene.baez</cp:lastModifiedBy>
  <cp:revision>31</cp:revision>
  <dcterms:created xsi:type="dcterms:W3CDTF">2026-03-01T16:18:08Z</dcterms:created>
  <dcterms:modified xsi:type="dcterms:W3CDTF">2026-04-07T14:19:11Z</dcterms:modified>
</cp:coreProperties>
</file>