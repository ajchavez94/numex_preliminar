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259" r:id="rId3"/>
    <p:sldId id="262" r:id="rId4"/>
    <p:sldId id="264" r:id="rId5"/>
    <p:sldId id="257" r:id="rId6"/>
    <p:sldId id="260" r:id="rId7"/>
    <p:sldId id="266" r:id="rId8"/>
    <p:sldId id="25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6241" autoAdjust="0"/>
  </p:normalViewPr>
  <p:slideViewPr>
    <p:cSldViewPr snapToGrid="0" showGuides="1">
      <p:cViewPr varScale="1">
        <p:scale>
          <a:sx n="45" d="100"/>
          <a:sy n="45" d="100"/>
        </p:scale>
        <p:origin x="1620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88E1C-9E16-4837-8FE7-B15F160F0F0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F3BFB-D9DC-44A8-A360-D24B8A5210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5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Efectos modelo </a:t>
            </a:r>
            <a:r>
              <a:rPr lang="es-MX" dirty="0" err="1" smtClean="0"/>
              <a:t>lmer</a:t>
            </a:r>
            <a:r>
              <a:rPr lang="es-MX" baseline="0" dirty="0" smtClean="0"/>
              <a:t> contra control. Cual será mejor para publicar?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2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SMA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correlation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between</a:t>
            </a:r>
            <a:r>
              <a:rPr lang="es-MX" baseline="0" dirty="0" smtClean="0"/>
              <a:t> variables. </a:t>
            </a:r>
            <a:r>
              <a:rPr lang="en-US" dirty="0" smtClean="0"/>
              <a:t>Scaling relationships between </a:t>
            </a:r>
            <a:r>
              <a:rPr lang="en-US" dirty="0" err="1" smtClean="0"/>
              <a:t>Asat</a:t>
            </a:r>
            <a:r>
              <a:rPr lang="en-US" dirty="0" smtClean="0"/>
              <a:t> and leaf nutrients were assessed using standardized major axis (SMA) </a:t>
            </a:r>
            <a:r>
              <a:rPr lang="en-US" dirty="0" err="1" smtClean="0"/>
              <a:t>regres</a:t>
            </a:r>
            <a:r>
              <a:rPr lang="en-US" dirty="0" smtClean="0"/>
              <a:t>- </a:t>
            </a:r>
            <a:r>
              <a:rPr lang="en-US" dirty="0" err="1" smtClean="0"/>
              <a:t>sion</a:t>
            </a:r>
            <a:r>
              <a:rPr lang="en-US" dirty="0" smtClean="0"/>
              <a:t> (Wright et al. 2004; Warton et al. 2006; </a:t>
            </a:r>
            <a:r>
              <a:rPr lang="en-US" dirty="0" err="1" smtClean="0"/>
              <a:t>Mantlana</a:t>
            </a:r>
            <a:r>
              <a:rPr lang="en-US" dirty="0" smtClean="0"/>
              <a:t> et al. 2008). SMA regression is a regression method preferred when one is more interested in the true slope of a relation- ship, rather than predicting values for a dependent variable from a predictor variable. It is thus commonly used to establish </a:t>
            </a:r>
            <a:r>
              <a:rPr lang="en-US" dirty="0" err="1" smtClean="0"/>
              <a:t>allometric</a:t>
            </a:r>
            <a:r>
              <a:rPr lang="en-US" dirty="0" smtClean="0"/>
              <a:t> scaling relationships, especially when the two variables are not measured on comparable scales (Warton et al. 2006). All statistical analyses were done in </a:t>
            </a:r>
            <a:r>
              <a:rPr lang="en-US" dirty="0" err="1" smtClean="0"/>
              <a:t>RStudio</a:t>
            </a:r>
            <a:r>
              <a:rPr lang="en-US" dirty="0" smtClean="0"/>
              <a:t> (V 1.1.456).</a:t>
            </a:r>
          </a:p>
          <a:p>
            <a:r>
              <a:rPr lang="es-MX" dirty="0" err="1" smtClean="0"/>
              <a:t>Graphic</a:t>
            </a:r>
            <a:r>
              <a:rPr lang="es-MX" dirty="0" smtClean="0"/>
              <a:t> to </a:t>
            </a:r>
            <a:r>
              <a:rPr lang="es-MX" dirty="0" err="1" smtClean="0"/>
              <a:t>depict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that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although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nutrients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enough</a:t>
            </a:r>
            <a:r>
              <a:rPr lang="es-MX" baseline="0" dirty="0" smtClean="0"/>
              <a:t> to </a:t>
            </a:r>
            <a:r>
              <a:rPr lang="es-MX" baseline="0" dirty="0" err="1" smtClean="0"/>
              <a:t>see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shifts</a:t>
            </a:r>
            <a:r>
              <a:rPr lang="es-MX" baseline="0" dirty="0" smtClean="0"/>
              <a:t>. At 2000 and 3000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responses are more similar. </a:t>
            </a:r>
          </a:p>
          <a:p>
            <a:r>
              <a:rPr lang="es-MX" baseline="0" dirty="0" err="1" smtClean="0"/>
              <a:t>Pouteria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Hedyosmum</a:t>
            </a:r>
            <a:r>
              <a:rPr lang="es-MX" baseline="0" dirty="0" smtClean="0"/>
              <a:t> y </a:t>
            </a:r>
            <a:r>
              <a:rPr lang="es-MX" baseline="0" dirty="0" err="1" smtClean="0"/>
              <a:t>Weinmania</a:t>
            </a:r>
            <a:r>
              <a:rPr lang="es-MX" baseline="0" dirty="0" smtClean="0"/>
              <a:t> tienen resultados que se pueden discutir. Solo en estas </a:t>
            </a:r>
            <a:r>
              <a:rPr lang="es-MX" baseline="0" dirty="0" err="1" smtClean="0"/>
              <a:t>Narea</a:t>
            </a:r>
            <a:r>
              <a:rPr lang="es-MX" baseline="0" dirty="0" smtClean="0"/>
              <a:t> funciona como predictor, pero no necesariamente en todas.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3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3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Exploratory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correlations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between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species</a:t>
            </a:r>
            <a:r>
              <a:rPr lang="es-MX" baseline="0" dirty="0" smtClean="0"/>
              <a:t> and </a:t>
            </a:r>
            <a:r>
              <a:rPr lang="es-MX" baseline="0" dirty="0" err="1" smtClean="0"/>
              <a:t>iWUE</a:t>
            </a:r>
            <a:r>
              <a:rPr lang="es-MX" baseline="0" dirty="0" smtClean="0"/>
              <a:t>/</a:t>
            </a:r>
            <a:r>
              <a:rPr lang="es-MX" baseline="0" dirty="0" err="1" smtClean="0"/>
              <a:t>Narea</a:t>
            </a:r>
            <a:r>
              <a:rPr lang="es-MX" baseline="0" dirty="0" smtClean="0"/>
              <a:t> </a:t>
            </a:r>
            <a:r>
              <a:rPr lang="es-MX" baseline="0" dirty="0" err="1" smtClean="0"/>
              <a:t>relationship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always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there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is</a:t>
            </a:r>
            <a:r>
              <a:rPr lang="es-MX" baseline="0" dirty="0" smtClean="0"/>
              <a:t> a </a:t>
            </a:r>
            <a:r>
              <a:rPr lang="es-MX" baseline="0" dirty="0" err="1" smtClean="0"/>
              <a:t>strong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correlation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Only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significant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shown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Sometimes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correlations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became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negative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but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were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significant</a:t>
            </a:r>
            <a:r>
              <a:rPr lang="es-MX" baseline="0" dirty="0" smtClean="0"/>
              <a:t>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4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7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9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7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4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6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5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8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28C04-B849-41DA-B09B-25717358C15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5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 smtClean="0"/>
              <a:t>Results</a:t>
            </a:r>
            <a:r>
              <a:rPr lang="es-MX" b="1" dirty="0" smtClean="0"/>
              <a:t> </a:t>
            </a:r>
            <a:r>
              <a:rPr lang="es-MX" b="1" dirty="0" err="1" smtClean="0"/>
              <a:t>Keypoints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iWUE</a:t>
            </a:r>
            <a:r>
              <a:rPr lang="es-MX" dirty="0" smtClean="0"/>
              <a:t> </a:t>
            </a:r>
            <a:r>
              <a:rPr lang="es-MX" dirty="0" err="1" smtClean="0"/>
              <a:t>does</a:t>
            </a:r>
            <a:r>
              <a:rPr lang="es-MX" dirty="0" smtClean="0"/>
              <a:t> </a:t>
            </a:r>
            <a:r>
              <a:rPr lang="es-MX" dirty="0" err="1" smtClean="0"/>
              <a:t>not</a:t>
            </a:r>
            <a:r>
              <a:rPr lang="es-MX" dirty="0" smtClean="0"/>
              <a:t> show </a:t>
            </a:r>
            <a:r>
              <a:rPr lang="es-MX" dirty="0" err="1" smtClean="0"/>
              <a:t>changes</a:t>
            </a:r>
            <a:r>
              <a:rPr lang="es-MX" dirty="0" smtClean="0"/>
              <a:t> per </a:t>
            </a:r>
            <a:r>
              <a:rPr lang="es-MX" dirty="0" err="1" smtClean="0"/>
              <a:t>treatments</a:t>
            </a:r>
            <a:r>
              <a:rPr lang="es-MX" dirty="0" smtClean="0"/>
              <a:t> </a:t>
            </a:r>
            <a:r>
              <a:rPr lang="es-MX" dirty="0" err="1" smtClean="0"/>
              <a:t>although</a:t>
            </a:r>
            <a:r>
              <a:rPr lang="es-MX" dirty="0" smtClean="0"/>
              <a:t> </a:t>
            </a:r>
            <a:r>
              <a:rPr lang="es-MX" dirty="0" err="1" smtClean="0"/>
              <a:t>there</a:t>
            </a:r>
            <a:r>
              <a:rPr lang="es-MX" dirty="0" smtClean="0"/>
              <a:t> are </a:t>
            </a:r>
            <a:r>
              <a:rPr lang="es-MX" dirty="0" err="1" smtClean="0"/>
              <a:t>differences</a:t>
            </a:r>
            <a:r>
              <a:rPr lang="es-MX" dirty="0" smtClean="0"/>
              <a:t> in </a:t>
            </a:r>
            <a:r>
              <a:rPr lang="es-MX" dirty="0" err="1" smtClean="0"/>
              <a:t>leaf</a:t>
            </a:r>
            <a:r>
              <a:rPr lang="es-MX" dirty="0" smtClean="0"/>
              <a:t> </a:t>
            </a:r>
            <a:r>
              <a:rPr lang="es-MX" dirty="0" err="1" smtClean="0"/>
              <a:t>nutrients</a:t>
            </a:r>
            <a:r>
              <a:rPr lang="es-MX" dirty="0" smtClean="0"/>
              <a:t> (ex. </a:t>
            </a:r>
            <a:r>
              <a:rPr lang="es-MX" dirty="0" err="1" smtClean="0"/>
              <a:t>Narea</a:t>
            </a:r>
            <a:r>
              <a:rPr lang="es-MX" dirty="0" smtClean="0"/>
              <a:t>, </a:t>
            </a:r>
            <a:r>
              <a:rPr lang="es-MX" dirty="0" err="1" smtClean="0"/>
              <a:t>or</a:t>
            </a:r>
            <a:r>
              <a:rPr lang="es-MX" dirty="0" smtClean="0"/>
              <a:t> N(mg/g)). (</a:t>
            </a:r>
            <a:r>
              <a:rPr lang="es-MX" dirty="0" err="1" smtClean="0"/>
              <a:t>slide</a:t>
            </a:r>
            <a:r>
              <a:rPr lang="es-MX" dirty="0" smtClean="0"/>
              <a:t> 5)</a:t>
            </a:r>
          </a:p>
          <a:p>
            <a:r>
              <a:rPr lang="es-MX" dirty="0" smtClean="0"/>
              <a:t>Responses </a:t>
            </a:r>
            <a:r>
              <a:rPr lang="es-MX" dirty="0" err="1" smtClean="0"/>
              <a:t>change</a:t>
            </a:r>
            <a:r>
              <a:rPr lang="es-MX" dirty="0" smtClean="0"/>
              <a:t> per </a:t>
            </a:r>
            <a:r>
              <a:rPr lang="es-MX" dirty="0" err="1" smtClean="0"/>
              <a:t>specie</a:t>
            </a:r>
            <a:r>
              <a:rPr lang="es-MX" dirty="0" smtClean="0"/>
              <a:t> ( </a:t>
            </a:r>
            <a:r>
              <a:rPr lang="es-MX" dirty="0" err="1" smtClean="0"/>
              <a:t>Pioner</a:t>
            </a:r>
            <a:r>
              <a:rPr lang="es-MX" dirty="0" smtClean="0"/>
              <a:t> vs non-</a:t>
            </a:r>
            <a:r>
              <a:rPr lang="es-MX" dirty="0" err="1" smtClean="0"/>
              <a:t>pioners</a:t>
            </a:r>
            <a:r>
              <a:rPr lang="es-MX" dirty="0" smtClean="0"/>
              <a:t>?/</a:t>
            </a:r>
            <a:r>
              <a:rPr lang="es-MX" dirty="0" err="1" smtClean="0"/>
              <a:t>Acquisitive</a:t>
            </a:r>
            <a:r>
              <a:rPr lang="es-MX" dirty="0" smtClean="0"/>
              <a:t> vs </a:t>
            </a:r>
            <a:r>
              <a:rPr lang="es-MX" dirty="0" err="1" smtClean="0"/>
              <a:t>conservative</a:t>
            </a:r>
            <a:r>
              <a:rPr lang="es-MX" dirty="0" smtClean="0"/>
              <a:t>?).- Preguntar </a:t>
            </a:r>
            <a:r>
              <a:rPr lang="es-MX" dirty="0" err="1" smtClean="0"/>
              <a:t>Jürgen</a:t>
            </a:r>
            <a:r>
              <a:rPr lang="es-MX" dirty="0"/>
              <a:t> </a:t>
            </a:r>
            <a:r>
              <a:rPr lang="es-MX" dirty="0" smtClean="0"/>
              <a:t>estrategias de especies.</a:t>
            </a:r>
          </a:p>
          <a:p>
            <a:r>
              <a:rPr lang="es-MX" dirty="0" err="1" smtClean="0"/>
              <a:t>Species</a:t>
            </a:r>
            <a:r>
              <a:rPr lang="es-MX" dirty="0" smtClean="0"/>
              <a:t> at 2000 </a:t>
            </a:r>
            <a:r>
              <a:rPr lang="es-MX" dirty="0" err="1" smtClean="0"/>
              <a:t>asl</a:t>
            </a:r>
            <a:r>
              <a:rPr lang="es-MX" dirty="0" smtClean="0"/>
              <a:t> and 3000 </a:t>
            </a:r>
            <a:r>
              <a:rPr lang="es-MX" dirty="0" err="1" smtClean="0"/>
              <a:t>asl</a:t>
            </a:r>
            <a:r>
              <a:rPr lang="es-MX" dirty="0" smtClean="0"/>
              <a:t> more similar in </a:t>
            </a:r>
            <a:r>
              <a:rPr lang="es-MX" dirty="0" err="1" smtClean="0"/>
              <a:t>their</a:t>
            </a:r>
            <a:r>
              <a:rPr lang="es-MX" dirty="0" smtClean="0"/>
              <a:t> responses tan at 1000. (</a:t>
            </a:r>
            <a:r>
              <a:rPr lang="es-MX" dirty="0" err="1" smtClean="0"/>
              <a:t>slide</a:t>
            </a:r>
            <a:r>
              <a:rPr lang="es-MX" dirty="0" smtClean="0"/>
              <a:t> 6).</a:t>
            </a:r>
            <a:r>
              <a:rPr lang="es-MX" dirty="0"/>
              <a:t> </a:t>
            </a:r>
            <a:r>
              <a:rPr lang="es-MX" dirty="0" err="1"/>
              <a:t>Higher</a:t>
            </a:r>
            <a:r>
              <a:rPr lang="es-MX" dirty="0"/>
              <a:t> </a:t>
            </a:r>
            <a:r>
              <a:rPr lang="es-MX" dirty="0" err="1"/>
              <a:t>iWUE</a:t>
            </a:r>
            <a:r>
              <a:rPr lang="es-MX" dirty="0"/>
              <a:t> at </a:t>
            </a:r>
            <a:r>
              <a:rPr lang="es-MX" dirty="0" err="1"/>
              <a:t>mid</a:t>
            </a:r>
            <a:r>
              <a:rPr lang="es-MX" dirty="0"/>
              <a:t> and </a:t>
            </a:r>
            <a:r>
              <a:rPr lang="es-MX" dirty="0" err="1"/>
              <a:t>higher</a:t>
            </a:r>
            <a:r>
              <a:rPr lang="es-MX" dirty="0"/>
              <a:t> </a:t>
            </a:r>
            <a:r>
              <a:rPr lang="es-MX" dirty="0" err="1"/>
              <a:t>elevations</a:t>
            </a:r>
            <a:r>
              <a:rPr lang="es-MX" dirty="0"/>
              <a:t> </a:t>
            </a:r>
            <a:r>
              <a:rPr lang="es-MX" dirty="0" err="1"/>
              <a:t>associated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conservative</a:t>
            </a:r>
            <a:r>
              <a:rPr lang="es-MX" dirty="0"/>
              <a:t> </a:t>
            </a:r>
            <a:r>
              <a:rPr lang="es-MX" dirty="0" err="1"/>
              <a:t>traits</a:t>
            </a:r>
            <a:r>
              <a:rPr lang="es-MX" dirty="0"/>
              <a:t> ( </a:t>
            </a:r>
            <a:r>
              <a:rPr lang="es-MX" dirty="0" err="1"/>
              <a:t>smaller</a:t>
            </a:r>
            <a:r>
              <a:rPr lang="es-MX" dirty="0"/>
              <a:t> SLA, </a:t>
            </a:r>
            <a:r>
              <a:rPr lang="es-MX" dirty="0" err="1"/>
              <a:t>higher</a:t>
            </a:r>
            <a:r>
              <a:rPr lang="es-MX" dirty="0"/>
              <a:t> N </a:t>
            </a:r>
            <a:r>
              <a:rPr lang="es-MX" dirty="0" err="1" smtClean="0"/>
              <a:t>content</a:t>
            </a:r>
            <a:r>
              <a:rPr lang="es-MX" dirty="0" smtClean="0"/>
              <a:t>). </a:t>
            </a:r>
            <a:endParaRPr lang="es-MX" dirty="0"/>
          </a:p>
          <a:p>
            <a:endParaRPr lang="es-MX" dirty="0" smtClean="0"/>
          </a:p>
          <a:p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88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t="17800" b="7982"/>
          <a:stretch/>
        </p:blipFill>
        <p:spPr>
          <a:xfrm>
            <a:off x="466664" y="1122363"/>
            <a:ext cx="11433874" cy="5301618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1648276" y="1174520"/>
            <a:ext cx="11336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 smtClean="0"/>
              <a:t>39.35      3.78     -2.47         3.82          51.71   -15.67    -3.28      -3.28              </a:t>
            </a:r>
            <a:r>
              <a:rPr lang="es-MX" sz="900" dirty="0"/>
              <a:t>89.53   </a:t>
            </a:r>
            <a:r>
              <a:rPr lang="es-MX" sz="900" dirty="0" smtClean="0"/>
              <a:t>7.332   </a:t>
            </a:r>
            <a:r>
              <a:rPr lang="es-MX" sz="900" dirty="0"/>
              <a:t>  6.950     </a:t>
            </a:r>
            <a:r>
              <a:rPr lang="es-MX" sz="900" dirty="0" smtClean="0"/>
              <a:t> </a:t>
            </a:r>
            <a:r>
              <a:rPr lang="es-MX" sz="900" dirty="0"/>
              <a:t>5.99      </a:t>
            </a:r>
            <a:r>
              <a:rPr lang="es-MX" sz="900" dirty="0" smtClean="0"/>
              <a:t>        106.57    -2.23     -3.50    -</a:t>
            </a:r>
            <a:r>
              <a:rPr lang="es-MX" sz="900" dirty="0"/>
              <a:t>7.96 </a:t>
            </a:r>
            <a:r>
              <a:rPr lang="es-MX" sz="900" dirty="0" smtClean="0"/>
              <a:t>             102.66   5.98    </a:t>
            </a:r>
            <a:r>
              <a:rPr lang="es-MX" sz="900" dirty="0"/>
              <a:t> </a:t>
            </a:r>
            <a:r>
              <a:rPr lang="es-MX" sz="900" dirty="0" smtClean="0"/>
              <a:t> 25.92   -6.42              90.48   -4.61    -8.18      16.14     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7380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1648276" y="1174520"/>
            <a:ext cx="11336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 smtClean="0"/>
              <a:t>39.35      3.78     -2.47         3.82          51.71   -15.67    -3.28      -3.28              </a:t>
            </a:r>
            <a:r>
              <a:rPr lang="es-MX" sz="900" dirty="0"/>
              <a:t>89.53   </a:t>
            </a:r>
            <a:r>
              <a:rPr lang="es-MX" sz="900" dirty="0" smtClean="0"/>
              <a:t>7.332   </a:t>
            </a:r>
            <a:r>
              <a:rPr lang="es-MX" sz="900" dirty="0"/>
              <a:t>  6.950     </a:t>
            </a:r>
            <a:r>
              <a:rPr lang="es-MX" sz="900" dirty="0" smtClean="0"/>
              <a:t> </a:t>
            </a:r>
            <a:r>
              <a:rPr lang="es-MX" sz="900" dirty="0"/>
              <a:t>5.99      </a:t>
            </a:r>
            <a:r>
              <a:rPr lang="es-MX" sz="900" dirty="0" smtClean="0"/>
              <a:t>        106.57    -2.23     -3.50    -</a:t>
            </a:r>
            <a:r>
              <a:rPr lang="es-MX" sz="900" dirty="0"/>
              <a:t>7.96 </a:t>
            </a:r>
            <a:r>
              <a:rPr lang="es-MX" sz="900" dirty="0" smtClean="0"/>
              <a:t>             102.66   5.98    </a:t>
            </a:r>
            <a:r>
              <a:rPr lang="es-MX" sz="900" dirty="0"/>
              <a:t> </a:t>
            </a:r>
            <a:r>
              <a:rPr lang="es-MX" sz="900" dirty="0" smtClean="0"/>
              <a:t> 25.92   -6.42              90.48   -4.61    -8.18      16.14      </a:t>
            </a:r>
            <a:endParaRPr lang="en-US" sz="9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69" t="17666" r="2560" b="7537"/>
          <a:stretch/>
        </p:blipFill>
        <p:spPr>
          <a:xfrm>
            <a:off x="589290" y="1122363"/>
            <a:ext cx="11013419" cy="5301619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772552" y="1149453"/>
            <a:ext cx="11336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 smtClean="0"/>
              <a:t>1.9   0.13   0.15    </a:t>
            </a:r>
            <a:r>
              <a:rPr lang="es-MX" sz="1050" dirty="0">
                <a:solidFill>
                  <a:srgbClr val="FF0000"/>
                </a:solidFill>
              </a:rPr>
              <a:t>+</a:t>
            </a:r>
            <a:r>
              <a:rPr lang="es-MX" sz="1050" dirty="0" smtClean="0">
                <a:solidFill>
                  <a:srgbClr val="FF0000"/>
                </a:solidFill>
              </a:rPr>
              <a:t>0.25</a:t>
            </a:r>
            <a:r>
              <a:rPr lang="es-MX" sz="1050" dirty="0" smtClean="0"/>
              <a:t>          1.89    -0.10    0.32    0.16            2.46 </a:t>
            </a:r>
            <a:r>
              <a:rPr lang="es-MX" sz="1050" dirty="0" smtClean="0">
                <a:solidFill>
                  <a:srgbClr val="FF0000"/>
                </a:solidFill>
              </a:rPr>
              <a:t>+0.45   </a:t>
            </a:r>
            <a:r>
              <a:rPr lang="es-MX" sz="1050" dirty="0" smtClean="0"/>
              <a:t>-0.12   </a:t>
            </a:r>
            <a:r>
              <a:rPr lang="es-MX" sz="1050" dirty="0" smtClean="0">
                <a:solidFill>
                  <a:srgbClr val="FF0000"/>
                </a:solidFill>
              </a:rPr>
              <a:t>+0.33</a:t>
            </a:r>
            <a:r>
              <a:rPr lang="es-MX" sz="1050" dirty="0" smtClean="0"/>
              <a:t>          3.30      0.44   -0.16    0.03          2.14     </a:t>
            </a:r>
            <a:r>
              <a:rPr lang="es-MX" sz="1050" dirty="0" smtClean="0">
                <a:solidFill>
                  <a:srgbClr val="FF0000"/>
                </a:solidFill>
              </a:rPr>
              <a:t>0.70</a:t>
            </a:r>
            <a:r>
              <a:rPr lang="es-MX" sz="1050" dirty="0" smtClean="0"/>
              <a:t>    -0.02     0.45        1.48     0.18    0.00      0.07           </a:t>
            </a:r>
            <a:endParaRPr lang="en-US" sz="1050" dirty="0"/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2872596" y="1280258"/>
            <a:ext cx="12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*</a:t>
            </a:r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5397260" y="1270482"/>
            <a:ext cx="5270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**</a:t>
            </a:r>
            <a:r>
              <a:rPr lang="en-US" dirty="0" smtClean="0"/>
              <a:t>          </a:t>
            </a:r>
            <a:r>
              <a:rPr lang="es-MX" dirty="0" smtClean="0"/>
              <a:t>*                                                **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6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1648276" y="1174520"/>
            <a:ext cx="11336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 smtClean="0"/>
              <a:t>39.35      3.78     -2.47         3.82          51.71   -15.67    -3.28      -3.28              </a:t>
            </a:r>
            <a:r>
              <a:rPr lang="es-MX" sz="900" dirty="0"/>
              <a:t>89.53   </a:t>
            </a:r>
            <a:r>
              <a:rPr lang="es-MX" sz="900" dirty="0" smtClean="0"/>
              <a:t>7.332   </a:t>
            </a:r>
            <a:r>
              <a:rPr lang="es-MX" sz="900" dirty="0"/>
              <a:t>  6.950     </a:t>
            </a:r>
            <a:r>
              <a:rPr lang="es-MX" sz="900" dirty="0" smtClean="0"/>
              <a:t> </a:t>
            </a:r>
            <a:r>
              <a:rPr lang="es-MX" sz="900" dirty="0"/>
              <a:t>5.99      </a:t>
            </a:r>
            <a:r>
              <a:rPr lang="es-MX" sz="900" dirty="0" smtClean="0"/>
              <a:t>        106.57    -2.23     -3.50    -</a:t>
            </a:r>
            <a:r>
              <a:rPr lang="es-MX" sz="900" dirty="0"/>
              <a:t>7.96 </a:t>
            </a:r>
            <a:r>
              <a:rPr lang="es-MX" sz="900" dirty="0" smtClean="0"/>
              <a:t>             102.66   5.98    </a:t>
            </a:r>
            <a:r>
              <a:rPr lang="es-MX" sz="900" dirty="0"/>
              <a:t> </a:t>
            </a:r>
            <a:r>
              <a:rPr lang="es-MX" sz="900" dirty="0" smtClean="0"/>
              <a:t> 25.92   -6.42              90.48   -4.61    -8.18      16.14      </a:t>
            </a:r>
            <a:endParaRPr lang="en-US" sz="9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772552" y="1149453"/>
            <a:ext cx="11336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 smtClean="0"/>
              <a:t>1.9   0.13   0.15    </a:t>
            </a:r>
            <a:r>
              <a:rPr lang="es-MX" sz="1050" dirty="0">
                <a:solidFill>
                  <a:srgbClr val="FF0000"/>
                </a:solidFill>
              </a:rPr>
              <a:t>+</a:t>
            </a:r>
            <a:r>
              <a:rPr lang="es-MX" sz="1050" dirty="0" smtClean="0">
                <a:solidFill>
                  <a:srgbClr val="FF0000"/>
                </a:solidFill>
              </a:rPr>
              <a:t>0.25</a:t>
            </a:r>
            <a:r>
              <a:rPr lang="es-MX" sz="1050" dirty="0" smtClean="0"/>
              <a:t>          1.89    -0.10    0.32    0.16            2.46 </a:t>
            </a:r>
            <a:r>
              <a:rPr lang="es-MX" sz="1050" dirty="0" smtClean="0">
                <a:solidFill>
                  <a:srgbClr val="FF0000"/>
                </a:solidFill>
              </a:rPr>
              <a:t>+0.45   </a:t>
            </a:r>
            <a:r>
              <a:rPr lang="es-MX" sz="1050" dirty="0" smtClean="0"/>
              <a:t>-0.12 </a:t>
            </a:r>
            <a:r>
              <a:rPr lang="es-MX" sz="1050" dirty="0" smtClean="0">
                <a:solidFill>
                  <a:srgbClr val="FF0000"/>
                </a:solidFill>
              </a:rPr>
              <a:t>+0.33</a:t>
            </a:r>
            <a:r>
              <a:rPr lang="es-MX" sz="1050" dirty="0" smtClean="0"/>
              <a:t>           3.30   0.44   -0.16    0.03         2.14     </a:t>
            </a:r>
            <a:r>
              <a:rPr lang="es-MX" sz="1050" dirty="0" smtClean="0">
                <a:solidFill>
                  <a:srgbClr val="FF0000"/>
                </a:solidFill>
              </a:rPr>
              <a:t>0.702</a:t>
            </a:r>
            <a:r>
              <a:rPr lang="es-MX" sz="1050" dirty="0" smtClean="0"/>
              <a:t>   -0.02  0.45        1.48   0.182   0.00     0.07           </a:t>
            </a:r>
            <a:endParaRPr lang="en-US" sz="1050" dirty="0"/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2872596" y="1280258"/>
            <a:ext cx="12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*</a:t>
            </a:r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5397260" y="1270482"/>
            <a:ext cx="5270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**</a:t>
            </a:r>
            <a:r>
              <a:rPr lang="en-US" dirty="0" smtClean="0"/>
              <a:t>          </a:t>
            </a:r>
            <a:r>
              <a:rPr lang="es-MX" dirty="0" smtClean="0"/>
              <a:t>*                                                **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l="319" t="17810" r="2608" b="7690"/>
          <a:stretch/>
        </p:blipFill>
        <p:spPr>
          <a:xfrm>
            <a:off x="483799" y="1105368"/>
            <a:ext cx="11224401" cy="5381696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1648276" y="1136959"/>
            <a:ext cx="11336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 smtClean="0"/>
              <a:t>80.27   -2.08   -0.78 -2.25          92.05   </a:t>
            </a:r>
            <a:r>
              <a:rPr lang="es-MX" sz="1050" dirty="0" smtClean="0">
                <a:solidFill>
                  <a:srgbClr val="FF0000"/>
                </a:solidFill>
              </a:rPr>
              <a:t>24.50    14.37   </a:t>
            </a:r>
            <a:r>
              <a:rPr lang="es-MX" sz="1050" dirty="0" smtClean="0"/>
              <a:t>7.69        37.13  </a:t>
            </a:r>
            <a:r>
              <a:rPr lang="es-MX" sz="1050" dirty="0" smtClean="0">
                <a:solidFill>
                  <a:srgbClr val="FF0000"/>
                </a:solidFill>
              </a:rPr>
              <a:t>-2.74    </a:t>
            </a:r>
            <a:r>
              <a:rPr lang="es-MX" sz="1050" dirty="0" smtClean="0"/>
              <a:t>-1.75   </a:t>
            </a:r>
            <a:r>
              <a:rPr lang="es-MX" sz="1050" dirty="0" smtClean="0">
                <a:solidFill>
                  <a:srgbClr val="FF0000"/>
                </a:solidFill>
              </a:rPr>
              <a:t>-2.55          </a:t>
            </a:r>
            <a:r>
              <a:rPr lang="es-MX" sz="1050" dirty="0" smtClean="0"/>
              <a:t>35.31  -0.00   0.84    0.53            68.88   -8.0   -2.9       7.02            70.10  -0.55  2.11    2.48</a:t>
            </a:r>
            <a:endParaRPr lang="en-US" sz="105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3738113" y="1223878"/>
            <a:ext cx="5270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*</a:t>
            </a:r>
            <a:r>
              <a:rPr lang="en-US" dirty="0" smtClean="0"/>
              <a:t>        </a:t>
            </a:r>
            <a:r>
              <a:rPr lang="es-MX" dirty="0" smtClean="0"/>
              <a:t>*                    +             +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76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22829" y="203981"/>
            <a:ext cx="11941791" cy="62787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756" t="17538" r="908" b="3770"/>
          <a:stretch/>
        </p:blipFill>
        <p:spPr>
          <a:xfrm>
            <a:off x="443973" y="1131828"/>
            <a:ext cx="11620648" cy="508878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 rot="16200000">
            <a:off x="-3743168" y="1790581"/>
            <a:ext cx="7727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SLA (g/m2)            </a:t>
            </a:r>
            <a:r>
              <a:rPr lang="en-US" b="1" dirty="0" err="1" smtClean="0"/>
              <a:t>Narea</a:t>
            </a:r>
            <a:r>
              <a:rPr lang="en-US" b="1" dirty="0" smtClean="0"/>
              <a:t>(g/m</a:t>
            </a:r>
            <a:r>
              <a:rPr lang="en-US" b="1" baseline="30000" dirty="0" smtClean="0"/>
              <a:t>2</a:t>
            </a:r>
            <a:r>
              <a:rPr lang="en-US" b="1" dirty="0" smtClean="0"/>
              <a:t> )         </a:t>
            </a:r>
            <a:r>
              <a:rPr lang="en-US" b="1" dirty="0" err="1" smtClean="0"/>
              <a:t>iWUE</a:t>
            </a:r>
            <a:r>
              <a:rPr lang="en-US" b="1" dirty="0" smtClean="0"/>
              <a:t> (</a:t>
            </a:r>
            <a:r>
              <a:rPr lang="el-GR" b="1" dirty="0" smtClean="0"/>
              <a:t>μ</a:t>
            </a:r>
            <a:r>
              <a:rPr lang="en-US" b="1" dirty="0" err="1" smtClean="0"/>
              <a:t>mol</a:t>
            </a:r>
            <a:r>
              <a:rPr lang="en-US" b="1" dirty="0" smtClean="0"/>
              <a:t>/</a:t>
            </a:r>
            <a:r>
              <a:rPr lang="en-US" b="1" dirty="0" err="1" smtClean="0"/>
              <a:t>mol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9" name="Rectángulo 8"/>
          <p:cNvSpPr/>
          <p:nvPr/>
        </p:nvSpPr>
        <p:spPr>
          <a:xfrm>
            <a:off x="451217" y="77339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1000 m</a:t>
            </a:r>
            <a:endParaRPr lang="en-US" dirty="0"/>
          </a:p>
        </p:txBody>
      </p:sp>
      <p:sp>
        <p:nvSpPr>
          <p:cNvPr id="12" name="Rectángulo 11"/>
          <p:cNvSpPr/>
          <p:nvPr/>
        </p:nvSpPr>
        <p:spPr>
          <a:xfrm>
            <a:off x="443972" y="773395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/>
          <p:cNvSpPr/>
          <p:nvPr/>
        </p:nvSpPr>
        <p:spPr>
          <a:xfrm>
            <a:off x="4253972" y="791567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/>
          <p:cNvSpPr/>
          <p:nvPr/>
        </p:nvSpPr>
        <p:spPr>
          <a:xfrm>
            <a:off x="8075345" y="790905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261217" y="77339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r>
              <a:rPr lang="es-MX" dirty="0" smtClean="0"/>
              <a:t>000 m</a:t>
            </a:r>
            <a:endParaRPr lang="en-US" dirty="0"/>
          </a:p>
        </p:txBody>
      </p:sp>
      <p:sp>
        <p:nvSpPr>
          <p:cNvPr id="18" name="Rectángulo 17"/>
          <p:cNvSpPr/>
          <p:nvPr/>
        </p:nvSpPr>
        <p:spPr>
          <a:xfrm>
            <a:off x="8068100" y="795217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r>
              <a:rPr lang="es-MX" dirty="0" smtClean="0"/>
              <a:t>000 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76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AutoShape 2" descr="http://127.0.0.1:13579/chunk_output/A8884044528A0A49/B0905F8C/c01s2ylc54ika/000020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056" t="18263" r="1343" b="2796"/>
          <a:stretch/>
        </p:blipFill>
        <p:spPr>
          <a:xfrm>
            <a:off x="63500" y="459366"/>
            <a:ext cx="12068175" cy="528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0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1478" t="17799" r="1774" b="1852"/>
          <a:stretch/>
        </p:blipFill>
        <p:spPr>
          <a:xfrm>
            <a:off x="246196" y="944007"/>
            <a:ext cx="12325025" cy="554446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8200" y="5115678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rgbClr val="FF0000"/>
                </a:solidFill>
              </a:rPr>
              <a:t>REVISANDO TODAVIA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8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AutoShape 2" descr="http://127.0.0.1:45656/chunk_output/s/ADA79C0F/cavyufzpe0cze/00001d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92" y="168275"/>
            <a:ext cx="11101216" cy="618939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8200" y="5115678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rgbClr val="FF0000"/>
                </a:solidFill>
              </a:rPr>
              <a:t>REVISANDO TODAVIA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492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9023"/>
            <a:ext cx="10445471" cy="581995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42925" y="365125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rgbClr val="FF0000"/>
                </a:solidFill>
              </a:rPr>
              <a:t>REVISANDO TODAVIA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838200" y="5115678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rgbClr val="FF0000"/>
                </a:solidFill>
              </a:rPr>
              <a:t>REVISANDO TODAVIA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004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613</Words>
  <Application>Microsoft Office PowerPoint</Application>
  <PresentationFormat>Panorámica</PresentationFormat>
  <Paragraphs>48</Paragraphs>
  <Slides>9</Slides>
  <Notes>4</Notes>
  <HiddenSlides>2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Results Keypoints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selene.baez</dc:creator>
  <cp:lastModifiedBy>selene.baez</cp:lastModifiedBy>
  <cp:revision>25</cp:revision>
  <dcterms:created xsi:type="dcterms:W3CDTF">2026-03-01T16:18:08Z</dcterms:created>
  <dcterms:modified xsi:type="dcterms:W3CDTF">2026-03-24T13:04:07Z</dcterms:modified>
</cp:coreProperties>
</file>