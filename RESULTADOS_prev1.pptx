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3"/>
  </p:notesMasterIdLst>
  <p:sldIdLst>
    <p:sldId id="286" r:id="rId2"/>
    <p:sldId id="267" r:id="rId3"/>
    <p:sldId id="273" r:id="rId4"/>
    <p:sldId id="274" r:id="rId5"/>
    <p:sldId id="281" r:id="rId6"/>
    <p:sldId id="282" r:id="rId7"/>
    <p:sldId id="272" r:id="rId8"/>
    <p:sldId id="276" r:id="rId9"/>
    <p:sldId id="264" r:id="rId10"/>
    <p:sldId id="259" r:id="rId11"/>
    <p:sldId id="280" r:id="rId12"/>
    <p:sldId id="277" r:id="rId13"/>
    <p:sldId id="278" r:id="rId14"/>
    <p:sldId id="279" r:id="rId15"/>
    <p:sldId id="257" r:id="rId16"/>
    <p:sldId id="287" r:id="rId17"/>
    <p:sldId id="270" r:id="rId18"/>
    <p:sldId id="283" r:id="rId19"/>
    <p:sldId id="285" r:id="rId20"/>
    <p:sldId id="260" r:id="rId21"/>
    <p:sldId id="269" r:id="rId2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B301B821-A1FF-4177-AEE7-76D212191A09}" styleName="Estilo medio 1 - Énfasis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BC89EF96-8CEA-46FF-86C4-4CE0E7609802}" styleName="Estilo claro 3 - Acento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3B4B98B0-60AC-42C2-AFA5-B58CD77FA1E5}" styleName="Estilo claro 1 - Acento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000" autoAdjust="0"/>
    <p:restoredTop sz="96047" autoAdjust="0"/>
  </p:normalViewPr>
  <p:slideViewPr>
    <p:cSldViewPr snapToGrid="0" showGuides="1">
      <p:cViewPr varScale="1">
        <p:scale>
          <a:sx n="65" d="100"/>
          <a:sy n="65" d="100"/>
        </p:scale>
        <p:origin x="858" y="102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7988E1C-9E16-4837-8FE7-B15F160F0F0C}" type="datetimeFigureOut">
              <a:rPr lang="en-US" smtClean="0"/>
              <a:t>4/21/2026</a:t>
            </a:fld>
            <a:endParaRPr lang="en-US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 smtClean="0"/>
              <a:t>Editar el estilo de texto del patrón</a:t>
            </a:r>
          </a:p>
          <a:p>
            <a:pPr lvl="1"/>
            <a:r>
              <a:rPr lang="es-ES" smtClean="0"/>
              <a:t>Segundo nivel</a:t>
            </a:r>
          </a:p>
          <a:p>
            <a:pPr lvl="2"/>
            <a:r>
              <a:rPr lang="es-ES" smtClean="0"/>
              <a:t>Tercer nivel</a:t>
            </a:r>
          </a:p>
          <a:p>
            <a:pPr lvl="3"/>
            <a:r>
              <a:rPr lang="es-ES" smtClean="0"/>
              <a:t>Cuarto nivel</a:t>
            </a:r>
          </a:p>
          <a:p>
            <a:pPr lvl="4"/>
            <a:r>
              <a:rPr lang="es-ES" smtClean="0"/>
              <a:t>Quinto nivel</a:t>
            </a:r>
            <a:endParaRPr lang="en-US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C3F3BFB-D9DC-44A8-A360-D24B8A5210C6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3915314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MX" dirty="0" smtClean="0"/>
              <a:t>Efectos modelo </a:t>
            </a:r>
            <a:r>
              <a:rPr lang="es-MX" dirty="0" err="1" smtClean="0"/>
              <a:t>lmer</a:t>
            </a:r>
            <a:r>
              <a:rPr lang="es-MX" baseline="0" dirty="0" smtClean="0"/>
              <a:t> contra control. Cual será mejor para publicar?</a:t>
            </a:r>
            <a:endParaRPr lang="en-US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C3F3BFB-D9DC-44A8-A360-D24B8A5210C6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0232083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MX" dirty="0" smtClean="0"/>
              <a:t>Efectos modelo </a:t>
            </a:r>
            <a:r>
              <a:rPr lang="es-MX" dirty="0" err="1" smtClean="0"/>
              <a:t>lmer</a:t>
            </a:r>
            <a:r>
              <a:rPr lang="es-MX" baseline="0" dirty="0" smtClean="0"/>
              <a:t> contra control. Cual será mejor para publicar?</a:t>
            </a:r>
            <a:endParaRPr lang="en-US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C3F3BFB-D9DC-44A8-A360-D24B8A5210C6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688366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MX" dirty="0" smtClean="0"/>
              <a:t>DUMMIES.</a:t>
            </a:r>
            <a:r>
              <a:rPr lang="es-MX" baseline="0" dirty="0" smtClean="0"/>
              <a:t> La interpretación del </a:t>
            </a:r>
            <a:r>
              <a:rPr lang="es-MX" baseline="0" dirty="0" err="1" smtClean="0"/>
              <a:t>NxP</a:t>
            </a:r>
            <a:r>
              <a:rPr lang="es-MX" baseline="0" dirty="0" smtClean="0"/>
              <a:t> es diferente. Antagonismo </a:t>
            </a:r>
            <a:endParaRPr lang="en-US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C3F3BFB-D9DC-44A8-A360-D24B8A5210C6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9419731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MX" dirty="0" smtClean="0"/>
              <a:t>SMA</a:t>
            </a:r>
            <a:r>
              <a:rPr lang="es-MX" baseline="0" dirty="0" smtClean="0"/>
              <a:t> </a:t>
            </a:r>
            <a:r>
              <a:rPr lang="es-MX" baseline="0" dirty="0" err="1" smtClean="0"/>
              <a:t>correlation</a:t>
            </a:r>
            <a:r>
              <a:rPr lang="es-MX" baseline="0" dirty="0" smtClean="0"/>
              <a:t> </a:t>
            </a:r>
            <a:r>
              <a:rPr lang="es-MX" baseline="0" dirty="0" err="1" smtClean="0"/>
              <a:t>between</a:t>
            </a:r>
            <a:r>
              <a:rPr lang="es-MX" baseline="0" dirty="0" smtClean="0"/>
              <a:t> variables. </a:t>
            </a:r>
            <a:r>
              <a:rPr lang="en-US" dirty="0" smtClean="0"/>
              <a:t>Scaling relationships between </a:t>
            </a:r>
            <a:r>
              <a:rPr lang="en-US" dirty="0" err="1" smtClean="0"/>
              <a:t>Asat</a:t>
            </a:r>
            <a:r>
              <a:rPr lang="en-US" dirty="0" smtClean="0"/>
              <a:t> and leaf nutrients were assessed using standardized major axis (SMA) </a:t>
            </a:r>
            <a:r>
              <a:rPr lang="en-US" dirty="0" err="1" smtClean="0"/>
              <a:t>regres</a:t>
            </a:r>
            <a:r>
              <a:rPr lang="en-US" dirty="0" smtClean="0"/>
              <a:t>- </a:t>
            </a:r>
            <a:r>
              <a:rPr lang="en-US" dirty="0" err="1" smtClean="0"/>
              <a:t>sion</a:t>
            </a:r>
            <a:r>
              <a:rPr lang="en-US" dirty="0" smtClean="0"/>
              <a:t> (Wright et al. 2004; Warton et al. 2006; </a:t>
            </a:r>
            <a:r>
              <a:rPr lang="en-US" dirty="0" err="1" smtClean="0"/>
              <a:t>Mantlana</a:t>
            </a:r>
            <a:r>
              <a:rPr lang="en-US" dirty="0" smtClean="0"/>
              <a:t> et al. 2008). SMA regression is a regression method preferred when one is more interested in the true slope of a relation- ship, rather than predicting values for a dependent variable from a predictor variable. It is thus commonly used to establish </a:t>
            </a:r>
            <a:r>
              <a:rPr lang="en-US" dirty="0" err="1" smtClean="0"/>
              <a:t>allometric</a:t>
            </a:r>
            <a:r>
              <a:rPr lang="en-US" dirty="0" smtClean="0"/>
              <a:t> scaling relationships, especially when the two variables are not measured on comparable scales (Warton et al. 2006). All statistical analyses were done in </a:t>
            </a:r>
            <a:r>
              <a:rPr lang="en-US" dirty="0" err="1" smtClean="0"/>
              <a:t>RStudio</a:t>
            </a:r>
            <a:r>
              <a:rPr lang="en-US" dirty="0" smtClean="0"/>
              <a:t> (V 1.1.456).</a:t>
            </a:r>
          </a:p>
          <a:p>
            <a:r>
              <a:rPr lang="es-MX" dirty="0" err="1" smtClean="0"/>
              <a:t>Graphic</a:t>
            </a:r>
            <a:r>
              <a:rPr lang="es-MX" dirty="0" smtClean="0"/>
              <a:t> to </a:t>
            </a:r>
            <a:r>
              <a:rPr lang="es-MX" dirty="0" err="1" smtClean="0"/>
              <a:t>depict</a:t>
            </a:r>
            <a:r>
              <a:rPr lang="es-MX" baseline="0" dirty="0" smtClean="0"/>
              <a:t> </a:t>
            </a:r>
            <a:r>
              <a:rPr lang="es-MX" baseline="0" dirty="0" err="1" smtClean="0"/>
              <a:t>that</a:t>
            </a:r>
            <a:r>
              <a:rPr lang="es-MX" baseline="0" dirty="0" smtClean="0"/>
              <a:t> </a:t>
            </a:r>
            <a:r>
              <a:rPr lang="es-MX" baseline="0" dirty="0" err="1" smtClean="0"/>
              <a:t>although</a:t>
            </a:r>
            <a:r>
              <a:rPr lang="es-MX" baseline="0" dirty="0" smtClean="0"/>
              <a:t> </a:t>
            </a:r>
            <a:r>
              <a:rPr lang="es-MX" baseline="0" dirty="0" err="1" smtClean="0"/>
              <a:t>nutrients</a:t>
            </a:r>
            <a:r>
              <a:rPr lang="es-MX" baseline="0" dirty="0" smtClean="0"/>
              <a:t> are </a:t>
            </a:r>
            <a:r>
              <a:rPr lang="es-MX" baseline="0" dirty="0" err="1" smtClean="0"/>
              <a:t>not</a:t>
            </a:r>
            <a:r>
              <a:rPr lang="es-MX" baseline="0" dirty="0" smtClean="0"/>
              <a:t> </a:t>
            </a:r>
            <a:r>
              <a:rPr lang="es-MX" baseline="0" dirty="0" err="1" smtClean="0"/>
              <a:t>enough</a:t>
            </a:r>
            <a:r>
              <a:rPr lang="es-MX" baseline="0" dirty="0" smtClean="0"/>
              <a:t> to </a:t>
            </a:r>
            <a:r>
              <a:rPr lang="es-MX" baseline="0" dirty="0" err="1" smtClean="0"/>
              <a:t>see</a:t>
            </a:r>
            <a:r>
              <a:rPr lang="es-MX" baseline="0" dirty="0" smtClean="0"/>
              <a:t> </a:t>
            </a:r>
            <a:r>
              <a:rPr lang="es-MX" baseline="0" dirty="0" err="1" smtClean="0"/>
              <a:t>shifts</a:t>
            </a:r>
            <a:r>
              <a:rPr lang="es-MX" baseline="0" dirty="0" smtClean="0"/>
              <a:t>. At 2000 and 3000 </a:t>
            </a:r>
            <a:r>
              <a:rPr lang="es-MX" baseline="0" dirty="0" err="1" smtClean="0"/>
              <a:t>the</a:t>
            </a:r>
            <a:r>
              <a:rPr lang="es-MX" baseline="0" dirty="0" smtClean="0"/>
              <a:t> responses are more similar. </a:t>
            </a:r>
          </a:p>
          <a:p>
            <a:r>
              <a:rPr lang="es-MX" baseline="0" dirty="0" err="1" smtClean="0"/>
              <a:t>Pouteria</a:t>
            </a:r>
            <a:r>
              <a:rPr lang="es-MX" baseline="0" dirty="0" smtClean="0"/>
              <a:t>, </a:t>
            </a:r>
            <a:r>
              <a:rPr lang="es-MX" baseline="0" dirty="0" err="1" smtClean="0"/>
              <a:t>Hedyosmum</a:t>
            </a:r>
            <a:r>
              <a:rPr lang="es-MX" baseline="0" dirty="0" smtClean="0"/>
              <a:t> y </a:t>
            </a:r>
            <a:r>
              <a:rPr lang="es-MX" baseline="0" dirty="0" err="1" smtClean="0"/>
              <a:t>Weinmania</a:t>
            </a:r>
            <a:r>
              <a:rPr lang="es-MX" baseline="0" dirty="0" smtClean="0"/>
              <a:t> tienen resultados que se pueden discutir. Solo en estas </a:t>
            </a:r>
            <a:r>
              <a:rPr lang="es-MX" baseline="0" dirty="0" err="1" smtClean="0"/>
              <a:t>Narea</a:t>
            </a:r>
            <a:r>
              <a:rPr lang="es-MX" baseline="0" dirty="0" smtClean="0"/>
              <a:t> funciona como predictor, pero no necesariamente en todas. </a:t>
            </a:r>
            <a:endParaRPr lang="en-US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C3F3BFB-D9DC-44A8-A360-D24B8A5210C6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0253532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C3F3BFB-D9DC-44A8-A360-D24B8A5210C6}" type="slidenum">
              <a:rPr lang="en-US" smtClean="0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4959609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s-ES" smtClean="0"/>
              <a:t>Haga clic para modificar el estilo de título del patrón</a:t>
            </a:r>
            <a:endParaRPr lang="en-US"/>
          </a:p>
        </p:txBody>
      </p:sp>
      <p:sp>
        <p:nvSpPr>
          <p:cNvPr id="3" name="Subtítulo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ES" smtClean="0"/>
              <a:t>Haga clic para editar el estilo de subtítulo del patrón</a:t>
            </a:r>
            <a:endParaRPr lang="en-US"/>
          </a:p>
        </p:txBody>
      </p:sp>
      <p:sp>
        <p:nvSpPr>
          <p:cNvPr id="4" name="Marcador de fech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828C04-B849-41DA-B09B-25717358C154}" type="datetimeFigureOut">
              <a:rPr lang="en-US" smtClean="0"/>
              <a:t>4/21/2026</a:t>
            </a:fld>
            <a:endParaRPr lang="en-US"/>
          </a:p>
        </p:txBody>
      </p:sp>
      <p:sp>
        <p:nvSpPr>
          <p:cNvPr id="5" name="Marcador de pie de página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Marcador de número de diapositiv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6FB7F6-16B3-47A4-9A0F-161966D9C78C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7007272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smtClean="0"/>
              <a:t>Haga clic para modificar el estilo de título del patrón</a:t>
            </a:r>
            <a:endParaRPr lang="en-US"/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 smtClean="0"/>
              <a:t>Editar el estilo de texto del patrón</a:t>
            </a:r>
          </a:p>
          <a:p>
            <a:pPr lvl="1"/>
            <a:r>
              <a:rPr lang="es-ES" smtClean="0"/>
              <a:t>Segundo nivel</a:t>
            </a:r>
          </a:p>
          <a:p>
            <a:pPr lvl="2"/>
            <a:r>
              <a:rPr lang="es-ES" smtClean="0"/>
              <a:t>Tercer nivel</a:t>
            </a:r>
          </a:p>
          <a:p>
            <a:pPr lvl="3"/>
            <a:r>
              <a:rPr lang="es-ES" smtClean="0"/>
              <a:t>Cuarto nivel</a:t>
            </a:r>
          </a:p>
          <a:p>
            <a:pPr lvl="4"/>
            <a:r>
              <a:rPr lang="es-ES" smtClean="0"/>
              <a:t>Quinto nivel</a:t>
            </a:r>
            <a:endParaRPr lang="en-US"/>
          </a:p>
        </p:txBody>
      </p:sp>
      <p:sp>
        <p:nvSpPr>
          <p:cNvPr id="4" name="Marcador de fech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828C04-B849-41DA-B09B-25717358C154}" type="datetimeFigureOut">
              <a:rPr lang="en-US" smtClean="0"/>
              <a:t>4/21/2026</a:t>
            </a:fld>
            <a:endParaRPr lang="en-US"/>
          </a:p>
        </p:txBody>
      </p:sp>
      <p:sp>
        <p:nvSpPr>
          <p:cNvPr id="5" name="Marcador de pie de página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Marcador de número de diapositiv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6FB7F6-16B3-47A4-9A0F-161966D9C78C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417634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s-ES" smtClean="0"/>
              <a:t>Haga clic para modificar el estilo de título del patrón</a:t>
            </a:r>
            <a:endParaRPr lang="en-US"/>
          </a:p>
        </p:txBody>
      </p:sp>
      <p:sp>
        <p:nvSpPr>
          <p:cNvPr id="3" name="Marcador de texto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 smtClean="0"/>
              <a:t>Editar el estilo de texto del patrón</a:t>
            </a:r>
          </a:p>
        </p:txBody>
      </p:sp>
      <p:sp>
        <p:nvSpPr>
          <p:cNvPr id="4" name="Marcador de fech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828C04-B849-41DA-B09B-25717358C154}" type="datetimeFigureOut">
              <a:rPr lang="en-US" smtClean="0"/>
              <a:t>4/21/2026</a:t>
            </a:fld>
            <a:endParaRPr lang="en-US"/>
          </a:p>
        </p:txBody>
      </p:sp>
      <p:sp>
        <p:nvSpPr>
          <p:cNvPr id="5" name="Marcador de pie de página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Marcador de número de diapositiv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6FB7F6-16B3-47A4-9A0F-161966D9C78C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7099886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smtClean="0"/>
              <a:t>Haga clic para modificar el estilo de título del patrón</a:t>
            </a:r>
            <a:endParaRPr lang="en-US"/>
          </a:p>
        </p:txBody>
      </p:sp>
      <p:sp>
        <p:nvSpPr>
          <p:cNvPr id="3" name="Marcador de contenido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s-ES" smtClean="0"/>
              <a:t>Editar el estilo de texto del patrón</a:t>
            </a:r>
          </a:p>
          <a:p>
            <a:pPr lvl="1"/>
            <a:r>
              <a:rPr lang="es-ES" smtClean="0"/>
              <a:t>Segundo nivel</a:t>
            </a:r>
          </a:p>
          <a:p>
            <a:pPr lvl="2"/>
            <a:r>
              <a:rPr lang="es-ES" smtClean="0"/>
              <a:t>Tercer nivel</a:t>
            </a:r>
          </a:p>
          <a:p>
            <a:pPr lvl="3"/>
            <a:r>
              <a:rPr lang="es-ES" smtClean="0"/>
              <a:t>Cuarto nivel</a:t>
            </a:r>
          </a:p>
          <a:p>
            <a:pPr lvl="4"/>
            <a:r>
              <a:rPr lang="es-ES" smtClean="0"/>
              <a:t>Quinto nivel</a:t>
            </a:r>
            <a:endParaRPr lang="en-US"/>
          </a:p>
        </p:txBody>
      </p:sp>
      <p:sp>
        <p:nvSpPr>
          <p:cNvPr id="4" name="Marcador de contenido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s-ES" smtClean="0"/>
              <a:t>Editar el estilo de texto del patrón</a:t>
            </a:r>
          </a:p>
          <a:p>
            <a:pPr lvl="1"/>
            <a:r>
              <a:rPr lang="es-ES" smtClean="0"/>
              <a:t>Segundo nivel</a:t>
            </a:r>
          </a:p>
          <a:p>
            <a:pPr lvl="2"/>
            <a:r>
              <a:rPr lang="es-ES" smtClean="0"/>
              <a:t>Tercer nivel</a:t>
            </a:r>
          </a:p>
          <a:p>
            <a:pPr lvl="3"/>
            <a:r>
              <a:rPr lang="es-ES" smtClean="0"/>
              <a:t>Cuarto nivel</a:t>
            </a:r>
          </a:p>
          <a:p>
            <a:pPr lvl="4"/>
            <a:r>
              <a:rPr lang="es-ES" smtClean="0"/>
              <a:t>Quinto nivel</a:t>
            </a:r>
            <a:endParaRPr lang="en-US"/>
          </a:p>
        </p:txBody>
      </p:sp>
      <p:sp>
        <p:nvSpPr>
          <p:cNvPr id="5" name="Marcador de fech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828C04-B849-41DA-B09B-25717358C154}" type="datetimeFigureOut">
              <a:rPr lang="en-US" smtClean="0"/>
              <a:t>4/21/2026</a:t>
            </a:fld>
            <a:endParaRPr lang="en-US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6FB7F6-16B3-47A4-9A0F-161966D9C78C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111032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s-ES" smtClean="0"/>
              <a:t>Haga clic para modificar el estilo de título del patrón</a:t>
            </a:r>
            <a:endParaRPr lang="en-US"/>
          </a:p>
        </p:txBody>
      </p:sp>
      <p:sp>
        <p:nvSpPr>
          <p:cNvPr id="3" name="Marcador de texto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 smtClean="0"/>
              <a:t>Editar el estilo de texto del patrón</a:t>
            </a:r>
          </a:p>
        </p:txBody>
      </p:sp>
      <p:sp>
        <p:nvSpPr>
          <p:cNvPr id="4" name="Marcador de contenido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s-ES" smtClean="0"/>
              <a:t>Editar el estilo de texto del patrón</a:t>
            </a:r>
          </a:p>
          <a:p>
            <a:pPr lvl="1"/>
            <a:r>
              <a:rPr lang="es-ES" smtClean="0"/>
              <a:t>Segundo nivel</a:t>
            </a:r>
          </a:p>
          <a:p>
            <a:pPr lvl="2"/>
            <a:r>
              <a:rPr lang="es-ES" smtClean="0"/>
              <a:t>Tercer nivel</a:t>
            </a:r>
          </a:p>
          <a:p>
            <a:pPr lvl="3"/>
            <a:r>
              <a:rPr lang="es-ES" smtClean="0"/>
              <a:t>Cuarto nivel</a:t>
            </a:r>
          </a:p>
          <a:p>
            <a:pPr lvl="4"/>
            <a:r>
              <a:rPr lang="es-ES" smtClean="0"/>
              <a:t>Quinto nivel</a:t>
            </a:r>
            <a:endParaRPr lang="en-US"/>
          </a:p>
        </p:txBody>
      </p:sp>
      <p:sp>
        <p:nvSpPr>
          <p:cNvPr id="5" name="Marcador de texto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 smtClean="0"/>
              <a:t>Editar el estilo de texto del patrón</a:t>
            </a:r>
          </a:p>
        </p:txBody>
      </p:sp>
      <p:sp>
        <p:nvSpPr>
          <p:cNvPr id="6" name="Marcador de contenido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s-ES" smtClean="0"/>
              <a:t>Editar el estilo de texto del patrón</a:t>
            </a:r>
          </a:p>
          <a:p>
            <a:pPr lvl="1"/>
            <a:r>
              <a:rPr lang="es-ES" smtClean="0"/>
              <a:t>Segundo nivel</a:t>
            </a:r>
          </a:p>
          <a:p>
            <a:pPr lvl="2"/>
            <a:r>
              <a:rPr lang="es-ES" smtClean="0"/>
              <a:t>Tercer nivel</a:t>
            </a:r>
          </a:p>
          <a:p>
            <a:pPr lvl="3"/>
            <a:r>
              <a:rPr lang="es-ES" smtClean="0"/>
              <a:t>Cuarto nivel</a:t>
            </a:r>
          </a:p>
          <a:p>
            <a:pPr lvl="4"/>
            <a:r>
              <a:rPr lang="es-ES" smtClean="0"/>
              <a:t>Quinto nivel</a:t>
            </a:r>
            <a:endParaRPr lang="en-US"/>
          </a:p>
        </p:txBody>
      </p:sp>
      <p:sp>
        <p:nvSpPr>
          <p:cNvPr id="7" name="Marcador de fecha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828C04-B849-41DA-B09B-25717358C154}" type="datetimeFigureOut">
              <a:rPr lang="en-US" smtClean="0"/>
              <a:t>4/21/2026</a:t>
            </a:fld>
            <a:endParaRPr lang="en-US"/>
          </a:p>
        </p:txBody>
      </p:sp>
      <p:sp>
        <p:nvSpPr>
          <p:cNvPr id="8" name="Marcador de pie de página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Marcador de número de diapositiva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6FB7F6-16B3-47A4-9A0F-161966D9C78C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1357125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smtClean="0"/>
              <a:t>Haga clic para modificar el estilo de título del patrón</a:t>
            </a:r>
            <a:endParaRPr lang="en-US"/>
          </a:p>
        </p:txBody>
      </p:sp>
      <p:sp>
        <p:nvSpPr>
          <p:cNvPr id="3" name="Marcador de fecha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828C04-B849-41DA-B09B-25717358C154}" type="datetimeFigureOut">
              <a:rPr lang="en-US" smtClean="0"/>
              <a:t>4/21/2026</a:t>
            </a:fld>
            <a:endParaRPr lang="en-US"/>
          </a:p>
        </p:txBody>
      </p:sp>
      <p:sp>
        <p:nvSpPr>
          <p:cNvPr id="4" name="Marcador de pie de página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Marcador de número de diapositiva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6FB7F6-16B3-47A4-9A0F-161966D9C78C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104693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fecha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828C04-B849-41DA-B09B-25717358C154}" type="datetimeFigureOut">
              <a:rPr lang="en-US" smtClean="0"/>
              <a:t>4/21/2026</a:t>
            </a:fld>
            <a:endParaRPr lang="en-US"/>
          </a:p>
        </p:txBody>
      </p:sp>
      <p:sp>
        <p:nvSpPr>
          <p:cNvPr id="3" name="Marcador de pie de página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6FB7F6-16B3-47A4-9A0F-161966D9C78C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9546510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 smtClean="0"/>
              <a:t>Haga clic para modificar el estilo de título del patrón</a:t>
            </a:r>
            <a:endParaRPr lang="en-US"/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ES" smtClean="0"/>
              <a:t>Editar el estilo de texto del patrón</a:t>
            </a:r>
          </a:p>
          <a:p>
            <a:pPr lvl="1"/>
            <a:r>
              <a:rPr lang="es-ES" smtClean="0"/>
              <a:t>Segundo nivel</a:t>
            </a:r>
          </a:p>
          <a:p>
            <a:pPr lvl="2"/>
            <a:r>
              <a:rPr lang="es-ES" smtClean="0"/>
              <a:t>Tercer nivel</a:t>
            </a:r>
          </a:p>
          <a:p>
            <a:pPr lvl="3"/>
            <a:r>
              <a:rPr lang="es-ES" smtClean="0"/>
              <a:t>Cuarto nivel</a:t>
            </a:r>
          </a:p>
          <a:p>
            <a:pPr lvl="4"/>
            <a:r>
              <a:rPr lang="es-ES" smtClean="0"/>
              <a:t>Quinto nivel</a:t>
            </a:r>
            <a:endParaRPr lang="en-US"/>
          </a:p>
        </p:txBody>
      </p:sp>
      <p:sp>
        <p:nvSpPr>
          <p:cNvPr id="4" name="Marcador de texto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 smtClean="0"/>
              <a:t>Editar el estilo de texto del patrón</a:t>
            </a:r>
          </a:p>
        </p:txBody>
      </p:sp>
      <p:sp>
        <p:nvSpPr>
          <p:cNvPr id="5" name="Marcador de fech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828C04-B849-41DA-B09B-25717358C154}" type="datetimeFigureOut">
              <a:rPr lang="en-US" smtClean="0"/>
              <a:t>4/21/2026</a:t>
            </a:fld>
            <a:endParaRPr lang="en-US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6FB7F6-16B3-47A4-9A0F-161966D9C78C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5745064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 smtClean="0"/>
              <a:t>Haga clic para modificar el estilo de título del patrón</a:t>
            </a:r>
            <a:endParaRPr lang="en-US"/>
          </a:p>
        </p:txBody>
      </p:sp>
      <p:sp>
        <p:nvSpPr>
          <p:cNvPr id="3" name="Marcador de posición de imagen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Marcador de texto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 smtClean="0"/>
              <a:t>Editar el estilo de texto del patrón</a:t>
            </a:r>
          </a:p>
        </p:txBody>
      </p:sp>
      <p:sp>
        <p:nvSpPr>
          <p:cNvPr id="5" name="Marcador de fech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828C04-B849-41DA-B09B-25717358C154}" type="datetimeFigureOut">
              <a:rPr lang="en-US" smtClean="0"/>
              <a:t>4/21/2026</a:t>
            </a:fld>
            <a:endParaRPr lang="en-US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6FB7F6-16B3-47A4-9A0F-161966D9C78C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9289298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smtClean="0"/>
              <a:t>Haga clic para modificar el estilo de título del patrón</a:t>
            </a:r>
            <a:endParaRPr lang="en-US"/>
          </a:p>
        </p:txBody>
      </p:sp>
      <p:sp>
        <p:nvSpPr>
          <p:cNvPr id="3" name="Marcador de texto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 smtClean="0"/>
              <a:t>Editar el estilo de texto del patrón</a:t>
            </a:r>
          </a:p>
          <a:p>
            <a:pPr lvl="1"/>
            <a:r>
              <a:rPr lang="es-ES" smtClean="0"/>
              <a:t>Segundo nivel</a:t>
            </a:r>
          </a:p>
          <a:p>
            <a:pPr lvl="2"/>
            <a:r>
              <a:rPr lang="es-ES" smtClean="0"/>
              <a:t>Tercer nivel</a:t>
            </a:r>
          </a:p>
          <a:p>
            <a:pPr lvl="3"/>
            <a:r>
              <a:rPr lang="es-ES" smtClean="0"/>
              <a:t>Cuarto nivel</a:t>
            </a:r>
          </a:p>
          <a:p>
            <a:pPr lvl="4"/>
            <a:r>
              <a:rPr lang="es-ES" smtClean="0"/>
              <a:t>Quinto nivel</a:t>
            </a:r>
            <a:endParaRPr lang="en-US"/>
          </a:p>
        </p:txBody>
      </p:sp>
      <p:sp>
        <p:nvSpPr>
          <p:cNvPr id="4" name="Marcador de fech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828C04-B849-41DA-B09B-25717358C154}" type="datetimeFigureOut">
              <a:rPr lang="en-US" smtClean="0"/>
              <a:t>4/21/2026</a:t>
            </a:fld>
            <a:endParaRPr lang="en-US"/>
          </a:p>
        </p:txBody>
      </p:sp>
      <p:sp>
        <p:nvSpPr>
          <p:cNvPr id="5" name="Marcador de pie de página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Marcador de número de diapositiv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6FB7F6-16B3-47A4-9A0F-161966D9C78C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2058545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s-ES" smtClean="0"/>
              <a:t>Haga clic para modificar el estilo de título del patrón</a:t>
            </a:r>
            <a:endParaRPr lang="en-US"/>
          </a:p>
        </p:txBody>
      </p:sp>
      <p:sp>
        <p:nvSpPr>
          <p:cNvPr id="3" name="Marcador de texto vertical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s-ES" smtClean="0"/>
              <a:t>Editar el estilo de texto del patrón</a:t>
            </a:r>
          </a:p>
          <a:p>
            <a:pPr lvl="1"/>
            <a:r>
              <a:rPr lang="es-ES" smtClean="0"/>
              <a:t>Segundo nivel</a:t>
            </a:r>
          </a:p>
          <a:p>
            <a:pPr lvl="2"/>
            <a:r>
              <a:rPr lang="es-ES" smtClean="0"/>
              <a:t>Tercer nivel</a:t>
            </a:r>
          </a:p>
          <a:p>
            <a:pPr lvl="3"/>
            <a:r>
              <a:rPr lang="es-ES" smtClean="0"/>
              <a:t>Cuarto nivel</a:t>
            </a:r>
          </a:p>
          <a:p>
            <a:pPr lvl="4"/>
            <a:r>
              <a:rPr lang="es-ES" smtClean="0"/>
              <a:t>Quinto nivel</a:t>
            </a:r>
            <a:endParaRPr lang="en-US"/>
          </a:p>
        </p:txBody>
      </p:sp>
      <p:sp>
        <p:nvSpPr>
          <p:cNvPr id="4" name="Marcador de fech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828C04-B849-41DA-B09B-25717358C154}" type="datetimeFigureOut">
              <a:rPr lang="en-US" smtClean="0"/>
              <a:t>4/21/2026</a:t>
            </a:fld>
            <a:endParaRPr lang="en-US"/>
          </a:p>
        </p:txBody>
      </p:sp>
      <p:sp>
        <p:nvSpPr>
          <p:cNvPr id="5" name="Marcador de pie de página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Marcador de número de diapositiv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6FB7F6-16B3-47A4-9A0F-161966D9C78C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1941357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ítulo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 smtClean="0"/>
              <a:t>Haga clic para modificar el estilo de título del patrón</a:t>
            </a:r>
            <a:endParaRPr lang="en-US"/>
          </a:p>
        </p:txBody>
      </p:sp>
      <p:sp>
        <p:nvSpPr>
          <p:cNvPr id="3" name="Marcador de texto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 smtClean="0"/>
              <a:t>Editar el estilo de texto del patrón</a:t>
            </a:r>
          </a:p>
          <a:p>
            <a:pPr lvl="1"/>
            <a:r>
              <a:rPr lang="es-ES" smtClean="0"/>
              <a:t>Segundo nivel</a:t>
            </a:r>
          </a:p>
          <a:p>
            <a:pPr lvl="2"/>
            <a:r>
              <a:rPr lang="es-ES" smtClean="0"/>
              <a:t>Tercer nivel</a:t>
            </a:r>
          </a:p>
          <a:p>
            <a:pPr lvl="3"/>
            <a:r>
              <a:rPr lang="es-ES" smtClean="0"/>
              <a:t>Cuarto nivel</a:t>
            </a:r>
          </a:p>
          <a:p>
            <a:pPr lvl="4"/>
            <a:r>
              <a:rPr lang="es-ES" smtClean="0"/>
              <a:t>Quinto nivel</a:t>
            </a:r>
            <a:endParaRPr lang="en-US"/>
          </a:p>
        </p:txBody>
      </p:sp>
      <p:sp>
        <p:nvSpPr>
          <p:cNvPr id="4" name="Marcador de fecha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6828C04-B849-41DA-B09B-25717358C154}" type="datetimeFigureOut">
              <a:rPr lang="en-US" smtClean="0"/>
              <a:t>4/21/2026</a:t>
            </a:fld>
            <a:endParaRPr lang="en-US"/>
          </a:p>
        </p:txBody>
      </p:sp>
      <p:sp>
        <p:nvSpPr>
          <p:cNvPr id="5" name="Marcador de pie de página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Marcador de número de diapositiva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16FB7F6-16B3-47A4-9A0F-161966D9C78C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6575106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Marcador de contenido 3"/>
          <p:cNvPicPr>
            <a:picLocks noGrp="1" noChangeAspect="1"/>
          </p:cNvPicPr>
          <p:nvPr>
            <p:ph idx="1"/>
          </p:nvPr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6240" r="36335" b="24059"/>
          <a:stretch/>
        </p:blipFill>
        <p:spPr>
          <a:xfrm>
            <a:off x="1460897" y="825672"/>
            <a:ext cx="8328562" cy="5206656"/>
          </a:xfrm>
        </p:spPr>
      </p:pic>
      <p:sp>
        <p:nvSpPr>
          <p:cNvPr id="5" name="Rectángulo 4"/>
          <p:cNvSpPr/>
          <p:nvPr/>
        </p:nvSpPr>
        <p:spPr>
          <a:xfrm>
            <a:off x="1577788" y="512826"/>
            <a:ext cx="4903694" cy="3048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702138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 b="1" dirty="0"/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sz="2300" i="1" dirty="0">
                <a:solidFill>
                  <a:schemeClr val="accent6">
                    <a:lumMod val="75000"/>
                  </a:schemeClr>
                </a:solidFill>
              </a:rPr>
              <a:t>RQ1. Does moderate nutrient addition affect intrinsic water-use efficiency (</a:t>
            </a:r>
            <a:r>
              <a:rPr lang="en-US" sz="2300" i="1" dirty="0" err="1">
                <a:solidFill>
                  <a:schemeClr val="accent6">
                    <a:lumMod val="75000"/>
                  </a:schemeClr>
                </a:solidFill>
              </a:rPr>
              <a:t>iWUE</a:t>
            </a:r>
            <a:r>
              <a:rPr lang="en-US" sz="2300" i="1" dirty="0">
                <a:solidFill>
                  <a:schemeClr val="accent6">
                    <a:lumMod val="75000"/>
                  </a:schemeClr>
                </a:solidFill>
              </a:rPr>
              <a:t>) after 15 years of fertilization across treatments in an </a:t>
            </a:r>
            <a:r>
              <a:rPr lang="en-US" sz="2300" i="1" dirty="0" err="1">
                <a:solidFill>
                  <a:schemeClr val="accent6">
                    <a:lumMod val="75000"/>
                  </a:schemeClr>
                </a:solidFill>
              </a:rPr>
              <a:t>elevational</a:t>
            </a:r>
            <a:r>
              <a:rPr lang="en-US" sz="2300" i="1" dirty="0">
                <a:solidFill>
                  <a:schemeClr val="accent6">
                    <a:lumMod val="75000"/>
                  </a:schemeClr>
                </a:solidFill>
              </a:rPr>
              <a:t> gradient</a:t>
            </a:r>
            <a:r>
              <a:rPr lang="en-US" sz="2300" i="1" dirty="0" smtClean="0">
                <a:solidFill>
                  <a:schemeClr val="accent6">
                    <a:lumMod val="75000"/>
                  </a:schemeClr>
                </a:solidFill>
              </a:rPr>
              <a:t>?</a:t>
            </a:r>
            <a:r>
              <a:rPr lang="en-US" sz="2300" i="1" dirty="0">
                <a:solidFill>
                  <a:schemeClr val="accent6">
                    <a:lumMod val="75000"/>
                  </a:schemeClr>
                </a:solidFill>
              </a:rPr>
              <a:t> </a:t>
            </a:r>
            <a:endParaRPr lang="en-US" sz="2300" dirty="0">
              <a:solidFill>
                <a:schemeClr val="accent6">
                  <a:lumMod val="75000"/>
                </a:schemeClr>
              </a:solidFill>
            </a:endParaRPr>
          </a:p>
          <a:p>
            <a:r>
              <a:rPr lang="en-US" sz="2300" i="1" dirty="0" smtClean="0">
                <a:solidFill>
                  <a:schemeClr val="accent6">
                    <a:lumMod val="75000"/>
                  </a:schemeClr>
                </a:solidFill>
              </a:rPr>
              <a:t>RQ2. </a:t>
            </a:r>
            <a:r>
              <a:rPr lang="en-US" sz="2300" i="1" dirty="0">
                <a:solidFill>
                  <a:schemeClr val="accent6">
                    <a:lumMod val="75000"/>
                  </a:schemeClr>
                </a:solidFill>
              </a:rPr>
              <a:t>What is the effect of  moderate nutrient addition to leaf nutrients (</a:t>
            </a:r>
            <a:r>
              <a:rPr lang="en-US" sz="2300" i="1" dirty="0" err="1">
                <a:solidFill>
                  <a:schemeClr val="accent6">
                    <a:lumMod val="75000"/>
                  </a:schemeClr>
                </a:solidFill>
              </a:rPr>
              <a:t>Nmass</a:t>
            </a:r>
            <a:r>
              <a:rPr lang="en-US" sz="2300" i="1" dirty="0">
                <a:solidFill>
                  <a:schemeClr val="accent6">
                    <a:lumMod val="75000"/>
                  </a:schemeClr>
                </a:solidFill>
              </a:rPr>
              <a:t> and </a:t>
            </a:r>
            <a:r>
              <a:rPr lang="en-US" sz="2300" i="1" dirty="0" err="1">
                <a:solidFill>
                  <a:schemeClr val="accent6">
                    <a:lumMod val="75000"/>
                  </a:schemeClr>
                </a:solidFill>
              </a:rPr>
              <a:t>Narea</a:t>
            </a:r>
            <a:r>
              <a:rPr lang="en-US" sz="2300" i="1" dirty="0">
                <a:solidFill>
                  <a:schemeClr val="accent6">
                    <a:lumMod val="75000"/>
                  </a:schemeClr>
                </a:solidFill>
              </a:rPr>
              <a:t>) and key leaf structural traits (</a:t>
            </a:r>
            <a:r>
              <a:rPr lang="en-US" sz="2300" i="1" dirty="0" smtClean="0">
                <a:solidFill>
                  <a:schemeClr val="accent6">
                    <a:lumMod val="75000"/>
                  </a:schemeClr>
                </a:solidFill>
              </a:rPr>
              <a:t>SLA) </a:t>
            </a:r>
            <a:r>
              <a:rPr lang="en-US" sz="2300" i="1" dirty="0">
                <a:solidFill>
                  <a:schemeClr val="accent6">
                    <a:lumMod val="75000"/>
                  </a:schemeClr>
                </a:solidFill>
              </a:rPr>
              <a:t>after 15 years of fertilization across treatments in an </a:t>
            </a:r>
            <a:r>
              <a:rPr lang="en-US" sz="2300" i="1" dirty="0" err="1">
                <a:solidFill>
                  <a:schemeClr val="accent6">
                    <a:lumMod val="75000"/>
                  </a:schemeClr>
                </a:solidFill>
              </a:rPr>
              <a:t>elevational</a:t>
            </a:r>
            <a:r>
              <a:rPr lang="en-US" sz="2300" i="1" dirty="0">
                <a:solidFill>
                  <a:schemeClr val="accent6">
                    <a:lumMod val="75000"/>
                  </a:schemeClr>
                </a:solidFill>
              </a:rPr>
              <a:t> gradient?</a:t>
            </a:r>
            <a:endParaRPr lang="en-US" sz="2300" dirty="0">
              <a:solidFill>
                <a:schemeClr val="accent6">
                  <a:lumMod val="75000"/>
                </a:schemeClr>
              </a:solidFill>
            </a:endParaRPr>
          </a:p>
          <a:p>
            <a:r>
              <a:rPr lang="es-MX" dirty="0" err="1"/>
              <a:t>iWUE</a:t>
            </a:r>
            <a:r>
              <a:rPr lang="es-MX" dirty="0"/>
              <a:t> </a:t>
            </a:r>
            <a:r>
              <a:rPr lang="es-MX" dirty="0" err="1"/>
              <a:t>does</a:t>
            </a:r>
            <a:r>
              <a:rPr lang="es-MX" dirty="0"/>
              <a:t> </a:t>
            </a:r>
            <a:r>
              <a:rPr lang="es-MX" dirty="0" err="1"/>
              <a:t>not</a:t>
            </a:r>
            <a:r>
              <a:rPr lang="es-MX" dirty="0"/>
              <a:t> show </a:t>
            </a:r>
            <a:r>
              <a:rPr lang="es-MX" dirty="0" err="1"/>
              <a:t>changes</a:t>
            </a:r>
            <a:r>
              <a:rPr lang="es-MX" dirty="0"/>
              <a:t> per </a:t>
            </a:r>
            <a:r>
              <a:rPr lang="es-MX" dirty="0" err="1"/>
              <a:t>treatments</a:t>
            </a:r>
            <a:r>
              <a:rPr lang="es-MX" dirty="0"/>
              <a:t> </a:t>
            </a:r>
            <a:r>
              <a:rPr lang="es-MX" dirty="0" smtClean="0"/>
              <a:t>(</a:t>
            </a:r>
            <a:r>
              <a:rPr lang="es-MX" dirty="0" err="1" smtClean="0"/>
              <a:t>slide</a:t>
            </a:r>
            <a:r>
              <a:rPr lang="es-MX" dirty="0" smtClean="0"/>
              <a:t> 5) </a:t>
            </a:r>
            <a:r>
              <a:rPr lang="es-MX" dirty="0" err="1" smtClean="0"/>
              <a:t>although</a:t>
            </a:r>
            <a:r>
              <a:rPr lang="es-MX" dirty="0" smtClean="0"/>
              <a:t> </a:t>
            </a:r>
            <a:r>
              <a:rPr lang="es-MX" dirty="0" err="1"/>
              <a:t>there</a:t>
            </a:r>
            <a:r>
              <a:rPr lang="es-MX" dirty="0"/>
              <a:t> are </a:t>
            </a:r>
            <a:r>
              <a:rPr lang="es-MX" dirty="0" err="1"/>
              <a:t>differences</a:t>
            </a:r>
            <a:r>
              <a:rPr lang="es-MX" dirty="0"/>
              <a:t> </a:t>
            </a:r>
            <a:r>
              <a:rPr lang="es-MX" dirty="0" err="1"/>
              <a:t>between</a:t>
            </a:r>
            <a:r>
              <a:rPr lang="es-MX" dirty="0"/>
              <a:t> </a:t>
            </a:r>
            <a:r>
              <a:rPr lang="es-MX" dirty="0" err="1"/>
              <a:t>groups</a:t>
            </a:r>
            <a:r>
              <a:rPr lang="es-MX" dirty="0"/>
              <a:t> </a:t>
            </a:r>
            <a:r>
              <a:rPr lang="es-MX" dirty="0" err="1"/>
              <a:t>for</a:t>
            </a:r>
            <a:r>
              <a:rPr lang="es-MX" dirty="0"/>
              <a:t> </a:t>
            </a:r>
            <a:r>
              <a:rPr lang="es-MX" dirty="0" err="1"/>
              <a:t>leaf</a:t>
            </a:r>
            <a:r>
              <a:rPr lang="es-MX" dirty="0"/>
              <a:t> </a:t>
            </a:r>
            <a:r>
              <a:rPr lang="es-MX" dirty="0" err="1"/>
              <a:t>nutrients</a:t>
            </a:r>
            <a:r>
              <a:rPr lang="es-MX" dirty="0"/>
              <a:t> </a:t>
            </a:r>
            <a:r>
              <a:rPr lang="es-MX" dirty="0" smtClean="0"/>
              <a:t>(</a:t>
            </a:r>
            <a:r>
              <a:rPr lang="es-MX" dirty="0"/>
              <a:t>ex. </a:t>
            </a:r>
            <a:r>
              <a:rPr lang="es-MX" dirty="0" err="1"/>
              <a:t>Narea</a:t>
            </a:r>
            <a:r>
              <a:rPr lang="es-MX" dirty="0"/>
              <a:t>, </a:t>
            </a:r>
            <a:r>
              <a:rPr lang="es-MX" dirty="0" err="1"/>
              <a:t>or</a:t>
            </a:r>
            <a:r>
              <a:rPr lang="es-MX" dirty="0"/>
              <a:t> N(mg/g)). (</a:t>
            </a:r>
            <a:r>
              <a:rPr lang="es-MX" dirty="0" err="1"/>
              <a:t>slide</a:t>
            </a:r>
            <a:r>
              <a:rPr lang="es-MX" dirty="0"/>
              <a:t> </a:t>
            </a:r>
            <a:r>
              <a:rPr lang="es-MX" dirty="0" smtClean="0"/>
              <a:t>6,7,8)</a:t>
            </a:r>
            <a:r>
              <a:rPr lang="en-US" i="1" dirty="0" smtClean="0"/>
              <a:t>. </a:t>
            </a:r>
            <a:r>
              <a:rPr lang="en-US" dirty="0" smtClean="0"/>
              <a:t>SLA also does not change </a:t>
            </a:r>
            <a:r>
              <a:rPr lang="en-US" dirty="0" err="1" smtClean="0"/>
              <a:t>consistenly</a:t>
            </a:r>
            <a:r>
              <a:rPr lang="en-US" dirty="0" smtClean="0"/>
              <a:t> just </a:t>
            </a:r>
            <a:r>
              <a:rPr lang="en-US" i="1" dirty="0" smtClean="0"/>
              <a:t>C. </a:t>
            </a:r>
            <a:r>
              <a:rPr lang="en-US" i="1" dirty="0" err="1" smtClean="0"/>
              <a:t>racemosa</a:t>
            </a:r>
            <a:r>
              <a:rPr lang="en-US" i="1" dirty="0" smtClean="0"/>
              <a:t> (</a:t>
            </a:r>
            <a:r>
              <a:rPr lang="en-US" dirty="0" smtClean="0"/>
              <a:t>slide 9</a:t>
            </a:r>
            <a:r>
              <a:rPr lang="en-US" i="1" dirty="0" smtClean="0"/>
              <a:t>) </a:t>
            </a:r>
            <a:endParaRPr lang="en-US" dirty="0"/>
          </a:p>
          <a:p>
            <a:r>
              <a:rPr lang="es-MX" dirty="0" smtClean="0"/>
              <a:t>Responses </a:t>
            </a:r>
            <a:r>
              <a:rPr lang="es-MX" dirty="0" err="1" smtClean="0"/>
              <a:t>change</a:t>
            </a:r>
            <a:r>
              <a:rPr lang="es-MX" dirty="0" smtClean="0"/>
              <a:t> per </a:t>
            </a:r>
            <a:r>
              <a:rPr lang="es-MX" dirty="0" err="1" smtClean="0"/>
              <a:t>specie</a:t>
            </a:r>
            <a:r>
              <a:rPr lang="es-MX" dirty="0" smtClean="0"/>
              <a:t> -&gt; </a:t>
            </a:r>
            <a:r>
              <a:rPr lang="es-MX" dirty="0" err="1" smtClean="0"/>
              <a:t>Working</a:t>
            </a:r>
            <a:r>
              <a:rPr lang="es-MX" dirty="0" smtClean="0"/>
              <a:t> </a:t>
            </a:r>
            <a:r>
              <a:rPr lang="es-MX" dirty="0" err="1" smtClean="0"/>
              <a:t>on</a:t>
            </a:r>
            <a:r>
              <a:rPr lang="es-MX" dirty="0" smtClean="0"/>
              <a:t> a chart of </a:t>
            </a:r>
            <a:r>
              <a:rPr lang="es-MX" dirty="0" err="1" smtClean="0"/>
              <a:t>species</a:t>
            </a:r>
            <a:r>
              <a:rPr lang="es-MX" dirty="0" smtClean="0"/>
              <a:t> </a:t>
            </a:r>
            <a:r>
              <a:rPr lang="es-MX" dirty="0" err="1" smtClean="0"/>
              <a:t>characteristics</a:t>
            </a:r>
            <a:r>
              <a:rPr lang="es-MX" dirty="0" smtClean="0"/>
              <a:t>.</a:t>
            </a:r>
            <a:endParaRPr lang="es-MX" dirty="0"/>
          </a:p>
          <a:p>
            <a:r>
              <a:rPr lang="es-MX" dirty="0" err="1" smtClean="0"/>
              <a:t>Species</a:t>
            </a:r>
            <a:r>
              <a:rPr lang="es-MX" dirty="0" smtClean="0"/>
              <a:t> at 2000 </a:t>
            </a:r>
            <a:r>
              <a:rPr lang="es-MX" dirty="0" err="1" smtClean="0"/>
              <a:t>asl</a:t>
            </a:r>
            <a:r>
              <a:rPr lang="es-MX" dirty="0" smtClean="0"/>
              <a:t> and 3000 </a:t>
            </a:r>
            <a:r>
              <a:rPr lang="es-MX" dirty="0" err="1" smtClean="0"/>
              <a:t>asl</a:t>
            </a:r>
            <a:r>
              <a:rPr lang="es-MX" dirty="0" smtClean="0"/>
              <a:t> more similar in </a:t>
            </a:r>
            <a:r>
              <a:rPr lang="es-MX" dirty="0" err="1" smtClean="0"/>
              <a:t>their</a:t>
            </a:r>
            <a:r>
              <a:rPr lang="es-MX" dirty="0" smtClean="0"/>
              <a:t> responses tan at 1000. </a:t>
            </a:r>
            <a:r>
              <a:rPr lang="es-MX" dirty="0" err="1"/>
              <a:t>Higher</a:t>
            </a:r>
            <a:r>
              <a:rPr lang="es-MX" dirty="0"/>
              <a:t> </a:t>
            </a:r>
            <a:r>
              <a:rPr lang="es-MX" dirty="0" err="1"/>
              <a:t>iWUE</a:t>
            </a:r>
            <a:r>
              <a:rPr lang="es-MX" dirty="0"/>
              <a:t> at </a:t>
            </a:r>
            <a:r>
              <a:rPr lang="es-MX" dirty="0" err="1"/>
              <a:t>mid</a:t>
            </a:r>
            <a:r>
              <a:rPr lang="es-MX" dirty="0"/>
              <a:t> and </a:t>
            </a:r>
            <a:r>
              <a:rPr lang="es-MX" dirty="0" err="1"/>
              <a:t>higher</a:t>
            </a:r>
            <a:r>
              <a:rPr lang="es-MX" dirty="0"/>
              <a:t> </a:t>
            </a:r>
            <a:r>
              <a:rPr lang="es-MX" dirty="0" err="1"/>
              <a:t>elevations</a:t>
            </a:r>
            <a:r>
              <a:rPr lang="es-MX" dirty="0"/>
              <a:t> </a:t>
            </a:r>
            <a:r>
              <a:rPr lang="es-MX" dirty="0" err="1"/>
              <a:t>associated</a:t>
            </a:r>
            <a:r>
              <a:rPr lang="es-MX" dirty="0"/>
              <a:t> </a:t>
            </a:r>
            <a:r>
              <a:rPr lang="es-MX" dirty="0" err="1"/>
              <a:t>with</a:t>
            </a:r>
            <a:r>
              <a:rPr lang="es-MX" dirty="0"/>
              <a:t> </a:t>
            </a:r>
            <a:r>
              <a:rPr lang="es-MX" dirty="0" err="1"/>
              <a:t>conservative</a:t>
            </a:r>
            <a:r>
              <a:rPr lang="es-MX" dirty="0"/>
              <a:t> </a:t>
            </a:r>
            <a:r>
              <a:rPr lang="es-MX" dirty="0" err="1"/>
              <a:t>traits</a:t>
            </a:r>
            <a:r>
              <a:rPr lang="es-MX" dirty="0"/>
              <a:t> ( </a:t>
            </a:r>
            <a:r>
              <a:rPr lang="es-MX" dirty="0" err="1"/>
              <a:t>smaller</a:t>
            </a:r>
            <a:r>
              <a:rPr lang="es-MX" dirty="0"/>
              <a:t> SLA, </a:t>
            </a:r>
            <a:r>
              <a:rPr lang="es-MX" dirty="0" err="1"/>
              <a:t>higher</a:t>
            </a:r>
            <a:r>
              <a:rPr lang="es-MX" dirty="0"/>
              <a:t> N </a:t>
            </a:r>
            <a:r>
              <a:rPr lang="es-MX" dirty="0" err="1" smtClean="0"/>
              <a:t>content</a:t>
            </a:r>
            <a:r>
              <a:rPr lang="es-MX" dirty="0" smtClean="0"/>
              <a:t>). </a:t>
            </a:r>
            <a:endParaRPr lang="es-MX" dirty="0"/>
          </a:p>
          <a:p>
            <a:endParaRPr lang="es-MX" dirty="0" smtClean="0"/>
          </a:p>
          <a:p>
            <a:endParaRPr lang="es-MX" dirty="0" smtClean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6788492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graphicFrame>
        <p:nvGraphicFramePr>
          <p:cNvPr id="4" name="Marcador de contenido 3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652023627"/>
              </p:ext>
            </p:extLst>
          </p:nvPr>
        </p:nvGraphicFramePr>
        <p:xfrm>
          <a:off x="2102224" y="1947953"/>
          <a:ext cx="7310718" cy="3403976"/>
        </p:xfrm>
        <a:graphic>
          <a:graphicData uri="http://schemas.openxmlformats.org/drawingml/2006/table">
            <a:tbl>
              <a:tblPr/>
              <a:tblGrid>
                <a:gridCol w="1964303">
                  <a:extLst>
                    <a:ext uri="{9D8B030D-6E8A-4147-A177-3AD203B41FA5}">
                      <a16:colId xmlns:a16="http://schemas.microsoft.com/office/drawing/2014/main" val="638272800"/>
                    </a:ext>
                  </a:extLst>
                </a:gridCol>
                <a:gridCol w="1964303">
                  <a:extLst>
                    <a:ext uri="{9D8B030D-6E8A-4147-A177-3AD203B41FA5}">
                      <a16:colId xmlns:a16="http://schemas.microsoft.com/office/drawing/2014/main" val="268160918"/>
                    </a:ext>
                  </a:extLst>
                </a:gridCol>
                <a:gridCol w="654255">
                  <a:extLst>
                    <a:ext uri="{9D8B030D-6E8A-4147-A177-3AD203B41FA5}">
                      <a16:colId xmlns:a16="http://schemas.microsoft.com/office/drawing/2014/main" val="3643027821"/>
                    </a:ext>
                  </a:extLst>
                </a:gridCol>
                <a:gridCol w="763553">
                  <a:extLst>
                    <a:ext uri="{9D8B030D-6E8A-4147-A177-3AD203B41FA5}">
                      <a16:colId xmlns:a16="http://schemas.microsoft.com/office/drawing/2014/main" val="3282788344"/>
                    </a:ext>
                  </a:extLst>
                </a:gridCol>
                <a:gridCol w="982152">
                  <a:extLst>
                    <a:ext uri="{9D8B030D-6E8A-4147-A177-3AD203B41FA5}">
                      <a16:colId xmlns:a16="http://schemas.microsoft.com/office/drawing/2014/main" val="2475363090"/>
                    </a:ext>
                  </a:extLst>
                </a:gridCol>
                <a:gridCol w="982152">
                  <a:extLst>
                    <a:ext uri="{9D8B030D-6E8A-4147-A177-3AD203B41FA5}">
                      <a16:colId xmlns:a16="http://schemas.microsoft.com/office/drawing/2014/main" val="2309185388"/>
                    </a:ext>
                  </a:extLst>
                </a:gridCol>
              </a:tblGrid>
              <a:tr h="391178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</a:pPr>
                      <a:endParaRPr lang="en-US" sz="1100" dirty="0">
                        <a:effectLst/>
                        <a:latin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</a:pPr>
                      <a:endParaRPr lang="en-US" sz="1100">
                        <a:effectLst/>
                        <a:latin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en-US" sz="1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C</a:t>
                      </a:r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en-US" sz="1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N</a:t>
                      </a:r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en-US" sz="1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NxP</a:t>
                      </a:r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en-US" sz="1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P</a:t>
                      </a:r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3034325"/>
                  </a:ext>
                </a:extLst>
              </a:tr>
              <a:tr h="391178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en-US" sz="1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elevation</a:t>
                      </a:r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es-MX" sz="1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especie</a:t>
                      </a:r>
                      <a:endParaRPr lang="en-US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</a:pPr>
                      <a:endParaRPr lang="en-US" sz="1100">
                        <a:effectLst/>
                        <a:latin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</a:pPr>
                      <a:endParaRPr lang="en-US" sz="1100">
                        <a:effectLst/>
                        <a:latin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</a:pPr>
                      <a:endParaRPr lang="en-US" sz="1100">
                        <a:effectLst/>
                        <a:latin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</a:pPr>
                      <a:endParaRPr lang="en-US" sz="1100">
                        <a:effectLst/>
                        <a:latin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12366288"/>
                  </a:ext>
                </a:extLst>
              </a:tr>
              <a:tr h="391178">
                <a:tc rowSpan="2"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en-US" sz="11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1000</a:t>
                      </a:r>
                    </a:p>
                  </a:txBody>
                  <a:tcPr marL="76200" marR="76200" marT="38100" marB="3810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en-US" sz="1100" i="1" dirty="0" err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Clarisia</a:t>
                      </a:r>
                      <a:r>
                        <a:rPr lang="en-US" sz="1100" i="1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100" i="1" dirty="0" err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racemosa</a:t>
                      </a:r>
                      <a:endParaRPr lang="en-US" sz="1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6200" marR="76200" marT="38100" marB="3810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en-US" sz="1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3</a:t>
                      </a:r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en-US" sz="1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1</a:t>
                      </a:r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en-US" sz="1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4</a:t>
                      </a:r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en-US" sz="1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4</a:t>
                      </a:r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70432569"/>
                  </a:ext>
                </a:extLst>
              </a:tr>
              <a:tr h="391178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en-US" sz="1100" i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Pouteria torta</a:t>
                      </a:r>
                      <a:endParaRPr lang="en-US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en-US" sz="1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11</a:t>
                      </a:r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en-US" sz="1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10</a:t>
                      </a:r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en-US" sz="1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7</a:t>
                      </a:r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en-US" sz="1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8</a:t>
                      </a:r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5031490"/>
                  </a:ext>
                </a:extLst>
              </a:tr>
              <a:tr h="391178">
                <a:tc rowSpan="2"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en-US" sz="11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2000</a:t>
                      </a:r>
                    </a:p>
                  </a:txBody>
                  <a:tcPr marL="76200" marR="76200" marT="38100" marB="3810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en-US" sz="1100" i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Alchornea lojaensis</a:t>
                      </a:r>
                      <a:endParaRPr lang="en-US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6200" marR="76200" marT="38100" marB="3810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en-US" sz="1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12</a:t>
                      </a:r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en-US" sz="1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9</a:t>
                      </a:r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en-US" sz="1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8</a:t>
                      </a:r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en-US" sz="1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15</a:t>
                      </a:r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99188937"/>
                  </a:ext>
                </a:extLst>
              </a:tr>
              <a:tr h="391178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en-US" sz="1100" i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Myrcia sp nov</a:t>
                      </a:r>
                      <a:endParaRPr lang="en-US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en-US" sz="1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15</a:t>
                      </a:r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en-US" sz="1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10</a:t>
                      </a:r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en-US" sz="1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13</a:t>
                      </a:r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en-US" sz="1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11</a:t>
                      </a:r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90278832"/>
                  </a:ext>
                </a:extLst>
              </a:tr>
              <a:tr h="665730">
                <a:tc rowSpan="2"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en-US" sz="1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3000</a:t>
                      </a:r>
                    </a:p>
                  </a:txBody>
                  <a:tcPr marL="76200" marR="76200" marT="38100" marB="3810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en-US" sz="1100" i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Hedyosmun purpurascens</a:t>
                      </a:r>
                      <a:endParaRPr lang="en-US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6200" marR="76200" marT="38100" marB="3810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en-US" sz="1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5</a:t>
                      </a:r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en-US" sz="1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6</a:t>
                      </a:r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en-US" sz="1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3</a:t>
                      </a:r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en-US" sz="1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7</a:t>
                      </a:r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63288485"/>
                  </a:ext>
                </a:extLst>
              </a:tr>
              <a:tr h="391178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en-US" sz="1100" i="1" dirty="0" err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Weinmania</a:t>
                      </a:r>
                      <a:r>
                        <a:rPr lang="en-US" sz="1100" i="1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100" i="1" dirty="0" err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loxensis</a:t>
                      </a:r>
                      <a:endParaRPr lang="en-US" sz="1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en-US" sz="11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5</a:t>
                      </a:r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en-US" sz="1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5</a:t>
                      </a:r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en-US" sz="11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2</a:t>
                      </a:r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en-US" sz="11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6</a:t>
                      </a:r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2619309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66321140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graphicFrame>
        <p:nvGraphicFramePr>
          <p:cNvPr id="5" name="Marcador de contenido 4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322182364"/>
              </p:ext>
            </p:extLst>
          </p:nvPr>
        </p:nvGraphicFramePr>
        <p:xfrm>
          <a:off x="1054766" y="1186178"/>
          <a:ext cx="10488705" cy="5117990"/>
        </p:xfrm>
        <a:graphic>
          <a:graphicData uri="http://schemas.openxmlformats.org/drawingml/2006/table">
            <a:tbl>
              <a:tblPr firstRow="1" firstCol="1" bandRow="1"/>
              <a:tblGrid>
                <a:gridCol w="878176">
                  <a:extLst>
                    <a:ext uri="{9D8B030D-6E8A-4147-A177-3AD203B41FA5}">
                      <a16:colId xmlns:a16="http://schemas.microsoft.com/office/drawing/2014/main" val="1082406971"/>
                    </a:ext>
                  </a:extLst>
                </a:gridCol>
                <a:gridCol w="878176">
                  <a:extLst>
                    <a:ext uri="{9D8B030D-6E8A-4147-A177-3AD203B41FA5}">
                      <a16:colId xmlns:a16="http://schemas.microsoft.com/office/drawing/2014/main" val="812241960"/>
                    </a:ext>
                  </a:extLst>
                </a:gridCol>
                <a:gridCol w="471401">
                  <a:extLst>
                    <a:ext uri="{9D8B030D-6E8A-4147-A177-3AD203B41FA5}">
                      <a16:colId xmlns:a16="http://schemas.microsoft.com/office/drawing/2014/main" val="1317689724"/>
                    </a:ext>
                  </a:extLst>
                </a:gridCol>
                <a:gridCol w="471401">
                  <a:extLst>
                    <a:ext uri="{9D8B030D-6E8A-4147-A177-3AD203B41FA5}">
                      <a16:colId xmlns:a16="http://schemas.microsoft.com/office/drawing/2014/main" val="3918980801"/>
                    </a:ext>
                  </a:extLst>
                </a:gridCol>
                <a:gridCol w="517024">
                  <a:extLst>
                    <a:ext uri="{9D8B030D-6E8A-4147-A177-3AD203B41FA5}">
                      <a16:colId xmlns:a16="http://schemas.microsoft.com/office/drawing/2014/main" val="1518967842"/>
                    </a:ext>
                  </a:extLst>
                </a:gridCol>
                <a:gridCol w="517024">
                  <a:extLst>
                    <a:ext uri="{9D8B030D-6E8A-4147-A177-3AD203B41FA5}">
                      <a16:colId xmlns:a16="http://schemas.microsoft.com/office/drawing/2014/main" val="1686776933"/>
                    </a:ext>
                  </a:extLst>
                </a:gridCol>
                <a:gridCol w="517024">
                  <a:extLst>
                    <a:ext uri="{9D8B030D-6E8A-4147-A177-3AD203B41FA5}">
                      <a16:colId xmlns:a16="http://schemas.microsoft.com/office/drawing/2014/main" val="3217739937"/>
                    </a:ext>
                  </a:extLst>
                </a:gridCol>
                <a:gridCol w="517024">
                  <a:extLst>
                    <a:ext uri="{9D8B030D-6E8A-4147-A177-3AD203B41FA5}">
                      <a16:colId xmlns:a16="http://schemas.microsoft.com/office/drawing/2014/main" val="338732633"/>
                    </a:ext>
                  </a:extLst>
                </a:gridCol>
                <a:gridCol w="517024">
                  <a:extLst>
                    <a:ext uri="{9D8B030D-6E8A-4147-A177-3AD203B41FA5}">
                      <a16:colId xmlns:a16="http://schemas.microsoft.com/office/drawing/2014/main" val="3780800911"/>
                    </a:ext>
                  </a:extLst>
                </a:gridCol>
                <a:gridCol w="517024">
                  <a:extLst>
                    <a:ext uri="{9D8B030D-6E8A-4147-A177-3AD203B41FA5}">
                      <a16:colId xmlns:a16="http://schemas.microsoft.com/office/drawing/2014/main" val="2209670286"/>
                    </a:ext>
                  </a:extLst>
                </a:gridCol>
                <a:gridCol w="471401">
                  <a:extLst>
                    <a:ext uri="{9D8B030D-6E8A-4147-A177-3AD203B41FA5}">
                      <a16:colId xmlns:a16="http://schemas.microsoft.com/office/drawing/2014/main" val="2737956517"/>
                    </a:ext>
                  </a:extLst>
                </a:gridCol>
                <a:gridCol w="471401">
                  <a:extLst>
                    <a:ext uri="{9D8B030D-6E8A-4147-A177-3AD203B41FA5}">
                      <a16:colId xmlns:a16="http://schemas.microsoft.com/office/drawing/2014/main" val="1672633611"/>
                    </a:ext>
                  </a:extLst>
                </a:gridCol>
                <a:gridCol w="471401">
                  <a:extLst>
                    <a:ext uri="{9D8B030D-6E8A-4147-A177-3AD203B41FA5}">
                      <a16:colId xmlns:a16="http://schemas.microsoft.com/office/drawing/2014/main" val="3581832064"/>
                    </a:ext>
                  </a:extLst>
                </a:gridCol>
                <a:gridCol w="471401">
                  <a:extLst>
                    <a:ext uri="{9D8B030D-6E8A-4147-A177-3AD203B41FA5}">
                      <a16:colId xmlns:a16="http://schemas.microsoft.com/office/drawing/2014/main" val="4025123883"/>
                    </a:ext>
                  </a:extLst>
                </a:gridCol>
                <a:gridCol w="471401">
                  <a:extLst>
                    <a:ext uri="{9D8B030D-6E8A-4147-A177-3AD203B41FA5}">
                      <a16:colId xmlns:a16="http://schemas.microsoft.com/office/drawing/2014/main" val="2791165417"/>
                    </a:ext>
                  </a:extLst>
                </a:gridCol>
                <a:gridCol w="1165201">
                  <a:extLst>
                    <a:ext uri="{9D8B030D-6E8A-4147-A177-3AD203B41FA5}">
                      <a16:colId xmlns:a16="http://schemas.microsoft.com/office/drawing/2014/main" val="2509695624"/>
                    </a:ext>
                  </a:extLst>
                </a:gridCol>
                <a:gridCol w="1165201">
                  <a:extLst>
                    <a:ext uri="{9D8B030D-6E8A-4147-A177-3AD203B41FA5}">
                      <a16:colId xmlns:a16="http://schemas.microsoft.com/office/drawing/2014/main" val="3094796729"/>
                    </a:ext>
                  </a:extLst>
                </a:gridCol>
              </a:tblGrid>
              <a:tr h="194906">
                <a:tc>
                  <a:txBody>
                    <a:bodyPr/>
                    <a:lstStyle/>
                    <a:p>
                      <a:endParaRPr lang="en-US" sz="900">
                        <a:effectLst/>
                        <a:latin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9714" marR="29714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sz="900">
                        <a:effectLst/>
                        <a:latin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9714" marR="29714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s-MX" sz="900" b="1">
                          <a:effectLst/>
                          <a:latin typeface="Arial" panose="020B060402020202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</a:t>
                      </a:r>
                      <a:endParaRPr lang="en-US" sz="9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9714" marR="29714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gridSpan="2"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s-MX" sz="900" b="1" dirty="0">
                          <a:effectLst/>
                          <a:latin typeface="Arial" panose="020B060402020202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δ13C (‰ </a:t>
                      </a:r>
                      <a:r>
                        <a:rPr lang="es-MX" sz="900" b="1" dirty="0" err="1">
                          <a:effectLst/>
                          <a:latin typeface="Arial" panose="020B060402020202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v.s.V</a:t>
                      </a:r>
                      <a:r>
                        <a:rPr lang="es-MX" sz="900" b="1" dirty="0">
                          <a:effectLst/>
                          <a:latin typeface="Arial" panose="020B060402020202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-PDB)</a:t>
                      </a:r>
                      <a:endParaRPr lang="en-US" sz="9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9714" marR="29714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s-MX" sz="900" b="1" dirty="0" err="1">
                          <a:effectLst/>
                          <a:latin typeface="Arial" panose="020B060402020202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iWUE</a:t>
                      </a:r>
                      <a:r>
                        <a:rPr lang="es-MX" sz="900" b="1" dirty="0">
                          <a:effectLst/>
                          <a:latin typeface="Arial" panose="020B060402020202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 (</a:t>
                      </a:r>
                      <a:r>
                        <a:rPr lang="es-MX" sz="900" b="1" dirty="0" err="1">
                          <a:effectLst/>
                          <a:latin typeface="Arial" panose="020B060402020202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μmol</a:t>
                      </a:r>
                      <a:r>
                        <a:rPr lang="es-MX" sz="900" b="1" dirty="0">
                          <a:effectLst/>
                          <a:latin typeface="Arial" panose="020B060402020202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/mol)</a:t>
                      </a:r>
                      <a:endParaRPr lang="en-US" sz="9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9714" marR="29714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900" b="1" dirty="0">
                          <a:effectLst/>
                          <a:latin typeface="Arial" panose="020B060402020202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Specific leaf area (cm²/g)</a:t>
                      </a:r>
                      <a:endParaRPr lang="en-US" sz="9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9714" marR="29714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s-MX" sz="900" b="1" dirty="0">
                          <a:effectLst/>
                          <a:latin typeface="Arial" panose="020B060402020202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LCC</a:t>
                      </a:r>
                      <a:endParaRPr lang="en-US" sz="9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9714" marR="29714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s-MX" sz="900" b="1" dirty="0">
                          <a:effectLst/>
                          <a:latin typeface="Arial" panose="020B060402020202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LNC</a:t>
                      </a:r>
                      <a:endParaRPr lang="en-US" sz="9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9714" marR="29714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s-MX" sz="900" b="1" dirty="0">
                          <a:effectLst/>
                          <a:latin typeface="Arial" panose="020B060402020202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LPC</a:t>
                      </a:r>
                      <a:endParaRPr lang="en-US" sz="9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9714" marR="29714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s-MX" sz="900" b="1" dirty="0">
                          <a:effectLst/>
                          <a:latin typeface="Arial" panose="020B060402020202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N:P</a:t>
                      </a:r>
                      <a:endParaRPr lang="en-US" sz="9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9714" marR="29714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57923482"/>
                  </a:ext>
                </a:extLst>
              </a:tr>
              <a:tr h="129937">
                <a:tc>
                  <a:txBody>
                    <a:bodyPr/>
                    <a:lstStyle/>
                    <a:p>
                      <a:endParaRPr lang="en-US" sz="900">
                        <a:effectLst/>
                        <a:latin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9714" marR="29714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sz="900">
                        <a:effectLst/>
                        <a:latin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9714" marR="29714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s-MX" sz="900" b="1">
                          <a:effectLst/>
                          <a:latin typeface="Arial" panose="020B060402020202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</a:t>
                      </a:r>
                      <a:endParaRPr lang="en-US" sz="9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9714" marR="29714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s-MX" sz="900" b="1">
                          <a:effectLst/>
                          <a:latin typeface="Arial" panose="020B060402020202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mean</a:t>
                      </a:r>
                      <a:endParaRPr lang="en-US" sz="9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9714" marR="29714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s-MX" sz="900" b="1">
                          <a:effectLst/>
                          <a:latin typeface="Arial" panose="020B060402020202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std</a:t>
                      </a:r>
                      <a:endParaRPr lang="en-US" sz="9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9714" marR="29714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s-MX" sz="900" b="1">
                          <a:effectLst/>
                          <a:latin typeface="Arial" panose="020B060402020202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mean</a:t>
                      </a:r>
                      <a:endParaRPr lang="en-US" sz="9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9714" marR="29714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s-MX" sz="900" b="1">
                          <a:effectLst/>
                          <a:latin typeface="Arial" panose="020B060402020202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std</a:t>
                      </a:r>
                      <a:endParaRPr lang="en-US" sz="9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9714" marR="29714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s-MX" sz="900" b="1">
                          <a:effectLst/>
                          <a:latin typeface="Arial" panose="020B060402020202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mean</a:t>
                      </a:r>
                      <a:endParaRPr lang="en-US" sz="9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9714" marR="29714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s-MX" sz="900" b="1">
                          <a:effectLst/>
                          <a:latin typeface="Arial" panose="020B060402020202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std</a:t>
                      </a:r>
                      <a:endParaRPr lang="en-US" sz="9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9714" marR="29714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s-MX" sz="900" b="1">
                          <a:effectLst/>
                          <a:latin typeface="Arial" panose="020B060402020202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mean</a:t>
                      </a:r>
                      <a:endParaRPr lang="en-US" sz="9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9714" marR="29714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s-MX" sz="900" b="1">
                          <a:effectLst/>
                          <a:latin typeface="Arial" panose="020B060402020202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std</a:t>
                      </a:r>
                      <a:endParaRPr lang="en-US" sz="9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9714" marR="29714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s-MX" sz="900" b="1">
                          <a:effectLst/>
                          <a:latin typeface="Arial" panose="020B060402020202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mean</a:t>
                      </a:r>
                      <a:endParaRPr lang="en-US" sz="9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9714" marR="29714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s-MX" sz="900" b="1">
                          <a:effectLst/>
                          <a:latin typeface="Arial" panose="020B060402020202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std</a:t>
                      </a:r>
                      <a:endParaRPr lang="en-US" sz="9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9714" marR="29714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s-MX" sz="900" b="1">
                          <a:effectLst/>
                          <a:latin typeface="Arial" panose="020B060402020202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mean</a:t>
                      </a:r>
                      <a:endParaRPr lang="en-US" sz="9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9714" marR="29714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s-MX" sz="900" b="1">
                          <a:effectLst/>
                          <a:latin typeface="Arial" panose="020B060402020202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std</a:t>
                      </a:r>
                      <a:endParaRPr lang="en-US" sz="9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9714" marR="29714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s-MX" sz="900" b="1">
                          <a:effectLst/>
                          <a:latin typeface="Arial" panose="020B060402020202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mean</a:t>
                      </a:r>
                      <a:endParaRPr lang="en-US" sz="9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9714" marR="29714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s-MX" sz="900" b="1">
                          <a:effectLst/>
                          <a:latin typeface="Arial" panose="020B060402020202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std</a:t>
                      </a:r>
                      <a:endParaRPr lang="en-US" sz="9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9714" marR="29714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70098446"/>
                  </a:ext>
                </a:extLst>
              </a:tr>
              <a:tr h="194906">
                <a:tc rowSpan="8"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s-MX" sz="900" b="1">
                          <a:effectLst/>
                          <a:latin typeface="Arial" panose="020B060402020202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1000</a:t>
                      </a:r>
                      <a:endParaRPr lang="en-US" sz="9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9714" marR="29714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rowSpan="4"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s-MX" sz="900" b="1">
                          <a:effectLst/>
                          <a:latin typeface="Arial" panose="020B060402020202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Clarisia  racemosa</a:t>
                      </a:r>
                      <a:endParaRPr lang="en-US" sz="9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9714" marR="29714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s-MX" sz="900" b="1">
                          <a:effectLst/>
                          <a:latin typeface="Arial" panose="020B060402020202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C</a:t>
                      </a:r>
                      <a:endParaRPr lang="en-US" sz="9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9714" marR="29714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s-MX" sz="900">
                          <a:effectLst/>
                          <a:latin typeface="Arial" panose="020B060402020202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-30.63</a:t>
                      </a:r>
                      <a:endParaRPr lang="en-US" sz="9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9714" marR="29714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s-MX" sz="900">
                          <a:effectLst/>
                          <a:latin typeface="Arial" panose="020B060402020202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0.42</a:t>
                      </a:r>
                      <a:endParaRPr lang="en-US" sz="9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9714" marR="29714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s-MX" sz="900">
                          <a:effectLst/>
                          <a:latin typeface="Arial" panose="020B060402020202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96.61</a:t>
                      </a:r>
                      <a:endParaRPr lang="en-US" sz="9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9714" marR="29714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s-MX" sz="900">
                          <a:effectLst/>
                          <a:latin typeface="Arial" panose="020B060402020202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5.19</a:t>
                      </a:r>
                      <a:endParaRPr lang="en-US" sz="9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9714" marR="29714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s-MX" sz="900">
                          <a:effectLst/>
                          <a:latin typeface="Arial" panose="020B060402020202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92.05</a:t>
                      </a:r>
                      <a:endParaRPr lang="en-US" sz="9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9714" marR="29714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s-MX" sz="900">
                          <a:effectLst/>
                          <a:latin typeface="Arial" panose="020B060402020202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10.83</a:t>
                      </a:r>
                      <a:endParaRPr lang="en-US" sz="9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9714" marR="29714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s-MX" sz="900">
                          <a:effectLst/>
                          <a:latin typeface="Arial" panose="020B060402020202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421.37</a:t>
                      </a:r>
                      <a:endParaRPr lang="en-US" sz="9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9714" marR="29714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s-MX" sz="900">
                          <a:effectLst/>
                          <a:latin typeface="Arial" panose="020B060402020202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14.36</a:t>
                      </a:r>
                      <a:endParaRPr lang="en-US" sz="9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9714" marR="29714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s-MX" sz="900">
                          <a:effectLst/>
                          <a:latin typeface="Arial" panose="020B060402020202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17.39</a:t>
                      </a:r>
                      <a:endParaRPr lang="en-US" sz="9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9714" marR="29714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s-MX" sz="900">
                          <a:effectLst/>
                          <a:latin typeface="Arial" panose="020B060402020202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2.56</a:t>
                      </a:r>
                      <a:endParaRPr lang="en-US" sz="9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9714" marR="29714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s-MX" sz="900">
                          <a:effectLst/>
                          <a:latin typeface="Arial" panose="020B060402020202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0.79</a:t>
                      </a:r>
                      <a:endParaRPr lang="en-US" sz="9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9714" marR="29714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s-MX" sz="900">
                          <a:effectLst/>
                          <a:latin typeface="Arial" panose="020B060402020202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0.05</a:t>
                      </a:r>
                      <a:endParaRPr lang="en-US" sz="9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9714" marR="29714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s-MX" sz="900">
                          <a:effectLst/>
                          <a:latin typeface="Arial" panose="020B060402020202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21.87</a:t>
                      </a:r>
                      <a:endParaRPr lang="en-US" sz="9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9714" marR="29714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s-MX" sz="900">
                          <a:effectLst/>
                          <a:latin typeface="Arial" panose="020B060402020202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2.18</a:t>
                      </a:r>
                      <a:endParaRPr lang="en-US" sz="9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9714" marR="29714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25664282"/>
                  </a:ext>
                </a:extLst>
              </a:tr>
              <a:tr h="194906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s-MX" sz="900" b="1">
                          <a:effectLst/>
                          <a:latin typeface="Arial" panose="020B060402020202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N</a:t>
                      </a:r>
                      <a:endParaRPr lang="en-US" sz="9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9714" marR="29714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s-MX" sz="900">
                          <a:effectLst/>
                          <a:latin typeface="Arial" panose="020B060402020202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-31.8</a:t>
                      </a:r>
                      <a:endParaRPr lang="en-US" sz="9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9714" marR="29714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sz="900">
                        <a:effectLst/>
                        <a:latin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9714" marR="29714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s-MX" sz="900">
                          <a:effectLst/>
                          <a:latin typeface="Arial" panose="020B060402020202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82.22</a:t>
                      </a:r>
                      <a:endParaRPr lang="en-US" sz="9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9714" marR="29714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sz="900">
                        <a:effectLst/>
                        <a:latin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9714" marR="29714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s-MX" sz="900">
                          <a:effectLst/>
                          <a:latin typeface="Arial" panose="020B060402020202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112.06</a:t>
                      </a:r>
                      <a:endParaRPr lang="en-US" sz="9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9714" marR="29714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sz="900">
                        <a:effectLst/>
                        <a:latin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9714" marR="29714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s-MX" sz="900">
                          <a:effectLst/>
                          <a:latin typeface="Arial" panose="020B060402020202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447.15</a:t>
                      </a:r>
                      <a:endParaRPr lang="en-US" sz="9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9714" marR="29714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sz="900">
                        <a:effectLst/>
                        <a:latin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9714" marR="29714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s-MX" sz="900">
                          <a:effectLst/>
                          <a:latin typeface="Arial" panose="020B060402020202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20.06</a:t>
                      </a:r>
                      <a:endParaRPr lang="en-US" sz="9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9714" marR="29714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sz="900">
                        <a:effectLst/>
                        <a:latin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9714" marR="29714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s-MX" sz="900">
                          <a:effectLst/>
                          <a:latin typeface="Arial" panose="020B060402020202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0.96</a:t>
                      </a:r>
                      <a:endParaRPr lang="en-US" sz="9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9714" marR="29714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sz="900">
                        <a:effectLst/>
                        <a:latin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9714" marR="29714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s-MX" sz="900">
                          <a:effectLst/>
                          <a:latin typeface="Arial" panose="020B060402020202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20.86</a:t>
                      </a:r>
                      <a:endParaRPr lang="en-US" sz="9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9714" marR="29714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sz="900">
                        <a:effectLst/>
                        <a:latin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9714" marR="29714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58901776"/>
                  </a:ext>
                </a:extLst>
              </a:tr>
              <a:tr h="194906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s-MX" sz="900" b="1">
                          <a:effectLst/>
                          <a:latin typeface="Arial" panose="020B060402020202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NP</a:t>
                      </a:r>
                      <a:endParaRPr lang="en-US" sz="9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9714" marR="29714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s-MX" sz="900">
                          <a:effectLst/>
                          <a:latin typeface="Arial" panose="020B060402020202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-30.88</a:t>
                      </a:r>
                      <a:endParaRPr lang="en-US" sz="9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9714" marR="29714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s-MX" sz="900">
                          <a:effectLst/>
                          <a:latin typeface="Arial" panose="020B060402020202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0.36</a:t>
                      </a:r>
                      <a:endParaRPr lang="en-US" sz="9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9714" marR="29714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s-MX" sz="900">
                          <a:effectLst/>
                          <a:latin typeface="Arial" panose="020B060402020202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93.6</a:t>
                      </a:r>
                      <a:endParaRPr lang="en-US" sz="9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9714" marR="29714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s-MX" sz="900">
                          <a:effectLst/>
                          <a:latin typeface="Arial" panose="020B060402020202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4.43</a:t>
                      </a:r>
                      <a:endParaRPr lang="en-US" sz="9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9714" marR="29714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s-MX" sz="900">
                          <a:effectLst/>
                          <a:latin typeface="Arial" panose="020B060402020202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108.27</a:t>
                      </a:r>
                      <a:endParaRPr lang="en-US" sz="9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9714" marR="29714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s-MX" sz="900">
                          <a:effectLst/>
                          <a:latin typeface="Arial" panose="020B060402020202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8.87</a:t>
                      </a:r>
                      <a:endParaRPr lang="en-US" sz="9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9714" marR="29714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s-MX" sz="900">
                          <a:effectLst/>
                          <a:latin typeface="Arial" panose="020B060402020202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430.5</a:t>
                      </a:r>
                      <a:endParaRPr lang="en-US" sz="9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9714" marR="29714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s-MX" sz="900">
                          <a:effectLst/>
                          <a:latin typeface="Arial" panose="020B060402020202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14.05</a:t>
                      </a:r>
                      <a:endParaRPr lang="en-US" sz="9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9714" marR="29714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s-MX" sz="900">
                          <a:effectLst/>
                          <a:latin typeface="Arial" panose="020B060402020202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23.65</a:t>
                      </a:r>
                      <a:endParaRPr lang="en-US" sz="9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9714" marR="29714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s-MX" sz="900">
                          <a:effectLst/>
                          <a:latin typeface="Arial" panose="020B060402020202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1.5</a:t>
                      </a:r>
                      <a:endParaRPr lang="en-US" sz="9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9714" marR="29714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s-MX" sz="900">
                          <a:effectLst/>
                          <a:latin typeface="Arial" panose="020B060402020202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1.15</a:t>
                      </a:r>
                      <a:endParaRPr lang="en-US" sz="9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9714" marR="29714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s-MX" sz="900">
                          <a:effectLst/>
                          <a:latin typeface="Arial" panose="020B060402020202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0.14</a:t>
                      </a:r>
                      <a:endParaRPr lang="en-US" sz="9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9714" marR="29714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s-MX" sz="900">
                          <a:effectLst/>
                          <a:latin typeface="Arial" panose="020B060402020202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20.83</a:t>
                      </a:r>
                      <a:endParaRPr lang="en-US" sz="9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9714" marR="29714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s-MX" sz="900">
                          <a:effectLst/>
                          <a:latin typeface="Arial" panose="020B060402020202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3.48</a:t>
                      </a:r>
                      <a:endParaRPr lang="en-US" sz="9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9714" marR="29714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805562808"/>
                  </a:ext>
                </a:extLst>
              </a:tr>
              <a:tr h="194906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s-MX" sz="900" b="1">
                          <a:effectLst/>
                          <a:latin typeface="Arial" panose="020B060402020202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P</a:t>
                      </a:r>
                      <a:endParaRPr lang="en-US" sz="9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9714" marR="29714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s-MX" sz="900">
                          <a:effectLst/>
                          <a:latin typeface="Arial" panose="020B060402020202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-29.84</a:t>
                      </a:r>
                      <a:endParaRPr lang="en-US" sz="9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9714" marR="29714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s-MX" sz="900">
                          <a:effectLst/>
                          <a:latin typeface="Arial" panose="020B060402020202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1.24</a:t>
                      </a:r>
                      <a:endParaRPr lang="en-US" sz="9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9714" marR="29714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s-MX" sz="900">
                          <a:effectLst/>
                          <a:latin typeface="Arial" panose="020B060402020202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106.26</a:t>
                      </a:r>
                      <a:endParaRPr lang="en-US" sz="9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9714" marR="29714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s-MX" sz="900">
                          <a:effectLst/>
                          <a:latin typeface="Arial" panose="020B060402020202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15.19</a:t>
                      </a:r>
                      <a:endParaRPr lang="en-US" sz="9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9714" marR="29714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s-MX" sz="900">
                          <a:effectLst/>
                          <a:latin typeface="Arial" panose="020B060402020202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95.65</a:t>
                      </a:r>
                      <a:endParaRPr lang="en-US" sz="9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9714" marR="29714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s-MX" sz="900">
                          <a:effectLst/>
                          <a:latin typeface="Arial" panose="020B060402020202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6.27</a:t>
                      </a:r>
                      <a:endParaRPr lang="en-US" sz="9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9714" marR="29714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s-MX" sz="900">
                          <a:effectLst/>
                          <a:latin typeface="Arial" panose="020B060402020202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438.34</a:t>
                      </a:r>
                      <a:endParaRPr lang="en-US" sz="9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9714" marR="29714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s-MX" sz="900">
                          <a:effectLst/>
                          <a:latin typeface="Arial" panose="020B060402020202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12.74</a:t>
                      </a:r>
                      <a:endParaRPr lang="en-US" sz="9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9714" marR="29714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s-MX" sz="900">
                          <a:effectLst/>
                          <a:latin typeface="Arial" panose="020B060402020202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19.62</a:t>
                      </a:r>
                      <a:endParaRPr lang="en-US" sz="9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9714" marR="29714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s-MX" sz="900">
                          <a:effectLst/>
                          <a:latin typeface="Arial" panose="020B060402020202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2.69</a:t>
                      </a:r>
                      <a:endParaRPr lang="en-US" sz="9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9714" marR="29714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s-MX" sz="900">
                          <a:effectLst/>
                          <a:latin typeface="Arial" panose="020B060402020202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1.17</a:t>
                      </a:r>
                      <a:endParaRPr lang="en-US" sz="9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9714" marR="29714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s-MX" sz="900">
                          <a:effectLst/>
                          <a:latin typeface="Arial" panose="020B060402020202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0.17</a:t>
                      </a:r>
                      <a:endParaRPr lang="en-US" sz="9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9714" marR="29714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s-MX" sz="900">
                          <a:effectLst/>
                          <a:latin typeface="Arial" panose="020B060402020202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16.87</a:t>
                      </a:r>
                      <a:endParaRPr lang="en-US" sz="9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9714" marR="29714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s-MX" sz="900">
                          <a:effectLst/>
                          <a:latin typeface="Arial" panose="020B060402020202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2.64</a:t>
                      </a:r>
                      <a:endParaRPr lang="en-US" sz="9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9714" marR="29714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76545901"/>
                  </a:ext>
                </a:extLst>
              </a:tr>
              <a:tr h="194906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rowSpan="4"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s-MX" sz="900" b="1">
                          <a:effectLst/>
                          <a:latin typeface="Arial" panose="020B060402020202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Pouteria torta</a:t>
                      </a:r>
                      <a:endParaRPr lang="en-US" sz="9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9714" marR="29714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s-MX" sz="900" b="1">
                          <a:effectLst/>
                          <a:latin typeface="Arial" panose="020B060402020202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C</a:t>
                      </a:r>
                      <a:endParaRPr lang="en-US" sz="9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9714" marR="29714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s-MX" sz="900">
                          <a:effectLst/>
                          <a:latin typeface="Arial" panose="020B060402020202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-31.55</a:t>
                      </a:r>
                      <a:endParaRPr lang="en-US" sz="9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9714" marR="29714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s-MX" sz="900">
                          <a:effectLst/>
                          <a:latin typeface="Arial" panose="020B060402020202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0.76</a:t>
                      </a:r>
                      <a:endParaRPr lang="en-US" sz="9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9714" marR="29714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s-MX" sz="900">
                          <a:effectLst/>
                          <a:latin typeface="Arial" panose="020B060402020202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85.26</a:t>
                      </a:r>
                      <a:endParaRPr lang="en-US" sz="9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9714" marR="29714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s-MX" sz="900">
                          <a:effectLst/>
                          <a:latin typeface="Arial" panose="020B060402020202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9.34</a:t>
                      </a:r>
                      <a:endParaRPr lang="en-US" sz="9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9714" marR="29714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s-MX" sz="900">
                          <a:effectLst/>
                          <a:latin typeface="Arial" panose="020B060402020202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80.27</a:t>
                      </a:r>
                      <a:endParaRPr lang="en-US" sz="9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9714" marR="29714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s-MX" sz="900">
                          <a:effectLst/>
                          <a:latin typeface="Arial" panose="020B060402020202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8.75</a:t>
                      </a:r>
                      <a:endParaRPr lang="en-US" sz="9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9714" marR="29714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s-MX" sz="900">
                          <a:effectLst/>
                          <a:latin typeface="Arial" panose="020B060402020202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478</a:t>
                      </a:r>
                      <a:endParaRPr lang="en-US" sz="9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9714" marR="29714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s-MX" sz="900">
                          <a:effectLst/>
                          <a:latin typeface="Arial" panose="020B060402020202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5.31</a:t>
                      </a:r>
                      <a:endParaRPr lang="en-US" sz="9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9714" marR="29714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s-MX" sz="900">
                          <a:effectLst/>
                          <a:latin typeface="Arial" panose="020B060402020202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15.29</a:t>
                      </a:r>
                      <a:endParaRPr lang="en-US" sz="9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9714" marR="29714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s-MX" sz="900">
                          <a:effectLst/>
                          <a:latin typeface="Arial" panose="020B060402020202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1.26</a:t>
                      </a:r>
                      <a:endParaRPr lang="en-US" sz="9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9714" marR="29714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s-MX" sz="900">
                          <a:effectLst/>
                          <a:latin typeface="Arial" panose="020B060402020202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0.65</a:t>
                      </a:r>
                      <a:endParaRPr lang="en-US" sz="9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9714" marR="29714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s-MX" sz="900">
                          <a:effectLst/>
                          <a:latin typeface="Arial" panose="020B060402020202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0.12</a:t>
                      </a:r>
                      <a:endParaRPr lang="en-US" sz="9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9714" marR="29714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s-MX" sz="900">
                          <a:effectLst/>
                          <a:latin typeface="Arial" panose="020B060402020202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24.45</a:t>
                      </a:r>
                      <a:endParaRPr lang="en-US" sz="9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9714" marR="29714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s-MX" sz="900">
                          <a:effectLst/>
                          <a:latin typeface="Arial" panose="020B060402020202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5.16</a:t>
                      </a:r>
                      <a:endParaRPr lang="en-US" sz="9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9714" marR="29714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349581265"/>
                  </a:ext>
                </a:extLst>
              </a:tr>
              <a:tr h="194906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s-MX" sz="900" b="1">
                          <a:effectLst/>
                          <a:latin typeface="Arial" panose="020B060402020202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N</a:t>
                      </a:r>
                      <a:endParaRPr lang="en-US" sz="9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9714" marR="29714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s-MX" sz="900">
                          <a:effectLst/>
                          <a:latin typeface="Arial" panose="020B060402020202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-31.27</a:t>
                      </a:r>
                      <a:endParaRPr lang="en-US" sz="9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9714" marR="29714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s-MX" sz="900">
                          <a:effectLst/>
                          <a:latin typeface="Arial" panose="020B060402020202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0.87</a:t>
                      </a:r>
                      <a:endParaRPr lang="en-US" sz="9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9714" marR="29714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s-MX" sz="900">
                          <a:effectLst/>
                          <a:latin typeface="Arial" panose="020B060402020202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99.8</a:t>
                      </a:r>
                      <a:endParaRPr lang="en-US" sz="9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9714" marR="29714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s-MX" sz="900">
                          <a:effectLst/>
                          <a:latin typeface="Arial" panose="020B060402020202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22.43</a:t>
                      </a:r>
                      <a:endParaRPr lang="en-US" sz="9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9714" marR="29714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s-MX" sz="900">
                          <a:effectLst/>
                          <a:latin typeface="Arial" panose="020B060402020202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78.19</a:t>
                      </a:r>
                      <a:endParaRPr lang="en-US" sz="9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9714" marR="29714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s-MX" sz="900">
                          <a:effectLst/>
                          <a:latin typeface="Arial" panose="020B060402020202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14.39</a:t>
                      </a:r>
                      <a:endParaRPr lang="en-US" sz="9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9714" marR="29714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s-MX" sz="900">
                          <a:effectLst/>
                          <a:latin typeface="Arial" panose="020B060402020202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480.5</a:t>
                      </a:r>
                      <a:endParaRPr lang="en-US" sz="9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9714" marR="29714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s-MX" sz="900">
                          <a:effectLst/>
                          <a:latin typeface="Arial" panose="020B060402020202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6.22</a:t>
                      </a:r>
                      <a:endParaRPr lang="en-US" sz="9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9714" marR="29714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s-MX" sz="900">
                          <a:effectLst/>
                          <a:latin typeface="Arial" panose="020B060402020202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15.69</a:t>
                      </a:r>
                      <a:endParaRPr lang="en-US" sz="9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9714" marR="29714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s-MX" sz="900">
                          <a:effectLst/>
                          <a:latin typeface="Arial" panose="020B060402020202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1.16</a:t>
                      </a:r>
                      <a:endParaRPr lang="en-US" sz="9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9714" marR="29714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s-MX" sz="900">
                          <a:effectLst/>
                          <a:latin typeface="Arial" panose="020B060402020202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0.64</a:t>
                      </a:r>
                      <a:endParaRPr lang="en-US" sz="9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9714" marR="29714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s-MX" sz="900">
                          <a:effectLst/>
                          <a:latin typeface="Arial" panose="020B060402020202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0.2</a:t>
                      </a:r>
                      <a:endParaRPr lang="en-US" sz="9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9714" marR="29714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s-MX" sz="900">
                          <a:effectLst/>
                          <a:latin typeface="Arial" panose="020B060402020202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25.95</a:t>
                      </a:r>
                      <a:endParaRPr lang="en-US" sz="9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9714" marR="29714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s-MX" sz="900">
                          <a:effectLst/>
                          <a:latin typeface="Arial" panose="020B060402020202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5.44</a:t>
                      </a:r>
                      <a:endParaRPr lang="en-US" sz="9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9714" marR="29714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9350300"/>
                  </a:ext>
                </a:extLst>
              </a:tr>
              <a:tr h="194906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s-MX" sz="900" b="1">
                          <a:effectLst/>
                          <a:latin typeface="Arial" panose="020B060402020202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NP</a:t>
                      </a:r>
                      <a:endParaRPr lang="en-US" sz="9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9714" marR="29714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s-MX" sz="900">
                          <a:effectLst/>
                          <a:latin typeface="Arial" panose="020B060402020202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-31.74</a:t>
                      </a:r>
                      <a:endParaRPr lang="en-US" sz="9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9714" marR="29714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s-MX" sz="900">
                          <a:effectLst/>
                          <a:latin typeface="Arial" panose="020B060402020202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1.35</a:t>
                      </a:r>
                      <a:endParaRPr lang="en-US" sz="9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9714" marR="29714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s-MX" sz="900">
                          <a:effectLst/>
                          <a:latin typeface="Arial" panose="020B060402020202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82.99</a:t>
                      </a:r>
                      <a:endParaRPr lang="en-US" sz="9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9714" marR="29714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s-MX" sz="900">
                          <a:effectLst/>
                          <a:latin typeface="Arial" panose="020B060402020202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16.58</a:t>
                      </a:r>
                      <a:endParaRPr lang="en-US" sz="9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9714" marR="29714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s-MX" sz="900">
                          <a:effectLst/>
                          <a:latin typeface="Arial" panose="020B060402020202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79.48</a:t>
                      </a:r>
                      <a:endParaRPr lang="en-US" sz="9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9714" marR="29714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s-MX" sz="900">
                          <a:effectLst/>
                          <a:latin typeface="Arial" panose="020B060402020202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9.22</a:t>
                      </a:r>
                      <a:endParaRPr lang="en-US" sz="9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9714" marR="29714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s-MX" sz="900">
                          <a:effectLst/>
                          <a:latin typeface="Arial" panose="020B060402020202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477.95</a:t>
                      </a:r>
                      <a:endParaRPr lang="en-US" sz="9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9714" marR="29714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s-MX" sz="900">
                          <a:effectLst/>
                          <a:latin typeface="Arial" panose="020B060402020202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5.16</a:t>
                      </a:r>
                      <a:endParaRPr lang="en-US" sz="9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9714" marR="29714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s-MX" sz="900">
                          <a:effectLst/>
                          <a:latin typeface="Arial" panose="020B060402020202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16.38</a:t>
                      </a:r>
                      <a:endParaRPr lang="en-US" sz="9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9714" marR="29714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s-MX" sz="900">
                          <a:effectLst/>
                          <a:latin typeface="Arial" panose="020B060402020202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0.98</a:t>
                      </a:r>
                      <a:endParaRPr lang="en-US" sz="9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9714" marR="29714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s-MX" sz="900">
                          <a:effectLst/>
                          <a:latin typeface="Arial" panose="020B060402020202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0.73</a:t>
                      </a:r>
                      <a:endParaRPr lang="en-US" sz="9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9714" marR="29714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s-MX" sz="900">
                          <a:effectLst/>
                          <a:latin typeface="Arial" panose="020B060402020202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0.07</a:t>
                      </a:r>
                      <a:endParaRPr lang="en-US" sz="9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9714" marR="29714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s-MX" sz="900">
                          <a:effectLst/>
                          <a:latin typeface="Arial" panose="020B060402020202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22.58</a:t>
                      </a:r>
                      <a:endParaRPr lang="en-US" sz="9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9714" marR="29714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s-MX" sz="900">
                          <a:effectLst/>
                          <a:latin typeface="Arial" panose="020B060402020202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1.81</a:t>
                      </a:r>
                      <a:endParaRPr lang="en-US" sz="9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9714" marR="29714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70672991"/>
                  </a:ext>
                </a:extLst>
              </a:tr>
              <a:tr h="194906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s-MX" sz="900" b="1">
                          <a:effectLst/>
                          <a:latin typeface="Arial" panose="020B060402020202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P</a:t>
                      </a:r>
                      <a:endParaRPr lang="en-US" sz="9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9714" marR="29714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s-MX" sz="900">
                          <a:effectLst/>
                          <a:latin typeface="Arial" panose="020B060402020202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-31.27</a:t>
                      </a:r>
                      <a:endParaRPr lang="en-US" sz="9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9714" marR="29714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s-MX" sz="900">
                          <a:effectLst/>
                          <a:latin typeface="Arial" panose="020B060402020202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0.93</a:t>
                      </a:r>
                      <a:endParaRPr lang="en-US" sz="9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9714" marR="29714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s-MX" sz="900">
                          <a:effectLst/>
                          <a:latin typeface="Arial" panose="020B060402020202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88.76</a:t>
                      </a:r>
                      <a:endParaRPr lang="en-US" sz="9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9714" marR="29714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s-MX" sz="900">
                          <a:effectLst/>
                          <a:latin typeface="Arial" panose="020B060402020202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11.48</a:t>
                      </a:r>
                      <a:endParaRPr lang="en-US" sz="9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9714" marR="29714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s-MX" sz="900">
                          <a:effectLst/>
                          <a:latin typeface="Arial" panose="020B060402020202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78.02</a:t>
                      </a:r>
                      <a:endParaRPr lang="en-US" sz="9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9714" marR="29714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s-MX" sz="900">
                          <a:effectLst/>
                          <a:latin typeface="Arial" panose="020B060402020202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10.48</a:t>
                      </a:r>
                      <a:endParaRPr lang="en-US" sz="9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9714" marR="29714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s-MX" sz="900">
                          <a:effectLst/>
                          <a:latin typeface="Arial" panose="020B060402020202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479.21</a:t>
                      </a:r>
                      <a:endParaRPr lang="en-US" sz="9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9714" marR="29714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s-MX" sz="900">
                          <a:effectLst/>
                          <a:latin typeface="Arial" panose="020B060402020202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5.51</a:t>
                      </a:r>
                      <a:endParaRPr lang="en-US" sz="9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9714" marR="29714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s-MX" sz="900">
                          <a:effectLst/>
                          <a:latin typeface="Arial" panose="020B060402020202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16.68</a:t>
                      </a:r>
                      <a:endParaRPr lang="en-US" sz="9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9714" marR="29714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s-MX" sz="900">
                          <a:effectLst/>
                          <a:latin typeface="Arial" panose="020B060402020202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1.52</a:t>
                      </a:r>
                      <a:endParaRPr lang="en-US" sz="9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9714" marR="29714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s-MX" sz="900">
                          <a:effectLst/>
                          <a:latin typeface="Arial" panose="020B060402020202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0.77</a:t>
                      </a:r>
                      <a:endParaRPr lang="en-US" sz="9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9714" marR="29714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s-MX" sz="900">
                          <a:effectLst/>
                          <a:latin typeface="Arial" panose="020B060402020202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0.13</a:t>
                      </a:r>
                      <a:endParaRPr lang="en-US" sz="9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9714" marR="29714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s-MX" sz="900">
                          <a:effectLst/>
                          <a:latin typeface="Arial" panose="020B060402020202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22.47</a:t>
                      </a:r>
                      <a:endParaRPr lang="en-US" sz="9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9714" marR="29714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s-MX" sz="900">
                          <a:effectLst/>
                          <a:latin typeface="Arial" panose="020B060402020202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5.11</a:t>
                      </a:r>
                      <a:endParaRPr lang="en-US" sz="9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9714" marR="29714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565373779"/>
                  </a:ext>
                </a:extLst>
              </a:tr>
              <a:tr h="194906">
                <a:tc rowSpan="8"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s-MX" sz="900" b="1">
                          <a:effectLst/>
                          <a:latin typeface="Arial" panose="020B060402020202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2000</a:t>
                      </a:r>
                      <a:endParaRPr lang="en-US" sz="9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9714" marR="29714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rowSpan="4"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s-MX" sz="900" b="1">
                          <a:effectLst/>
                          <a:latin typeface="Arial" panose="020B060402020202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Alchornea lojaensis</a:t>
                      </a:r>
                      <a:endParaRPr lang="en-US" sz="9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9714" marR="29714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s-MX" sz="900" b="1">
                          <a:effectLst/>
                          <a:latin typeface="Arial" panose="020B060402020202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C</a:t>
                      </a:r>
                      <a:endParaRPr lang="en-US" sz="9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9714" marR="29714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s-MX" sz="900">
                          <a:effectLst/>
                          <a:latin typeface="Arial" panose="020B060402020202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-26.51</a:t>
                      </a:r>
                      <a:endParaRPr lang="en-US" sz="9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9714" marR="29714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s-MX" sz="900">
                          <a:effectLst/>
                          <a:latin typeface="Arial" panose="020B060402020202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0.89</a:t>
                      </a:r>
                      <a:endParaRPr lang="en-US" sz="9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9714" marR="29714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s-MX" sz="900">
                          <a:effectLst/>
                          <a:latin typeface="Arial" panose="020B060402020202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146.94</a:t>
                      </a:r>
                      <a:endParaRPr lang="en-US" sz="9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9714" marR="29714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s-MX" sz="900">
                          <a:effectLst/>
                          <a:latin typeface="Arial" panose="020B060402020202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10.79</a:t>
                      </a:r>
                      <a:endParaRPr lang="en-US" sz="9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9714" marR="29714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s-MX" sz="900">
                          <a:effectLst/>
                          <a:latin typeface="Arial" panose="020B060402020202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35.67</a:t>
                      </a:r>
                      <a:endParaRPr lang="en-US" sz="9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9714" marR="29714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s-MX" sz="900">
                          <a:effectLst/>
                          <a:latin typeface="Arial" panose="020B060402020202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4.22</a:t>
                      </a:r>
                      <a:endParaRPr lang="en-US" sz="9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9714" marR="29714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s-MX" sz="900">
                          <a:effectLst/>
                          <a:latin typeface="Arial" panose="020B060402020202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489.94</a:t>
                      </a:r>
                      <a:endParaRPr lang="en-US" sz="9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9714" marR="29714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s-MX" sz="900">
                          <a:effectLst/>
                          <a:latin typeface="Arial" panose="020B060402020202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9.19</a:t>
                      </a:r>
                      <a:endParaRPr lang="en-US" sz="9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9714" marR="29714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s-MX" sz="900">
                          <a:effectLst/>
                          <a:latin typeface="Arial" panose="020B060402020202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11.61</a:t>
                      </a:r>
                      <a:endParaRPr lang="en-US" sz="9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9714" marR="29714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s-MX" sz="900">
                          <a:effectLst/>
                          <a:latin typeface="Arial" panose="020B060402020202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1.5</a:t>
                      </a:r>
                      <a:endParaRPr lang="en-US" sz="9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9714" marR="29714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s-MX" sz="900">
                          <a:effectLst/>
                          <a:latin typeface="Arial" panose="020B060402020202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0.78</a:t>
                      </a:r>
                      <a:endParaRPr lang="en-US" sz="9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9714" marR="29714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s-MX" sz="900">
                          <a:effectLst/>
                          <a:latin typeface="Arial" panose="020B060402020202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0.12</a:t>
                      </a:r>
                      <a:endParaRPr lang="en-US" sz="9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9714" marR="29714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s-MX" sz="900">
                          <a:effectLst/>
                          <a:latin typeface="Arial" panose="020B060402020202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15.07</a:t>
                      </a:r>
                      <a:endParaRPr lang="en-US" sz="9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9714" marR="29714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s-MX" sz="900">
                          <a:effectLst/>
                          <a:latin typeface="Arial" panose="020B060402020202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2.24</a:t>
                      </a:r>
                      <a:endParaRPr lang="en-US" sz="9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9714" marR="29714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90001482"/>
                  </a:ext>
                </a:extLst>
              </a:tr>
              <a:tr h="194906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s-MX" sz="900" b="1">
                          <a:effectLst/>
                          <a:latin typeface="Arial" panose="020B060402020202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N</a:t>
                      </a:r>
                      <a:endParaRPr lang="en-US" sz="9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9714" marR="29714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s-MX" sz="900">
                          <a:effectLst/>
                          <a:latin typeface="Arial" panose="020B060402020202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-26.57</a:t>
                      </a:r>
                      <a:endParaRPr lang="en-US" sz="9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9714" marR="29714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s-MX" sz="900">
                          <a:effectLst/>
                          <a:latin typeface="Arial" panose="020B060402020202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1.13</a:t>
                      </a:r>
                      <a:endParaRPr lang="en-US" sz="9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9714" marR="29714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s-MX" sz="900">
                          <a:effectLst/>
                          <a:latin typeface="Arial" panose="020B060402020202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146.26</a:t>
                      </a:r>
                      <a:endParaRPr lang="en-US" sz="9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9714" marR="29714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s-MX" sz="900">
                          <a:effectLst/>
                          <a:latin typeface="Arial" panose="020B060402020202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13.81</a:t>
                      </a:r>
                      <a:endParaRPr lang="en-US" sz="9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9714" marR="29714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s-MX" sz="900">
                          <a:effectLst/>
                          <a:latin typeface="Arial" panose="020B060402020202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36.94</a:t>
                      </a:r>
                      <a:endParaRPr lang="en-US" sz="9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9714" marR="29714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s-MX" sz="900">
                          <a:effectLst/>
                          <a:latin typeface="Arial" panose="020B060402020202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3.38</a:t>
                      </a:r>
                      <a:endParaRPr lang="en-US" sz="9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9714" marR="29714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s-MX" sz="900">
                          <a:effectLst/>
                          <a:latin typeface="Arial" panose="020B060402020202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487.69</a:t>
                      </a:r>
                      <a:endParaRPr lang="en-US" sz="9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9714" marR="29714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s-MX" sz="900">
                          <a:effectLst/>
                          <a:latin typeface="Arial" panose="020B060402020202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10.08</a:t>
                      </a:r>
                      <a:endParaRPr lang="en-US" sz="9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9714" marR="29714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s-MX" sz="900">
                          <a:effectLst/>
                          <a:latin typeface="Arial" panose="020B060402020202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13.14</a:t>
                      </a:r>
                      <a:endParaRPr lang="en-US" sz="9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9714" marR="29714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s-MX" sz="900">
                          <a:effectLst/>
                          <a:latin typeface="Arial" panose="020B060402020202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1.82</a:t>
                      </a:r>
                      <a:endParaRPr lang="en-US" sz="9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9714" marR="29714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s-MX" sz="900">
                          <a:effectLst/>
                          <a:latin typeface="Arial" panose="020B060402020202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0.79</a:t>
                      </a:r>
                      <a:endParaRPr lang="en-US" sz="9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9714" marR="29714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s-MX" sz="900">
                          <a:effectLst/>
                          <a:latin typeface="Arial" panose="020B060402020202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0.15</a:t>
                      </a:r>
                      <a:endParaRPr lang="en-US" sz="9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9714" marR="29714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s-MX" sz="900">
                          <a:effectLst/>
                          <a:latin typeface="Arial" panose="020B060402020202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16.83</a:t>
                      </a:r>
                      <a:endParaRPr lang="en-US" sz="9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9714" marR="29714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s-MX" sz="900">
                          <a:effectLst/>
                          <a:latin typeface="Arial" panose="020B060402020202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1.83</a:t>
                      </a:r>
                      <a:endParaRPr lang="en-US" sz="9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9714" marR="29714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211391207"/>
                  </a:ext>
                </a:extLst>
              </a:tr>
              <a:tr h="194906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s-MX" sz="900" b="1">
                          <a:effectLst/>
                          <a:latin typeface="Arial" panose="020B060402020202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NP</a:t>
                      </a:r>
                      <a:endParaRPr lang="en-US" sz="9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9714" marR="29714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s-MX" sz="900">
                          <a:effectLst/>
                          <a:latin typeface="Arial" panose="020B060402020202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-26.77</a:t>
                      </a:r>
                      <a:endParaRPr lang="en-US" sz="9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9714" marR="29714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s-MX" sz="900">
                          <a:effectLst/>
                          <a:latin typeface="Arial" panose="020B060402020202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1.45</a:t>
                      </a:r>
                      <a:endParaRPr lang="en-US" sz="9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9714" marR="29714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s-MX" sz="900">
                          <a:effectLst/>
                          <a:latin typeface="Arial" panose="020B060402020202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143.79</a:t>
                      </a:r>
                      <a:endParaRPr lang="en-US" sz="9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9714" marR="29714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s-MX" sz="900">
                          <a:effectLst/>
                          <a:latin typeface="Arial" panose="020B060402020202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17.65</a:t>
                      </a:r>
                      <a:endParaRPr lang="en-US" sz="9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9714" marR="29714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s-MX" sz="900">
                          <a:effectLst/>
                          <a:latin typeface="Arial" panose="020B060402020202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34.5</a:t>
                      </a:r>
                      <a:endParaRPr lang="en-US" sz="9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9714" marR="29714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s-MX" sz="900">
                          <a:effectLst/>
                          <a:latin typeface="Arial" panose="020B060402020202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3.27</a:t>
                      </a:r>
                      <a:endParaRPr lang="en-US" sz="9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9714" marR="29714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s-MX" sz="900">
                          <a:effectLst/>
                          <a:latin typeface="Arial" panose="020B060402020202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490.56</a:t>
                      </a:r>
                      <a:endParaRPr lang="en-US" sz="9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9714" marR="29714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s-MX" sz="900">
                          <a:effectLst/>
                          <a:latin typeface="Arial" panose="020B060402020202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10.44</a:t>
                      </a:r>
                      <a:endParaRPr lang="en-US" sz="9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9714" marR="29714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s-MX" sz="900">
                          <a:effectLst/>
                          <a:latin typeface="Arial" panose="020B060402020202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12.04</a:t>
                      </a:r>
                      <a:endParaRPr lang="en-US" sz="9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9714" marR="29714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s-MX" sz="900">
                          <a:effectLst/>
                          <a:latin typeface="Arial" panose="020B060402020202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1.6</a:t>
                      </a:r>
                      <a:endParaRPr lang="en-US" sz="9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9714" marR="29714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s-MX" sz="900">
                          <a:effectLst/>
                          <a:latin typeface="Arial" panose="020B060402020202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1.32</a:t>
                      </a:r>
                      <a:endParaRPr lang="en-US" sz="9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9714" marR="29714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s-MX" sz="900">
                          <a:effectLst/>
                          <a:latin typeface="Arial" panose="020B060402020202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0.33</a:t>
                      </a:r>
                      <a:endParaRPr lang="en-US" sz="9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9714" marR="29714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s-MX" sz="900">
                          <a:effectLst/>
                          <a:latin typeface="Arial" panose="020B060402020202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9.59</a:t>
                      </a:r>
                      <a:endParaRPr lang="en-US" sz="9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9714" marR="29714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s-MX" sz="900">
                          <a:effectLst/>
                          <a:latin typeface="Arial" panose="020B060402020202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2.28</a:t>
                      </a:r>
                      <a:endParaRPr lang="en-US" sz="9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9714" marR="29714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66616844"/>
                  </a:ext>
                </a:extLst>
              </a:tr>
              <a:tr h="194906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s-MX" sz="900" b="1">
                          <a:effectLst/>
                          <a:latin typeface="Arial" panose="020B060402020202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P</a:t>
                      </a:r>
                      <a:endParaRPr lang="en-US" sz="9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9714" marR="29714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s-MX" sz="900">
                          <a:effectLst/>
                          <a:latin typeface="Arial" panose="020B060402020202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-27.06</a:t>
                      </a:r>
                      <a:endParaRPr lang="en-US" sz="9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9714" marR="29714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s-MX" sz="900">
                          <a:effectLst/>
                          <a:latin typeface="Arial" panose="020B060402020202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1.51</a:t>
                      </a:r>
                      <a:endParaRPr lang="en-US" sz="9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9714" marR="29714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s-MX" sz="900">
                          <a:effectLst/>
                          <a:latin typeface="Arial" panose="020B060402020202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140.31</a:t>
                      </a:r>
                      <a:endParaRPr lang="en-US" sz="9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9714" marR="29714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s-MX" sz="900">
                          <a:effectLst/>
                          <a:latin typeface="Arial" panose="020B060402020202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18.37</a:t>
                      </a:r>
                      <a:endParaRPr lang="en-US" sz="9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9714" marR="29714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s-MX" sz="900">
                          <a:effectLst/>
                          <a:latin typeface="Arial" panose="020B060402020202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36</a:t>
                      </a:r>
                      <a:endParaRPr lang="en-US" sz="9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9714" marR="29714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s-MX" sz="900">
                          <a:effectLst/>
                          <a:latin typeface="Arial" panose="020B060402020202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5.12</a:t>
                      </a:r>
                      <a:endParaRPr lang="en-US" sz="9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9714" marR="29714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s-MX" sz="900">
                          <a:effectLst/>
                          <a:latin typeface="Arial" panose="020B060402020202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486.93</a:t>
                      </a:r>
                      <a:endParaRPr lang="en-US" sz="9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9714" marR="29714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s-MX" sz="900">
                          <a:effectLst/>
                          <a:latin typeface="Arial" panose="020B060402020202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5.09</a:t>
                      </a:r>
                      <a:endParaRPr lang="en-US" sz="9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9714" marR="29714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s-MX" sz="900">
                          <a:effectLst/>
                          <a:latin typeface="Arial" panose="020B060402020202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11.1</a:t>
                      </a:r>
                      <a:endParaRPr lang="en-US" sz="9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9714" marR="29714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s-MX" sz="900">
                          <a:effectLst/>
                          <a:latin typeface="Arial" panose="020B060402020202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1.37</a:t>
                      </a:r>
                      <a:endParaRPr lang="en-US" sz="9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9714" marR="29714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s-MX" sz="900">
                          <a:effectLst/>
                          <a:latin typeface="Arial" panose="020B060402020202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1.24</a:t>
                      </a:r>
                      <a:endParaRPr lang="en-US" sz="9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9714" marR="29714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s-MX" sz="900">
                          <a:effectLst/>
                          <a:latin typeface="Arial" panose="020B060402020202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0.28</a:t>
                      </a:r>
                      <a:endParaRPr lang="en-US" sz="9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9714" marR="29714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s-MX" sz="900">
                          <a:effectLst/>
                          <a:latin typeface="Arial" panose="020B060402020202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8.94</a:t>
                      </a:r>
                      <a:endParaRPr lang="en-US" sz="9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9714" marR="29714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s-MX" sz="900">
                          <a:effectLst/>
                          <a:latin typeface="Arial" panose="020B060402020202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2.79</a:t>
                      </a:r>
                      <a:endParaRPr lang="en-US" sz="9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9714" marR="29714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05283133"/>
                  </a:ext>
                </a:extLst>
              </a:tr>
              <a:tr h="194906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rowSpan="4"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s-MX" sz="900" b="1">
                          <a:effectLst/>
                          <a:latin typeface="Arial" panose="020B060402020202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Myrcia sp nov</a:t>
                      </a:r>
                      <a:endParaRPr lang="en-US" sz="9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9714" marR="29714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s-MX" sz="900" b="1">
                          <a:effectLst/>
                          <a:latin typeface="Arial" panose="020B060402020202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C</a:t>
                      </a:r>
                      <a:endParaRPr lang="en-US" sz="9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9714" marR="29714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s-MX" sz="900">
                          <a:effectLst/>
                          <a:latin typeface="Arial" panose="020B060402020202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-27.79</a:t>
                      </a:r>
                      <a:endParaRPr lang="en-US" sz="9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9714" marR="29714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s-MX" sz="900">
                          <a:effectLst/>
                          <a:latin typeface="Arial" panose="020B060402020202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1.15</a:t>
                      </a:r>
                      <a:endParaRPr lang="en-US" sz="9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9714" marR="29714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s-MX" sz="900">
                          <a:effectLst/>
                          <a:latin typeface="Arial" panose="020B060402020202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131.33</a:t>
                      </a:r>
                      <a:endParaRPr lang="en-US" sz="9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9714" marR="29714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s-MX" sz="900">
                          <a:effectLst/>
                          <a:latin typeface="Arial" panose="020B060402020202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14.07</a:t>
                      </a:r>
                      <a:endParaRPr lang="en-US" sz="9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9714" marR="29714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s-MX" sz="900">
                          <a:effectLst/>
                          <a:latin typeface="Arial" panose="020B060402020202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36.24</a:t>
                      </a:r>
                      <a:endParaRPr lang="en-US" sz="9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9714" marR="29714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s-MX" sz="900">
                          <a:effectLst/>
                          <a:latin typeface="Arial" panose="020B060402020202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4.23</a:t>
                      </a:r>
                      <a:endParaRPr lang="en-US" sz="9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9714" marR="29714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s-MX" sz="900">
                          <a:effectLst/>
                          <a:latin typeface="Arial" panose="020B060402020202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472.37</a:t>
                      </a:r>
                      <a:endParaRPr lang="en-US" sz="9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9714" marR="29714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s-MX" sz="900">
                          <a:effectLst/>
                          <a:latin typeface="Arial" panose="020B060402020202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9.44</a:t>
                      </a:r>
                      <a:endParaRPr lang="en-US" sz="9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9714" marR="29714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s-MX" sz="900">
                          <a:effectLst/>
                          <a:latin typeface="Arial" panose="020B060402020202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8.82</a:t>
                      </a:r>
                      <a:endParaRPr lang="en-US" sz="9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9714" marR="29714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s-MX" sz="900">
                          <a:effectLst/>
                          <a:latin typeface="Arial" panose="020B060402020202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1.17</a:t>
                      </a:r>
                      <a:endParaRPr lang="en-US" sz="9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9714" marR="29714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s-MX" sz="900">
                          <a:effectLst/>
                          <a:latin typeface="Arial" panose="020B060402020202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0.43</a:t>
                      </a:r>
                      <a:endParaRPr lang="en-US" sz="9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9714" marR="29714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s-MX" sz="900">
                          <a:effectLst/>
                          <a:latin typeface="Arial" panose="020B060402020202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0.17</a:t>
                      </a:r>
                      <a:endParaRPr lang="en-US" sz="9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9714" marR="29714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s-MX" sz="900">
                          <a:effectLst/>
                          <a:latin typeface="Arial" panose="020B060402020202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23.28</a:t>
                      </a:r>
                      <a:endParaRPr lang="en-US" sz="9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9714" marR="29714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s-MX" sz="900">
                          <a:effectLst/>
                          <a:latin typeface="Arial" panose="020B060402020202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4.17</a:t>
                      </a:r>
                      <a:endParaRPr lang="en-US" sz="9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9714" marR="29714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32052024"/>
                  </a:ext>
                </a:extLst>
              </a:tr>
              <a:tr h="194906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s-MX" sz="900" b="1">
                          <a:effectLst/>
                          <a:latin typeface="Arial" panose="020B060402020202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N</a:t>
                      </a:r>
                      <a:endParaRPr lang="en-US" sz="9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9714" marR="29714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s-MX" sz="900">
                          <a:effectLst/>
                          <a:latin typeface="Arial" panose="020B060402020202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-27.24</a:t>
                      </a:r>
                      <a:endParaRPr lang="en-US" sz="9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9714" marR="29714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s-MX" sz="900">
                          <a:effectLst/>
                          <a:latin typeface="Arial" panose="020B060402020202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0.92</a:t>
                      </a:r>
                      <a:endParaRPr lang="en-US" sz="9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9714" marR="29714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s-MX" sz="900">
                          <a:effectLst/>
                          <a:latin typeface="Arial" panose="020B060402020202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138.06</a:t>
                      </a:r>
                      <a:endParaRPr lang="en-US" sz="9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9714" marR="29714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s-MX" sz="900">
                          <a:effectLst/>
                          <a:latin typeface="Arial" panose="020B060402020202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11.23</a:t>
                      </a:r>
                      <a:endParaRPr lang="en-US" sz="9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9714" marR="29714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s-MX" sz="900">
                          <a:effectLst/>
                          <a:latin typeface="Arial" panose="020B060402020202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35.42</a:t>
                      </a:r>
                      <a:endParaRPr lang="en-US" sz="9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9714" marR="29714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s-MX" sz="900">
                          <a:effectLst/>
                          <a:latin typeface="Arial" panose="020B060402020202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2.48</a:t>
                      </a:r>
                      <a:endParaRPr lang="en-US" sz="9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9714" marR="29714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s-MX" sz="900">
                          <a:effectLst/>
                          <a:latin typeface="Arial" panose="020B060402020202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470.86</a:t>
                      </a:r>
                      <a:endParaRPr lang="en-US" sz="9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9714" marR="29714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s-MX" sz="900">
                          <a:effectLst/>
                          <a:latin typeface="Arial" panose="020B060402020202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6.79</a:t>
                      </a:r>
                      <a:endParaRPr lang="en-US" sz="9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9714" marR="29714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s-MX" sz="900">
                          <a:effectLst/>
                          <a:latin typeface="Arial" panose="020B060402020202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9.99</a:t>
                      </a:r>
                      <a:endParaRPr lang="en-US" sz="9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9714" marR="29714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s-MX" sz="900">
                          <a:effectLst/>
                          <a:latin typeface="Arial" panose="020B060402020202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0.83</a:t>
                      </a:r>
                      <a:endParaRPr lang="en-US" sz="9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9714" marR="29714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s-MX" sz="900">
                          <a:effectLst/>
                          <a:latin typeface="Arial" panose="020B060402020202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0.43</a:t>
                      </a:r>
                      <a:endParaRPr lang="en-US" sz="9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9714" marR="29714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s-MX" sz="900">
                          <a:effectLst/>
                          <a:latin typeface="Arial" panose="020B060402020202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0.03</a:t>
                      </a:r>
                      <a:endParaRPr lang="en-US" sz="9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9714" marR="29714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s-MX" sz="900">
                          <a:effectLst/>
                          <a:latin typeface="Arial" panose="020B060402020202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23.54</a:t>
                      </a:r>
                      <a:endParaRPr lang="en-US" sz="9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9714" marR="29714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s-MX" sz="900">
                          <a:effectLst/>
                          <a:latin typeface="Arial" panose="020B060402020202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2.22</a:t>
                      </a:r>
                      <a:endParaRPr lang="en-US" sz="9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9714" marR="29714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51200428"/>
                  </a:ext>
                </a:extLst>
              </a:tr>
              <a:tr h="194906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s-MX" sz="900" b="1">
                          <a:effectLst/>
                          <a:latin typeface="Arial" panose="020B060402020202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NP</a:t>
                      </a:r>
                      <a:endParaRPr lang="en-US" sz="9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9714" marR="29714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s-MX" sz="900">
                          <a:effectLst/>
                          <a:latin typeface="Arial" panose="020B060402020202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-27.27</a:t>
                      </a:r>
                      <a:endParaRPr lang="en-US" sz="9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9714" marR="29714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s-MX" sz="900">
                          <a:effectLst/>
                          <a:latin typeface="Arial" panose="020B060402020202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1</a:t>
                      </a:r>
                      <a:endParaRPr lang="en-US" sz="9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9714" marR="29714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s-MX" sz="900">
                          <a:effectLst/>
                          <a:latin typeface="Arial" panose="020B060402020202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137.71</a:t>
                      </a:r>
                      <a:endParaRPr lang="en-US" sz="9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9714" marR="29714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s-MX" sz="900">
                          <a:effectLst/>
                          <a:latin typeface="Arial" panose="020B060402020202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12.18</a:t>
                      </a:r>
                      <a:endParaRPr lang="en-US" sz="9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9714" marR="29714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s-MX" sz="900">
                          <a:effectLst/>
                          <a:latin typeface="Arial" panose="020B060402020202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35.88</a:t>
                      </a:r>
                      <a:endParaRPr lang="en-US" sz="9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9714" marR="29714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s-MX" sz="900">
                          <a:effectLst/>
                          <a:latin typeface="Arial" panose="020B060402020202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2.64</a:t>
                      </a:r>
                      <a:endParaRPr lang="en-US" sz="9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9714" marR="29714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s-MX" sz="900">
                          <a:effectLst/>
                          <a:latin typeface="Arial" panose="020B060402020202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464.64</a:t>
                      </a:r>
                      <a:endParaRPr lang="en-US" sz="9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9714" marR="29714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s-MX" sz="900">
                          <a:effectLst/>
                          <a:latin typeface="Arial" panose="020B060402020202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6.03</a:t>
                      </a:r>
                      <a:endParaRPr lang="en-US" sz="9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9714" marR="29714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s-MX" sz="900">
                          <a:effectLst/>
                          <a:latin typeface="Arial" panose="020B060402020202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9.79</a:t>
                      </a:r>
                      <a:endParaRPr lang="en-US" sz="9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9714" marR="29714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s-MX" sz="900">
                          <a:effectLst/>
                          <a:latin typeface="Arial" panose="020B060402020202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0.81</a:t>
                      </a:r>
                      <a:endParaRPr lang="en-US" sz="9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9714" marR="29714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s-MX" sz="900">
                          <a:effectLst/>
                          <a:latin typeface="Arial" panose="020B060402020202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0.88</a:t>
                      </a:r>
                      <a:endParaRPr lang="en-US" sz="9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9714" marR="29714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s-MX" sz="900">
                          <a:effectLst/>
                          <a:latin typeface="Arial" panose="020B060402020202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0.36</a:t>
                      </a:r>
                      <a:endParaRPr lang="en-US" sz="9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9714" marR="29714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s-MX" sz="900">
                          <a:effectLst/>
                          <a:latin typeface="Arial" panose="020B060402020202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12.42</a:t>
                      </a:r>
                      <a:endParaRPr lang="en-US" sz="9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9714" marR="29714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s-MX" sz="900">
                          <a:effectLst/>
                          <a:latin typeface="Arial" panose="020B060402020202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3.68</a:t>
                      </a:r>
                      <a:endParaRPr lang="en-US" sz="9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9714" marR="29714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550055887"/>
                  </a:ext>
                </a:extLst>
              </a:tr>
              <a:tr h="194906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s-MX" sz="900" b="1">
                          <a:effectLst/>
                          <a:latin typeface="Arial" panose="020B060402020202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P</a:t>
                      </a:r>
                      <a:endParaRPr lang="en-US" sz="9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9714" marR="29714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s-MX" sz="900">
                          <a:effectLst/>
                          <a:latin typeface="Arial" panose="020B060402020202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-27.34</a:t>
                      </a:r>
                      <a:endParaRPr lang="en-US" sz="9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9714" marR="29714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s-MX" sz="900">
                          <a:effectLst/>
                          <a:latin typeface="Arial" panose="020B060402020202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0.66</a:t>
                      </a:r>
                      <a:endParaRPr lang="en-US" sz="9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9714" marR="29714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s-MX" sz="900">
                          <a:effectLst/>
                          <a:latin typeface="Arial" panose="020B060402020202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136.92</a:t>
                      </a:r>
                      <a:endParaRPr lang="en-US" sz="9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9714" marR="29714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s-MX" sz="900">
                          <a:effectLst/>
                          <a:latin typeface="Arial" panose="020B060402020202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8.09</a:t>
                      </a:r>
                      <a:endParaRPr lang="en-US" sz="9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9714" marR="29714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s-MX" sz="900">
                          <a:effectLst/>
                          <a:latin typeface="Arial" panose="020B060402020202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34.37</a:t>
                      </a:r>
                      <a:endParaRPr lang="en-US" sz="9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9714" marR="29714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s-MX" sz="900">
                          <a:effectLst/>
                          <a:latin typeface="Arial" panose="020B060402020202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3.3</a:t>
                      </a:r>
                      <a:endParaRPr lang="en-US" sz="9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9714" marR="29714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s-MX" sz="900">
                          <a:effectLst/>
                          <a:latin typeface="Arial" panose="020B060402020202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469.88</a:t>
                      </a:r>
                      <a:endParaRPr lang="en-US" sz="9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9714" marR="29714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s-MX" sz="900">
                          <a:effectLst/>
                          <a:latin typeface="Arial" panose="020B060402020202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9.99</a:t>
                      </a:r>
                      <a:endParaRPr lang="en-US" sz="9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9714" marR="29714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s-MX" sz="900">
                          <a:effectLst/>
                          <a:latin typeface="Arial" panose="020B060402020202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8.19</a:t>
                      </a:r>
                      <a:endParaRPr lang="en-US" sz="9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9714" marR="29714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s-MX" sz="900">
                          <a:effectLst/>
                          <a:latin typeface="Arial" panose="020B060402020202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0.95</a:t>
                      </a:r>
                      <a:endParaRPr lang="en-US" sz="9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9714" marR="29714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s-MX" sz="900">
                          <a:effectLst/>
                          <a:latin typeface="Arial" panose="020B060402020202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1.7</a:t>
                      </a:r>
                      <a:endParaRPr lang="en-US" sz="9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9714" marR="29714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s-MX" sz="900">
                          <a:effectLst/>
                          <a:latin typeface="Arial" panose="020B060402020202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0.66</a:t>
                      </a:r>
                      <a:endParaRPr lang="en-US" sz="9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9714" marR="29714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s-MX" sz="900">
                          <a:effectLst/>
                          <a:latin typeface="Arial" panose="020B060402020202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6.34</a:t>
                      </a:r>
                      <a:endParaRPr lang="en-US" sz="9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9714" marR="29714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s-MX" sz="900">
                          <a:effectLst/>
                          <a:latin typeface="Arial" panose="020B060402020202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5.05</a:t>
                      </a:r>
                      <a:endParaRPr lang="en-US" sz="9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9714" marR="29714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816925382"/>
                  </a:ext>
                </a:extLst>
              </a:tr>
              <a:tr h="194906">
                <a:tc rowSpan="8"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s-MX" sz="900" b="1">
                          <a:effectLst/>
                          <a:latin typeface="Arial" panose="020B060402020202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3000</a:t>
                      </a:r>
                      <a:endParaRPr lang="en-US" sz="9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9714" marR="29714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rowSpan="4"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s-MX" sz="900" b="1">
                          <a:effectLst/>
                          <a:latin typeface="Arial" panose="020B060402020202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Hedyosmun  purpurascens</a:t>
                      </a:r>
                      <a:endParaRPr lang="en-US" sz="9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9714" marR="29714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s-MX" sz="900" b="1">
                          <a:effectLst/>
                          <a:latin typeface="Arial" panose="020B060402020202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C</a:t>
                      </a:r>
                      <a:endParaRPr lang="en-US" sz="9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9714" marR="29714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s-MX" sz="900">
                          <a:effectLst/>
                          <a:latin typeface="Arial" panose="020B060402020202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-26.81</a:t>
                      </a:r>
                      <a:endParaRPr lang="en-US" sz="9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9714" marR="29714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s-MX" sz="900">
                          <a:effectLst/>
                          <a:latin typeface="Arial" panose="020B060402020202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1.44</a:t>
                      </a:r>
                      <a:endParaRPr lang="en-US" sz="9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9714" marR="29714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s-MX" sz="900">
                          <a:effectLst/>
                          <a:latin typeface="Arial" panose="020B060402020202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143.37</a:t>
                      </a:r>
                      <a:endParaRPr lang="en-US" sz="9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9714" marR="29714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s-MX" sz="900">
                          <a:effectLst/>
                          <a:latin typeface="Arial" panose="020B060402020202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17.6</a:t>
                      </a:r>
                      <a:endParaRPr lang="en-US" sz="9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9714" marR="29714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s-MX" sz="900">
                          <a:effectLst/>
                          <a:latin typeface="Arial" panose="020B060402020202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68.88</a:t>
                      </a:r>
                      <a:endParaRPr lang="en-US" sz="9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9714" marR="29714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s-MX" sz="900">
                          <a:effectLst/>
                          <a:latin typeface="Arial" panose="020B060402020202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16.18</a:t>
                      </a:r>
                      <a:endParaRPr lang="en-US" sz="9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9714" marR="29714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s-MX" sz="900">
                          <a:effectLst/>
                          <a:latin typeface="Arial" panose="020B060402020202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438.02</a:t>
                      </a:r>
                      <a:endParaRPr lang="en-US" sz="9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9714" marR="29714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s-MX" sz="900">
                          <a:effectLst/>
                          <a:latin typeface="Arial" panose="020B060402020202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6.14</a:t>
                      </a:r>
                      <a:endParaRPr lang="en-US" sz="9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9714" marR="29714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s-MX" sz="900">
                          <a:effectLst/>
                          <a:latin typeface="Arial" panose="020B060402020202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14.31</a:t>
                      </a:r>
                      <a:endParaRPr lang="en-US" sz="9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9714" marR="29714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s-MX" sz="900">
                          <a:effectLst/>
                          <a:latin typeface="Arial" panose="020B060402020202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1.09</a:t>
                      </a:r>
                      <a:endParaRPr lang="en-US" sz="9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9714" marR="29714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s-MX" sz="900">
                          <a:effectLst/>
                          <a:latin typeface="Arial" panose="020B060402020202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0.84</a:t>
                      </a:r>
                      <a:endParaRPr lang="en-US" sz="9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9714" marR="29714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s-MX" sz="900">
                          <a:effectLst/>
                          <a:latin typeface="Arial" panose="020B060402020202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0.08</a:t>
                      </a:r>
                      <a:endParaRPr lang="en-US" sz="9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9714" marR="29714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s-MX" sz="900">
                          <a:effectLst/>
                          <a:latin typeface="Arial" panose="020B060402020202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17.17</a:t>
                      </a:r>
                      <a:endParaRPr lang="en-US" sz="9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9714" marR="29714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s-MX" sz="900">
                          <a:effectLst/>
                          <a:latin typeface="Arial" panose="020B060402020202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1.02</a:t>
                      </a:r>
                      <a:endParaRPr lang="en-US" sz="9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9714" marR="29714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04581876"/>
                  </a:ext>
                </a:extLst>
              </a:tr>
              <a:tr h="194906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s-MX" sz="900" b="1">
                          <a:effectLst/>
                          <a:latin typeface="Arial" panose="020B060402020202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N</a:t>
                      </a:r>
                      <a:endParaRPr lang="en-US" sz="9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9714" marR="29714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s-MX" sz="900">
                          <a:effectLst/>
                          <a:latin typeface="Arial" panose="020B060402020202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-26.35</a:t>
                      </a:r>
                      <a:endParaRPr lang="en-US" sz="9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9714" marR="29714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s-MX" sz="900">
                          <a:effectLst/>
                          <a:latin typeface="Arial" panose="020B060402020202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2.06</a:t>
                      </a:r>
                      <a:endParaRPr lang="en-US" sz="9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9714" marR="29714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s-MX" sz="900">
                          <a:effectLst/>
                          <a:latin typeface="Arial" panose="020B060402020202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148.86</a:t>
                      </a:r>
                      <a:endParaRPr lang="en-US" sz="9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9714" marR="29714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s-MX" sz="900">
                          <a:effectLst/>
                          <a:latin typeface="Arial" panose="020B060402020202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25.07</a:t>
                      </a:r>
                      <a:endParaRPr lang="en-US" sz="9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9714" marR="29714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s-MX" sz="900">
                          <a:effectLst/>
                          <a:latin typeface="Arial" panose="020B060402020202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60.87</a:t>
                      </a:r>
                      <a:endParaRPr lang="en-US" sz="9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9714" marR="29714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s-MX" sz="900">
                          <a:effectLst/>
                          <a:latin typeface="Arial" panose="020B060402020202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6.61</a:t>
                      </a:r>
                      <a:endParaRPr lang="en-US" sz="9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9714" marR="29714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s-MX" sz="900">
                          <a:effectLst/>
                          <a:latin typeface="Arial" panose="020B060402020202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434.85</a:t>
                      </a:r>
                      <a:endParaRPr lang="en-US" sz="9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9714" marR="29714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s-MX" sz="900">
                          <a:effectLst/>
                          <a:latin typeface="Arial" panose="020B060402020202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10.11</a:t>
                      </a:r>
                      <a:endParaRPr lang="en-US" sz="9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9714" marR="29714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s-MX" sz="900">
                          <a:effectLst/>
                          <a:latin typeface="Arial" panose="020B060402020202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17.47</a:t>
                      </a:r>
                      <a:endParaRPr lang="en-US" sz="9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9714" marR="29714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s-MX" sz="900">
                          <a:effectLst/>
                          <a:latin typeface="Arial" panose="020B060402020202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3.63</a:t>
                      </a:r>
                      <a:endParaRPr lang="en-US" sz="9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9714" marR="29714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s-MX" sz="900">
                          <a:effectLst/>
                          <a:latin typeface="Arial" panose="020B060402020202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0.8</a:t>
                      </a:r>
                      <a:endParaRPr lang="en-US" sz="9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9714" marR="29714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s-MX" sz="900">
                          <a:effectLst/>
                          <a:latin typeface="Arial" panose="020B060402020202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0.05</a:t>
                      </a:r>
                      <a:endParaRPr lang="en-US" sz="9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9714" marR="29714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s-MX" sz="900">
                          <a:effectLst/>
                          <a:latin typeface="Arial" panose="020B060402020202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21.78</a:t>
                      </a:r>
                      <a:endParaRPr lang="en-US" sz="9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9714" marR="29714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s-MX" sz="900">
                          <a:effectLst/>
                          <a:latin typeface="Arial" panose="020B060402020202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4.15</a:t>
                      </a:r>
                      <a:endParaRPr lang="en-US" sz="9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9714" marR="29714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062295381"/>
                  </a:ext>
                </a:extLst>
              </a:tr>
              <a:tr h="194906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s-MX" sz="900" b="1">
                          <a:effectLst/>
                          <a:latin typeface="Arial" panose="020B060402020202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NP</a:t>
                      </a:r>
                      <a:endParaRPr lang="en-US" sz="9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9714" marR="29714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s-MX" sz="900">
                          <a:effectLst/>
                          <a:latin typeface="Arial" panose="020B060402020202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-24.85</a:t>
                      </a:r>
                      <a:endParaRPr lang="en-US" sz="9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9714" marR="29714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s-MX" sz="900">
                          <a:effectLst/>
                          <a:latin typeface="Arial" panose="020B060402020202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1.27</a:t>
                      </a:r>
                      <a:endParaRPr lang="en-US" sz="9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9714" marR="29714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s-MX" sz="900">
                          <a:effectLst/>
                          <a:latin typeface="Arial" panose="020B060402020202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167.17</a:t>
                      </a:r>
                      <a:endParaRPr lang="en-US" sz="9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9714" marR="29714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s-MX" sz="900">
                          <a:effectLst/>
                          <a:latin typeface="Arial" panose="020B060402020202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15.36</a:t>
                      </a:r>
                      <a:endParaRPr lang="en-US" sz="9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9714" marR="29714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s-MX" sz="900">
                          <a:effectLst/>
                          <a:latin typeface="Arial" panose="020B060402020202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65.98</a:t>
                      </a:r>
                      <a:endParaRPr lang="en-US" sz="9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9714" marR="29714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s-MX" sz="900">
                          <a:effectLst/>
                          <a:latin typeface="Arial" panose="020B060402020202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5.04</a:t>
                      </a:r>
                      <a:endParaRPr lang="en-US" sz="9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9714" marR="29714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s-MX" sz="900">
                          <a:effectLst/>
                          <a:latin typeface="Arial" panose="020B060402020202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442.68</a:t>
                      </a:r>
                      <a:endParaRPr lang="en-US" sz="9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9714" marR="29714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s-MX" sz="900">
                          <a:effectLst/>
                          <a:latin typeface="Arial" panose="020B060402020202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6.62</a:t>
                      </a:r>
                      <a:endParaRPr lang="en-US" sz="9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9714" marR="29714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s-MX" sz="900">
                          <a:effectLst/>
                          <a:latin typeface="Arial" panose="020B060402020202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17.08</a:t>
                      </a:r>
                      <a:endParaRPr lang="en-US" sz="9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9714" marR="29714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s-MX" sz="900">
                          <a:effectLst/>
                          <a:latin typeface="Arial" panose="020B060402020202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1.68</a:t>
                      </a:r>
                      <a:endParaRPr lang="en-US" sz="9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9714" marR="29714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s-MX" sz="900">
                          <a:effectLst/>
                          <a:latin typeface="Arial" panose="020B060402020202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1.07</a:t>
                      </a:r>
                      <a:endParaRPr lang="en-US" sz="9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9714" marR="29714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s-MX" sz="900">
                          <a:effectLst/>
                          <a:latin typeface="Arial" panose="020B060402020202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0.08</a:t>
                      </a:r>
                      <a:endParaRPr lang="en-US" sz="9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9714" marR="29714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s-MX" sz="900">
                          <a:effectLst/>
                          <a:latin typeface="Arial" panose="020B060402020202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15.94</a:t>
                      </a:r>
                      <a:endParaRPr lang="en-US" sz="9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9714" marR="29714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s-MX" sz="900">
                          <a:effectLst/>
                          <a:latin typeface="Arial" panose="020B060402020202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0.42</a:t>
                      </a:r>
                      <a:endParaRPr lang="en-US" sz="9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9714" marR="29714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462312798"/>
                  </a:ext>
                </a:extLst>
              </a:tr>
              <a:tr h="194906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s-MX" sz="900" b="1">
                          <a:effectLst/>
                          <a:latin typeface="Arial" panose="020B060402020202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P</a:t>
                      </a:r>
                      <a:endParaRPr lang="en-US" sz="9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9714" marR="29714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s-MX" sz="900">
                          <a:effectLst/>
                          <a:latin typeface="Arial" panose="020B060402020202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-27.29</a:t>
                      </a:r>
                      <a:endParaRPr lang="en-US" sz="9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9714" marR="29714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s-MX" sz="900">
                          <a:effectLst/>
                          <a:latin typeface="Arial" panose="020B060402020202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1.59</a:t>
                      </a:r>
                      <a:endParaRPr lang="en-US" sz="9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9714" marR="29714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s-MX" sz="900">
                          <a:effectLst/>
                          <a:latin typeface="Arial" panose="020B060402020202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137.48</a:t>
                      </a:r>
                      <a:endParaRPr lang="en-US" sz="9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9714" marR="29714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s-MX" sz="900">
                          <a:effectLst/>
                          <a:latin typeface="Arial" panose="020B060402020202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19.36</a:t>
                      </a:r>
                      <a:endParaRPr lang="en-US" sz="9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9714" marR="29714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s-MX" sz="900">
                          <a:effectLst/>
                          <a:latin typeface="Arial" panose="020B060402020202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75.91</a:t>
                      </a:r>
                      <a:endParaRPr lang="en-US" sz="9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9714" marR="29714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s-MX" sz="900">
                          <a:effectLst/>
                          <a:latin typeface="Arial" panose="020B060402020202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12.42</a:t>
                      </a:r>
                      <a:endParaRPr lang="en-US" sz="9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9714" marR="29714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s-MX" sz="900">
                          <a:effectLst/>
                          <a:latin typeface="Arial" panose="020B060402020202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436.7</a:t>
                      </a:r>
                      <a:endParaRPr lang="en-US" sz="9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9714" marR="29714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s-MX" sz="900">
                          <a:effectLst/>
                          <a:latin typeface="Arial" panose="020B060402020202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5.99</a:t>
                      </a:r>
                      <a:endParaRPr lang="en-US" sz="9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9714" marR="29714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s-MX" sz="900">
                          <a:effectLst/>
                          <a:latin typeface="Arial" panose="020B060402020202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15.65</a:t>
                      </a:r>
                      <a:endParaRPr lang="en-US" sz="9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9714" marR="29714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s-MX" sz="900">
                          <a:effectLst/>
                          <a:latin typeface="Arial" panose="020B060402020202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1.54</a:t>
                      </a:r>
                      <a:endParaRPr lang="en-US" sz="9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9714" marR="29714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s-MX" sz="900">
                          <a:effectLst/>
                          <a:latin typeface="Arial" panose="020B060402020202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1.42</a:t>
                      </a:r>
                      <a:endParaRPr lang="en-US" sz="9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9714" marR="29714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s-MX" sz="900">
                          <a:effectLst/>
                          <a:latin typeface="Arial" panose="020B060402020202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0.44</a:t>
                      </a:r>
                      <a:endParaRPr lang="en-US" sz="9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9714" marR="29714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s-MX" sz="900">
                          <a:effectLst/>
                          <a:latin typeface="Arial" panose="020B060402020202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11.12</a:t>
                      </a:r>
                      <a:endParaRPr lang="en-US" sz="9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9714" marR="29714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s-MX" sz="900">
                          <a:effectLst/>
                          <a:latin typeface="Arial" panose="020B060402020202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4.43</a:t>
                      </a:r>
                      <a:endParaRPr lang="en-US" sz="9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9714" marR="29714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4282071"/>
                  </a:ext>
                </a:extLst>
              </a:tr>
              <a:tr h="194906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rowSpan="4"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s-MX" sz="900" b="1">
                          <a:effectLst/>
                          <a:latin typeface="Arial" panose="020B060402020202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Weinmania  loxensis</a:t>
                      </a:r>
                      <a:endParaRPr lang="en-US" sz="9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9714" marR="29714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s-MX" sz="900" b="1">
                          <a:effectLst/>
                          <a:latin typeface="Arial" panose="020B060402020202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C</a:t>
                      </a:r>
                      <a:endParaRPr lang="en-US" sz="9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9714" marR="29714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s-MX" sz="900">
                          <a:effectLst/>
                          <a:latin typeface="Arial" panose="020B060402020202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-27.7</a:t>
                      </a:r>
                      <a:endParaRPr lang="en-US" sz="9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9714" marR="29714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s-MX" sz="900">
                          <a:effectLst/>
                          <a:latin typeface="Arial" panose="020B060402020202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0.27</a:t>
                      </a:r>
                      <a:endParaRPr lang="en-US" sz="9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9714" marR="29714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s-MX" sz="900">
                          <a:effectLst/>
                          <a:latin typeface="Arial" panose="020B060402020202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132.49</a:t>
                      </a:r>
                      <a:endParaRPr lang="en-US" sz="9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9714" marR="29714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s-MX" sz="900">
                          <a:effectLst/>
                          <a:latin typeface="Arial" panose="020B060402020202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3.29</a:t>
                      </a:r>
                      <a:endParaRPr lang="en-US" sz="9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9714" marR="29714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s-MX" sz="900">
                          <a:effectLst/>
                          <a:latin typeface="Arial" panose="020B060402020202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70.1</a:t>
                      </a:r>
                      <a:endParaRPr lang="en-US" sz="9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9714" marR="29714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s-MX" sz="900">
                          <a:effectLst/>
                          <a:latin typeface="Arial" panose="020B060402020202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5.89</a:t>
                      </a:r>
                      <a:endParaRPr lang="en-US" sz="9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9714" marR="29714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s-MX" sz="900">
                          <a:effectLst/>
                          <a:latin typeface="Arial" panose="020B060402020202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444.08</a:t>
                      </a:r>
                      <a:endParaRPr lang="en-US" sz="9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9714" marR="29714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s-MX" sz="900">
                          <a:effectLst/>
                          <a:latin typeface="Arial" panose="020B060402020202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7.83</a:t>
                      </a:r>
                      <a:endParaRPr lang="en-US" sz="9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9714" marR="29714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s-MX" sz="900">
                          <a:effectLst/>
                          <a:latin typeface="Arial" panose="020B060402020202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10.43</a:t>
                      </a:r>
                      <a:endParaRPr lang="en-US" sz="9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9714" marR="29714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s-MX" sz="900">
                          <a:effectLst/>
                          <a:latin typeface="Arial" panose="020B060402020202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1.34</a:t>
                      </a:r>
                      <a:endParaRPr lang="en-US" sz="9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9714" marR="29714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s-MX" sz="900">
                          <a:effectLst/>
                          <a:latin typeface="Arial" panose="020B060402020202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0.56</a:t>
                      </a:r>
                      <a:endParaRPr lang="en-US" sz="9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9714" marR="29714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s-MX" sz="900">
                          <a:effectLst/>
                          <a:latin typeface="Arial" panose="020B060402020202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0.05</a:t>
                      </a:r>
                      <a:endParaRPr lang="en-US" sz="9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9714" marR="29714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s-MX" sz="900">
                          <a:effectLst/>
                          <a:latin typeface="Arial" panose="020B060402020202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18.65</a:t>
                      </a:r>
                      <a:endParaRPr lang="en-US" sz="9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9714" marR="29714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s-MX" sz="900">
                          <a:effectLst/>
                          <a:latin typeface="Arial" panose="020B060402020202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1.67</a:t>
                      </a:r>
                      <a:endParaRPr lang="en-US" sz="9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9714" marR="29714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61671285"/>
                  </a:ext>
                </a:extLst>
              </a:tr>
              <a:tr h="194906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s-MX" sz="900" b="1">
                          <a:effectLst/>
                          <a:latin typeface="Arial" panose="020B060402020202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N</a:t>
                      </a:r>
                      <a:endParaRPr lang="en-US" sz="9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9714" marR="29714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s-MX" sz="900">
                          <a:effectLst/>
                          <a:latin typeface="Arial" panose="020B060402020202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-28.06</a:t>
                      </a:r>
                      <a:endParaRPr lang="en-US" sz="9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9714" marR="29714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s-MX" sz="900">
                          <a:effectLst/>
                          <a:latin typeface="Arial" panose="020B060402020202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0.9</a:t>
                      </a:r>
                      <a:endParaRPr lang="en-US" sz="9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9714" marR="29714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s-MX" sz="900">
                          <a:effectLst/>
                          <a:latin typeface="Arial" panose="020B060402020202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128.13</a:t>
                      </a:r>
                      <a:endParaRPr lang="en-US" sz="9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9714" marR="29714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s-MX" sz="900">
                          <a:effectLst/>
                          <a:latin typeface="Arial" panose="020B060402020202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10.95</a:t>
                      </a:r>
                      <a:endParaRPr lang="en-US" sz="9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9714" marR="29714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s-MX" sz="900">
                          <a:effectLst/>
                          <a:latin typeface="Arial" panose="020B060402020202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69.55</a:t>
                      </a:r>
                      <a:endParaRPr lang="en-US" sz="9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9714" marR="29714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s-MX" sz="900">
                          <a:effectLst/>
                          <a:latin typeface="Arial" panose="020B060402020202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9.63</a:t>
                      </a:r>
                      <a:endParaRPr lang="en-US" sz="9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9714" marR="29714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s-MX" sz="900">
                          <a:effectLst/>
                          <a:latin typeface="Arial" panose="020B060402020202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445.46</a:t>
                      </a:r>
                      <a:endParaRPr lang="en-US" sz="9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9714" marR="29714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s-MX" sz="900">
                          <a:effectLst/>
                          <a:latin typeface="Arial" panose="020B060402020202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14.2</a:t>
                      </a:r>
                      <a:endParaRPr lang="en-US" sz="9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9714" marR="29714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s-MX" sz="900">
                          <a:effectLst/>
                          <a:latin typeface="Arial" panose="020B060402020202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11.47</a:t>
                      </a:r>
                      <a:endParaRPr lang="en-US" sz="9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9714" marR="29714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s-MX" sz="900">
                          <a:effectLst/>
                          <a:latin typeface="Arial" panose="020B060402020202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1.77</a:t>
                      </a:r>
                      <a:endParaRPr lang="en-US" sz="9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9714" marR="29714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s-MX" sz="900">
                          <a:effectLst/>
                          <a:latin typeface="Arial" panose="020B060402020202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0.61</a:t>
                      </a:r>
                      <a:endParaRPr lang="en-US" sz="9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9714" marR="29714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s-MX" sz="900">
                          <a:effectLst/>
                          <a:latin typeface="Arial" panose="020B060402020202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0.05</a:t>
                      </a:r>
                      <a:endParaRPr lang="en-US" sz="9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9714" marR="29714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s-MX" sz="900">
                          <a:effectLst/>
                          <a:latin typeface="Arial" panose="020B060402020202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18.89</a:t>
                      </a:r>
                      <a:endParaRPr lang="en-US" sz="9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9714" marR="29714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s-MX" sz="900">
                          <a:effectLst/>
                          <a:latin typeface="Arial" panose="020B060402020202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1.99</a:t>
                      </a:r>
                      <a:endParaRPr lang="en-US" sz="9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9714" marR="29714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81107656"/>
                  </a:ext>
                </a:extLst>
              </a:tr>
              <a:tr h="194906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s-MX" sz="900" b="1">
                          <a:effectLst/>
                          <a:latin typeface="Arial" panose="020B060402020202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NP</a:t>
                      </a:r>
                      <a:endParaRPr lang="en-US" sz="9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9714" marR="29714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s-MX" sz="900">
                          <a:effectLst/>
                          <a:latin typeface="Arial" panose="020B060402020202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-29.03</a:t>
                      </a:r>
                      <a:endParaRPr lang="en-US" sz="9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9714" marR="29714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s-MX" sz="900">
                          <a:effectLst/>
                          <a:latin typeface="Arial" panose="020B060402020202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0.79</a:t>
                      </a:r>
                      <a:endParaRPr lang="en-US" sz="9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9714" marR="29714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s-MX" sz="900">
                          <a:effectLst/>
                          <a:latin typeface="Arial" panose="020B060402020202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116.22</a:t>
                      </a:r>
                      <a:endParaRPr lang="en-US" sz="9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9714" marR="29714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s-MX" sz="900">
                          <a:effectLst/>
                          <a:latin typeface="Arial" panose="020B060402020202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9.7</a:t>
                      </a:r>
                      <a:endParaRPr lang="en-US" sz="9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9714" marR="29714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s-MX" sz="900">
                          <a:effectLst/>
                          <a:latin typeface="Arial" panose="020B060402020202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72.21</a:t>
                      </a:r>
                      <a:endParaRPr lang="en-US" sz="9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9714" marR="29714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s-MX" sz="900">
                          <a:effectLst/>
                          <a:latin typeface="Arial" panose="020B060402020202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6.39</a:t>
                      </a:r>
                      <a:endParaRPr lang="en-US" sz="9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9714" marR="29714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s-MX" sz="900">
                          <a:effectLst/>
                          <a:latin typeface="Arial" panose="020B060402020202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460.1</a:t>
                      </a:r>
                      <a:endParaRPr lang="en-US" sz="9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9714" marR="29714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s-MX" sz="900">
                          <a:effectLst/>
                          <a:latin typeface="Arial" panose="020B060402020202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9.12</a:t>
                      </a:r>
                      <a:endParaRPr lang="en-US" sz="9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9714" marR="29714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s-MX" sz="900">
                          <a:effectLst/>
                          <a:latin typeface="Arial" panose="020B060402020202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11.17</a:t>
                      </a:r>
                      <a:endParaRPr lang="en-US" sz="9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9714" marR="29714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s-MX" sz="900">
                          <a:effectLst/>
                          <a:latin typeface="Arial" panose="020B060402020202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0.14</a:t>
                      </a:r>
                      <a:endParaRPr lang="en-US" sz="9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9714" marR="29714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s-MX" sz="900">
                          <a:effectLst/>
                          <a:latin typeface="Arial" panose="020B060402020202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0.72</a:t>
                      </a:r>
                      <a:endParaRPr lang="en-US" sz="9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9714" marR="29714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s-MX" sz="900">
                          <a:effectLst/>
                          <a:latin typeface="Arial" panose="020B060402020202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0.07</a:t>
                      </a:r>
                      <a:endParaRPr lang="en-US" sz="9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9714" marR="29714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s-MX" sz="900">
                          <a:effectLst/>
                          <a:latin typeface="Arial" panose="020B060402020202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15.57</a:t>
                      </a:r>
                      <a:endParaRPr lang="en-US" sz="9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9714" marR="29714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s-MX" sz="900">
                          <a:effectLst/>
                          <a:latin typeface="Arial" panose="020B060402020202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1.25</a:t>
                      </a:r>
                      <a:endParaRPr lang="en-US" sz="9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9714" marR="29714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14658009"/>
                  </a:ext>
                </a:extLst>
              </a:tr>
              <a:tr h="194906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s-MX" sz="900" b="1">
                          <a:effectLst/>
                          <a:latin typeface="Arial" panose="020B060402020202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P</a:t>
                      </a:r>
                      <a:endParaRPr lang="en-US" sz="9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9714" marR="29714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s-MX" sz="900">
                          <a:effectLst/>
                          <a:latin typeface="Arial" panose="020B060402020202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-28.38</a:t>
                      </a:r>
                      <a:endParaRPr lang="en-US" sz="9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9714" marR="29714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s-MX" sz="900">
                          <a:effectLst/>
                          <a:latin typeface="Arial" panose="020B060402020202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1.13</a:t>
                      </a:r>
                      <a:endParaRPr lang="en-US" sz="9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9714" marR="29714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s-MX" sz="900">
                          <a:effectLst/>
                          <a:latin typeface="Arial" panose="020B060402020202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124.17</a:t>
                      </a:r>
                      <a:endParaRPr lang="en-US" sz="9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9714" marR="29714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s-MX" sz="900">
                          <a:effectLst/>
                          <a:latin typeface="Arial" panose="020B060402020202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13.8</a:t>
                      </a:r>
                      <a:endParaRPr lang="en-US" sz="9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9714" marR="29714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s-MX" sz="900">
                          <a:effectLst/>
                          <a:latin typeface="Arial" panose="020B060402020202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72.58</a:t>
                      </a:r>
                      <a:endParaRPr lang="en-US" sz="9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9714" marR="29714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s-MX" sz="900">
                          <a:effectLst/>
                          <a:latin typeface="Arial" panose="020B060402020202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4.07</a:t>
                      </a:r>
                      <a:endParaRPr lang="en-US" sz="9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9714" marR="29714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s-MX" sz="900">
                          <a:effectLst/>
                          <a:latin typeface="Arial" panose="020B060402020202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440.55</a:t>
                      </a:r>
                      <a:endParaRPr lang="en-US" sz="9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9714" marR="29714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s-MX" sz="900">
                          <a:effectLst/>
                          <a:latin typeface="Arial" panose="020B060402020202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11.17</a:t>
                      </a:r>
                      <a:endParaRPr lang="en-US" sz="9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9714" marR="29714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s-MX" sz="900">
                          <a:effectLst/>
                          <a:latin typeface="Arial" panose="020B060402020202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10.73</a:t>
                      </a:r>
                      <a:endParaRPr lang="en-US" sz="9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9714" marR="29714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s-MX" sz="900">
                          <a:effectLst/>
                          <a:latin typeface="Arial" panose="020B060402020202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1.7</a:t>
                      </a:r>
                      <a:endParaRPr lang="en-US" sz="9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9714" marR="29714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s-MX" sz="900">
                          <a:effectLst/>
                          <a:latin typeface="Arial" panose="020B060402020202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1.64</a:t>
                      </a:r>
                      <a:endParaRPr lang="en-US" sz="9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9714" marR="29714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s-MX" sz="900">
                          <a:effectLst/>
                          <a:latin typeface="Arial" panose="020B060402020202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0.44</a:t>
                      </a:r>
                      <a:endParaRPr lang="en-US" sz="9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9714" marR="29714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s-MX" sz="900">
                          <a:effectLst/>
                          <a:latin typeface="Arial" panose="020B060402020202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7.31</a:t>
                      </a:r>
                      <a:endParaRPr lang="en-US" sz="9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9714" marR="29714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s-MX" sz="900" dirty="0">
                          <a:effectLst/>
                          <a:latin typeface="Arial" panose="020B060402020202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3.43</a:t>
                      </a:r>
                      <a:endParaRPr lang="en-US" sz="9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9714" marR="29714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67886561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88261929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 dirty="0" err="1" smtClean="0"/>
              <a:t>Main</a:t>
            </a:r>
            <a:r>
              <a:rPr lang="es-MX" dirty="0" smtClean="0"/>
              <a:t> figures</a:t>
            </a:r>
            <a:endParaRPr lang="en-US" dirty="0"/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090988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uadroTexto 6"/>
          <p:cNvSpPr txBox="1"/>
          <p:nvPr/>
        </p:nvSpPr>
        <p:spPr>
          <a:xfrm>
            <a:off x="1460827" y="766814"/>
            <a:ext cx="10177302" cy="338554"/>
          </a:xfrm>
          <a:prstGeom prst="rect">
            <a:avLst/>
          </a:prstGeom>
          <a:solidFill>
            <a:schemeClr val="bg2"/>
          </a:solidFill>
        </p:spPr>
        <p:txBody>
          <a:bodyPr wrap="square" rtlCol="0">
            <a:spAutoFit/>
          </a:bodyPr>
          <a:lstStyle/>
          <a:p>
            <a:r>
              <a:rPr lang="es-MX" sz="1600" b="1" i="1" dirty="0" smtClean="0"/>
              <a:t>  </a:t>
            </a:r>
            <a:r>
              <a:rPr lang="es-MX" sz="1600" b="1" i="1" dirty="0" err="1" smtClean="0"/>
              <a:t>P.torta</a:t>
            </a:r>
            <a:r>
              <a:rPr lang="es-MX" sz="1600" b="1" i="1" dirty="0" smtClean="0"/>
              <a:t>                         C. </a:t>
            </a:r>
            <a:r>
              <a:rPr lang="es-MX" sz="1600" b="1" i="1" dirty="0" err="1" smtClean="0"/>
              <a:t>racemosa</a:t>
            </a:r>
            <a:r>
              <a:rPr lang="es-MX" sz="1600" b="1" i="1" dirty="0" smtClean="0"/>
              <a:t>               M. </a:t>
            </a:r>
            <a:r>
              <a:rPr lang="es-MX" sz="1600" b="1" i="1" dirty="0" err="1" smtClean="0"/>
              <a:t>sp</a:t>
            </a:r>
            <a:r>
              <a:rPr lang="es-MX" sz="1600" b="1" i="1" dirty="0" smtClean="0"/>
              <a:t>. Nov.                A. </a:t>
            </a:r>
            <a:r>
              <a:rPr lang="es-MX" sz="1600" b="1" i="1" dirty="0" err="1" smtClean="0"/>
              <a:t>lojaensis</a:t>
            </a:r>
            <a:r>
              <a:rPr lang="es-MX" sz="1600" b="1" i="1" dirty="0" smtClean="0"/>
              <a:t>               H. </a:t>
            </a:r>
            <a:r>
              <a:rPr lang="es-MX" sz="1600" b="1" i="1" dirty="0" err="1" smtClean="0"/>
              <a:t>purpurascens</a:t>
            </a:r>
            <a:r>
              <a:rPr lang="es-MX" sz="1600" b="1" i="1" dirty="0" smtClean="0"/>
              <a:t>       W. </a:t>
            </a:r>
            <a:r>
              <a:rPr lang="es-MX" sz="1600" b="1" i="1" dirty="0" err="1" smtClean="0"/>
              <a:t>loxensis</a:t>
            </a:r>
            <a:endParaRPr lang="en-US" sz="1600" b="1" i="1" dirty="0"/>
          </a:p>
        </p:txBody>
      </p:sp>
      <p:sp>
        <p:nvSpPr>
          <p:cNvPr id="12" name="Rectángulo 11"/>
          <p:cNvSpPr/>
          <p:nvPr/>
        </p:nvSpPr>
        <p:spPr>
          <a:xfrm>
            <a:off x="1648276" y="568664"/>
            <a:ext cx="3237881" cy="259308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dirty="0" smtClean="0">
                <a:solidFill>
                  <a:schemeClr val="tx2"/>
                </a:solidFill>
              </a:rPr>
              <a:t>1000 m</a:t>
            </a:r>
            <a:endParaRPr lang="en-US" dirty="0">
              <a:solidFill>
                <a:schemeClr val="tx2"/>
              </a:solidFill>
            </a:endParaRPr>
          </a:p>
        </p:txBody>
      </p:sp>
      <p:sp>
        <p:nvSpPr>
          <p:cNvPr id="13" name="Rectángulo 12"/>
          <p:cNvSpPr/>
          <p:nvPr/>
        </p:nvSpPr>
        <p:spPr>
          <a:xfrm>
            <a:off x="5032612" y="582246"/>
            <a:ext cx="3151693" cy="259308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dirty="0" smtClean="0">
                <a:solidFill>
                  <a:schemeClr val="tx2"/>
                </a:solidFill>
              </a:rPr>
              <a:t>2000 m</a:t>
            </a:r>
            <a:endParaRPr lang="en-US" dirty="0">
              <a:solidFill>
                <a:schemeClr val="tx2"/>
              </a:solidFill>
            </a:endParaRPr>
          </a:p>
        </p:txBody>
      </p:sp>
      <p:sp>
        <p:nvSpPr>
          <p:cNvPr id="14" name="Rectángulo 13"/>
          <p:cNvSpPr/>
          <p:nvPr/>
        </p:nvSpPr>
        <p:spPr>
          <a:xfrm>
            <a:off x="8338474" y="591123"/>
            <a:ext cx="3299654" cy="259308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dirty="0">
                <a:solidFill>
                  <a:schemeClr val="tx2"/>
                </a:solidFill>
              </a:rPr>
              <a:t>3</a:t>
            </a:r>
            <a:r>
              <a:rPr lang="es-MX" dirty="0" smtClean="0">
                <a:solidFill>
                  <a:schemeClr val="tx2"/>
                </a:solidFill>
              </a:rPr>
              <a:t>000 m</a:t>
            </a:r>
            <a:endParaRPr lang="en-US" dirty="0">
              <a:solidFill>
                <a:schemeClr val="tx2"/>
              </a:solidFill>
            </a:endParaRPr>
          </a:p>
        </p:txBody>
      </p:sp>
      <p:sp>
        <p:nvSpPr>
          <p:cNvPr id="5" name="Rectángulo 4"/>
          <p:cNvSpPr/>
          <p:nvPr/>
        </p:nvSpPr>
        <p:spPr>
          <a:xfrm>
            <a:off x="2820838" y="1405352"/>
            <a:ext cx="310551" cy="24229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dirty="0" smtClean="0"/>
              <a:t>*</a:t>
            </a:r>
            <a:endParaRPr lang="en-US" dirty="0"/>
          </a:p>
        </p:txBody>
      </p:sp>
      <p:pic>
        <p:nvPicPr>
          <p:cNvPr id="2" name="Imagen 1"/>
          <p:cNvPicPr>
            <a:picLocks noChangeAspect="1"/>
          </p:cNvPicPr>
          <p:nvPr/>
        </p:nvPicPr>
        <p:blipFill rotWithShape="1">
          <a:blip r:embed="rId2"/>
          <a:srcRect t="16376" b="10718"/>
          <a:stretch/>
        </p:blipFill>
        <p:spPr>
          <a:xfrm>
            <a:off x="832856" y="1105368"/>
            <a:ext cx="10805272" cy="3349199"/>
          </a:xfrm>
          <a:prstGeom prst="rect">
            <a:avLst/>
          </a:prstGeom>
        </p:spPr>
      </p:pic>
      <p:graphicFrame>
        <p:nvGraphicFramePr>
          <p:cNvPr id="3" name="Tabla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62235089"/>
              </p:ext>
            </p:extLst>
          </p:nvPr>
        </p:nvGraphicFramePr>
        <p:xfrm>
          <a:off x="1648276" y="4421689"/>
          <a:ext cx="9363205" cy="2426454"/>
        </p:xfrm>
        <a:graphic>
          <a:graphicData uri="http://schemas.openxmlformats.org/drawingml/2006/table">
            <a:tbl>
              <a:tblPr>
                <a:tableStyleId>{B301B821-A1FF-4177-AEE7-76D212191A09}</a:tableStyleId>
              </a:tblPr>
              <a:tblGrid>
                <a:gridCol w="1156230">
                  <a:extLst>
                    <a:ext uri="{9D8B030D-6E8A-4147-A177-3AD203B41FA5}">
                      <a16:colId xmlns:a16="http://schemas.microsoft.com/office/drawing/2014/main" val="3195771121"/>
                    </a:ext>
                  </a:extLst>
                </a:gridCol>
                <a:gridCol w="600935">
                  <a:extLst>
                    <a:ext uri="{9D8B030D-6E8A-4147-A177-3AD203B41FA5}">
                      <a16:colId xmlns:a16="http://schemas.microsoft.com/office/drawing/2014/main" val="3945831580"/>
                    </a:ext>
                  </a:extLst>
                </a:gridCol>
                <a:gridCol w="745464">
                  <a:extLst>
                    <a:ext uri="{9D8B030D-6E8A-4147-A177-3AD203B41FA5}">
                      <a16:colId xmlns:a16="http://schemas.microsoft.com/office/drawing/2014/main" val="3184800768"/>
                    </a:ext>
                  </a:extLst>
                </a:gridCol>
                <a:gridCol w="570507">
                  <a:extLst>
                    <a:ext uri="{9D8B030D-6E8A-4147-A177-3AD203B41FA5}">
                      <a16:colId xmlns:a16="http://schemas.microsoft.com/office/drawing/2014/main" val="2573817784"/>
                    </a:ext>
                  </a:extLst>
                </a:gridCol>
                <a:gridCol w="585721">
                  <a:extLst>
                    <a:ext uri="{9D8B030D-6E8A-4147-A177-3AD203B41FA5}">
                      <a16:colId xmlns:a16="http://schemas.microsoft.com/office/drawing/2014/main" val="2730638"/>
                    </a:ext>
                  </a:extLst>
                </a:gridCol>
                <a:gridCol w="547688">
                  <a:extLst>
                    <a:ext uri="{9D8B030D-6E8A-4147-A177-3AD203B41FA5}">
                      <a16:colId xmlns:a16="http://schemas.microsoft.com/office/drawing/2014/main" val="3188400172"/>
                    </a:ext>
                  </a:extLst>
                </a:gridCol>
                <a:gridCol w="753071">
                  <a:extLst>
                    <a:ext uri="{9D8B030D-6E8A-4147-A177-3AD203B41FA5}">
                      <a16:colId xmlns:a16="http://schemas.microsoft.com/office/drawing/2014/main" val="1559614308"/>
                    </a:ext>
                  </a:extLst>
                </a:gridCol>
                <a:gridCol w="616149">
                  <a:extLst>
                    <a:ext uri="{9D8B030D-6E8A-4147-A177-3AD203B41FA5}">
                      <a16:colId xmlns:a16="http://schemas.microsoft.com/office/drawing/2014/main" val="633016869"/>
                    </a:ext>
                  </a:extLst>
                </a:gridCol>
                <a:gridCol w="775890">
                  <a:extLst>
                    <a:ext uri="{9D8B030D-6E8A-4147-A177-3AD203B41FA5}">
                      <a16:colId xmlns:a16="http://schemas.microsoft.com/office/drawing/2014/main" val="3959304717"/>
                    </a:ext>
                  </a:extLst>
                </a:gridCol>
                <a:gridCol w="677002">
                  <a:extLst>
                    <a:ext uri="{9D8B030D-6E8A-4147-A177-3AD203B41FA5}">
                      <a16:colId xmlns:a16="http://schemas.microsoft.com/office/drawing/2014/main" val="2166713249"/>
                    </a:ext>
                  </a:extLst>
                </a:gridCol>
                <a:gridCol w="669396">
                  <a:extLst>
                    <a:ext uri="{9D8B030D-6E8A-4147-A177-3AD203B41FA5}">
                      <a16:colId xmlns:a16="http://schemas.microsoft.com/office/drawing/2014/main" val="1277636722"/>
                    </a:ext>
                  </a:extLst>
                </a:gridCol>
                <a:gridCol w="281451">
                  <a:extLst>
                    <a:ext uri="{9D8B030D-6E8A-4147-A177-3AD203B41FA5}">
                      <a16:colId xmlns:a16="http://schemas.microsoft.com/office/drawing/2014/main" val="4433817"/>
                    </a:ext>
                  </a:extLst>
                </a:gridCol>
                <a:gridCol w="349913">
                  <a:extLst>
                    <a:ext uri="{9D8B030D-6E8A-4147-A177-3AD203B41FA5}">
                      <a16:colId xmlns:a16="http://schemas.microsoft.com/office/drawing/2014/main" val="544659015"/>
                    </a:ext>
                  </a:extLst>
                </a:gridCol>
                <a:gridCol w="409575">
                  <a:extLst>
                    <a:ext uri="{9D8B030D-6E8A-4147-A177-3AD203B41FA5}">
                      <a16:colId xmlns:a16="http://schemas.microsoft.com/office/drawing/2014/main" val="3586788963"/>
                    </a:ext>
                  </a:extLst>
                </a:gridCol>
                <a:gridCol w="624213">
                  <a:extLst>
                    <a:ext uri="{9D8B030D-6E8A-4147-A177-3AD203B41FA5}">
                      <a16:colId xmlns:a16="http://schemas.microsoft.com/office/drawing/2014/main" val="2469421007"/>
                    </a:ext>
                  </a:extLst>
                </a:gridCol>
              </a:tblGrid>
              <a:tr h="425320">
                <a:tc>
                  <a:txBody>
                    <a:bodyPr/>
                    <a:lstStyle/>
                    <a:p>
                      <a:pPr algn="l" fontAlgn="b"/>
                      <a:r>
                        <a:rPr lang="en-US" sz="1000" u="none" strike="noStrike" dirty="0">
                          <a:effectLst/>
                        </a:rPr>
                        <a:t>term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763" marR="8763" marT="8763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000" u="none" strike="noStrike" dirty="0">
                          <a:effectLst/>
                        </a:rPr>
                        <a:t>(Intercept)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763" marR="8763" marT="8763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000" u="none" strike="noStrike">
                          <a:effectLst/>
                        </a:rPr>
                        <a:t>(Intercept)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763" marR="8763" marT="8763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000" u="none" strike="noStrike">
                          <a:effectLst/>
                        </a:rPr>
                        <a:t>SUBN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763" marR="8763" marT="8763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000" u="none" strike="noStrike">
                          <a:effectLst/>
                        </a:rPr>
                        <a:t>SUBN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763" marR="8763" marT="8763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000" u="none" strike="noStrike">
                          <a:effectLst/>
                        </a:rPr>
                        <a:t>SUBNP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763" marR="8763" marT="8763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000" u="none" strike="noStrike">
                          <a:effectLst/>
                        </a:rPr>
                        <a:t>SUBNP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763" marR="8763" marT="8763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000" u="none" strike="noStrike">
                          <a:effectLst/>
                        </a:rPr>
                        <a:t>SUBP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763" marR="8763" marT="8763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000" u="none" strike="noStrike">
                          <a:effectLst/>
                        </a:rPr>
                        <a:t>SUBP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763" marR="8763" marT="8763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000" u="none" strike="noStrike">
                          <a:effectLst/>
                        </a:rPr>
                        <a:t>SD (Intercept Bloque)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763" marR="8763" marT="8763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000" u="none" strike="noStrike">
                          <a:effectLst/>
                        </a:rPr>
                        <a:t>SD (Observations)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763" marR="8763" marT="8763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000" u="none" strike="noStrike">
                          <a:effectLst/>
                        </a:rPr>
                        <a:t>Num.Obs.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763" marR="8763" marT="8763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000" u="none" strike="noStrike">
                          <a:effectLst/>
                        </a:rPr>
                        <a:t>R2 Marg.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763" marR="8763" marT="8763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000" u="none" strike="noStrike">
                          <a:effectLst/>
                        </a:rPr>
                        <a:t>R2 Cond.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763" marR="8763" marT="8763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000" u="none" strike="noStrike">
                          <a:effectLst/>
                        </a:rPr>
                        <a:t>AIC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763" marR="8763" marT="8763" marB="0" anchor="b"/>
                </a:tc>
                <a:extLst>
                  <a:ext uri="{0D108BD9-81ED-4DB2-BD59-A6C34878D82A}">
                    <a16:rowId xmlns:a16="http://schemas.microsoft.com/office/drawing/2014/main" val="3691828474"/>
                  </a:ext>
                </a:extLst>
              </a:tr>
              <a:tr h="147106">
                <a:tc>
                  <a:txBody>
                    <a:bodyPr/>
                    <a:lstStyle/>
                    <a:p>
                      <a:pPr algn="l" fontAlgn="b"/>
                      <a:r>
                        <a:rPr lang="en-US" sz="1000" u="none" strike="noStrike">
                          <a:effectLst/>
                        </a:rPr>
                        <a:t>statistic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763" marR="8763" marT="8763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000" u="none" strike="noStrike">
                          <a:effectLst/>
                        </a:rPr>
                        <a:t>estimate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763" marR="8763" marT="8763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000" u="none" strike="noStrike">
                          <a:effectLst/>
                        </a:rPr>
                        <a:t>std.error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763" marR="8763" marT="8763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000" u="none" strike="noStrike">
                          <a:effectLst/>
                        </a:rPr>
                        <a:t>estimate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763" marR="8763" marT="8763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000" u="none" strike="noStrike">
                          <a:effectLst/>
                        </a:rPr>
                        <a:t>std.error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763" marR="8763" marT="8763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000" u="none" strike="noStrike">
                          <a:effectLst/>
                        </a:rPr>
                        <a:t>estimate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763" marR="8763" marT="8763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000" u="none" strike="noStrike">
                          <a:effectLst/>
                        </a:rPr>
                        <a:t>std.error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763" marR="8763" marT="8763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000" u="none" strike="noStrike">
                          <a:effectLst/>
                        </a:rPr>
                        <a:t>estimate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763" marR="8763" marT="8763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000" u="none" strike="noStrike">
                          <a:effectLst/>
                        </a:rPr>
                        <a:t>std.error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763" marR="8763" marT="8763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000" u="none" strike="noStrike">
                          <a:effectLst/>
                        </a:rPr>
                        <a:t>estimate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763" marR="8763" marT="8763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000" u="none" strike="noStrike">
                          <a:effectLst/>
                        </a:rPr>
                        <a:t>estimate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763" marR="8763" marT="8763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763" marR="8763" marT="8763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763" marR="8763" marT="8763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763" marR="8763" marT="8763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763" marR="8763" marT="8763" marB="0" anchor="b"/>
                </a:tc>
                <a:extLst>
                  <a:ext uri="{0D108BD9-81ED-4DB2-BD59-A6C34878D82A}">
                    <a16:rowId xmlns:a16="http://schemas.microsoft.com/office/drawing/2014/main" val="564539061"/>
                  </a:ext>
                </a:extLst>
              </a:tr>
              <a:tr h="286213">
                <a:tc>
                  <a:txBody>
                    <a:bodyPr/>
                    <a:lstStyle/>
                    <a:p>
                      <a:pPr algn="l" fontAlgn="b"/>
                      <a:r>
                        <a:rPr lang="en-US" sz="1000" u="none" strike="noStrike">
                          <a:effectLst/>
                        </a:rPr>
                        <a:t>SLA | 1000 | Pouteria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763" marR="8763" marT="8763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000" u="none" strike="noStrike">
                          <a:effectLst/>
                        </a:rPr>
                        <a:t>80.265***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763" marR="8763" marT="8763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000" u="none" strike="noStrike">
                          <a:effectLst/>
                        </a:rPr>
                        <a:t>(3.333)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763" marR="8763" marT="8763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000" u="none" strike="noStrike">
                          <a:effectLst/>
                        </a:rPr>
                        <a:t>-2.075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763" marR="8763" marT="8763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000" u="none" strike="noStrike">
                          <a:effectLst/>
                        </a:rPr>
                        <a:t>(4.829)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763" marR="8763" marT="8763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000" u="none" strike="noStrike">
                          <a:effectLst/>
                        </a:rPr>
                        <a:t>-0.783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763" marR="8763" marT="8763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000" u="none" strike="noStrike">
                          <a:effectLst/>
                        </a:rPr>
                        <a:t>(5.344)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763" marR="8763" marT="8763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000" u="none" strike="noStrike">
                          <a:effectLst/>
                        </a:rPr>
                        <a:t>-2.247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763" marR="8763" marT="8763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000" u="none" strike="noStrike">
                          <a:effectLst/>
                        </a:rPr>
                        <a:t>(5.136)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763" marR="8763" marT="8763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000" u="none" strike="noStrike">
                          <a:effectLst/>
                        </a:rPr>
                        <a:t>0.000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763" marR="8763" marT="8763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000" u="none" strike="noStrike">
                          <a:effectLst/>
                        </a:rPr>
                        <a:t>11.053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763" marR="8763" marT="8763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000" u="none" strike="noStrike">
                          <a:effectLst/>
                        </a:rPr>
                        <a:t>36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763" marR="8763" marT="8763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000" u="none" strike="noStrike">
                          <a:effectLst/>
                        </a:rPr>
                        <a:t>0.008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763" marR="8763" marT="8763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763" marR="8763" marT="8763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000" u="none" strike="noStrike">
                          <a:effectLst/>
                        </a:rPr>
                        <a:t>265.3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763" marR="8763" marT="8763" marB="0" anchor="b"/>
                </a:tc>
                <a:extLst>
                  <a:ext uri="{0D108BD9-81ED-4DB2-BD59-A6C34878D82A}">
                    <a16:rowId xmlns:a16="http://schemas.microsoft.com/office/drawing/2014/main" val="2865498123"/>
                  </a:ext>
                </a:extLst>
              </a:tr>
              <a:tr h="286213">
                <a:tc>
                  <a:txBody>
                    <a:bodyPr/>
                    <a:lstStyle/>
                    <a:p>
                      <a:pPr algn="l" fontAlgn="b"/>
                      <a:r>
                        <a:rPr lang="en-US" sz="1000" u="none" strike="noStrike">
                          <a:effectLst/>
                        </a:rPr>
                        <a:t>SLA | 1000 | Clarisia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763" marR="8763" marT="8763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000" u="none" strike="noStrike">
                          <a:effectLst/>
                        </a:rPr>
                        <a:t>92.055***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763" marR="8763" marT="8763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000" u="none" strike="noStrike">
                          <a:effectLst/>
                        </a:rPr>
                        <a:t>(5.532)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763" marR="8763" marT="8763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000" u="none" strike="noStrike" dirty="0">
                          <a:effectLst/>
                        </a:rPr>
                        <a:t>24.498*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763" marR="8763" marT="8763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000" u="none" strike="noStrike">
                          <a:effectLst/>
                        </a:rPr>
                        <a:t>(7.724)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763" marR="8763" marT="8763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000" u="none" strike="noStrike" dirty="0">
                          <a:effectLst/>
                        </a:rPr>
                        <a:t>14.369*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763" marR="8763" marT="8763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000" u="none" strike="noStrike" dirty="0">
                          <a:effectLst/>
                        </a:rPr>
                        <a:t>(4.867)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763" marR="8763" marT="8763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000" u="none" strike="noStrike">
                          <a:effectLst/>
                        </a:rPr>
                        <a:t>7.687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763" marR="8763" marT="8763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000" u="none" strike="noStrike">
                          <a:effectLst/>
                        </a:rPr>
                        <a:t>(5.135)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763" marR="8763" marT="8763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000" u="none" strike="noStrike">
                          <a:effectLst/>
                        </a:rPr>
                        <a:t>7.217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763" marR="8763" marT="8763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000" u="none" strike="noStrike">
                          <a:effectLst/>
                        </a:rPr>
                        <a:t>6.303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763" marR="8763" marT="8763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000" u="none" strike="noStrike">
                          <a:effectLst/>
                        </a:rPr>
                        <a:t>12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763" marR="8763" marT="8763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000" u="none" strike="noStrike">
                          <a:effectLst/>
                        </a:rPr>
                        <a:t>0.374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763" marR="8763" marT="8763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000" u="none" strike="noStrike">
                          <a:effectLst/>
                        </a:rPr>
                        <a:t>0.729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763" marR="8763" marT="8763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000" u="none" strike="noStrike">
                          <a:effectLst/>
                        </a:rPr>
                        <a:t>71.2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763" marR="8763" marT="8763" marB="0" anchor="b"/>
                </a:tc>
                <a:extLst>
                  <a:ext uri="{0D108BD9-81ED-4DB2-BD59-A6C34878D82A}">
                    <a16:rowId xmlns:a16="http://schemas.microsoft.com/office/drawing/2014/main" val="1330114640"/>
                  </a:ext>
                </a:extLst>
              </a:tr>
              <a:tr h="286213">
                <a:tc>
                  <a:txBody>
                    <a:bodyPr/>
                    <a:lstStyle/>
                    <a:p>
                      <a:pPr algn="l" fontAlgn="b"/>
                      <a:r>
                        <a:rPr lang="en-US" sz="1000" u="none" strike="noStrike">
                          <a:effectLst/>
                        </a:rPr>
                        <a:t>SLA | 2000 | Alchornea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763" marR="8763" marT="8763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000" u="none" strike="noStrike">
                          <a:effectLst/>
                        </a:rPr>
                        <a:t>35.554***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763" marR="8763" marT="8763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000" u="none" strike="noStrike">
                          <a:effectLst/>
                        </a:rPr>
                        <a:t>(1.365)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763" marR="8763" marT="8763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000" u="none" strike="noStrike">
                          <a:effectLst/>
                        </a:rPr>
                        <a:t>1.260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763" marR="8763" marT="8763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000" u="none" strike="noStrike">
                          <a:effectLst/>
                        </a:rPr>
                        <a:t>(1.762)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763" marR="8763" marT="8763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000" u="none" strike="noStrike">
                          <a:effectLst/>
                        </a:rPr>
                        <a:t>-1.368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763" marR="8763" marT="8763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000" u="none" strike="noStrike">
                          <a:effectLst/>
                        </a:rPr>
                        <a:t>(1.875)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763" marR="8763" marT="8763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000" u="none" strike="noStrike">
                          <a:effectLst/>
                        </a:rPr>
                        <a:t>0.383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763" marR="8763" marT="8763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000" u="none" strike="noStrike">
                          <a:effectLst/>
                        </a:rPr>
                        <a:t>(1.592)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763" marR="8763" marT="8763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000" u="none" strike="noStrike">
                          <a:effectLst/>
                        </a:rPr>
                        <a:t>1.357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763" marR="8763" marT="8763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000" u="none" strike="noStrike">
                          <a:effectLst/>
                        </a:rPr>
                        <a:t>4.087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763" marR="8763" marT="8763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000" u="none" strike="noStrike">
                          <a:effectLst/>
                        </a:rPr>
                        <a:t>45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763" marR="8763" marT="8763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000" u="none" strike="noStrike">
                          <a:effectLst/>
                        </a:rPr>
                        <a:t>0.038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763" marR="8763" marT="8763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000" u="none" strike="noStrike">
                          <a:effectLst/>
                        </a:rPr>
                        <a:t>0.133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763" marR="8763" marT="8763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000" u="none" strike="noStrike">
                          <a:effectLst/>
                        </a:rPr>
                        <a:t>255.7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763" marR="8763" marT="8763" marB="0" anchor="b"/>
                </a:tc>
                <a:extLst>
                  <a:ext uri="{0D108BD9-81ED-4DB2-BD59-A6C34878D82A}">
                    <a16:rowId xmlns:a16="http://schemas.microsoft.com/office/drawing/2014/main" val="319040502"/>
                  </a:ext>
                </a:extLst>
              </a:tr>
              <a:tr h="286213">
                <a:tc>
                  <a:txBody>
                    <a:bodyPr/>
                    <a:lstStyle/>
                    <a:p>
                      <a:pPr algn="l" fontAlgn="b"/>
                      <a:r>
                        <a:rPr lang="en-US" sz="1000" u="none" strike="noStrike">
                          <a:effectLst/>
                        </a:rPr>
                        <a:t>SLA | 2000 | Myrcia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763" marR="8763" marT="8763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000" u="none" strike="noStrike">
                          <a:effectLst/>
                        </a:rPr>
                        <a:t>36.240***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763" marR="8763" marT="8763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000" u="none" strike="noStrike">
                          <a:effectLst/>
                        </a:rPr>
                        <a:t>(0.859)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763" marR="8763" marT="8763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000" u="none" strike="noStrike">
                          <a:effectLst/>
                        </a:rPr>
                        <a:t>-0.816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763" marR="8763" marT="8763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000" u="none" strike="noStrike">
                          <a:effectLst/>
                        </a:rPr>
                        <a:t>(1.359)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763" marR="8763" marT="8763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000" u="none" strike="noStrike">
                          <a:effectLst/>
                        </a:rPr>
                        <a:t>-0.361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763" marR="8763" marT="8763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000" u="none" strike="noStrike">
                          <a:effectLst/>
                        </a:rPr>
                        <a:t>(1.261)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763" marR="8763" marT="8763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000" u="none" strike="noStrike">
                          <a:effectLst/>
                        </a:rPr>
                        <a:t>-1.871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763" marR="8763" marT="8763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000" u="none" strike="noStrike">
                          <a:effectLst/>
                        </a:rPr>
                        <a:t>(1.289)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763" marR="8763" marT="8763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000" u="none" strike="noStrike">
                          <a:effectLst/>
                        </a:rPr>
                        <a:t>0.000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763" marR="8763" marT="8763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000" u="none" strike="noStrike">
                          <a:effectLst/>
                        </a:rPr>
                        <a:t>3.329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763" marR="8763" marT="8763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000" u="none" strike="noStrike">
                          <a:effectLst/>
                        </a:rPr>
                        <a:t>50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763" marR="8763" marT="8763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000" u="none" strike="noStrike">
                          <a:effectLst/>
                        </a:rPr>
                        <a:t>0.045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763" marR="8763" marT="8763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763" marR="8763" marT="8763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000" u="none" strike="noStrike">
                          <a:effectLst/>
                        </a:rPr>
                        <a:t>263.2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763" marR="8763" marT="8763" marB="0" anchor="b"/>
                </a:tc>
                <a:extLst>
                  <a:ext uri="{0D108BD9-81ED-4DB2-BD59-A6C34878D82A}">
                    <a16:rowId xmlns:a16="http://schemas.microsoft.com/office/drawing/2014/main" val="777109380"/>
                  </a:ext>
                </a:extLst>
              </a:tr>
              <a:tr h="286213">
                <a:tc>
                  <a:txBody>
                    <a:bodyPr/>
                    <a:lstStyle/>
                    <a:p>
                      <a:pPr algn="l" fontAlgn="b"/>
                      <a:r>
                        <a:rPr lang="en-US" sz="1000" u="none" strike="noStrike">
                          <a:effectLst/>
                        </a:rPr>
                        <a:t>SLA | 3000 | Hedyosmum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763" marR="8763" marT="8763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000" u="none" strike="noStrike">
                          <a:effectLst/>
                        </a:rPr>
                        <a:t>68.883***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763" marR="8763" marT="8763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000" u="none" strike="noStrike">
                          <a:effectLst/>
                        </a:rPr>
                        <a:t>(5.136)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763" marR="8763" marT="8763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000" u="none" strike="noStrike">
                          <a:effectLst/>
                        </a:rPr>
                        <a:t>-8.013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763" marR="8763" marT="8763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000" u="none" strike="noStrike">
                          <a:effectLst/>
                        </a:rPr>
                        <a:t>(6.954)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763" marR="8763" marT="8763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000" u="none" strike="noStrike">
                          <a:effectLst/>
                        </a:rPr>
                        <a:t>-2.907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763" marR="8763" marT="8763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000" u="none" strike="noStrike">
                          <a:effectLst/>
                        </a:rPr>
                        <a:t>(8.387)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763" marR="8763" marT="8763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000" u="none" strike="noStrike">
                          <a:effectLst/>
                        </a:rPr>
                        <a:t>7.024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763" marR="8763" marT="8763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000" u="none" strike="noStrike">
                          <a:effectLst/>
                        </a:rPr>
                        <a:t>(6.725)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763" marR="8763" marT="8763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000" u="none" strike="noStrike">
                          <a:effectLst/>
                        </a:rPr>
                        <a:t>0.000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763" marR="8763" marT="8763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000" u="none" strike="noStrike">
                          <a:effectLst/>
                        </a:rPr>
                        <a:t>11.484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763" marR="8763" marT="8763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000" u="none" strike="noStrike">
                          <a:effectLst/>
                        </a:rPr>
                        <a:t>21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763" marR="8763" marT="8763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000" u="none" strike="noStrike">
                          <a:effectLst/>
                        </a:rPr>
                        <a:t>0.222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763" marR="8763" marT="8763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763" marR="8763" marT="8763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000" u="none" strike="noStrike">
                          <a:effectLst/>
                        </a:rPr>
                        <a:t>149.7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763" marR="8763" marT="8763" marB="0" anchor="b"/>
                </a:tc>
                <a:extLst>
                  <a:ext uri="{0D108BD9-81ED-4DB2-BD59-A6C34878D82A}">
                    <a16:rowId xmlns:a16="http://schemas.microsoft.com/office/drawing/2014/main" val="1107355154"/>
                  </a:ext>
                </a:extLst>
              </a:tr>
              <a:tr h="286213">
                <a:tc>
                  <a:txBody>
                    <a:bodyPr/>
                    <a:lstStyle/>
                    <a:p>
                      <a:pPr algn="l" fontAlgn="b"/>
                      <a:r>
                        <a:rPr lang="en-US" sz="1000" u="none" strike="noStrike" dirty="0">
                          <a:effectLst/>
                        </a:rPr>
                        <a:t>SLA | 3000 | </a:t>
                      </a:r>
                      <a:r>
                        <a:rPr lang="en-US" sz="1000" u="none" strike="noStrike" dirty="0" err="1">
                          <a:effectLst/>
                        </a:rPr>
                        <a:t>Weinmannia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763" marR="8763" marT="8763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000" u="none" strike="noStrike">
                          <a:effectLst/>
                        </a:rPr>
                        <a:t>70.102***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763" marR="8763" marT="8763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000" u="none" strike="noStrike">
                          <a:effectLst/>
                        </a:rPr>
                        <a:t>(3.009)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763" marR="8763" marT="8763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000" u="none" strike="noStrike">
                          <a:effectLst/>
                        </a:rPr>
                        <a:t>-0.552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763" marR="8763" marT="8763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000" u="none" strike="noStrike">
                          <a:effectLst/>
                        </a:rPr>
                        <a:t>(4.255)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763" marR="8763" marT="8763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000" u="none" strike="noStrike">
                          <a:effectLst/>
                        </a:rPr>
                        <a:t>2.106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763" marR="8763" marT="8763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000" u="none" strike="noStrike">
                          <a:effectLst/>
                        </a:rPr>
                        <a:t>(5.629)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763" marR="8763" marT="8763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000" u="none" strike="noStrike">
                          <a:effectLst/>
                        </a:rPr>
                        <a:t>2.477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763" marR="8763" marT="8763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000" u="none" strike="noStrike">
                          <a:effectLst/>
                        </a:rPr>
                        <a:t>(4.074)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763" marR="8763" marT="8763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000" u="none" strike="noStrike">
                          <a:effectLst/>
                        </a:rPr>
                        <a:t>0.000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763" marR="8763" marT="8763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000" u="none" strike="noStrike">
                          <a:effectLst/>
                        </a:rPr>
                        <a:t>6.728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763" marR="8763" marT="8763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000" u="none" strike="noStrike">
                          <a:effectLst/>
                        </a:rPr>
                        <a:t>18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763" marR="8763" marT="8763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000" u="none" strike="noStrike">
                          <a:effectLst/>
                        </a:rPr>
                        <a:t>0.040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763" marR="8763" marT="8763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763" marR="8763" marT="8763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000" u="none" strike="noStrike" dirty="0">
                          <a:effectLst/>
                        </a:rPr>
                        <a:t>110.8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763" marR="8763" marT="8763" marB="0" anchor="b"/>
                </a:tc>
                <a:extLst>
                  <a:ext uri="{0D108BD9-81ED-4DB2-BD59-A6C34878D82A}">
                    <a16:rowId xmlns:a16="http://schemas.microsoft.com/office/drawing/2014/main" val="157559195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03680550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n 3"/>
          <p:cNvPicPr>
            <a:picLocks noChangeAspect="1"/>
          </p:cNvPicPr>
          <p:nvPr/>
        </p:nvPicPr>
        <p:blipFill rotWithShape="1">
          <a:blip r:embed="rId2"/>
          <a:srcRect t="16683" b="13213"/>
          <a:stretch/>
        </p:blipFill>
        <p:spPr>
          <a:xfrm>
            <a:off x="640394" y="1084729"/>
            <a:ext cx="10997734" cy="3281083"/>
          </a:xfrm>
          <a:prstGeom prst="rect">
            <a:avLst/>
          </a:prstGeom>
        </p:spPr>
      </p:pic>
      <p:sp>
        <p:nvSpPr>
          <p:cNvPr id="7" name="CuadroTexto 6"/>
          <p:cNvSpPr txBox="1"/>
          <p:nvPr/>
        </p:nvSpPr>
        <p:spPr>
          <a:xfrm>
            <a:off x="1460827" y="766814"/>
            <a:ext cx="10177302" cy="338554"/>
          </a:xfrm>
          <a:prstGeom prst="rect">
            <a:avLst/>
          </a:prstGeom>
          <a:solidFill>
            <a:schemeClr val="bg2"/>
          </a:solidFill>
        </p:spPr>
        <p:txBody>
          <a:bodyPr wrap="square" rtlCol="0">
            <a:spAutoFit/>
          </a:bodyPr>
          <a:lstStyle/>
          <a:p>
            <a:r>
              <a:rPr lang="es-MX" sz="1600" b="1" i="1" dirty="0" smtClean="0"/>
              <a:t>  </a:t>
            </a:r>
            <a:r>
              <a:rPr lang="es-MX" sz="1600" b="1" i="1" dirty="0" err="1" smtClean="0"/>
              <a:t>P.torta</a:t>
            </a:r>
            <a:r>
              <a:rPr lang="es-MX" sz="1600" b="1" i="1" dirty="0" smtClean="0"/>
              <a:t>                         C. </a:t>
            </a:r>
            <a:r>
              <a:rPr lang="es-MX" sz="1600" b="1" i="1" dirty="0" err="1" smtClean="0"/>
              <a:t>racemosa</a:t>
            </a:r>
            <a:r>
              <a:rPr lang="es-MX" sz="1600" b="1" i="1" dirty="0" smtClean="0"/>
              <a:t>               M. </a:t>
            </a:r>
            <a:r>
              <a:rPr lang="es-MX" sz="1600" b="1" i="1" dirty="0" err="1" smtClean="0"/>
              <a:t>sp</a:t>
            </a:r>
            <a:r>
              <a:rPr lang="es-MX" sz="1600" b="1" i="1" dirty="0" smtClean="0"/>
              <a:t>. Nov.                A. </a:t>
            </a:r>
            <a:r>
              <a:rPr lang="es-MX" sz="1600" b="1" i="1" dirty="0" err="1" smtClean="0"/>
              <a:t>lojaensis</a:t>
            </a:r>
            <a:r>
              <a:rPr lang="es-MX" sz="1600" b="1" i="1" dirty="0" smtClean="0"/>
              <a:t>               H. </a:t>
            </a:r>
            <a:r>
              <a:rPr lang="es-MX" sz="1600" b="1" i="1" dirty="0" err="1" smtClean="0"/>
              <a:t>purpurascens</a:t>
            </a:r>
            <a:r>
              <a:rPr lang="es-MX" sz="1600" b="1" i="1" dirty="0" smtClean="0"/>
              <a:t>       W. </a:t>
            </a:r>
            <a:r>
              <a:rPr lang="es-MX" sz="1600" b="1" i="1" dirty="0" err="1" smtClean="0"/>
              <a:t>loxensis</a:t>
            </a:r>
            <a:endParaRPr lang="en-US" sz="1600" b="1" i="1" dirty="0"/>
          </a:p>
        </p:txBody>
      </p:sp>
      <p:sp>
        <p:nvSpPr>
          <p:cNvPr id="12" name="Rectángulo 11"/>
          <p:cNvSpPr/>
          <p:nvPr/>
        </p:nvSpPr>
        <p:spPr>
          <a:xfrm>
            <a:off x="1648276" y="568664"/>
            <a:ext cx="3237881" cy="259308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dirty="0" smtClean="0">
                <a:solidFill>
                  <a:schemeClr val="tx2"/>
                </a:solidFill>
              </a:rPr>
              <a:t>1000 m</a:t>
            </a:r>
            <a:endParaRPr lang="en-US" dirty="0">
              <a:solidFill>
                <a:schemeClr val="tx2"/>
              </a:solidFill>
            </a:endParaRPr>
          </a:p>
        </p:txBody>
      </p:sp>
      <p:sp>
        <p:nvSpPr>
          <p:cNvPr id="13" name="Rectángulo 12"/>
          <p:cNvSpPr/>
          <p:nvPr/>
        </p:nvSpPr>
        <p:spPr>
          <a:xfrm>
            <a:off x="5032612" y="582246"/>
            <a:ext cx="3151693" cy="259308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dirty="0" smtClean="0">
                <a:solidFill>
                  <a:schemeClr val="tx2"/>
                </a:solidFill>
              </a:rPr>
              <a:t>2000 m</a:t>
            </a:r>
            <a:endParaRPr lang="en-US" dirty="0">
              <a:solidFill>
                <a:schemeClr val="tx2"/>
              </a:solidFill>
            </a:endParaRPr>
          </a:p>
        </p:txBody>
      </p:sp>
      <p:sp>
        <p:nvSpPr>
          <p:cNvPr id="14" name="Rectángulo 13"/>
          <p:cNvSpPr/>
          <p:nvPr/>
        </p:nvSpPr>
        <p:spPr>
          <a:xfrm>
            <a:off x="8338474" y="591123"/>
            <a:ext cx="3299654" cy="259308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dirty="0">
                <a:solidFill>
                  <a:schemeClr val="tx2"/>
                </a:solidFill>
              </a:rPr>
              <a:t>3</a:t>
            </a:r>
            <a:r>
              <a:rPr lang="es-MX" dirty="0" smtClean="0">
                <a:solidFill>
                  <a:schemeClr val="tx2"/>
                </a:solidFill>
              </a:rPr>
              <a:t>000 m</a:t>
            </a:r>
            <a:endParaRPr lang="en-US" dirty="0">
              <a:solidFill>
                <a:schemeClr val="tx2"/>
              </a:solidFill>
            </a:endParaRPr>
          </a:p>
        </p:txBody>
      </p:sp>
      <p:sp>
        <p:nvSpPr>
          <p:cNvPr id="5" name="Rectángulo 4"/>
          <p:cNvSpPr/>
          <p:nvPr/>
        </p:nvSpPr>
        <p:spPr>
          <a:xfrm>
            <a:off x="2820838" y="1405352"/>
            <a:ext cx="310551" cy="24229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dirty="0" smtClean="0"/>
              <a:t>*</a:t>
            </a:r>
            <a:endParaRPr lang="en-US" dirty="0"/>
          </a:p>
        </p:txBody>
      </p:sp>
      <p:graphicFrame>
        <p:nvGraphicFramePr>
          <p:cNvPr id="9" name="Tabla 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41737446"/>
              </p:ext>
            </p:extLst>
          </p:nvPr>
        </p:nvGraphicFramePr>
        <p:xfrm>
          <a:off x="1026459" y="4365812"/>
          <a:ext cx="10515600" cy="2219630"/>
        </p:xfrm>
        <a:graphic>
          <a:graphicData uri="http://schemas.openxmlformats.org/drawingml/2006/table">
            <a:tbl>
              <a:tblPr>
                <a:tableStyleId>{B301B821-A1FF-4177-AEE7-76D212191A09}</a:tableStyleId>
              </a:tblPr>
              <a:tblGrid>
                <a:gridCol w="1314450">
                  <a:extLst>
                    <a:ext uri="{9D8B030D-6E8A-4147-A177-3AD203B41FA5}">
                      <a16:colId xmlns:a16="http://schemas.microsoft.com/office/drawing/2014/main" val="21332611"/>
                    </a:ext>
                  </a:extLst>
                </a:gridCol>
                <a:gridCol w="657225">
                  <a:extLst>
                    <a:ext uri="{9D8B030D-6E8A-4147-A177-3AD203B41FA5}">
                      <a16:colId xmlns:a16="http://schemas.microsoft.com/office/drawing/2014/main" val="1909923808"/>
                    </a:ext>
                  </a:extLst>
                </a:gridCol>
                <a:gridCol w="657225">
                  <a:extLst>
                    <a:ext uri="{9D8B030D-6E8A-4147-A177-3AD203B41FA5}">
                      <a16:colId xmlns:a16="http://schemas.microsoft.com/office/drawing/2014/main" val="92507996"/>
                    </a:ext>
                  </a:extLst>
                </a:gridCol>
                <a:gridCol w="657225">
                  <a:extLst>
                    <a:ext uri="{9D8B030D-6E8A-4147-A177-3AD203B41FA5}">
                      <a16:colId xmlns:a16="http://schemas.microsoft.com/office/drawing/2014/main" val="3139552223"/>
                    </a:ext>
                  </a:extLst>
                </a:gridCol>
                <a:gridCol w="657225">
                  <a:extLst>
                    <a:ext uri="{9D8B030D-6E8A-4147-A177-3AD203B41FA5}">
                      <a16:colId xmlns:a16="http://schemas.microsoft.com/office/drawing/2014/main" val="47196137"/>
                    </a:ext>
                  </a:extLst>
                </a:gridCol>
                <a:gridCol w="657225">
                  <a:extLst>
                    <a:ext uri="{9D8B030D-6E8A-4147-A177-3AD203B41FA5}">
                      <a16:colId xmlns:a16="http://schemas.microsoft.com/office/drawing/2014/main" val="916534716"/>
                    </a:ext>
                  </a:extLst>
                </a:gridCol>
                <a:gridCol w="657225">
                  <a:extLst>
                    <a:ext uri="{9D8B030D-6E8A-4147-A177-3AD203B41FA5}">
                      <a16:colId xmlns:a16="http://schemas.microsoft.com/office/drawing/2014/main" val="1382982317"/>
                    </a:ext>
                  </a:extLst>
                </a:gridCol>
                <a:gridCol w="657225">
                  <a:extLst>
                    <a:ext uri="{9D8B030D-6E8A-4147-A177-3AD203B41FA5}">
                      <a16:colId xmlns:a16="http://schemas.microsoft.com/office/drawing/2014/main" val="3984801987"/>
                    </a:ext>
                  </a:extLst>
                </a:gridCol>
                <a:gridCol w="657225">
                  <a:extLst>
                    <a:ext uri="{9D8B030D-6E8A-4147-A177-3AD203B41FA5}">
                      <a16:colId xmlns:a16="http://schemas.microsoft.com/office/drawing/2014/main" val="852421429"/>
                    </a:ext>
                  </a:extLst>
                </a:gridCol>
                <a:gridCol w="657225">
                  <a:extLst>
                    <a:ext uri="{9D8B030D-6E8A-4147-A177-3AD203B41FA5}">
                      <a16:colId xmlns:a16="http://schemas.microsoft.com/office/drawing/2014/main" val="2953552694"/>
                    </a:ext>
                  </a:extLst>
                </a:gridCol>
                <a:gridCol w="657225">
                  <a:extLst>
                    <a:ext uri="{9D8B030D-6E8A-4147-A177-3AD203B41FA5}">
                      <a16:colId xmlns:a16="http://schemas.microsoft.com/office/drawing/2014/main" val="3910835601"/>
                    </a:ext>
                  </a:extLst>
                </a:gridCol>
                <a:gridCol w="657225">
                  <a:extLst>
                    <a:ext uri="{9D8B030D-6E8A-4147-A177-3AD203B41FA5}">
                      <a16:colId xmlns:a16="http://schemas.microsoft.com/office/drawing/2014/main" val="234410984"/>
                    </a:ext>
                  </a:extLst>
                </a:gridCol>
                <a:gridCol w="657225">
                  <a:extLst>
                    <a:ext uri="{9D8B030D-6E8A-4147-A177-3AD203B41FA5}">
                      <a16:colId xmlns:a16="http://schemas.microsoft.com/office/drawing/2014/main" val="352857064"/>
                    </a:ext>
                  </a:extLst>
                </a:gridCol>
                <a:gridCol w="657225">
                  <a:extLst>
                    <a:ext uri="{9D8B030D-6E8A-4147-A177-3AD203B41FA5}">
                      <a16:colId xmlns:a16="http://schemas.microsoft.com/office/drawing/2014/main" val="1640065746"/>
                    </a:ext>
                  </a:extLst>
                </a:gridCol>
                <a:gridCol w="657225">
                  <a:extLst>
                    <a:ext uri="{9D8B030D-6E8A-4147-A177-3AD203B41FA5}">
                      <a16:colId xmlns:a16="http://schemas.microsoft.com/office/drawing/2014/main" val="699937592"/>
                    </a:ext>
                  </a:extLst>
                </a:gridCol>
              </a:tblGrid>
              <a:tr h="164306">
                <a:tc>
                  <a:txBody>
                    <a:bodyPr/>
                    <a:lstStyle/>
                    <a:p>
                      <a:pPr algn="l" fontAlgn="b"/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u="none" strike="noStrike" dirty="0">
                          <a:effectLst/>
                        </a:rPr>
                        <a:t>(Intercept)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u="none" strike="noStrike" dirty="0">
                          <a:effectLst/>
                        </a:rPr>
                        <a:t>(Intercept)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u="none" strike="noStrike" dirty="0" smtClean="0">
                          <a:effectLst/>
                        </a:rPr>
                        <a:t>N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u="none" strike="noStrike" dirty="0" smtClean="0">
                          <a:effectLst/>
                        </a:rPr>
                        <a:t>N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u="none" strike="noStrike" dirty="0" smtClean="0">
                          <a:effectLst/>
                        </a:rPr>
                        <a:t>NP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u="none" strike="noStrike" dirty="0" smtClean="0">
                          <a:effectLst/>
                        </a:rPr>
                        <a:t>NP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u="none" strike="noStrike" dirty="0" smtClean="0">
                          <a:effectLst/>
                        </a:rPr>
                        <a:t>P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u="none" strike="noStrike" dirty="0" smtClean="0">
                          <a:effectLst/>
                        </a:rPr>
                        <a:t>P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u="none" strike="noStrike">
                          <a:effectLst/>
                        </a:rPr>
                        <a:t>SD (Intercept Bloque)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u="none" strike="noStrike" dirty="0">
                          <a:effectLst/>
                        </a:rPr>
                        <a:t>SD (Observations)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u="none" strike="noStrike" dirty="0" err="1">
                          <a:effectLst/>
                        </a:rPr>
                        <a:t>Num.Obs</a:t>
                      </a:r>
                      <a:r>
                        <a:rPr lang="en-US" sz="1100" u="none" strike="noStrike" dirty="0">
                          <a:effectLst/>
                        </a:rPr>
                        <a:t>.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u="none" strike="noStrike" dirty="0">
                          <a:effectLst/>
                        </a:rPr>
                        <a:t>R2 Marg.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u="none" strike="noStrike" dirty="0">
                          <a:effectLst/>
                        </a:rPr>
                        <a:t>R2 Cond.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u="none" strike="noStrike" dirty="0">
                          <a:effectLst/>
                        </a:rPr>
                        <a:t>AIC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075320251"/>
                  </a:ext>
                </a:extLst>
              </a:tr>
              <a:tr h="164306">
                <a:tc>
                  <a:txBody>
                    <a:bodyPr/>
                    <a:lstStyle/>
                    <a:p>
                      <a:pPr algn="l" fontAlgn="b"/>
                      <a:r>
                        <a:rPr lang="en-US" sz="900" u="none" strike="noStrike" dirty="0" err="1">
                          <a:effectLst/>
                        </a:rPr>
                        <a:t>Modelo</a:t>
                      </a:r>
                      <a:endParaRPr lang="en-US" sz="900" b="1" i="0" u="none" strike="noStrike" dirty="0">
                        <a:solidFill>
                          <a:srgbClr val="FFFFFF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900" u="none" strike="noStrike">
                          <a:effectLst/>
                        </a:rPr>
                        <a:t>estimates</a:t>
                      </a:r>
                      <a:endParaRPr lang="en-US" sz="900" b="1" i="0" u="none" strike="noStrike">
                        <a:solidFill>
                          <a:srgbClr val="FFFFFF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900" u="none" strike="noStrike">
                          <a:effectLst/>
                        </a:rPr>
                        <a:t>estimates.1</a:t>
                      </a:r>
                      <a:endParaRPr lang="en-US" sz="900" b="1" i="0" u="none" strike="noStrike">
                        <a:solidFill>
                          <a:srgbClr val="FFFFFF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900" u="none" strike="noStrike">
                          <a:effectLst/>
                        </a:rPr>
                        <a:t>estimates.2</a:t>
                      </a:r>
                      <a:endParaRPr lang="en-US" sz="900" b="1" i="0" u="none" strike="noStrike">
                        <a:solidFill>
                          <a:srgbClr val="FFFFFF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900" u="none" strike="noStrike">
                          <a:effectLst/>
                        </a:rPr>
                        <a:t>estimates.3</a:t>
                      </a:r>
                      <a:endParaRPr lang="en-US" sz="900" b="1" i="0" u="none" strike="noStrike">
                        <a:solidFill>
                          <a:srgbClr val="FFFFFF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900" u="none" strike="noStrike" dirty="0">
                          <a:effectLst/>
                        </a:rPr>
                        <a:t>estimates.4</a:t>
                      </a:r>
                      <a:endParaRPr lang="en-US" sz="900" b="1" i="0" u="none" strike="noStrike" dirty="0">
                        <a:solidFill>
                          <a:srgbClr val="FFFFFF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900" u="none" strike="noStrike" dirty="0">
                          <a:effectLst/>
                        </a:rPr>
                        <a:t>estimates.5</a:t>
                      </a:r>
                      <a:endParaRPr lang="en-US" sz="900" b="1" i="0" u="none" strike="noStrike" dirty="0">
                        <a:solidFill>
                          <a:srgbClr val="FFFFFF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900" u="none" strike="noStrike">
                          <a:effectLst/>
                        </a:rPr>
                        <a:t>estimates.6</a:t>
                      </a:r>
                      <a:endParaRPr lang="en-US" sz="900" b="1" i="0" u="none" strike="noStrike">
                        <a:solidFill>
                          <a:srgbClr val="FFFFFF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900" u="none" strike="noStrike">
                          <a:effectLst/>
                        </a:rPr>
                        <a:t>estimates.7</a:t>
                      </a:r>
                      <a:endParaRPr lang="en-US" sz="900" b="1" i="0" u="none" strike="noStrike">
                        <a:solidFill>
                          <a:srgbClr val="FFFFFF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900" u="none" strike="noStrike">
                          <a:effectLst/>
                        </a:rPr>
                        <a:t>estimates.8</a:t>
                      </a:r>
                      <a:endParaRPr lang="en-US" sz="900" b="1" i="0" u="none" strike="noStrike">
                        <a:solidFill>
                          <a:srgbClr val="FFFFFF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900" u="none" strike="noStrike">
                          <a:effectLst/>
                        </a:rPr>
                        <a:t>estimates.9</a:t>
                      </a:r>
                      <a:endParaRPr lang="en-US" sz="900" b="1" i="0" u="none" strike="noStrike">
                        <a:solidFill>
                          <a:srgbClr val="FFFFFF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900" u="none" strike="noStrike">
                          <a:effectLst/>
                        </a:rPr>
                        <a:t>gof</a:t>
                      </a:r>
                      <a:endParaRPr lang="en-US" sz="900" b="1" i="0" u="none" strike="noStrike">
                        <a:solidFill>
                          <a:srgbClr val="FFFFFF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900" u="none" strike="noStrike">
                          <a:effectLst/>
                        </a:rPr>
                        <a:t>gof.1</a:t>
                      </a:r>
                      <a:endParaRPr lang="en-US" sz="900" b="1" i="0" u="none" strike="noStrike">
                        <a:solidFill>
                          <a:srgbClr val="FFFFFF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900" u="none" strike="noStrike">
                          <a:effectLst/>
                        </a:rPr>
                        <a:t>gof.2</a:t>
                      </a:r>
                      <a:endParaRPr lang="en-US" sz="900" b="1" i="0" u="none" strike="noStrike">
                        <a:solidFill>
                          <a:srgbClr val="FFFFFF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900" u="none" strike="noStrike">
                          <a:effectLst/>
                        </a:rPr>
                        <a:t>gof.3</a:t>
                      </a:r>
                      <a:endParaRPr lang="en-US" sz="900" b="1" i="0" u="none" strike="noStrike">
                        <a:solidFill>
                          <a:srgbClr val="FFFFFF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b"/>
                </a:tc>
                <a:extLst>
                  <a:ext uri="{0D108BD9-81ED-4DB2-BD59-A6C34878D82A}">
                    <a16:rowId xmlns:a16="http://schemas.microsoft.com/office/drawing/2014/main" val="666272853"/>
                  </a:ext>
                </a:extLst>
              </a:tr>
              <a:tr h="297394">
                <a:tc>
                  <a:txBody>
                    <a:bodyPr/>
                    <a:lstStyle/>
                    <a:p>
                      <a:pPr algn="l" fontAlgn="b"/>
                      <a:r>
                        <a:rPr lang="en-US" sz="900" u="none" strike="noStrike">
                          <a:effectLst/>
                        </a:rPr>
                        <a:t>logNmass | 1000 | Pouteria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900" u="none" strike="noStrike">
                          <a:effectLst/>
                        </a:rPr>
                        <a:t>2.728***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900" u="none" strike="noStrike">
                          <a:effectLst/>
                        </a:rPr>
                        <a:t>(0.030)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900" u="none" strike="noStrike">
                          <a:effectLst/>
                        </a:rPr>
                        <a:t>0.021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900" u="none" strike="noStrike">
                          <a:effectLst/>
                        </a:rPr>
                        <a:t>(0.036)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900" u="none" strike="noStrike">
                          <a:effectLst/>
                        </a:rPr>
                        <a:t>0.049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900" u="none" strike="noStrike">
                          <a:effectLst/>
                        </a:rPr>
                        <a:t>(0.036)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900" u="none" strike="noStrike" dirty="0">
                          <a:solidFill>
                            <a:srgbClr val="FF0000"/>
                          </a:solidFill>
                          <a:effectLst/>
                        </a:rPr>
                        <a:t>0.082*</a:t>
                      </a:r>
                      <a:endParaRPr lang="en-US" sz="900" b="0" i="0" u="none" strike="noStrike" dirty="0">
                        <a:solidFill>
                          <a:srgbClr val="FF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900" u="none" strike="noStrike">
                          <a:effectLst/>
                        </a:rPr>
                        <a:t>(0.034)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900" u="none" strike="noStrike">
                          <a:effectLst/>
                        </a:rPr>
                        <a:t>0.038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900" u="none" strike="noStrike">
                          <a:effectLst/>
                        </a:rPr>
                        <a:t>0.071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900" u="none" strike="noStrike">
                          <a:effectLst/>
                        </a:rPr>
                        <a:t>36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900" u="none" strike="noStrike">
                          <a:effectLst/>
                        </a:rPr>
                        <a:t>0.132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900" u="none" strike="noStrike">
                          <a:effectLst/>
                        </a:rPr>
                        <a:t>0.324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900" u="none" strike="noStrike">
                          <a:effectLst/>
                        </a:rPr>
                        <a:t>-54.8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b"/>
                </a:tc>
                <a:extLst>
                  <a:ext uri="{0D108BD9-81ED-4DB2-BD59-A6C34878D82A}">
                    <a16:rowId xmlns:a16="http://schemas.microsoft.com/office/drawing/2014/main" val="3746702471"/>
                  </a:ext>
                </a:extLst>
              </a:tr>
              <a:tr h="188997">
                <a:tc>
                  <a:txBody>
                    <a:bodyPr/>
                    <a:lstStyle/>
                    <a:p>
                      <a:pPr algn="l" fontAlgn="b"/>
                      <a:r>
                        <a:rPr lang="en-US" sz="900" u="none" strike="noStrike" dirty="0" err="1">
                          <a:effectLst/>
                        </a:rPr>
                        <a:t>logNmass</a:t>
                      </a:r>
                      <a:r>
                        <a:rPr lang="en-US" sz="900" u="none" strike="noStrike" dirty="0">
                          <a:effectLst/>
                        </a:rPr>
                        <a:t> | 1000 | </a:t>
                      </a:r>
                      <a:r>
                        <a:rPr lang="en-US" sz="900" u="none" strike="noStrike" dirty="0" err="1">
                          <a:effectLst/>
                        </a:rPr>
                        <a:t>Clarisia</a:t>
                      </a:r>
                      <a:endParaRPr lang="en-US" sz="9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900" u="none" strike="noStrike" dirty="0">
                          <a:effectLst/>
                        </a:rPr>
                        <a:t>2.849***</a:t>
                      </a:r>
                      <a:endParaRPr lang="en-US" sz="9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900" u="none" strike="noStrike" dirty="0">
                          <a:effectLst/>
                        </a:rPr>
                        <a:t>(0.070)</a:t>
                      </a:r>
                      <a:endParaRPr lang="en-US" sz="9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900" u="none" strike="noStrike" dirty="0">
                          <a:effectLst/>
                        </a:rPr>
                        <a:t>0.150</a:t>
                      </a:r>
                      <a:endParaRPr lang="en-US" sz="9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900" u="none" strike="noStrike">
                          <a:effectLst/>
                        </a:rPr>
                        <a:t>(0.141)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900" u="none" strike="noStrike" dirty="0">
                          <a:solidFill>
                            <a:srgbClr val="FF0000"/>
                          </a:solidFill>
                          <a:effectLst/>
                        </a:rPr>
                        <a:t>0.313*</a:t>
                      </a:r>
                      <a:endParaRPr lang="en-US" sz="900" b="0" i="0" u="none" strike="noStrike" dirty="0">
                        <a:solidFill>
                          <a:srgbClr val="FF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900" u="none" strike="noStrike">
                          <a:effectLst/>
                        </a:rPr>
                        <a:t>(0.093)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900" u="none" strike="noStrike">
                          <a:effectLst/>
                        </a:rPr>
                        <a:t>0.120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900" u="none" strike="noStrike">
                          <a:effectLst/>
                        </a:rPr>
                        <a:t>(0.093)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900" u="none" strike="noStrike">
                          <a:effectLst/>
                        </a:rPr>
                        <a:t>0.000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900" u="none" strike="noStrike">
                          <a:effectLst/>
                        </a:rPr>
                        <a:t>0.122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900" u="none" strike="noStrike">
                          <a:effectLst/>
                        </a:rPr>
                        <a:t>12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900" u="none" strike="noStrike">
                          <a:effectLst/>
                        </a:rPr>
                        <a:t>0.520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900" u="none" strike="noStrike">
                          <a:effectLst/>
                        </a:rPr>
                        <a:t>4.9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b"/>
                </a:tc>
                <a:extLst>
                  <a:ext uri="{0D108BD9-81ED-4DB2-BD59-A6C34878D82A}">
                    <a16:rowId xmlns:a16="http://schemas.microsoft.com/office/drawing/2014/main" val="4226927365"/>
                  </a:ext>
                </a:extLst>
              </a:tr>
              <a:tr h="297394">
                <a:tc>
                  <a:txBody>
                    <a:bodyPr/>
                    <a:lstStyle/>
                    <a:p>
                      <a:pPr algn="l" fontAlgn="b"/>
                      <a:r>
                        <a:rPr lang="en-US" sz="900" u="none" strike="noStrike" dirty="0" err="1">
                          <a:effectLst/>
                        </a:rPr>
                        <a:t>logNmass</a:t>
                      </a:r>
                      <a:r>
                        <a:rPr lang="en-US" sz="900" u="none" strike="noStrike" dirty="0">
                          <a:effectLst/>
                        </a:rPr>
                        <a:t> | 2000 | </a:t>
                      </a:r>
                      <a:r>
                        <a:rPr lang="en-US" sz="900" u="none" strike="noStrike" dirty="0" err="1">
                          <a:effectLst/>
                        </a:rPr>
                        <a:t>Alchornea</a:t>
                      </a:r>
                      <a:endParaRPr lang="en-US" sz="9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900" u="none" strike="noStrike">
                          <a:effectLst/>
                        </a:rPr>
                        <a:t>2.442***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900" u="none" strike="noStrike">
                          <a:effectLst/>
                        </a:rPr>
                        <a:t>(0.039)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900" u="none" strike="noStrike" dirty="0">
                          <a:solidFill>
                            <a:srgbClr val="FF0000"/>
                          </a:solidFill>
                          <a:effectLst/>
                        </a:rPr>
                        <a:t>0.125*</a:t>
                      </a:r>
                      <a:endParaRPr lang="en-US" sz="900" b="0" i="0" u="none" strike="noStrike" dirty="0">
                        <a:solidFill>
                          <a:srgbClr val="FF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900" u="none" strike="noStrike" dirty="0">
                          <a:effectLst/>
                        </a:rPr>
                        <a:t>(0.058)</a:t>
                      </a:r>
                      <a:endParaRPr lang="en-US" sz="9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900" u="none" strike="noStrike" dirty="0">
                          <a:solidFill>
                            <a:srgbClr val="FF0000"/>
                          </a:solidFill>
                          <a:effectLst/>
                        </a:rPr>
                        <a:t>0.038</a:t>
                      </a:r>
                      <a:endParaRPr lang="en-US" sz="900" b="0" i="0" u="none" strike="noStrike" dirty="0">
                        <a:solidFill>
                          <a:srgbClr val="FF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900" u="none" strike="noStrike" dirty="0">
                          <a:effectLst/>
                        </a:rPr>
                        <a:t>(0.061)</a:t>
                      </a:r>
                      <a:endParaRPr lang="en-US" sz="9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900" u="none" strike="noStrike">
                          <a:effectLst/>
                        </a:rPr>
                        <a:t>-0.043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900" u="none" strike="noStrike">
                          <a:effectLst/>
                        </a:rPr>
                        <a:t>(0.052)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900" u="none" strike="noStrike">
                          <a:effectLst/>
                        </a:rPr>
                        <a:t>0.000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900" u="none" strike="noStrike">
                          <a:effectLst/>
                        </a:rPr>
                        <a:t>0.134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900" u="none" strike="noStrike">
                          <a:effectLst/>
                        </a:rPr>
                        <a:t>45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900" u="none" strike="noStrike">
                          <a:effectLst/>
                        </a:rPr>
                        <a:t>0.182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900" u="none" strike="noStrike">
                          <a:effectLst/>
                        </a:rPr>
                        <a:t>-26.6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b"/>
                </a:tc>
                <a:extLst>
                  <a:ext uri="{0D108BD9-81ED-4DB2-BD59-A6C34878D82A}">
                    <a16:rowId xmlns:a16="http://schemas.microsoft.com/office/drawing/2014/main" val="1742231457"/>
                  </a:ext>
                </a:extLst>
              </a:tr>
              <a:tr h="164306">
                <a:tc>
                  <a:txBody>
                    <a:bodyPr/>
                    <a:lstStyle/>
                    <a:p>
                      <a:pPr algn="l" fontAlgn="b"/>
                      <a:r>
                        <a:rPr lang="en-US" sz="900" u="none" strike="noStrike">
                          <a:effectLst/>
                        </a:rPr>
                        <a:t>logNmass | 2000 | Myrcia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900" u="none" strike="noStrike">
                          <a:effectLst/>
                        </a:rPr>
                        <a:t>2.168***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900" u="none" strike="noStrike">
                          <a:effectLst/>
                        </a:rPr>
                        <a:t>(0.032)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900" u="none" strike="noStrike" dirty="0">
                          <a:solidFill>
                            <a:srgbClr val="FF0000"/>
                          </a:solidFill>
                          <a:effectLst/>
                        </a:rPr>
                        <a:t>0.132**</a:t>
                      </a:r>
                      <a:endParaRPr lang="en-US" sz="900" b="0" i="0" u="none" strike="noStrike" dirty="0">
                        <a:solidFill>
                          <a:srgbClr val="FF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900" u="none" strike="noStrike" dirty="0">
                          <a:effectLst/>
                        </a:rPr>
                        <a:t>(0.043)</a:t>
                      </a:r>
                      <a:endParaRPr lang="en-US" sz="9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900" u="none" strike="noStrike" dirty="0">
                          <a:solidFill>
                            <a:srgbClr val="FF0000"/>
                          </a:solidFill>
                          <a:effectLst/>
                        </a:rPr>
                        <a:t>0.102*</a:t>
                      </a:r>
                      <a:endParaRPr lang="en-US" sz="900" b="0" i="0" u="none" strike="noStrike" dirty="0">
                        <a:solidFill>
                          <a:srgbClr val="FF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900" u="none" strike="noStrike" dirty="0">
                          <a:effectLst/>
                        </a:rPr>
                        <a:t>(0.041)</a:t>
                      </a:r>
                      <a:endParaRPr lang="en-US" sz="9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900" u="none" strike="noStrike" dirty="0">
                          <a:solidFill>
                            <a:srgbClr val="FF0000"/>
                          </a:solidFill>
                          <a:effectLst/>
                        </a:rPr>
                        <a:t>-0.071+</a:t>
                      </a:r>
                      <a:endParaRPr lang="en-US" sz="900" b="0" i="0" u="none" strike="noStrike" dirty="0">
                        <a:solidFill>
                          <a:srgbClr val="FF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900" u="none" strike="noStrike" dirty="0">
                          <a:effectLst/>
                        </a:rPr>
                        <a:t>(0.041)</a:t>
                      </a:r>
                      <a:endParaRPr lang="en-US" sz="9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900" u="none" strike="noStrike">
                          <a:effectLst/>
                        </a:rPr>
                        <a:t>0.031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900" u="none" strike="noStrike">
                          <a:effectLst/>
                        </a:rPr>
                        <a:t>0.104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900" u="none" strike="noStrike">
                          <a:effectLst/>
                        </a:rPr>
                        <a:t>49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900" u="none" strike="noStrike">
                          <a:effectLst/>
                        </a:rPr>
                        <a:t>0.350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900" u="none" strike="noStrike">
                          <a:effectLst/>
                        </a:rPr>
                        <a:t>0.405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900" u="none" strike="noStrike">
                          <a:effectLst/>
                        </a:rPr>
                        <a:t>-52.1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b"/>
                </a:tc>
                <a:extLst>
                  <a:ext uri="{0D108BD9-81ED-4DB2-BD59-A6C34878D82A}">
                    <a16:rowId xmlns:a16="http://schemas.microsoft.com/office/drawing/2014/main" val="3661934195"/>
                  </a:ext>
                </a:extLst>
              </a:tr>
              <a:tr h="297394">
                <a:tc>
                  <a:txBody>
                    <a:bodyPr/>
                    <a:lstStyle/>
                    <a:p>
                      <a:pPr algn="l" fontAlgn="b"/>
                      <a:r>
                        <a:rPr lang="en-US" sz="900" u="none" strike="noStrike" dirty="0" err="1">
                          <a:effectLst/>
                        </a:rPr>
                        <a:t>logNmass</a:t>
                      </a:r>
                      <a:r>
                        <a:rPr lang="en-US" sz="900" u="none" strike="noStrike" dirty="0">
                          <a:effectLst/>
                        </a:rPr>
                        <a:t> | 3000 | </a:t>
                      </a:r>
                      <a:r>
                        <a:rPr lang="en-US" sz="900" u="none" strike="noStrike" dirty="0" err="1">
                          <a:effectLst/>
                        </a:rPr>
                        <a:t>Hedyosmum</a:t>
                      </a:r>
                      <a:endParaRPr lang="en-US" sz="9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900" u="none" strike="noStrike">
                          <a:effectLst/>
                        </a:rPr>
                        <a:t>2.648***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900" u="none" strike="noStrike">
                          <a:effectLst/>
                        </a:rPr>
                        <a:t>(0.065)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900" u="none" strike="noStrike" dirty="0">
                          <a:solidFill>
                            <a:srgbClr val="FF0000"/>
                          </a:solidFill>
                          <a:effectLst/>
                        </a:rPr>
                        <a:t>0.201**</a:t>
                      </a:r>
                      <a:endParaRPr lang="en-US" sz="900" b="0" i="0" u="none" strike="noStrike" dirty="0">
                        <a:solidFill>
                          <a:srgbClr val="FF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900" u="none" strike="noStrike">
                          <a:effectLst/>
                        </a:rPr>
                        <a:t>(0.065)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900" u="none" strike="noStrike" dirty="0">
                          <a:solidFill>
                            <a:srgbClr val="FF0000"/>
                          </a:solidFill>
                          <a:effectLst/>
                        </a:rPr>
                        <a:t>0.163+</a:t>
                      </a:r>
                      <a:endParaRPr lang="en-US" sz="900" b="0" i="0" u="none" strike="noStrike" dirty="0">
                        <a:solidFill>
                          <a:srgbClr val="FF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900" u="none" strike="noStrike">
                          <a:effectLst/>
                        </a:rPr>
                        <a:t>(0.078)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900" u="none" strike="noStrike">
                          <a:effectLst/>
                        </a:rPr>
                        <a:t>0.088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900" u="none" strike="noStrike" dirty="0">
                          <a:effectLst/>
                        </a:rPr>
                        <a:t>(0.062)</a:t>
                      </a:r>
                      <a:endParaRPr lang="en-US" sz="9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900" u="none" strike="noStrike" dirty="0">
                          <a:effectLst/>
                        </a:rPr>
                        <a:t>0.089</a:t>
                      </a:r>
                      <a:endParaRPr lang="en-US" sz="9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900" u="none" strike="noStrike" dirty="0">
                          <a:effectLst/>
                        </a:rPr>
                        <a:t>0.106</a:t>
                      </a:r>
                      <a:endParaRPr lang="en-US" sz="9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900" u="none" strike="noStrike" dirty="0">
                          <a:effectLst/>
                        </a:rPr>
                        <a:t>21</a:t>
                      </a:r>
                      <a:endParaRPr lang="en-US" sz="9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900" u="none" strike="noStrike">
                          <a:effectLst/>
                        </a:rPr>
                        <a:t>0.243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900" u="none" strike="noStrike">
                          <a:effectLst/>
                        </a:rPr>
                        <a:t>0.557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900" u="none" strike="noStrike">
                          <a:effectLst/>
                        </a:rPr>
                        <a:t>-5.4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b"/>
                </a:tc>
                <a:extLst>
                  <a:ext uri="{0D108BD9-81ED-4DB2-BD59-A6C34878D82A}">
                    <a16:rowId xmlns:a16="http://schemas.microsoft.com/office/drawing/2014/main" val="2699229423"/>
                  </a:ext>
                </a:extLst>
              </a:tr>
              <a:tr h="297394">
                <a:tc>
                  <a:txBody>
                    <a:bodyPr/>
                    <a:lstStyle/>
                    <a:p>
                      <a:pPr algn="l" fontAlgn="b"/>
                      <a:r>
                        <a:rPr lang="en-US" sz="900" u="none" strike="noStrike">
                          <a:effectLst/>
                        </a:rPr>
                        <a:t>logNmass | 3000 | Weinmannia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900" u="none" strike="noStrike">
                          <a:effectLst/>
                        </a:rPr>
                        <a:t>2.338***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900" u="none" strike="noStrike">
                          <a:effectLst/>
                        </a:rPr>
                        <a:t>(0.064)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900" u="none" strike="noStrike">
                          <a:effectLst/>
                        </a:rPr>
                        <a:t>0.092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900" u="none" strike="noStrike">
                          <a:effectLst/>
                        </a:rPr>
                        <a:t>(0.091)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900" u="none" strike="noStrike" dirty="0">
                          <a:effectLst/>
                        </a:rPr>
                        <a:t>0.076</a:t>
                      </a:r>
                      <a:endParaRPr lang="en-US" sz="9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900" u="none" strike="noStrike">
                          <a:effectLst/>
                        </a:rPr>
                        <a:t>(0.121)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900" u="none" strike="noStrike">
                          <a:effectLst/>
                        </a:rPr>
                        <a:t>0.026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900" u="none" strike="noStrike">
                          <a:effectLst/>
                        </a:rPr>
                        <a:t>(0.087)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900" u="none" strike="noStrike">
                          <a:effectLst/>
                        </a:rPr>
                        <a:t>0.000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900" u="none" strike="noStrike">
                          <a:effectLst/>
                        </a:rPr>
                        <a:t>0.144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900" u="none" strike="noStrike" dirty="0">
                          <a:effectLst/>
                        </a:rPr>
                        <a:t>18</a:t>
                      </a:r>
                      <a:endParaRPr lang="en-US" sz="9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900" u="none" strike="noStrike" dirty="0">
                          <a:effectLst/>
                        </a:rPr>
                        <a:t>0.067</a:t>
                      </a:r>
                      <a:endParaRPr lang="en-US" sz="9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900" u="none" strike="noStrike" dirty="0">
                          <a:effectLst/>
                        </a:rPr>
                        <a:t>3.2</a:t>
                      </a:r>
                      <a:endParaRPr lang="en-US" sz="9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b"/>
                </a:tc>
                <a:extLst>
                  <a:ext uri="{0D108BD9-81ED-4DB2-BD59-A6C34878D82A}">
                    <a16:rowId xmlns:a16="http://schemas.microsoft.com/office/drawing/2014/main" val="33069404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52306570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Imagen 7"/>
          <p:cNvPicPr>
            <a:picLocks noChangeAspect="1"/>
          </p:cNvPicPr>
          <p:nvPr/>
        </p:nvPicPr>
        <p:blipFill rotWithShape="1">
          <a:blip r:embed="rId2"/>
          <a:srcRect t="17204" b="12737"/>
          <a:stretch/>
        </p:blipFill>
        <p:spPr>
          <a:xfrm>
            <a:off x="485494" y="1183340"/>
            <a:ext cx="11598930" cy="3451413"/>
          </a:xfrm>
          <a:prstGeom prst="rect">
            <a:avLst/>
          </a:prstGeom>
        </p:spPr>
      </p:pic>
      <p:sp>
        <p:nvSpPr>
          <p:cNvPr id="7" name="CuadroTexto 6"/>
          <p:cNvSpPr txBox="1"/>
          <p:nvPr/>
        </p:nvSpPr>
        <p:spPr>
          <a:xfrm>
            <a:off x="1460827" y="766814"/>
            <a:ext cx="10177302" cy="338554"/>
          </a:xfrm>
          <a:prstGeom prst="rect">
            <a:avLst/>
          </a:prstGeom>
          <a:solidFill>
            <a:schemeClr val="bg2"/>
          </a:solidFill>
        </p:spPr>
        <p:txBody>
          <a:bodyPr wrap="square" rtlCol="0">
            <a:spAutoFit/>
          </a:bodyPr>
          <a:lstStyle/>
          <a:p>
            <a:r>
              <a:rPr lang="es-MX" sz="1600" b="1" i="1" dirty="0" smtClean="0"/>
              <a:t>  </a:t>
            </a:r>
            <a:r>
              <a:rPr lang="es-MX" sz="1600" b="1" i="1" dirty="0" err="1" smtClean="0"/>
              <a:t>P.torta</a:t>
            </a:r>
            <a:r>
              <a:rPr lang="es-MX" sz="1600" b="1" i="1" dirty="0" smtClean="0"/>
              <a:t>                         C. </a:t>
            </a:r>
            <a:r>
              <a:rPr lang="es-MX" sz="1600" b="1" i="1" dirty="0" err="1" smtClean="0"/>
              <a:t>racemosa</a:t>
            </a:r>
            <a:r>
              <a:rPr lang="es-MX" sz="1600" b="1" i="1" dirty="0" smtClean="0"/>
              <a:t>               M. </a:t>
            </a:r>
            <a:r>
              <a:rPr lang="es-MX" sz="1600" b="1" i="1" dirty="0" err="1" smtClean="0"/>
              <a:t>sp</a:t>
            </a:r>
            <a:r>
              <a:rPr lang="es-MX" sz="1600" b="1" i="1" dirty="0" smtClean="0"/>
              <a:t>. Nov.                A. </a:t>
            </a:r>
            <a:r>
              <a:rPr lang="es-MX" sz="1600" b="1" i="1" dirty="0" err="1" smtClean="0"/>
              <a:t>lojaensis</a:t>
            </a:r>
            <a:r>
              <a:rPr lang="es-MX" sz="1600" b="1" i="1" dirty="0" smtClean="0"/>
              <a:t>               H. </a:t>
            </a:r>
            <a:r>
              <a:rPr lang="es-MX" sz="1600" b="1" i="1" dirty="0" err="1" smtClean="0"/>
              <a:t>purpurascens</a:t>
            </a:r>
            <a:r>
              <a:rPr lang="es-MX" sz="1600" b="1" i="1" dirty="0" smtClean="0"/>
              <a:t>       W. </a:t>
            </a:r>
            <a:r>
              <a:rPr lang="es-MX" sz="1600" b="1" i="1" dirty="0" err="1" smtClean="0"/>
              <a:t>loxensis</a:t>
            </a:r>
            <a:endParaRPr lang="en-US" sz="1600" b="1" i="1" dirty="0"/>
          </a:p>
        </p:txBody>
      </p:sp>
      <p:sp>
        <p:nvSpPr>
          <p:cNvPr id="12" name="Rectángulo 11"/>
          <p:cNvSpPr/>
          <p:nvPr/>
        </p:nvSpPr>
        <p:spPr>
          <a:xfrm>
            <a:off x="1648276" y="568664"/>
            <a:ext cx="3237881" cy="259308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dirty="0" smtClean="0">
                <a:solidFill>
                  <a:schemeClr val="tx2"/>
                </a:solidFill>
              </a:rPr>
              <a:t>1000 m</a:t>
            </a:r>
            <a:endParaRPr lang="en-US" dirty="0">
              <a:solidFill>
                <a:schemeClr val="tx2"/>
              </a:solidFill>
            </a:endParaRPr>
          </a:p>
        </p:txBody>
      </p:sp>
      <p:sp>
        <p:nvSpPr>
          <p:cNvPr id="13" name="Rectángulo 12"/>
          <p:cNvSpPr/>
          <p:nvPr/>
        </p:nvSpPr>
        <p:spPr>
          <a:xfrm>
            <a:off x="5032612" y="582246"/>
            <a:ext cx="3151693" cy="259308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dirty="0" smtClean="0">
                <a:solidFill>
                  <a:schemeClr val="tx2"/>
                </a:solidFill>
              </a:rPr>
              <a:t>2000 m</a:t>
            </a:r>
            <a:endParaRPr lang="en-US" dirty="0">
              <a:solidFill>
                <a:schemeClr val="tx2"/>
              </a:solidFill>
            </a:endParaRPr>
          </a:p>
        </p:txBody>
      </p:sp>
      <p:sp>
        <p:nvSpPr>
          <p:cNvPr id="14" name="Rectángulo 13"/>
          <p:cNvSpPr/>
          <p:nvPr/>
        </p:nvSpPr>
        <p:spPr>
          <a:xfrm>
            <a:off x="8338474" y="591123"/>
            <a:ext cx="3299654" cy="259308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dirty="0">
                <a:solidFill>
                  <a:schemeClr val="tx2"/>
                </a:solidFill>
              </a:rPr>
              <a:t>3</a:t>
            </a:r>
            <a:r>
              <a:rPr lang="es-MX" dirty="0" smtClean="0">
                <a:solidFill>
                  <a:schemeClr val="tx2"/>
                </a:solidFill>
              </a:rPr>
              <a:t>000 m</a:t>
            </a:r>
            <a:endParaRPr lang="en-US" dirty="0">
              <a:solidFill>
                <a:schemeClr val="tx2"/>
              </a:solidFill>
            </a:endParaRPr>
          </a:p>
        </p:txBody>
      </p:sp>
      <p:sp>
        <p:nvSpPr>
          <p:cNvPr id="5" name="Rectángulo 4"/>
          <p:cNvSpPr/>
          <p:nvPr/>
        </p:nvSpPr>
        <p:spPr>
          <a:xfrm>
            <a:off x="2820838" y="1405352"/>
            <a:ext cx="310551" cy="24229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dirty="0" smtClean="0"/>
              <a:t>*</a:t>
            </a:r>
            <a:endParaRPr lang="en-US" dirty="0"/>
          </a:p>
        </p:txBody>
      </p:sp>
      <p:graphicFrame>
        <p:nvGraphicFramePr>
          <p:cNvPr id="2" name="Tabla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59904502"/>
              </p:ext>
            </p:extLst>
          </p:nvPr>
        </p:nvGraphicFramePr>
        <p:xfrm>
          <a:off x="1122528" y="4967662"/>
          <a:ext cx="10515600" cy="1764457"/>
        </p:xfrm>
        <a:graphic>
          <a:graphicData uri="http://schemas.openxmlformats.org/drawingml/2006/table">
            <a:tbl>
              <a:tblPr>
                <a:tableStyleId>{B301B821-A1FF-4177-AEE7-76D212191A09}</a:tableStyleId>
              </a:tblPr>
              <a:tblGrid>
                <a:gridCol w="1314450">
                  <a:extLst>
                    <a:ext uri="{9D8B030D-6E8A-4147-A177-3AD203B41FA5}">
                      <a16:colId xmlns:a16="http://schemas.microsoft.com/office/drawing/2014/main" val="3907453265"/>
                    </a:ext>
                  </a:extLst>
                </a:gridCol>
                <a:gridCol w="657225">
                  <a:extLst>
                    <a:ext uri="{9D8B030D-6E8A-4147-A177-3AD203B41FA5}">
                      <a16:colId xmlns:a16="http://schemas.microsoft.com/office/drawing/2014/main" val="18535120"/>
                    </a:ext>
                  </a:extLst>
                </a:gridCol>
                <a:gridCol w="657225">
                  <a:extLst>
                    <a:ext uri="{9D8B030D-6E8A-4147-A177-3AD203B41FA5}">
                      <a16:colId xmlns:a16="http://schemas.microsoft.com/office/drawing/2014/main" val="885024713"/>
                    </a:ext>
                  </a:extLst>
                </a:gridCol>
                <a:gridCol w="657225">
                  <a:extLst>
                    <a:ext uri="{9D8B030D-6E8A-4147-A177-3AD203B41FA5}">
                      <a16:colId xmlns:a16="http://schemas.microsoft.com/office/drawing/2014/main" val="1538002088"/>
                    </a:ext>
                  </a:extLst>
                </a:gridCol>
                <a:gridCol w="657225">
                  <a:extLst>
                    <a:ext uri="{9D8B030D-6E8A-4147-A177-3AD203B41FA5}">
                      <a16:colId xmlns:a16="http://schemas.microsoft.com/office/drawing/2014/main" val="3694473627"/>
                    </a:ext>
                  </a:extLst>
                </a:gridCol>
                <a:gridCol w="657225">
                  <a:extLst>
                    <a:ext uri="{9D8B030D-6E8A-4147-A177-3AD203B41FA5}">
                      <a16:colId xmlns:a16="http://schemas.microsoft.com/office/drawing/2014/main" val="2056144914"/>
                    </a:ext>
                  </a:extLst>
                </a:gridCol>
                <a:gridCol w="657225">
                  <a:extLst>
                    <a:ext uri="{9D8B030D-6E8A-4147-A177-3AD203B41FA5}">
                      <a16:colId xmlns:a16="http://schemas.microsoft.com/office/drawing/2014/main" val="3611826672"/>
                    </a:ext>
                  </a:extLst>
                </a:gridCol>
                <a:gridCol w="657225">
                  <a:extLst>
                    <a:ext uri="{9D8B030D-6E8A-4147-A177-3AD203B41FA5}">
                      <a16:colId xmlns:a16="http://schemas.microsoft.com/office/drawing/2014/main" val="137348918"/>
                    </a:ext>
                  </a:extLst>
                </a:gridCol>
                <a:gridCol w="657225">
                  <a:extLst>
                    <a:ext uri="{9D8B030D-6E8A-4147-A177-3AD203B41FA5}">
                      <a16:colId xmlns:a16="http://schemas.microsoft.com/office/drawing/2014/main" val="1874329138"/>
                    </a:ext>
                  </a:extLst>
                </a:gridCol>
                <a:gridCol w="657225">
                  <a:extLst>
                    <a:ext uri="{9D8B030D-6E8A-4147-A177-3AD203B41FA5}">
                      <a16:colId xmlns:a16="http://schemas.microsoft.com/office/drawing/2014/main" val="139841334"/>
                    </a:ext>
                  </a:extLst>
                </a:gridCol>
                <a:gridCol w="657225">
                  <a:extLst>
                    <a:ext uri="{9D8B030D-6E8A-4147-A177-3AD203B41FA5}">
                      <a16:colId xmlns:a16="http://schemas.microsoft.com/office/drawing/2014/main" val="1619835389"/>
                    </a:ext>
                  </a:extLst>
                </a:gridCol>
                <a:gridCol w="657225">
                  <a:extLst>
                    <a:ext uri="{9D8B030D-6E8A-4147-A177-3AD203B41FA5}">
                      <a16:colId xmlns:a16="http://schemas.microsoft.com/office/drawing/2014/main" val="1914618389"/>
                    </a:ext>
                  </a:extLst>
                </a:gridCol>
                <a:gridCol w="657225">
                  <a:extLst>
                    <a:ext uri="{9D8B030D-6E8A-4147-A177-3AD203B41FA5}">
                      <a16:colId xmlns:a16="http://schemas.microsoft.com/office/drawing/2014/main" val="2400728005"/>
                    </a:ext>
                  </a:extLst>
                </a:gridCol>
                <a:gridCol w="657225">
                  <a:extLst>
                    <a:ext uri="{9D8B030D-6E8A-4147-A177-3AD203B41FA5}">
                      <a16:colId xmlns:a16="http://schemas.microsoft.com/office/drawing/2014/main" val="3655095742"/>
                    </a:ext>
                  </a:extLst>
                </a:gridCol>
                <a:gridCol w="657225">
                  <a:extLst>
                    <a:ext uri="{9D8B030D-6E8A-4147-A177-3AD203B41FA5}">
                      <a16:colId xmlns:a16="http://schemas.microsoft.com/office/drawing/2014/main" val="4153901762"/>
                    </a:ext>
                  </a:extLst>
                </a:gridCol>
              </a:tblGrid>
              <a:tr h="164306">
                <a:tc>
                  <a:txBody>
                    <a:bodyPr/>
                    <a:lstStyle/>
                    <a:p>
                      <a:pPr algn="l" fontAlgn="b"/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u="none" strike="noStrike" dirty="0">
                          <a:effectLst/>
                        </a:rPr>
                        <a:t>(Intercept)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u="none" strike="noStrike" dirty="0">
                          <a:effectLst/>
                        </a:rPr>
                        <a:t>(Intercept)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u="none" strike="noStrike" dirty="0" smtClean="0">
                          <a:effectLst/>
                        </a:rPr>
                        <a:t>N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u="none" strike="noStrike" dirty="0" smtClean="0">
                          <a:effectLst/>
                        </a:rPr>
                        <a:t>N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u="none" strike="noStrike" dirty="0" smtClean="0">
                          <a:effectLst/>
                        </a:rPr>
                        <a:t>NP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u="none" strike="noStrike" dirty="0" smtClean="0">
                          <a:effectLst/>
                        </a:rPr>
                        <a:t>NP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u="none" strike="noStrike" dirty="0" smtClean="0">
                          <a:effectLst/>
                        </a:rPr>
                        <a:t>P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u="none" strike="noStrike" dirty="0" smtClean="0">
                          <a:effectLst/>
                        </a:rPr>
                        <a:t>P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u="none" strike="noStrike" dirty="0">
                          <a:effectLst/>
                        </a:rPr>
                        <a:t>SD (Intercept </a:t>
                      </a:r>
                      <a:r>
                        <a:rPr lang="en-US" sz="1100" u="none" strike="noStrike" dirty="0" err="1">
                          <a:effectLst/>
                        </a:rPr>
                        <a:t>Bloque</a:t>
                      </a:r>
                      <a:r>
                        <a:rPr lang="en-US" sz="1100" u="none" strike="noStrike" dirty="0">
                          <a:effectLst/>
                        </a:rPr>
                        <a:t>)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u="none" strike="noStrike" dirty="0">
                          <a:effectLst/>
                        </a:rPr>
                        <a:t>SD (Observations)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u="none" strike="noStrike" dirty="0" err="1">
                          <a:effectLst/>
                        </a:rPr>
                        <a:t>Num.Obs</a:t>
                      </a:r>
                      <a:r>
                        <a:rPr lang="en-US" sz="1100" u="none" strike="noStrike" dirty="0">
                          <a:effectLst/>
                        </a:rPr>
                        <a:t>.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u="none" strike="noStrike" dirty="0">
                          <a:effectLst/>
                        </a:rPr>
                        <a:t>R2 Marg.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u="none" strike="noStrike" dirty="0">
                          <a:effectLst/>
                        </a:rPr>
                        <a:t>R2 Cond.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u="none" strike="noStrike" dirty="0">
                          <a:effectLst/>
                        </a:rPr>
                        <a:t>AIC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3316420631"/>
                  </a:ext>
                </a:extLst>
              </a:tr>
              <a:tr h="164306">
                <a:tc>
                  <a:txBody>
                    <a:bodyPr/>
                    <a:lstStyle/>
                    <a:p>
                      <a:pPr algn="l" fontAlgn="b"/>
                      <a:r>
                        <a:rPr lang="en-US" sz="900" u="none" strike="noStrike" dirty="0" err="1">
                          <a:effectLst/>
                        </a:rPr>
                        <a:t>logLPC</a:t>
                      </a:r>
                      <a:r>
                        <a:rPr lang="en-US" sz="900" u="none" strike="noStrike" dirty="0">
                          <a:effectLst/>
                        </a:rPr>
                        <a:t> | 1000 | </a:t>
                      </a:r>
                      <a:r>
                        <a:rPr lang="en-US" sz="900" u="none" strike="noStrike" dirty="0" err="1">
                          <a:effectLst/>
                        </a:rPr>
                        <a:t>Pouteria</a:t>
                      </a:r>
                      <a:endParaRPr lang="en-US" sz="9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900" u="none" strike="noStrike">
                          <a:effectLst/>
                        </a:rPr>
                        <a:t>-0.446***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900" u="none" strike="noStrike" dirty="0">
                          <a:effectLst/>
                        </a:rPr>
                        <a:t>(0.076)</a:t>
                      </a:r>
                      <a:endParaRPr lang="en-US" sz="9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900" u="none" strike="noStrike">
                          <a:effectLst/>
                        </a:rPr>
                        <a:t>-0.038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900" u="none" strike="noStrike">
                          <a:effectLst/>
                        </a:rPr>
                        <a:t>(0.093)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900" u="none" strike="noStrike">
                          <a:effectLst/>
                        </a:rPr>
                        <a:t>0.121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900" u="none" strike="noStrike">
                          <a:effectLst/>
                        </a:rPr>
                        <a:t>(0.096)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900" u="none" strike="noStrike" dirty="0">
                          <a:solidFill>
                            <a:srgbClr val="FF0000"/>
                          </a:solidFill>
                          <a:effectLst/>
                        </a:rPr>
                        <a:t>0.178+</a:t>
                      </a:r>
                      <a:endParaRPr lang="en-US" sz="900" b="0" i="0" u="none" strike="noStrike" dirty="0">
                        <a:solidFill>
                          <a:srgbClr val="FF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900" u="none" strike="noStrike">
                          <a:effectLst/>
                        </a:rPr>
                        <a:t>(0.091)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900" u="none" strike="noStrike">
                          <a:effectLst/>
                        </a:rPr>
                        <a:t>0.086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900" u="none" strike="noStrike">
                          <a:effectLst/>
                        </a:rPr>
                        <a:t>0.189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900" u="none" strike="noStrike">
                          <a:effectLst/>
                        </a:rPr>
                        <a:t>36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900" u="none" strike="noStrike">
                          <a:effectLst/>
                        </a:rPr>
                        <a:t>0.153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900" u="none" strike="noStrike">
                          <a:effectLst/>
                        </a:rPr>
                        <a:t>0.298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900" u="none" strike="noStrike">
                          <a:effectLst/>
                        </a:rPr>
                        <a:t>7.5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b"/>
                </a:tc>
                <a:extLst>
                  <a:ext uri="{0D108BD9-81ED-4DB2-BD59-A6C34878D82A}">
                    <a16:rowId xmlns:a16="http://schemas.microsoft.com/office/drawing/2014/main" val="1255878841"/>
                  </a:ext>
                </a:extLst>
              </a:tr>
              <a:tr h="164306">
                <a:tc>
                  <a:txBody>
                    <a:bodyPr/>
                    <a:lstStyle/>
                    <a:p>
                      <a:pPr algn="l" fontAlgn="b"/>
                      <a:r>
                        <a:rPr lang="en-US" sz="900" u="none" strike="noStrike">
                          <a:effectLst/>
                        </a:rPr>
                        <a:t>logLPC | 1000 | Clarisia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900" u="none" strike="noStrike">
                          <a:effectLst/>
                        </a:rPr>
                        <a:t>-0.233*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900" u="none" strike="noStrike">
                          <a:effectLst/>
                        </a:rPr>
                        <a:t>(0.067)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900" u="none" strike="noStrike">
                          <a:effectLst/>
                        </a:rPr>
                        <a:t>0.194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900" u="none" strike="noStrike">
                          <a:effectLst/>
                        </a:rPr>
                        <a:t>(0.134)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900" u="none" strike="noStrike" dirty="0">
                          <a:solidFill>
                            <a:srgbClr val="FF0000"/>
                          </a:solidFill>
                          <a:effectLst/>
                        </a:rPr>
                        <a:t>0.370**</a:t>
                      </a:r>
                      <a:endParaRPr lang="en-US" sz="900" b="0" i="0" u="none" strike="noStrike" dirty="0">
                        <a:solidFill>
                          <a:srgbClr val="FF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900" u="none" strike="noStrike">
                          <a:effectLst/>
                        </a:rPr>
                        <a:t>(0.088)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900" u="none" strike="noStrike" dirty="0">
                          <a:solidFill>
                            <a:srgbClr val="FF0000"/>
                          </a:solidFill>
                          <a:effectLst/>
                        </a:rPr>
                        <a:t>0.386**</a:t>
                      </a:r>
                      <a:endParaRPr lang="en-US" sz="900" b="0" i="0" u="none" strike="noStrike" dirty="0">
                        <a:solidFill>
                          <a:srgbClr val="FF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900" u="none" strike="noStrike">
                          <a:effectLst/>
                        </a:rPr>
                        <a:t>(0.088)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900" u="none" strike="noStrike">
                          <a:effectLst/>
                        </a:rPr>
                        <a:t>0.000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900" u="none" strike="noStrike">
                          <a:effectLst/>
                        </a:rPr>
                        <a:t>0.116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900" u="none" strike="noStrike">
                          <a:effectLst/>
                        </a:rPr>
                        <a:t>12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900" u="none" strike="noStrike">
                          <a:effectLst/>
                        </a:rPr>
                        <a:t>0.684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900" u="none" strike="noStrike">
                          <a:effectLst/>
                        </a:rPr>
                        <a:t>4.1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b"/>
                </a:tc>
                <a:extLst>
                  <a:ext uri="{0D108BD9-81ED-4DB2-BD59-A6C34878D82A}">
                    <a16:rowId xmlns:a16="http://schemas.microsoft.com/office/drawing/2014/main" val="3353899892"/>
                  </a:ext>
                </a:extLst>
              </a:tr>
              <a:tr h="164306">
                <a:tc>
                  <a:txBody>
                    <a:bodyPr/>
                    <a:lstStyle/>
                    <a:p>
                      <a:pPr algn="l" fontAlgn="b"/>
                      <a:r>
                        <a:rPr lang="en-US" sz="900" u="none" strike="noStrike">
                          <a:effectLst/>
                        </a:rPr>
                        <a:t>logLPC | 2000 | Alchornea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900" u="none" strike="noStrike">
                          <a:effectLst/>
                        </a:rPr>
                        <a:t>-0.257**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900" u="none" strike="noStrike">
                          <a:effectLst/>
                        </a:rPr>
                        <a:t>(0.081)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900" u="none" strike="noStrike">
                          <a:effectLst/>
                        </a:rPr>
                        <a:t>-0.019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900" u="none" strike="noStrike">
                          <a:effectLst/>
                        </a:rPr>
                        <a:t>(0.092)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900" u="none" strike="noStrike" dirty="0">
                          <a:solidFill>
                            <a:srgbClr val="FF0000"/>
                          </a:solidFill>
                          <a:effectLst/>
                        </a:rPr>
                        <a:t>0.489***</a:t>
                      </a:r>
                      <a:endParaRPr lang="en-US" sz="900" b="0" i="0" u="none" strike="noStrike" dirty="0">
                        <a:solidFill>
                          <a:srgbClr val="FF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900" u="none" strike="noStrike">
                          <a:effectLst/>
                        </a:rPr>
                        <a:t>(0.098)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900" u="none" strike="noStrike" dirty="0">
                          <a:solidFill>
                            <a:srgbClr val="FF0000"/>
                          </a:solidFill>
                          <a:effectLst/>
                        </a:rPr>
                        <a:t>0.428***</a:t>
                      </a:r>
                      <a:endParaRPr lang="en-US" sz="900" b="0" i="0" u="none" strike="noStrike" dirty="0">
                        <a:solidFill>
                          <a:srgbClr val="FF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900" u="none" strike="noStrike">
                          <a:effectLst/>
                        </a:rPr>
                        <a:t>(0.085)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900" u="none" strike="noStrike">
                          <a:effectLst/>
                        </a:rPr>
                        <a:t>0.106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900" u="none" strike="noStrike">
                          <a:effectLst/>
                        </a:rPr>
                        <a:t>0.213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900" u="none" strike="noStrike">
                          <a:effectLst/>
                        </a:rPr>
                        <a:t>44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900" u="none" strike="noStrike">
                          <a:effectLst/>
                        </a:rPr>
                        <a:t>0.491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900" u="none" strike="noStrike">
                          <a:effectLst/>
                        </a:rPr>
                        <a:t>0.592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900" u="none" strike="noStrike">
                          <a:effectLst/>
                        </a:rPr>
                        <a:t>14.9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b"/>
                </a:tc>
                <a:extLst>
                  <a:ext uri="{0D108BD9-81ED-4DB2-BD59-A6C34878D82A}">
                    <a16:rowId xmlns:a16="http://schemas.microsoft.com/office/drawing/2014/main" val="302683429"/>
                  </a:ext>
                </a:extLst>
              </a:tr>
              <a:tr h="164306">
                <a:tc>
                  <a:txBody>
                    <a:bodyPr/>
                    <a:lstStyle/>
                    <a:p>
                      <a:pPr algn="l" fontAlgn="b"/>
                      <a:r>
                        <a:rPr lang="en-US" sz="900" u="none" strike="noStrike">
                          <a:effectLst/>
                        </a:rPr>
                        <a:t>logLPC | 2000 | Myrcia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900" u="none" strike="noStrike">
                          <a:effectLst/>
                        </a:rPr>
                        <a:t>-0.883***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900" u="none" strike="noStrike">
                          <a:effectLst/>
                        </a:rPr>
                        <a:t>(0.090)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900" u="none" strike="noStrike">
                          <a:effectLst/>
                        </a:rPr>
                        <a:t>0.027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900" u="none" strike="noStrike">
                          <a:effectLst/>
                        </a:rPr>
                        <a:t>(0.143)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900" u="none" strike="noStrike" dirty="0">
                          <a:solidFill>
                            <a:srgbClr val="FF0000"/>
                          </a:solidFill>
                          <a:effectLst/>
                        </a:rPr>
                        <a:t>0.687***</a:t>
                      </a:r>
                      <a:endParaRPr lang="en-US" sz="900" b="0" i="0" u="none" strike="noStrike" dirty="0">
                        <a:solidFill>
                          <a:srgbClr val="FF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900" u="none" strike="noStrike">
                          <a:effectLst/>
                        </a:rPr>
                        <a:t>(0.132)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900" u="none" strike="noStrike" dirty="0">
                          <a:solidFill>
                            <a:srgbClr val="FF0000"/>
                          </a:solidFill>
                          <a:effectLst/>
                        </a:rPr>
                        <a:t>1.315***</a:t>
                      </a:r>
                      <a:endParaRPr lang="en-US" sz="900" b="0" i="0" u="none" strike="noStrike" dirty="0">
                        <a:solidFill>
                          <a:srgbClr val="FF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900" u="none" strike="noStrike">
                          <a:effectLst/>
                        </a:rPr>
                        <a:t>(0.135)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900" u="none" strike="noStrike">
                          <a:effectLst/>
                        </a:rPr>
                        <a:t>0.000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900" u="none" strike="noStrike">
                          <a:effectLst/>
                        </a:rPr>
                        <a:t>0.349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900" u="none" strike="noStrike">
                          <a:effectLst/>
                        </a:rPr>
                        <a:t>50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900" u="none" strike="noStrike">
                          <a:effectLst/>
                        </a:rPr>
                        <a:t>0.707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900" u="none" strike="noStrike">
                          <a:effectLst/>
                        </a:rPr>
                        <a:t>55.8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b"/>
                </a:tc>
                <a:extLst>
                  <a:ext uri="{0D108BD9-81ED-4DB2-BD59-A6C34878D82A}">
                    <a16:rowId xmlns:a16="http://schemas.microsoft.com/office/drawing/2014/main" val="1826219002"/>
                  </a:ext>
                </a:extLst>
              </a:tr>
              <a:tr h="297394">
                <a:tc>
                  <a:txBody>
                    <a:bodyPr/>
                    <a:lstStyle/>
                    <a:p>
                      <a:pPr algn="l" fontAlgn="b"/>
                      <a:r>
                        <a:rPr lang="en-US" sz="900" u="none" strike="noStrike">
                          <a:effectLst/>
                        </a:rPr>
                        <a:t>logLPC | 3000 | Hedyosmum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900" u="none" strike="noStrike">
                          <a:effectLst/>
                        </a:rPr>
                        <a:t>-0.183*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900" u="none" strike="noStrike">
                          <a:effectLst/>
                        </a:rPr>
                        <a:t>(0.082)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900" u="none" strike="noStrike">
                          <a:effectLst/>
                        </a:rPr>
                        <a:t>-0.039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900" u="none" strike="noStrike">
                          <a:effectLst/>
                        </a:rPr>
                        <a:t>(0.111)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900" u="none" strike="noStrike" dirty="0">
                          <a:solidFill>
                            <a:srgbClr val="FF0000"/>
                          </a:solidFill>
                          <a:effectLst/>
                        </a:rPr>
                        <a:t>0.249+</a:t>
                      </a:r>
                      <a:endParaRPr lang="en-US" sz="900" b="0" i="0" u="none" strike="noStrike" dirty="0">
                        <a:solidFill>
                          <a:srgbClr val="FF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900" u="none" strike="noStrike">
                          <a:effectLst/>
                        </a:rPr>
                        <a:t>(0.134)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900" u="none" strike="noStrike" dirty="0">
                          <a:solidFill>
                            <a:srgbClr val="FF0000"/>
                          </a:solidFill>
                          <a:effectLst/>
                        </a:rPr>
                        <a:t>0.492***</a:t>
                      </a:r>
                      <a:endParaRPr lang="en-US" sz="900" b="0" i="0" u="none" strike="noStrike" dirty="0">
                        <a:solidFill>
                          <a:srgbClr val="FF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900" u="none" strike="noStrike">
                          <a:effectLst/>
                        </a:rPr>
                        <a:t>(0.111)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900" u="none" strike="noStrike">
                          <a:effectLst/>
                        </a:rPr>
                        <a:t>0.000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900" u="none" strike="noStrike">
                          <a:effectLst/>
                        </a:rPr>
                        <a:t>0.183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900" u="none" strike="noStrike">
                          <a:effectLst/>
                        </a:rPr>
                        <a:t>20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900" u="none" strike="noStrike">
                          <a:effectLst/>
                        </a:rPr>
                        <a:t>0.622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900" u="none" strike="noStrike">
                          <a:effectLst/>
                        </a:rPr>
                        <a:t>9.4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b"/>
                </a:tc>
                <a:extLst>
                  <a:ext uri="{0D108BD9-81ED-4DB2-BD59-A6C34878D82A}">
                    <a16:rowId xmlns:a16="http://schemas.microsoft.com/office/drawing/2014/main" val="3066069182"/>
                  </a:ext>
                </a:extLst>
              </a:tr>
              <a:tr h="297394">
                <a:tc>
                  <a:txBody>
                    <a:bodyPr/>
                    <a:lstStyle/>
                    <a:p>
                      <a:pPr algn="l" fontAlgn="b"/>
                      <a:r>
                        <a:rPr lang="en-US" sz="900" u="none" strike="noStrike">
                          <a:effectLst/>
                        </a:rPr>
                        <a:t>logLPC | 3000 | Weinmannia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900" u="none" strike="noStrike">
                          <a:effectLst/>
                        </a:rPr>
                        <a:t>-0.585***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900" u="none" strike="noStrike">
                          <a:effectLst/>
                        </a:rPr>
                        <a:t>(0.086)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900" u="none" strike="noStrike">
                          <a:effectLst/>
                        </a:rPr>
                        <a:t>0.081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900" u="none" strike="noStrike">
                          <a:effectLst/>
                        </a:rPr>
                        <a:t>(0.122)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900" u="none" strike="noStrike">
                          <a:effectLst/>
                        </a:rPr>
                        <a:t>0.255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900" u="none" strike="noStrike">
                          <a:effectLst/>
                        </a:rPr>
                        <a:t>(0.162)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900" u="none" strike="noStrike" dirty="0">
                          <a:solidFill>
                            <a:srgbClr val="FF0000"/>
                          </a:solidFill>
                          <a:effectLst/>
                        </a:rPr>
                        <a:t>1.043***</a:t>
                      </a:r>
                      <a:endParaRPr lang="en-US" sz="900" b="0" i="0" u="none" strike="noStrike" dirty="0">
                        <a:solidFill>
                          <a:srgbClr val="FF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900" u="none" strike="noStrike">
                          <a:effectLst/>
                        </a:rPr>
                        <a:t>(0.117)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900" u="none" strike="noStrike">
                          <a:effectLst/>
                        </a:rPr>
                        <a:t>0.000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900" u="none" strike="noStrike">
                          <a:effectLst/>
                        </a:rPr>
                        <a:t>0.193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900" u="none" strike="noStrike">
                          <a:effectLst/>
                        </a:rPr>
                        <a:t>18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900" u="none" strike="noStrike">
                          <a:effectLst/>
                        </a:rPr>
                        <a:t>0.858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900" u="none" strike="noStrike" dirty="0">
                          <a:effectLst/>
                        </a:rPr>
                        <a:t>11.4</a:t>
                      </a:r>
                      <a:endParaRPr lang="en-US" sz="9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b"/>
                </a:tc>
                <a:extLst>
                  <a:ext uri="{0D108BD9-81ED-4DB2-BD59-A6C34878D82A}">
                    <a16:rowId xmlns:a16="http://schemas.microsoft.com/office/drawing/2014/main" val="167759490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66890350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n 3"/>
          <p:cNvPicPr>
            <a:picLocks noChangeAspect="1"/>
          </p:cNvPicPr>
          <p:nvPr/>
        </p:nvPicPr>
        <p:blipFill rotWithShape="1">
          <a:blip r:embed="rId2"/>
          <a:srcRect t="16515"/>
          <a:stretch/>
        </p:blipFill>
        <p:spPr>
          <a:xfrm>
            <a:off x="672183" y="1174520"/>
            <a:ext cx="10912664" cy="3881050"/>
          </a:xfrm>
          <a:prstGeom prst="rect">
            <a:avLst/>
          </a:prstGeom>
        </p:spPr>
      </p:pic>
      <p:sp>
        <p:nvSpPr>
          <p:cNvPr id="7" name="CuadroTexto 6"/>
          <p:cNvSpPr txBox="1"/>
          <p:nvPr/>
        </p:nvSpPr>
        <p:spPr>
          <a:xfrm>
            <a:off x="1460827" y="766814"/>
            <a:ext cx="10177302" cy="338554"/>
          </a:xfrm>
          <a:prstGeom prst="rect">
            <a:avLst/>
          </a:prstGeom>
          <a:solidFill>
            <a:schemeClr val="bg2"/>
          </a:solidFill>
        </p:spPr>
        <p:txBody>
          <a:bodyPr wrap="square" rtlCol="0">
            <a:spAutoFit/>
          </a:bodyPr>
          <a:lstStyle/>
          <a:p>
            <a:r>
              <a:rPr lang="es-MX" sz="1600" b="1" i="1" dirty="0" smtClean="0"/>
              <a:t>  </a:t>
            </a:r>
            <a:r>
              <a:rPr lang="es-MX" sz="1600" b="1" i="1" dirty="0" err="1" smtClean="0"/>
              <a:t>P.torta</a:t>
            </a:r>
            <a:r>
              <a:rPr lang="es-MX" sz="1600" b="1" i="1" dirty="0" smtClean="0"/>
              <a:t>                         C. </a:t>
            </a:r>
            <a:r>
              <a:rPr lang="es-MX" sz="1600" b="1" i="1" dirty="0" err="1" smtClean="0"/>
              <a:t>racemosa</a:t>
            </a:r>
            <a:r>
              <a:rPr lang="es-MX" sz="1600" b="1" i="1" dirty="0" smtClean="0"/>
              <a:t>               M. </a:t>
            </a:r>
            <a:r>
              <a:rPr lang="es-MX" sz="1600" b="1" i="1" dirty="0" err="1" smtClean="0"/>
              <a:t>sp</a:t>
            </a:r>
            <a:r>
              <a:rPr lang="es-MX" sz="1600" b="1" i="1" dirty="0" smtClean="0"/>
              <a:t>. Nov.                A. </a:t>
            </a:r>
            <a:r>
              <a:rPr lang="es-MX" sz="1600" b="1" i="1" dirty="0" err="1" smtClean="0"/>
              <a:t>lojaensis</a:t>
            </a:r>
            <a:r>
              <a:rPr lang="es-MX" sz="1600" b="1" i="1" dirty="0" smtClean="0"/>
              <a:t>               H. </a:t>
            </a:r>
            <a:r>
              <a:rPr lang="es-MX" sz="1600" b="1" i="1" dirty="0" err="1" smtClean="0"/>
              <a:t>purpurascens</a:t>
            </a:r>
            <a:r>
              <a:rPr lang="es-MX" sz="1600" b="1" i="1" dirty="0" smtClean="0"/>
              <a:t>       W. </a:t>
            </a:r>
            <a:r>
              <a:rPr lang="es-MX" sz="1600" b="1" i="1" dirty="0" err="1" smtClean="0"/>
              <a:t>loxensis</a:t>
            </a:r>
            <a:endParaRPr lang="en-US" sz="1600" b="1" i="1" dirty="0"/>
          </a:p>
        </p:txBody>
      </p:sp>
      <p:sp>
        <p:nvSpPr>
          <p:cNvPr id="12" name="Rectángulo 11"/>
          <p:cNvSpPr/>
          <p:nvPr/>
        </p:nvSpPr>
        <p:spPr>
          <a:xfrm>
            <a:off x="1648276" y="568664"/>
            <a:ext cx="3237881" cy="259308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dirty="0" smtClean="0">
                <a:solidFill>
                  <a:schemeClr val="tx2"/>
                </a:solidFill>
              </a:rPr>
              <a:t>1000 m</a:t>
            </a:r>
            <a:endParaRPr lang="en-US" dirty="0">
              <a:solidFill>
                <a:schemeClr val="tx2"/>
              </a:solidFill>
            </a:endParaRPr>
          </a:p>
        </p:txBody>
      </p:sp>
      <p:sp>
        <p:nvSpPr>
          <p:cNvPr id="13" name="Rectángulo 12"/>
          <p:cNvSpPr/>
          <p:nvPr/>
        </p:nvSpPr>
        <p:spPr>
          <a:xfrm>
            <a:off x="5032612" y="582246"/>
            <a:ext cx="3151693" cy="259308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dirty="0" smtClean="0">
                <a:solidFill>
                  <a:schemeClr val="tx2"/>
                </a:solidFill>
              </a:rPr>
              <a:t>2000 m</a:t>
            </a:r>
            <a:endParaRPr lang="en-US" dirty="0">
              <a:solidFill>
                <a:schemeClr val="tx2"/>
              </a:solidFill>
            </a:endParaRPr>
          </a:p>
        </p:txBody>
      </p:sp>
      <p:sp>
        <p:nvSpPr>
          <p:cNvPr id="14" name="Rectángulo 13"/>
          <p:cNvSpPr/>
          <p:nvPr/>
        </p:nvSpPr>
        <p:spPr>
          <a:xfrm>
            <a:off x="8338474" y="591123"/>
            <a:ext cx="3299654" cy="259308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dirty="0">
                <a:solidFill>
                  <a:schemeClr val="tx2"/>
                </a:solidFill>
              </a:rPr>
              <a:t>3</a:t>
            </a:r>
            <a:r>
              <a:rPr lang="es-MX" dirty="0" smtClean="0">
                <a:solidFill>
                  <a:schemeClr val="tx2"/>
                </a:solidFill>
              </a:rPr>
              <a:t>000 m</a:t>
            </a:r>
            <a:endParaRPr lang="en-US" dirty="0">
              <a:solidFill>
                <a:schemeClr val="tx2"/>
              </a:solidFill>
            </a:endParaRPr>
          </a:p>
        </p:txBody>
      </p:sp>
      <p:sp>
        <p:nvSpPr>
          <p:cNvPr id="5" name="Rectángulo 4"/>
          <p:cNvSpPr/>
          <p:nvPr/>
        </p:nvSpPr>
        <p:spPr>
          <a:xfrm>
            <a:off x="2820838" y="1405352"/>
            <a:ext cx="310551" cy="24229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dirty="0" smtClean="0"/>
              <a:t>*</a:t>
            </a:r>
            <a:endParaRPr lang="en-US" dirty="0"/>
          </a:p>
        </p:txBody>
      </p:sp>
      <p:graphicFrame>
        <p:nvGraphicFramePr>
          <p:cNvPr id="9" name="Tabla 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01321713"/>
              </p:ext>
            </p:extLst>
          </p:nvPr>
        </p:nvGraphicFramePr>
        <p:xfrm>
          <a:off x="1648276" y="5055572"/>
          <a:ext cx="8589420" cy="1623132"/>
        </p:xfrm>
        <a:graphic>
          <a:graphicData uri="http://schemas.openxmlformats.org/drawingml/2006/table">
            <a:tbl>
              <a:tblPr>
                <a:tableStyleId>{3B4B98B0-60AC-42C2-AFA5-B58CD77FA1E5}</a:tableStyleId>
              </a:tblPr>
              <a:tblGrid>
                <a:gridCol w="2045100">
                  <a:extLst>
                    <a:ext uri="{9D8B030D-6E8A-4147-A177-3AD203B41FA5}">
                      <a16:colId xmlns:a16="http://schemas.microsoft.com/office/drawing/2014/main" val="679076783"/>
                    </a:ext>
                  </a:extLst>
                </a:gridCol>
                <a:gridCol w="818040">
                  <a:extLst>
                    <a:ext uri="{9D8B030D-6E8A-4147-A177-3AD203B41FA5}">
                      <a16:colId xmlns:a16="http://schemas.microsoft.com/office/drawing/2014/main" val="396721788"/>
                    </a:ext>
                  </a:extLst>
                </a:gridCol>
                <a:gridCol w="818040">
                  <a:extLst>
                    <a:ext uri="{9D8B030D-6E8A-4147-A177-3AD203B41FA5}">
                      <a16:colId xmlns:a16="http://schemas.microsoft.com/office/drawing/2014/main" val="2161380297"/>
                    </a:ext>
                  </a:extLst>
                </a:gridCol>
                <a:gridCol w="818040">
                  <a:extLst>
                    <a:ext uri="{9D8B030D-6E8A-4147-A177-3AD203B41FA5}">
                      <a16:colId xmlns:a16="http://schemas.microsoft.com/office/drawing/2014/main" val="1877651617"/>
                    </a:ext>
                  </a:extLst>
                </a:gridCol>
                <a:gridCol w="818040">
                  <a:extLst>
                    <a:ext uri="{9D8B030D-6E8A-4147-A177-3AD203B41FA5}">
                      <a16:colId xmlns:a16="http://schemas.microsoft.com/office/drawing/2014/main" val="1027265204"/>
                    </a:ext>
                  </a:extLst>
                </a:gridCol>
                <a:gridCol w="818040">
                  <a:extLst>
                    <a:ext uri="{9D8B030D-6E8A-4147-A177-3AD203B41FA5}">
                      <a16:colId xmlns:a16="http://schemas.microsoft.com/office/drawing/2014/main" val="2182230413"/>
                    </a:ext>
                  </a:extLst>
                </a:gridCol>
                <a:gridCol w="818040">
                  <a:extLst>
                    <a:ext uri="{9D8B030D-6E8A-4147-A177-3AD203B41FA5}">
                      <a16:colId xmlns:a16="http://schemas.microsoft.com/office/drawing/2014/main" val="1187070114"/>
                    </a:ext>
                  </a:extLst>
                </a:gridCol>
                <a:gridCol w="818040">
                  <a:extLst>
                    <a:ext uri="{9D8B030D-6E8A-4147-A177-3AD203B41FA5}">
                      <a16:colId xmlns:a16="http://schemas.microsoft.com/office/drawing/2014/main" val="3642644558"/>
                    </a:ext>
                  </a:extLst>
                </a:gridCol>
                <a:gridCol w="818040">
                  <a:extLst>
                    <a:ext uri="{9D8B030D-6E8A-4147-A177-3AD203B41FA5}">
                      <a16:colId xmlns:a16="http://schemas.microsoft.com/office/drawing/2014/main" val="454617299"/>
                    </a:ext>
                  </a:extLst>
                </a:gridCol>
              </a:tblGrid>
              <a:tr h="231876">
                <a:tc>
                  <a:txBody>
                    <a:bodyPr/>
                    <a:lstStyle/>
                    <a:p>
                      <a:pPr algn="l" fontAlgn="b"/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u="none" strike="noStrike" dirty="0">
                          <a:effectLst/>
                        </a:rPr>
                        <a:t>(Intercept)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u="none" strike="noStrike" dirty="0" smtClean="0">
                          <a:effectLst/>
                        </a:rPr>
                        <a:t>N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u="none" strike="noStrike" dirty="0" smtClean="0">
                          <a:effectLst/>
                        </a:rPr>
                        <a:t>NP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u="none" strike="noStrike" dirty="0" smtClean="0">
                          <a:effectLst/>
                        </a:rPr>
                        <a:t>P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u="none" strike="noStrike" dirty="0" err="1">
                          <a:effectLst/>
                        </a:rPr>
                        <a:t>Num.Obs</a:t>
                      </a:r>
                      <a:r>
                        <a:rPr lang="en-US" sz="1100" u="none" strike="noStrike" dirty="0">
                          <a:effectLst/>
                        </a:rPr>
                        <a:t>.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u="none" strike="noStrike">
                          <a:effectLst/>
                        </a:rPr>
                        <a:t>R2 Marg.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u="none" strike="noStrike">
                          <a:effectLst/>
                        </a:rPr>
                        <a:t>R2 Cond.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u="none" strike="noStrike" dirty="0">
                          <a:effectLst/>
                        </a:rPr>
                        <a:t>AIC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099112652"/>
                  </a:ext>
                </a:extLst>
              </a:tr>
              <a:tr h="231876"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u="none" strike="noStrike" dirty="0">
                          <a:effectLst/>
                        </a:rPr>
                        <a:t>Leaf N:P | 1000 | </a:t>
                      </a:r>
                      <a:r>
                        <a:rPr lang="en-US" sz="1100" u="none" strike="noStrike" dirty="0" err="1">
                          <a:effectLst/>
                        </a:rPr>
                        <a:t>Pouteria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u="none" strike="noStrike" dirty="0">
                          <a:effectLst/>
                        </a:rPr>
                        <a:t>24.474***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u="none" strike="noStrike" dirty="0">
                          <a:effectLst/>
                        </a:rPr>
                        <a:t>1.444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u="none" strike="noStrike">
                          <a:effectLst/>
                        </a:rPr>
                        <a:t>-1.987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u="none" strike="noStrike">
                          <a:effectLst/>
                        </a:rPr>
                        <a:t>-2.163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u="none" strike="noStrike">
                          <a:effectLst/>
                        </a:rPr>
                        <a:t>36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u="none" strike="noStrike">
                          <a:effectLst/>
                        </a:rPr>
                        <a:t>0.087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u="none" strike="noStrike">
                          <a:effectLst/>
                        </a:rPr>
                        <a:t>0.140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u="none" strike="noStrike">
                          <a:effectLst/>
                        </a:rPr>
                        <a:t>211.6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2002482957"/>
                  </a:ext>
                </a:extLst>
              </a:tr>
              <a:tr h="231876"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u="none" strike="noStrike" dirty="0">
                          <a:effectLst/>
                        </a:rPr>
                        <a:t>Leaf N:P | 1000 | </a:t>
                      </a:r>
                      <a:r>
                        <a:rPr lang="en-US" sz="1100" u="none" strike="noStrike" dirty="0" err="1">
                          <a:effectLst/>
                        </a:rPr>
                        <a:t>Clarisia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u="none" strike="noStrike">
                          <a:effectLst/>
                        </a:rPr>
                        <a:t>21.867***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u="none" strike="noStrike" dirty="0">
                          <a:effectLst/>
                        </a:rPr>
                        <a:t>-0.995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u="none" strike="noStrike" dirty="0">
                          <a:effectLst/>
                        </a:rPr>
                        <a:t>-1.076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u="none" strike="noStrike" dirty="0">
                          <a:effectLst/>
                        </a:rPr>
                        <a:t>-4.953+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u="none" strike="noStrike">
                          <a:effectLst/>
                        </a:rPr>
                        <a:t>12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u="none" strike="noStrike">
                          <a:effectLst/>
                        </a:rPr>
                        <a:t>0.356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u="none" strike="noStrike">
                          <a:effectLst/>
                        </a:rPr>
                        <a:t>0.374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u="none" strike="noStrike">
                          <a:effectLst/>
                        </a:rPr>
                        <a:t>55.5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4029959047"/>
                  </a:ext>
                </a:extLst>
              </a:tr>
              <a:tr h="231876"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u="none" strike="noStrike" dirty="0">
                          <a:effectLst/>
                        </a:rPr>
                        <a:t>Leaf N:P | 2000 | </a:t>
                      </a:r>
                      <a:r>
                        <a:rPr lang="en-US" sz="1100" u="none" strike="noStrike" dirty="0" err="1">
                          <a:effectLst/>
                        </a:rPr>
                        <a:t>Alchornea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u="none" strike="noStrike" dirty="0">
                          <a:effectLst/>
                        </a:rPr>
                        <a:t>15.015***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u="none" strike="noStrike" dirty="0">
                          <a:solidFill>
                            <a:srgbClr val="FF0000"/>
                          </a:solidFill>
                          <a:effectLst/>
                        </a:rPr>
                        <a:t>2.175*</a:t>
                      </a:r>
                      <a:endParaRPr lang="en-US" sz="1100" b="0" i="0" u="none" strike="noStrike" dirty="0">
                        <a:solidFill>
                          <a:srgbClr val="FF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u="none" strike="noStrike" dirty="0">
                          <a:solidFill>
                            <a:srgbClr val="FF0000"/>
                          </a:solidFill>
                          <a:effectLst/>
                        </a:rPr>
                        <a:t>-5.308***</a:t>
                      </a:r>
                      <a:endParaRPr lang="en-US" sz="1100" b="0" i="0" u="none" strike="noStrike" dirty="0">
                        <a:solidFill>
                          <a:srgbClr val="FF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u="none" strike="noStrike" dirty="0">
                          <a:solidFill>
                            <a:srgbClr val="FF0000"/>
                          </a:solidFill>
                          <a:effectLst/>
                        </a:rPr>
                        <a:t>-5.939***</a:t>
                      </a:r>
                      <a:endParaRPr lang="en-US" sz="1100" b="0" i="0" u="none" strike="noStrike" dirty="0">
                        <a:solidFill>
                          <a:srgbClr val="FF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u="none" strike="noStrike" dirty="0">
                          <a:effectLst/>
                        </a:rPr>
                        <a:t>45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u="none" strike="noStrike">
                          <a:effectLst/>
                        </a:rPr>
                        <a:t>0.653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u="none" strike="noStrike">
                          <a:effectLst/>
                        </a:rPr>
                        <a:t>0.769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u="none" strike="noStrike">
                          <a:effectLst/>
                        </a:rPr>
                        <a:t>203.1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3663605599"/>
                  </a:ext>
                </a:extLst>
              </a:tr>
              <a:tr h="231876"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u="none" strike="noStrike">
                          <a:effectLst/>
                        </a:rPr>
                        <a:t>Leaf N:P | 2000 | Myrcia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u="none" strike="noStrike">
                          <a:effectLst/>
                        </a:rPr>
                        <a:t>23.224***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u="none" strike="noStrike" dirty="0">
                          <a:effectLst/>
                        </a:rPr>
                        <a:t>0.308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u="none" strike="noStrike" dirty="0">
                          <a:solidFill>
                            <a:srgbClr val="FF0000"/>
                          </a:solidFill>
                          <a:effectLst/>
                        </a:rPr>
                        <a:t>-11.021***</a:t>
                      </a:r>
                      <a:endParaRPr lang="en-US" sz="1100" b="0" i="0" u="none" strike="noStrike" dirty="0">
                        <a:solidFill>
                          <a:srgbClr val="FF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u="none" strike="noStrike" dirty="0">
                          <a:solidFill>
                            <a:srgbClr val="FF0000"/>
                          </a:solidFill>
                          <a:effectLst/>
                        </a:rPr>
                        <a:t>-16.982***</a:t>
                      </a:r>
                      <a:endParaRPr lang="en-US" sz="1100" b="0" i="0" u="none" strike="noStrike" dirty="0">
                        <a:solidFill>
                          <a:srgbClr val="FF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u="none" strike="noStrike" dirty="0">
                          <a:effectLst/>
                        </a:rPr>
                        <a:t>50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u="none" strike="noStrike" dirty="0">
                          <a:effectLst/>
                        </a:rPr>
                        <a:t>0.772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u="none" strike="noStrike" dirty="0">
                          <a:effectLst/>
                        </a:rPr>
                        <a:t>0.788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u="none" strike="noStrike">
                          <a:effectLst/>
                        </a:rPr>
                        <a:t>279.1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3524940540"/>
                  </a:ext>
                </a:extLst>
              </a:tr>
              <a:tr h="231876"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u="none" strike="noStrike">
                          <a:effectLst/>
                        </a:rPr>
                        <a:t>Leaf N:P | 3000 | Hedyosmum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u="none" strike="noStrike">
                          <a:effectLst/>
                        </a:rPr>
                        <a:t>17.046***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u="none" strike="noStrike">
                          <a:effectLst/>
                        </a:rPr>
                        <a:t>4.648*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u="none" strike="noStrike">
                          <a:effectLst/>
                        </a:rPr>
                        <a:t>-1.420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u="none" strike="noStrike" dirty="0">
                          <a:solidFill>
                            <a:srgbClr val="FF0000"/>
                          </a:solidFill>
                          <a:effectLst/>
                        </a:rPr>
                        <a:t>-6.056**</a:t>
                      </a:r>
                      <a:endParaRPr lang="en-US" sz="1100" b="0" i="0" u="none" strike="noStrike" dirty="0">
                        <a:solidFill>
                          <a:srgbClr val="FF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u="none" strike="noStrike" dirty="0">
                          <a:effectLst/>
                        </a:rPr>
                        <a:t>21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u="none" strike="noStrike" dirty="0">
                          <a:effectLst/>
                        </a:rPr>
                        <a:t>0.599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u="none" strike="noStrike" dirty="0">
                          <a:effectLst/>
                        </a:rPr>
                        <a:t>0.645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u="none" strike="noStrike" dirty="0">
                          <a:effectLst/>
                        </a:rPr>
                        <a:t>109.1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187546040"/>
                  </a:ext>
                </a:extLst>
              </a:tr>
              <a:tr h="231876"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u="none" strike="noStrike">
                          <a:effectLst/>
                        </a:rPr>
                        <a:t>Leaf N:P | 3000 | Weinmannia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u="none" strike="noStrike" dirty="0">
                          <a:effectLst/>
                        </a:rPr>
                        <a:t>18.652***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u="none" strike="noStrike">
                          <a:effectLst/>
                        </a:rPr>
                        <a:t>0.234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u="none" strike="noStrike">
                          <a:effectLst/>
                        </a:rPr>
                        <a:t>-3.078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u="none" strike="noStrike" dirty="0">
                          <a:solidFill>
                            <a:srgbClr val="FF0000"/>
                          </a:solidFill>
                          <a:effectLst/>
                        </a:rPr>
                        <a:t>-11.345***</a:t>
                      </a:r>
                      <a:endParaRPr lang="en-US" sz="1100" b="0" i="0" u="none" strike="noStrike" dirty="0">
                        <a:solidFill>
                          <a:srgbClr val="FF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u="none" strike="noStrike">
                          <a:effectLst/>
                        </a:rPr>
                        <a:t>18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u="none" strike="noStrike">
                          <a:effectLst/>
                        </a:rPr>
                        <a:t>0.823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u="none" strike="noStrike" dirty="0">
                          <a:effectLst/>
                        </a:rPr>
                        <a:t>83.1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29463497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4987652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n 3"/>
          <p:cNvPicPr>
            <a:picLocks noChangeAspect="1"/>
          </p:cNvPicPr>
          <p:nvPr/>
        </p:nvPicPr>
        <p:blipFill rotWithShape="1">
          <a:blip r:embed="rId2"/>
          <a:srcRect t="16923"/>
          <a:stretch/>
        </p:blipFill>
        <p:spPr>
          <a:xfrm>
            <a:off x="572958" y="1122363"/>
            <a:ext cx="11046084" cy="3901528"/>
          </a:xfrm>
          <a:prstGeom prst="rect">
            <a:avLst/>
          </a:prstGeom>
        </p:spPr>
      </p:pic>
      <p:sp>
        <p:nvSpPr>
          <p:cNvPr id="7" name="CuadroTexto 6"/>
          <p:cNvSpPr txBox="1"/>
          <p:nvPr/>
        </p:nvSpPr>
        <p:spPr>
          <a:xfrm>
            <a:off x="1460827" y="766814"/>
            <a:ext cx="10177302" cy="338554"/>
          </a:xfrm>
          <a:prstGeom prst="rect">
            <a:avLst/>
          </a:prstGeom>
          <a:solidFill>
            <a:schemeClr val="bg2"/>
          </a:solidFill>
        </p:spPr>
        <p:txBody>
          <a:bodyPr wrap="square" rtlCol="0">
            <a:spAutoFit/>
          </a:bodyPr>
          <a:lstStyle/>
          <a:p>
            <a:r>
              <a:rPr lang="es-MX" sz="1600" b="1" i="1" dirty="0" smtClean="0"/>
              <a:t>  </a:t>
            </a:r>
            <a:r>
              <a:rPr lang="es-MX" sz="1600" b="1" i="1" dirty="0" err="1" smtClean="0"/>
              <a:t>P.torta</a:t>
            </a:r>
            <a:r>
              <a:rPr lang="es-MX" sz="1600" b="1" i="1" dirty="0" smtClean="0"/>
              <a:t>                         C. </a:t>
            </a:r>
            <a:r>
              <a:rPr lang="es-MX" sz="1600" b="1" i="1" dirty="0" err="1" smtClean="0"/>
              <a:t>racemosa</a:t>
            </a:r>
            <a:r>
              <a:rPr lang="es-MX" sz="1600" b="1" i="1" dirty="0" smtClean="0"/>
              <a:t>               M. </a:t>
            </a:r>
            <a:r>
              <a:rPr lang="es-MX" sz="1600" b="1" i="1" dirty="0" err="1" smtClean="0"/>
              <a:t>sp</a:t>
            </a:r>
            <a:r>
              <a:rPr lang="es-MX" sz="1600" b="1" i="1" dirty="0" smtClean="0"/>
              <a:t>. Nov.                A. </a:t>
            </a:r>
            <a:r>
              <a:rPr lang="es-MX" sz="1600" b="1" i="1" dirty="0" err="1" smtClean="0"/>
              <a:t>lojaensis</a:t>
            </a:r>
            <a:r>
              <a:rPr lang="es-MX" sz="1600" b="1" i="1" dirty="0" smtClean="0"/>
              <a:t>               H. </a:t>
            </a:r>
            <a:r>
              <a:rPr lang="es-MX" sz="1600" b="1" i="1" dirty="0" err="1" smtClean="0"/>
              <a:t>purpurascens</a:t>
            </a:r>
            <a:r>
              <a:rPr lang="es-MX" sz="1600" b="1" i="1" dirty="0" smtClean="0"/>
              <a:t>       W. </a:t>
            </a:r>
            <a:r>
              <a:rPr lang="es-MX" sz="1600" b="1" i="1" dirty="0" err="1" smtClean="0"/>
              <a:t>loxensis</a:t>
            </a:r>
            <a:endParaRPr lang="en-US" sz="1600" b="1" i="1" dirty="0"/>
          </a:p>
        </p:txBody>
      </p:sp>
      <p:sp>
        <p:nvSpPr>
          <p:cNvPr id="12" name="Rectángulo 11"/>
          <p:cNvSpPr/>
          <p:nvPr/>
        </p:nvSpPr>
        <p:spPr>
          <a:xfrm>
            <a:off x="1648276" y="568664"/>
            <a:ext cx="3237881" cy="259308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dirty="0" smtClean="0">
                <a:solidFill>
                  <a:schemeClr val="tx2"/>
                </a:solidFill>
              </a:rPr>
              <a:t>1000 m</a:t>
            </a:r>
            <a:endParaRPr lang="en-US" dirty="0">
              <a:solidFill>
                <a:schemeClr val="tx2"/>
              </a:solidFill>
            </a:endParaRPr>
          </a:p>
        </p:txBody>
      </p:sp>
      <p:sp>
        <p:nvSpPr>
          <p:cNvPr id="13" name="Rectángulo 12"/>
          <p:cNvSpPr/>
          <p:nvPr/>
        </p:nvSpPr>
        <p:spPr>
          <a:xfrm>
            <a:off x="5032612" y="582246"/>
            <a:ext cx="3151693" cy="259308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dirty="0" smtClean="0">
                <a:solidFill>
                  <a:schemeClr val="tx2"/>
                </a:solidFill>
              </a:rPr>
              <a:t>2000 m</a:t>
            </a:r>
            <a:endParaRPr lang="en-US" dirty="0">
              <a:solidFill>
                <a:schemeClr val="tx2"/>
              </a:solidFill>
            </a:endParaRPr>
          </a:p>
        </p:txBody>
      </p:sp>
      <p:sp>
        <p:nvSpPr>
          <p:cNvPr id="14" name="Rectángulo 13"/>
          <p:cNvSpPr/>
          <p:nvPr/>
        </p:nvSpPr>
        <p:spPr>
          <a:xfrm>
            <a:off x="8338474" y="591123"/>
            <a:ext cx="3299654" cy="259308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dirty="0">
                <a:solidFill>
                  <a:schemeClr val="tx2"/>
                </a:solidFill>
              </a:rPr>
              <a:t>3</a:t>
            </a:r>
            <a:r>
              <a:rPr lang="es-MX" dirty="0" smtClean="0">
                <a:solidFill>
                  <a:schemeClr val="tx2"/>
                </a:solidFill>
              </a:rPr>
              <a:t>000 m</a:t>
            </a:r>
            <a:endParaRPr lang="en-US" dirty="0">
              <a:solidFill>
                <a:schemeClr val="tx2"/>
              </a:solidFill>
            </a:endParaRPr>
          </a:p>
        </p:txBody>
      </p:sp>
      <p:graphicFrame>
        <p:nvGraphicFramePr>
          <p:cNvPr id="3" name="Tabla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22812729"/>
              </p:ext>
            </p:extLst>
          </p:nvPr>
        </p:nvGraphicFramePr>
        <p:xfrm>
          <a:off x="1648276" y="4388971"/>
          <a:ext cx="8612098" cy="2325679"/>
        </p:xfrm>
        <a:graphic>
          <a:graphicData uri="http://schemas.openxmlformats.org/drawingml/2006/table">
            <a:tbl>
              <a:tblPr/>
              <a:tblGrid>
                <a:gridCol w="782918">
                  <a:extLst>
                    <a:ext uri="{9D8B030D-6E8A-4147-A177-3AD203B41FA5}">
                      <a16:colId xmlns:a16="http://schemas.microsoft.com/office/drawing/2014/main" val="1563301767"/>
                    </a:ext>
                  </a:extLst>
                </a:gridCol>
                <a:gridCol w="782918">
                  <a:extLst>
                    <a:ext uri="{9D8B030D-6E8A-4147-A177-3AD203B41FA5}">
                      <a16:colId xmlns:a16="http://schemas.microsoft.com/office/drawing/2014/main" val="1281129085"/>
                    </a:ext>
                  </a:extLst>
                </a:gridCol>
                <a:gridCol w="782918">
                  <a:extLst>
                    <a:ext uri="{9D8B030D-6E8A-4147-A177-3AD203B41FA5}">
                      <a16:colId xmlns:a16="http://schemas.microsoft.com/office/drawing/2014/main" val="1909343651"/>
                    </a:ext>
                  </a:extLst>
                </a:gridCol>
                <a:gridCol w="782918">
                  <a:extLst>
                    <a:ext uri="{9D8B030D-6E8A-4147-A177-3AD203B41FA5}">
                      <a16:colId xmlns:a16="http://schemas.microsoft.com/office/drawing/2014/main" val="2421724066"/>
                    </a:ext>
                  </a:extLst>
                </a:gridCol>
                <a:gridCol w="782918">
                  <a:extLst>
                    <a:ext uri="{9D8B030D-6E8A-4147-A177-3AD203B41FA5}">
                      <a16:colId xmlns:a16="http://schemas.microsoft.com/office/drawing/2014/main" val="2516208000"/>
                    </a:ext>
                  </a:extLst>
                </a:gridCol>
                <a:gridCol w="782918">
                  <a:extLst>
                    <a:ext uri="{9D8B030D-6E8A-4147-A177-3AD203B41FA5}">
                      <a16:colId xmlns:a16="http://schemas.microsoft.com/office/drawing/2014/main" val="1835733236"/>
                    </a:ext>
                  </a:extLst>
                </a:gridCol>
                <a:gridCol w="782918">
                  <a:extLst>
                    <a:ext uri="{9D8B030D-6E8A-4147-A177-3AD203B41FA5}">
                      <a16:colId xmlns:a16="http://schemas.microsoft.com/office/drawing/2014/main" val="2607866236"/>
                    </a:ext>
                  </a:extLst>
                </a:gridCol>
                <a:gridCol w="782918">
                  <a:extLst>
                    <a:ext uri="{9D8B030D-6E8A-4147-A177-3AD203B41FA5}">
                      <a16:colId xmlns:a16="http://schemas.microsoft.com/office/drawing/2014/main" val="1897953618"/>
                    </a:ext>
                  </a:extLst>
                </a:gridCol>
                <a:gridCol w="782918">
                  <a:extLst>
                    <a:ext uri="{9D8B030D-6E8A-4147-A177-3AD203B41FA5}">
                      <a16:colId xmlns:a16="http://schemas.microsoft.com/office/drawing/2014/main" val="904036426"/>
                    </a:ext>
                  </a:extLst>
                </a:gridCol>
                <a:gridCol w="782918">
                  <a:extLst>
                    <a:ext uri="{9D8B030D-6E8A-4147-A177-3AD203B41FA5}">
                      <a16:colId xmlns:a16="http://schemas.microsoft.com/office/drawing/2014/main" val="3650746827"/>
                    </a:ext>
                  </a:extLst>
                </a:gridCol>
                <a:gridCol w="782918">
                  <a:extLst>
                    <a:ext uri="{9D8B030D-6E8A-4147-A177-3AD203B41FA5}">
                      <a16:colId xmlns:a16="http://schemas.microsoft.com/office/drawing/2014/main" val="3568132157"/>
                    </a:ext>
                  </a:extLst>
                </a:gridCol>
              </a:tblGrid>
              <a:tr h="354633">
                <a:tc>
                  <a:txBody>
                    <a:bodyPr/>
                    <a:lstStyle/>
                    <a:p>
                      <a:pPr algn="l" fontAlgn="b"/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term</a:t>
                      </a:r>
                    </a:p>
                  </a:txBody>
                  <a:tcPr marL="5468" marR="5468" marT="5468" marB="0" anchor="b">
                    <a:lnL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(Intercept)</a:t>
                      </a:r>
                    </a:p>
                  </a:txBody>
                  <a:tcPr marL="5468" marR="5468" marT="5468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SUBN</a:t>
                      </a:r>
                    </a:p>
                  </a:txBody>
                  <a:tcPr marL="5468" marR="5468" marT="5468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SUBNP</a:t>
                      </a:r>
                    </a:p>
                  </a:txBody>
                  <a:tcPr marL="5468" marR="5468" marT="5468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SUBP</a:t>
                      </a:r>
                    </a:p>
                  </a:txBody>
                  <a:tcPr marL="5468" marR="5468" marT="5468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SD (Intercept </a:t>
                      </a:r>
                      <a:r>
                        <a:rPr lang="en-US" sz="9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Bloque</a:t>
                      </a:r>
                      <a:r>
                        <a:rPr 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)</a:t>
                      </a:r>
                    </a:p>
                  </a:txBody>
                  <a:tcPr marL="5468" marR="5468" marT="5468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SD (Observations)</a:t>
                      </a:r>
                    </a:p>
                  </a:txBody>
                  <a:tcPr marL="5468" marR="5468" marT="5468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9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Num.Obs</a:t>
                      </a:r>
                      <a:r>
                        <a:rPr 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.</a:t>
                      </a:r>
                    </a:p>
                  </a:txBody>
                  <a:tcPr marL="5468" marR="5468" marT="5468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R2 Marg.</a:t>
                      </a:r>
                    </a:p>
                  </a:txBody>
                  <a:tcPr marL="5468" marR="5468" marT="5468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R2 Cond.</a:t>
                      </a:r>
                    </a:p>
                  </a:txBody>
                  <a:tcPr marL="5468" marR="5468" marT="5468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AIC</a:t>
                      </a:r>
                    </a:p>
                  </a:txBody>
                  <a:tcPr marL="5468" marR="5468" marT="5468" marB="0" anchor="b">
                    <a:lnL>
                      <a:noFill/>
                    </a:lnL>
                    <a:lnR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808051495"/>
                  </a:ext>
                </a:extLst>
              </a:tr>
              <a:tr h="131835">
                <a:tc>
                  <a:txBody>
                    <a:bodyPr/>
                    <a:lstStyle/>
                    <a:p>
                      <a:pPr algn="l" fontAlgn="b"/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statistic</a:t>
                      </a:r>
                    </a:p>
                  </a:txBody>
                  <a:tcPr marL="5468" marR="5468" marT="5468" marB="0" anchor="b">
                    <a:lnL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estimate</a:t>
                      </a:r>
                    </a:p>
                  </a:txBody>
                  <a:tcPr marL="5468" marR="5468" marT="5468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estimate</a:t>
                      </a:r>
                    </a:p>
                  </a:txBody>
                  <a:tcPr marL="5468" marR="5468" marT="5468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estimate</a:t>
                      </a:r>
                    </a:p>
                  </a:txBody>
                  <a:tcPr marL="5468" marR="5468" marT="5468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estimate</a:t>
                      </a:r>
                    </a:p>
                  </a:txBody>
                  <a:tcPr marL="5468" marR="5468" marT="5468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estimate</a:t>
                      </a:r>
                    </a:p>
                  </a:txBody>
                  <a:tcPr marL="5468" marR="5468" marT="5468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estimate</a:t>
                      </a:r>
                    </a:p>
                  </a:txBody>
                  <a:tcPr marL="5468" marR="5468" marT="5468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468" marR="5468" marT="5468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468" marR="5468" marT="5468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9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468" marR="5468" marT="5468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468" marR="5468" marT="5468" marB="0" anchor="b">
                    <a:lnL>
                      <a:noFill/>
                    </a:lnL>
                    <a:lnR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032714121"/>
                  </a:ext>
                </a:extLst>
              </a:tr>
              <a:tr h="250176">
                <a:tc>
                  <a:txBody>
                    <a:bodyPr/>
                    <a:lstStyle/>
                    <a:p>
                      <a:pPr algn="l" fontAlgn="b"/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iWUE | 1000 | Pouteria</a:t>
                      </a:r>
                    </a:p>
                  </a:txBody>
                  <a:tcPr marL="5468" marR="5468" marT="5468" marB="0" anchor="b">
                    <a:lnL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85.255***</a:t>
                      </a:r>
                    </a:p>
                  </a:txBody>
                  <a:tcPr marL="5468" marR="5468" marT="5468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900" b="0" i="0" u="none" strike="noStrike" dirty="0">
                          <a:solidFill>
                            <a:srgbClr val="FF0000"/>
                          </a:solidFill>
                          <a:effectLst/>
                          <a:latin typeface="Calibri" panose="020F0502020204030204" pitchFamily="34" charset="0"/>
                        </a:rPr>
                        <a:t>14.543*</a:t>
                      </a:r>
                    </a:p>
                  </a:txBody>
                  <a:tcPr marL="5468" marR="5468" marT="5468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-2.266</a:t>
                      </a:r>
                    </a:p>
                  </a:txBody>
                  <a:tcPr marL="5468" marR="5468" marT="5468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3.506</a:t>
                      </a:r>
                    </a:p>
                  </a:txBody>
                  <a:tcPr marL="5468" marR="5468" marT="5468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0.000</a:t>
                      </a:r>
                    </a:p>
                  </a:txBody>
                  <a:tcPr marL="5468" marR="5468" marT="5468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15.786</a:t>
                      </a:r>
                    </a:p>
                  </a:txBody>
                  <a:tcPr marL="5468" marR="5468" marT="5468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36</a:t>
                      </a:r>
                    </a:p>
                  </a:txBody>
                  <a:tcPr marL="5468" marR="5468" marT="5468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0.152</a:t>
                      </a:r>
                    </a:p>
                  </a:txBody>
                  <a:tcPr marL="5468" marR="5468" marT="5468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468" marR="5468" marT="5468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288.1</a:t>
                      </a:r>
                    </a:p>
                  </a:txBody>
                  <a:tcPr marL="5468" marR="5468" marT="5468" marB="0" anchor="b">
                    <a:lnL>
                      <a:noFill/>
                    </a:lnL>
                    <a:lnR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72230323"/>
                  </a:ext>
                </a:extLst>
              </a:tr>
              <a:tr h="250176">
                <a:tc>
                  <a:txBody>
                    <a:bodyPr/>
                    <a:lstStyle/>
                    <a:p>
                      <a:pPr algn="l" fontAlgn="b"/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iWUE | 1000 | Clarisia</a:t>
                      </a:r>
                    </a:p>
                  </a:txBody>
                  <a:tcPr marL="5468" marR="5468" marT="5468" marB="0" anchor="b">
                    <a:lnL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96.605***</a:t>
                      </a:r>
                    </a:p>
                  </a:txBody>
                  <a:tcPr marL="5468" marR="5468" marT="5468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-14.388</a:t>
                      </a:r>
                    </a:p>
                  </a:txBody>
                  <a:tcPr marL="5468" marR="5468" marT="5468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-3.010</a:t>
                      </a:r>
                    </a:p>
                  </a:txBody>
                  <a:tcPr marL="5468" marR="5468" marT="5468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9.652</a:t>
                      </a:r>
                    </a:p>
                  </a:txBody>
                  <a:tcPr marL="5468" marR="5468" marT="5468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0.000</a:t>
                      </a:r>
                    </a:p>
                  </a:txBody>
                  <a:tcPr marL="5468" marR="5468" marT="5468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10.033</a:t>
                      </a:r>
                    </a:p>
                  </a:txBody>
                  <a:tcPr marL="5468" marR="5468" marT="5468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12</a:t>
                      </a:r>
                    </a:p>
                  </a:txBody>
                  <a:tcPr marL="5468" marR="5468" marT="5468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0.353</a:t>
                      </a:r>
                    </a:p>
                  </a:txBody>
                  <a:tcPr marL="5468" marR="5468" marT="5468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468" marR="5468" marT="5468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75.5</a:t>
                      </a:r>
                    </a:p>
                  </a:txBody>
                  <a:tcPr marL="5468" marR="5468" marT="5468" marB="0" anchor="b">
                    <a:lnL>
                      <a:noFill/>
                    </a:lnL>
                    <a:lnR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454200417"/>
                  </a:ext>
                </a:extLst>
              </a:tr>
              <a:tr h="250176">
                <a:tc>
                  <a:txBody>
                    <a:bodyPr/>
                    <a:lstStyle/>
                    <a:p>
                      <a:pPr algn="l" fontAlgn="b"/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iWUE | 2000 | Alchornea</a:t>
                      </a:r>
                    </a:p>
                  </a:txBody>
                  <a:tcPr marL="5468" marR="5468" marT="5468" marB="0" anchor="b">
                    <a:lnL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146.959***</a:t>
                      </a:r>
                    </a:p>
                  </a:txBody>
                  <a:tcPr marL="5468" marR="5468" marT="5468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0.066</a:t>
                      </a:r>
                    </a:p>
                  </a:txBody>
                  <a:tcPr marL="5468" marR="5468" marT="5468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-2.984</a:t>
                      </a:r>
                    </a:p>
                  </a:txBody>
                  <a:tcPr marL="5468" marR="5468" marT="5468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-7.104</a:t>
                      </a:r>
                    </a:p>
                  </a:txBody>
                  <a:tcPr marL="5468" marR="5468" marT="5468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7.294</a:t>
                      </a:r>
                    </a:p>
                  </a:txBody>
                  <a:tcPr marL="5468" marR="5468" marT="5468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14.158</a:t>
                      </a:r>
                    </a:p>
                  </a:txBody>
                  <a:tcPr marL="5468" marR="5468" marT="5468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45</a:t>
                      </a:r>
                    </a:p>
                  </a:txBody>
                  <a:tcPr marL="5468" marR="5468" marT="5468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0.039</a:t>
                      </a:r>
                    </a:p>
                  </a:txBody>
                  <a:tcPr marL="5468" marR="5468" marT="5468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0.241</a:t>
                      </a:r>
                    </a:p>
                  </a:txBody>
                  <a:tcPr marL="5468" marR="5468" marT="5468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359.2</a:t>
                      </a:r>
                    </a:p>
                  </a:txBody>
                  <a:tcPr marL="5468" marR="5468" marT="5468" marB="0" anchor="b">
                    <a:lnL>
                      <a:noFill/>
                    </a:lnL>
                    <a:lnR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15589845"/>
                  </a:ext>
                </a:extLst>
              </a:tr>
              <a:tr h="250176">
                <a:tc>
                  <a:txBody>
                    <a:bodyPr/>
                    <a:lstStyle/>
                    <a:p>
                      <a:pPr algn="l" fontAlgn="b"/>
                      <a:r>
                        <a:rPr lang="en-US" sz="9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iWUE</a:t>
                      </a:r>
                      <a:r>
                        <a:rPr 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| 2000 | </a:t>
                      </a:r>
                      <a:r>
                        <a:rPr lang="en-US" sz="9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Myrcia</a:t>
                      </a:r>
                      <a:endParaRPr lang="en-US" sz="9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468" marR="5468" marT="5468" marB="0" anchor="b">
                    <a:lnL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131.326***</a:t>
                      </a:r>
                    </a:p>
                  </a:txBody>
                  <a:tcPr marL="5468" marR="5468" marT="5468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6.731</a:t>
                      </a:r>
                    </a:p>
                  </a:txBody>
                  <a:tcPr marL="5468" marR="5468" marT="5468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6.381</a:t>
                      </a:r>
                    </a:p>
                  </a:txBody>
                  <a:tcPr marL="5468" marR="5468" marT="5468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5.593</a:t>
                      </a:r>
                    </a:p>
                  </a:txBody>
                  <a:tcPr marL="5468" marR="5468" marT="5468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0.000</a:t>
                      </a:r>
                    </a:p>
                  </a:txBody>
                  <a:tcPr marL="5468" marR="5468" marT="5468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11.800</a:t>
                      </a:r>
                    </a:p>
                  </a:txBody>
                  <a:tcPr marL="5468" marR="5468" marT="5468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50</a:t>
                      </a:r>
                    </a:p>
                  </a:txBody>
                  <a:tcPr marL="5468" marR="5468" marT="5468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0.057</a:t>
                      </a:r>
                    </a:p>
                  </a:txBody>
                  <a:tcPr marL="5468" marR="5468" marT="5468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468" marR="5468" marT="5468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379.7</a:t>
                      </a:r>
                    </a:p>
                  </a:txBody>
                  <a:tcPr marL="5468" marR="5468" marT="5468" marB="0" anchor="b">
                    <a:lnL>
                      <a:noFill/>
                    </a:lnL>
                    <a:lnR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534645785"/>
                  </a:ext>
                </a:extLst>
              </a:tr>
              <a:tr h="354633">
                <a:tc>
                  <a:txBody>
                    <a:bodyPr/>
                    <a:lstStyle/>
                    <a:p>
                      <a:pPr algn="l" fontAlgn="b"/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iWUE | 3000 | Hedyosmum</a:t>
                      </a:r>
                    </a:p>
                  </a:txBody>
                  <a:tcPr marL="5468" marR="5468" marT="5468" marB="0" anchor="b">
                    <a:lnL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143.373***</a:t>
                      </a:r>
                    </a:p>
                  </a:txBody>
                  <a:tcPr marL="5468" marR="5468" marT="5468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5.491</a:t>
                      </a:r>
                    </a:p>
                  </a:txBody>
                  <a:tcPr marL="5468" marR="5468" marT="5468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23.798</a:t>
                      </a:r>
                    </a:p>
                  </a:txBody>
                  <a:tcPr marL="5468" marR="5468" marT="5468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-5.890</a:t>
                      </a:r>
                    </a:p>
                  </a:txBody>
                  <a:tcPr marL="5468" marR="5468" marT="5468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0.000</a:t>
                      </a:r>
                    </a:p>
                  </a:txBody>
                  <a:tcPr marL="5468" marR="5468" marT="5468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20.438</a:t>
                      </a:r>
                    </a:p>
                  </a:txBody>
                  <a:tcPr marL="5468" marR="5468" marT="5468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21</a:t>
                      </a:r>
                    </a:p>
                  </a:txBody>
                  <a:tcPr marL="5468" marR="5468" marT="5468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0.188</a:t>
                      </a:r>
                    </a:p>
                  </a:txBody>
                  <a:tcPr marL="5468" marR="5468" marT="5468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468" marR="5468" marT="5468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169.3</a:t>
                      </a:r>
                    </a:p>
                  </a:txBody>
                  <a:tcPr marL="5468" marR="5468" marT="5468" marB="0" anchor="b">
                    <a:lnL>
                      <a:noFill/>
                    </a:lnL>
                    <a:lnR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377188370"/>
                  </a:ext>
                </a:extLst>
              </a:tr>
              <a:tr h="354633">
                <a:tc>
                  <a:txBody>
                    <a:bodyPr/>
                    <a:lstStyle/>
                    <a:p>
                      <a:pPr algn="l" fontAlgn="b"/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iWUE | 3000 | Weinmannia</a:t>
                      </a:r>
                    </a:p>
                  </a:txBody>
                  <a:tcPr marL="5468" marR="5468" marT="5468" marB="0" anchor="b">
                    <a:lnL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132.195***</a:t>
                      </a:r>
                    </a:p>
                  </a:txBody>
                  <a:tcPr marL="5468" marR="5468" marT="5468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-4.230</a:t>
                      </a:r>
                    </a:p>
                  </a:txBody>
                  <a:tcPr marL="5468" marR="5468" marT="5468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-14.820</a:t>
                      </a:r>
                    </a:p>
                  </a:txBody>
                  <a:tcPr marL="5468" marR="5468" marT="5468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-7.505</a:t>
                      </a:r>
                    </a:p>
                  </a:txBody>
                  <a:tcPr marL="5468" marR="5468" marT="5468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3.322</a:t>
                      </a:r>
                    </a:p>
                  </a:txBody>
                  <a:tcPr marL="5468" marR="5468" marT="5468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10.186</a:t>
                      </a:r>
                    </a:p>
                  </a:txBody>
                  <a:tcPr marL="5468" marR="5468" marT="5468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18</a:t>
                      </a:r>
                    </a:p>
                  </a:txBody>
                  <a:tcPr marL="5468" marR="5468" marT="5468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0.155</a:t>
                      </a:r>
                    </a:p>
                  </a:txBody>
                  <a:tcPr marL="5468" marR="5468" marT="5468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0.236</a:t>
                      </a:r>
                    </a:p>
                  </a:txBody>
                  <a:tcPr marL="5468" marR="5468" marT="5468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123.3</a:t>
                      </a:r>
                    </a:p>
                  </a:txBody>
                  <a:tcPr marL="5468" marR="5468" marT="5468" marB="0" anchor="b">
                    <a:lnL>
                      <a:noFill/>
                    </a:lnL>
                    <a:lnR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27847712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47380688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 dirty="0" err="1" smtClean="0"/>
              <a:t>Narea</a:t>
            </a:r>
            <a:r>
              <a:rPr lang="es-MX" dirty="0" smtClean="0"/>
              <a:t> and Parea (</a:t>
            </a:r>
            <a:r>
              <a:rPr lang="es-MX" dirty="0" err="1" smtClean="0"/>
              <a:t>optional</a:t>
            </a:r>
            <a:r>
              <a:rPr lang="es-MX" dirty="0" smtClean="0"/>
              <a:t>)</a:t>
            </a:r>
            <a:endParaRPr lang="en-US" dirty="0"/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0425613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n 2"/>
          <p:cNvPicPr>
            <a:picLocks noChangeAspect="1"/>
          </p:cNvPicPr>
          <p:nvPr/>
        </p:nvPicPr>
        <p:blipFill rotWithShape="1">
          <a:blip r:embed="rId2"/>
          <a:srcRect t="11500" b="12278"/>
          <a:stretch/>
        </p:blipFill>
        <p:spPr>
          <a:xfrm>
            <a:off x="692244" y="850871"/>
            <a:ext cx="11024627" cy="3576186"/>
          </a:xfrm>
          <a:prstGeom prst="rect">
            <a:avLst/>
          </a:prstGeom>
        </p:spPr>
      </p:pic>
      <p:sp>
        <p:nvSpPr>
          <p:cNvPr id="7" name="CuadroTexto 6"/>
          <p:cNvSpPr txBox="1"/>
          <p:nvPr/>
        </p:nvSpPr>
        <p:spPr>
          <a:xfrm>
            <a:off x="1460827" y="766814"/>
            <a:ext cx="10177302" cy="338554"/>
          </a:xfrm>
          <a:prstGeom prst="rect">
            <a:avLst/>
          </a:prstGeom>
          <a:solidFill>
            <a:schemeClr val="bg2"/>
          </a:solidFill>
        </p:spPr>
        <p:txBody>
          <a:bodyPr wrap="square" rtlCol="0">
            <a:spAutoFit/>
          </a:bodyPr>
          <a:lstStyle/>
          <a:p>
            <a:r>
              <a:rPr lang="es-MX" sz="1600" b="1" i="1" dirty="0" smtClean="0"/>
              <a:t>  </a:t>
            </a:r>
            <a:r>
              <a:rPr lang="es-MX" sz="1600" b="1" i="1" dirty="0" err="1" smtClean="0"/>
              <a:t>P.torta</a:t>
            </a:r>
            <a:r>
              <a:rPr lang="es-MX" sz="1600" b="1" i="1" dirty="0" smtClean="0"/>
              <a:t>                         C. </a:t>
            </a:r>
            <a:r>
              <a:rPr lang="es-MX" sz="1600" b="1" i="1" dirty="0" err="1" smtClean="0"/>
              <a:t>racemosa</a:t>
            </a:r>
            <a:r>
              <a:rPr lang="es-MX" sz="1600" b="1" i="1" dirty="0" smtClean="0"/>
              <a:t>               M. </a:t>
            </a:r>
            <a:r>
              <a:rPr lang="es-MX" sz="1600" b="1" i="1" dirty="0" err="1" smtClean="0"/>
              <a:t>sp</a:t>
            </a:r>
            <a:r>
              <a:rPr lang="es-MX" sz="1600" b="1" i="1" dirty="0" smtClean="0"/>
              <a:t>. Nov.                A. </a:t>
            </a:r>
            <a:r>
              <a:rPr lang="es-MX" sz="1600" b="1" i="1" dirty="0" err="1" smtClean="0"/>
              <a:t>lojaensis</a:t>
            </a:r>
            <a:r>
              <a:rPr lang="es-MX" sz="1600" b="1" i="1" dirty="0" smtClean="0"/>
              <a:t>               H. </a:t>
            </a:r>
            <a:r>
              <a:rPr lang="es-MX" sz="1600" b="1" i="1" dirty="0" err="1" smtClean="0"/>
              <a:t>purpurascens</a:t>
            </a:r>
            <a:r>
              <a:rPr lang="es-MX" sz="1600" b="1" i="1" dirty="0" smtClean="0"/>
              <a:t>       W. </a:t>
            </a:r>
            <a:r>
              <a:rPr lang="es-MX" sz="1600" b="1" i="1" dirty="0" err="1" smtClean="0"/>
              <a:t>loxensis</a:t>
            </a:r>
            <a:endParaRPr lang="en-US" sz="1600" b="1" i="1" dirty="0"/>
          </a:p>
        </p:txBody>
      </p:sp>
      <p:sp>
        <p:nvSpPr>
          <p:cNvPr id="12" name="Rectángulo 11"/>
          <p:cNvSpPr/>
          <p:nvPr/>
        </p:nvSpPr>
        <p:spPr>
          <a:xfrm>
            <a:off x="1648276" y="568664"/>
            <a:ext cx="3237881" cy="259308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dirty="0" smtClean="0">
                <a:solidFill>
                  <a:schemeClr val="tx2"/>
                </a:solidFill>
              </a:rPr>
              <a:t>1000 m</a:t>
            </a:r>
            <a:endParaRPr lang="en-US" dirty="0">
              <a:solidFill>
                <a:schemeClr val="tx2"/>
              </a:solidFill>
            </a:endParaRPr>
          </a:p>
        </p:txBody>
      </p:sp>
      <p:sp>
        <p:nvSpPr>
          <p:cNvPr id="13" name="Rectángulo 12"/>
          <p:cNvSpPr/>
          <p:nvPr/>
        </p:nvSpPr>
        <p:spPr>
          <a:xfrm>
            <a:off x="5032612" y="582246"/>
            <a:ext cx="3151693" cy="259308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dirty="0" smtClean="0">
                <a:solidFill>
                  <a:schemeClr val="tx2"/>
                </a:solidFill>
              </a:rPr>
              <a:t>2000 m</a:t>
            </a:r>
            <a:endParaRPr lang="en-US" dirty="0">
              <a:solidFill>
                <a:schemeClr val="tx2"/>
              </a:solidFill>
            </a:endParaRPr>
          </a:p>
        </p:txBody>
      </p:sp>
      <p:sp>
        <p:nvSpPr>
          <p:cNvPr id="14" name="Rectángulo 13"/>
          <p:cNvSpPr/>
          <p:nvPr/>
        </p:nvSpPr>
        <p:spPr>
          <a:xfrm>
            <a:off x="8338474" y="591123"/>
            <a:ext cx="3299654" cy="259308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dirty="0">
                <a:solidFill>
                  <a:schemeClr val="tx2"/>
                </a:solidFill>
              </a:rPr>
              <a:t>3</a:t>
            </a:r>
            <a:r>
              <a:rPr lang="es-MX" dirty="0" smtClean="0">
                <a:solidFill>
                  <a:schemeClr val="tx2"/>
                </a:solidFill>
              </a:rPr>
              <a:t>000 m</a:t>
            </a:r>
            <a:endParaRPr lang="en-US" dirty="0">
              <a:solidFill>
                <a:schemeClr val="tx2"/>
              </a:solidFill>
            </a:endParaRPr>
          </a:p>
        </p:txBody>
      </p:sp>
      <p:sp>
        <p:nvSpPr>
          <p:cNvPr id="5" name="Rectángulo 4"/>
          <p:cNvSpPr/>
          <p:nvPr/>
        </p:nvSpPr>
        <p:spPr>
          <a:xfrm>
            <a:off x="2820838" y="1405352"/>
            <a:ext cx="310551" cy="24229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dirty="0" smtClean="0"/>
              <a:t>*</a:t>
            </a:r>
            <a:endParaRPr lang="en-US" dirty="0"/>
          </a:p>
        </p:txBody>
      </p:sp>
      <p:graphicFrame>
        <p:nvGraphicFramePr>
          <p:cNvPr id="2" name="Tabla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95517099"/>
              </p:ext>
            </p:extLst>
          </p:nvPr>
        </p:nvGraphicFramePr>
        <p:xfrm>
          <a:off x="946757" y="4829736"/>
          <a:ext cx="10515600" cy="1928763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314450">
                  <a:extLst>
                    <a:ext uri="{9D8B030D-6E8A-4147-A177-3AD203B41FA5}">
                      <a16:colId xmlns:a16="http://schemas.microsoft.com/office/drawing/2014/main" val="4203704454"/>
                    </a:ext>
                  </a:extLst>
                </a:gridCol>
                <a:gridCol w="657225">
                  <a:extLst>
                    <a:ext uri="{9D8B030D-6E8A-4147-A177-3AD203B41FA5}">
                      <a16:colId xmlns:a16="http://schemas.microsoft.com/office/drawing/2014/main" val="513519208"/>
                    </a:ext>
                  </a:extLst>
                </a:gridCol>
                <a:gridCol w="657225">
                  <a:extLst>
                    <a:ext uri="{9D8B030D-6E8A-4147-A177-3AD203B41FA5}">
                      <a16:colId xmlns:a16="http://schemas.microsoft.com/office/drawing/2014/main" val="369751334"/>
                    </a:ext>
                  </a:extLst>
                </a:gridCol>
                <a:gridCol w="657225">
                  <a:extLst>
                    <a:ext uri="{9D8B030D-6E8A-4147-A177-3AD203B41FA5}">
                      <a16:colId xmlns:a16="http://schemas.microsoft.com/office/drawing/2014/main" val="317883958"/>
                    </a:ext>
                  </a:extLst>
                </a:gridCol>
                <a:gridCol w="657225">
                  <a:extLst>
                    <a:ext uri="{9D8B030D-6E8A-4147-A177-3AD203B41FA5}">
                      <a16:colId xmlns:a16="http://schemas.microsoft.com/office/drawing/2014/main" val="2049223682"/>
                    </a:ext>
                  </a:extLst>
                </a:gridCol>
                <a:gridCol w="657225">
                  <a:extLst>
                    <a:ext uri="{9D8B030D-6E8A-4147-A177-3AD203B41FA5}">
                      <a16:colId xmlns:a16="http://schemas.microsoft.com/office/drawing/2014/main" val="1643692241"/>
                    </a:ext>
                  </a:extLst>
                </a:gridCol>
                <a:gridCol w="657225">
                  <a:extLst>
                    <a:ext uri="{9D8B030D-6E8A-4147-A177-3AD203B41FA5}">
                      <a16:colId xmlns:a16="http://schemas.microsoft.com/office/drawing/2014/main" val="2812077742"/>
                    </a:ext>
                  </a:extLst>
                </a:gridCol>
                <a:gridCol w="657225">
                  <a:extLst>
                    <a:ext uri="{9D8B030D-6E8A-4147-A177-3AD203B41FA5}">
                      <a16:colId xmlns:a16="http://schemas.microsoft.com/office/drawing/2014/main" val="78532331"/>
                    </a:ext>
                  </a:extLst>
                </a:gridCol>
                <a:gridCol w="657225">
                  <a:extLst>
                    <a:ext uri="{9D8B030D-6E8A-4147-A177-3AD203B41FA5}">
                      <a16:colId xmlns:a16="http://schemas.microsoft.com/office/drawing/2014/main" val="2036789479"/>
                    </a:ext>
                  </a:extLst>
                </a:gridCol>
                <a:gridCol w="657225">
                  <a:extLst>
                    <a:ext uri="{9D8B030D-6E8A-4147-A177-3AD203B41FA5}">
                      <a16:colId xmlns:a16="http://schemas.microsoft.com/office/drawing/2014/main" val="2962576805"/>
                    </a:ext>
                  </a:extLst>
                </a:gridCol>
                <a:gridCol w="657225">
                  <a:extLst>
                    <a:ext uri="{9D8B030D-6E8A-4147-A177-3AD203B41FA5}">
                      <a16:colId xmlns:a16="http://schemas.microsoft.com/office/drawing/2014/main" val="207188166"/>
                    </a:ext>
                  </a:extLst>
                </a:gridCol>
                <a:gridCol w="657225">
                  <a:extLst>
                    <a:ext uri="{9D8B030D-6E8A-4147-A177-3AD203B41FA5}">
                      <a16:colId xmlns:a16="http://schemas.microsoft.com/office/drawing/2014/main" val="1115488799"/>
                    </a:ext>
                  </a:extLst>
                </a:gridCol>
                <a:gridCol w="657225">
                  <a:extLst>
                    <a:ext uri="{9D8B030D-6E8A-4147-A177-3AD203B41FA5}">
                      <a16:colId xmlns:a16="http://schemas.microsoft.com/office/drawing/2014/main" val="4202503297"/>
                    </a:ext>
                  </a:extLst>
                </a:gridCol>
                <a:gridCol w="657225">
                  <a:extLst>
                    <a:ext uri="{9D8B030D-6E8A-4147-A177-3AD203B41FA5}">
                      <a16:colId xmlns:a16="http://schemas.microsoft.com/office/drawing/2014/main" val="2871844599"/>
                    </a:ext>
                  </a:extLst>
                </a:gridCol>
                <a:gridCol w="657225">
                  <a:extLst>
                    <a:ext uri="{9D8B030D-6E8A-4147-A177-3AD203B41FA5}">
                      <a16:colId xmlns:a16="http://schemas.microsoft.com/office/drawing/2014/main" val="883828498"/>
                    </a:ext>
                  </a:extLst>
                </a:gridCol>
              </a:tblGrid>
              <a:tr h="164306">
                <a:tc>
                  <a:txBody>
                    <a:bodyPr/>
                    <a:lstStyle/>
                    <a:p>
                      <a:pPr algn="l" fontAlgn="b"/>
                      <a:endParaRPr lang="en-US" sz="900" b="1" i="0" u="none" strike="noStrike">
                        <a:solidFill>
                          <a:srgbClr val="FFFFFF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u="none" strike="noStrike" dirty="0">
                          <a:effectLst/>
                        </a:rPr>
                        <a:t>(Intercept)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u="none" strike="noStrike" dirty="0">
                          <a:effectLst/>
                        </a:rPr>
                        <a:t>(Intercept)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u="none" strike="noStrike" dirty="0" smtClean="0">
                          <a:effectLst/>
                        </a:rPr>
                        <a:t>N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u="none" strike="noStrike" dirty="0" smtClean="0">
                          <a:effectLst/>
                        </a:rPr>
                        <a:t>N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u="none" strike="noStrike" dirty="0" smtClean="0">
                          <a:effectLst/>
                        </a:rPr>
                        <a:t>NP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u="none" strike="noStrike" dirty="0" smtClean="0">
                          <a:effectLst/>
                        </a:rPr>
                        <a:t>NP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u="none" strike="noStrike" dirty="0" smtClean="0">
                          <a:effectLst/>
                        </a:rPr>
                        <a:t>P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u="none" strike="noStrike" dirty="0" smtClean="0">
                          <a:effectLst/>
                        </a:rPr>
                        <a:t>P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u="none" strike="noStrike" dirty="0">
                          <a:effectLst/>
                        </a:rPr>
                        <a:t>SD (Intercept </a:t>
                      </a:r>
                      <a:r>
                        <a:rPr lang="en-US" sz="1100" u="none" strike="noStrike" dirty="0" err="1">
                          <a:effectLst/>
                        </a:rPr>
                        <a:t>Bloque</a:t>
                      </a:r>
                      <a:r>
                        <a:rPr lang="en-US" sz="1100" u="none" strike="noStrike" dirty="0">
                          <a:effectLst/>
                        </a:rPr>
                        <a:t>)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u="none" strike="noStrike" dirty="0">
                          <a:effectLst/>
                        </a:rPr>
                        <a:t>SD (Observations)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u="none" strike="noStrike" dirty="0" err="1">
                          <a:effectLst/>
                        </a:rPr>
                        <a:t>Num.Obs</a:t>
                      </a:r>
                      <a:r>
                        <a:rPr lang="en-US" sz="1100" u="none" strike="noStrike" dirty="0">
                          <a:effectLst/>
                        </a:rPr>
                        <a:t>.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u="none" strike="noStrike" dirty="0">
                          <a:effectLst/>
                        </a:rPr>
                        <a:t>R2 Marg.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u="none" strike="noStrike" dirty="0">
                          <a:effectLst/>
                        </a:rPr>
                        <a:t>R2 Cond.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u="none" strike="noStrike" dirty="0">
                          <a:effectLst/>
                        </a:rPr>
                        <a:t>AIC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2064513228"/>
                  </a:ext>
                </a:extLst>
              </a:tr>
              <a:tr h="164306">
                <a:tc>
                  <a:txBody>
                    <a:bodyPr/>
                    <a:lstStyle/>
                    <a:p>
                      <a:pPr algn="l" fontAlgn="b"/>
                      <a:r>
                        <a:rPr lang="en-US" sz="900" u="none" strike="noStrike">
                          <a:effectLst/>
                        </a:rPr>
                        <a:t>Modelo</a:t>
                      </a:r>
                      <a:endParaRPr lang="en-US" sz="900" b="1" i="0" u="none" strike="noStrike">
                        <a:solidFill>
                          <a:srgbClr val="FFFFFF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900" u="none" strike="noStrike">
                          <a:effectLst/>
                        </a:rPr>
                        <a:t>estimates</a:t>
                      </a:r>
                      <a:endParaRPr lang="en-US" sz="900" b="1" i="0" u="none" strike="noStrike">
                        <a:solidFill>
                          <a:srgbClr val="FFFFFF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900" u="none" strike="noStrike">
                          <a:effectLst/>
                        </a:rPr>
                        <a:t>estimates.1</a:t>
                      </a:r>
                      <a:endParaRPr lang="en-US" sz="900" b="1" i="0" u="none" strike="noStrike">
                        <a:solidFill>
                          <a:srgbClr val="FFFFFF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900" u="none" strike="noStrike">
                          <a:effectLst/>
                        </a:rPr>
                        <a:t>estimates.2</a:t>
                      </a:r>
                      <a:endParaRPr lang="en-US" sz="900" b="1" i="0" u="none" strike="noStrike">
                        <a:solidFill>
                          <a:srgbClr val="FFFFFF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900" u="none" strike="noStrike" dirty="0">
                          <a:effectLst/>
                        </a:rPr>
                        <a:t>estimates.3</a:t>
                      </a:r>
                      <a:endParaRPr lang="en-US" sz="900" b="1" i="0" u="none" strike="noStrike" dirty="0">
                        <a:solidFill>
                          <a:srgbClr val="FFFFFF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900" u="none" strike="noStrike">
                          <a:effectLst/>
                        </a:rPr>
                        <a:t>estimates.4</a:t>
                      </a:r>
                      <a:endParaRPr lang="en-US" sz="900" b="1" i="0" u="none" strike="noStrike">
                        <a:solidFill>
                          <a:srgbClr val="FFFFFF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900" u="none" strike="noStrike">
                          <a:effectLst/>
                        </a:rPr>
                        <a:t>estimates.5</a:t>
                      </a:r>
                      <a:endParaRPr lang="en-US" sz="900" b="1" i="0" u="none" strike="noStrike">
                        <a:solidFill>
                          <a:srgbClr val="FFFFFF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900" u="none" strike="noStrike">
                          <a:effectLst/>
                        </a:rPr>
                        <a:t>estimates.6</a:t>
                      </a:r>
                      <a:endParaRPr lang="en-US" sz="900" b="1" i="0" u="none" strike="noStrike">
                        <a:solidFill>
                          <a:srgbClr val="FFFFFF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900" u="none" strike="noStrike">
                          <a:effectLst/>
                        </a:rPr>
                        <a:t>estimates.7</a:t>
                      </a:r>
                      <a:endParaRPr lang="en-US" sz="900" b="1" i="0" u="none" strike="noStrike">
                        <a:solidFill>
                          <a:srgbClr val="FFFFFF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900" u="none" strike="noStrike">
                          <a:effectLst/>
                        </a:rPr>
                        <a:t>estimates.8</a:t>
                      </a:r>
                      <a:endParaRPr lang="en-US" sz="900" b="1" i="0" u="none" strike="noStrike">
                        <a:solidFill>
                          <a:srgbClr val="FFFFFF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900" u="none" strike="noStrike">
                          <a:effectLst/>
                        </a:rPr>
                        <a:t>estimates.9</a:t>
                      </a:r>
                      <a:endParaRPr lang="en-US" sz="900" b="1" i="0" u="none" strike="noStrike">
                        <a:solidFill>
                          <a:srgbClr val="FFFFFF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900" u="none" strike="noStrike">
                          <a:effectLst/>
                        </a:rPr>
                        <a:t>gof</a:t>
                      </a:r>
                      <a:endParaRPr lang="en-US" sz="900" b="1" i="0" u="none" strike="noStrike">
                        <a:solidFill>
                          <a:srgbClr val="FFFFFF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900" u="none" strike="noStrike">
                          <a:effectLst/>
                        </a:rPr>
                        <a:t>gof.1</a:t>
                      </a:r>
                      <a:endParaRPr lang="en-US" sz="900" b="1" i="0" u="none" strike="noStrike">
                        <a:solidFill>
                          <a:srgbClr val="FFFFFF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900" u="none" strike="noStrike">
                          <a:effectLst/>
                        </a:rPr>
                        <a:t>gof.2</a:t>
                      </a:r>
                      <a:endParaRPr lang="en-US" sz="900" b="1" i="0" u="none" strike="noStrike">
                        <a:solidFill>
                          <a:srgbClr val="FFFFFF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900" u="none" strike="noStrike">
                          <a:effectLst/>
                        </a:rPr>
                        <a:t>gof.3</a:t>
                      </a:r>
                      <a:endParaRPr lang="en-US" sz="900" b="1" i="0" u="none" strike="noStrike">
                        <a:solidFill>
                          <a:srgbClr val="FFFFFF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b"/>
                </a:tc>
                <a:extLst>
                  <a:ext uri="{0D108BD9-81ED-4DB2-BD59-A6C34878D82A}">
                    <a16:rowId xmlns:a16="http://schemas.microsoft.com/office/drawing/2014/main" val="879252698"/>
                  </a:ext>
                </a:extLst>
              </a:tr>
              <a:tr h="164306">
                <a:tc>
                  <a:txBody>
                    <a:bodyPr/>
                    <a:lstStyle/>
                    <a:p>
                      <a:pPr algn="l" fontAlgn="b"/>
                      <a:r>
                        <a:rPr lang="en-US" sz="900" u="none" strike="noStrike">
                          <a:effectLst/>
                        </a:rPr>
                        <a:t>Narea | 1000 | Pouteria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900" u="none" strike="noStrike">
                          <a:effectLst/>
                        </a:rPr>
                        <a:t>1.920***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900" u="none" strike="noStrike">
                          <a:effectLst/>
                        </a:rPr>
                        <a:t>(0.075)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900" u="none" strike="noStrike">
                          <a:effectLst/>
                        </a:rPr>
                        <a:t>0.127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900" u="none" strike="noStrike">
                          <a:effectLst/>
                        </a:rPr>
                        <a:t>(0.108)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900" u="none" strike="noStrike">
                          <a:effectLst/>
                        </a:rPr>
                        <a:t>0.154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900" u="none" strike="noStrike">
                          <a:effectLst/>
                        </a:rPr>
                        <a:t>(0.120)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900" u="none" strike="noStrike" dirty="0">
                          <a:solidFill>
                            <a:srgbClr val="FF0000"/>
                          </a:solidFill>
                          <a:effectLst/>
                        </a:rPr>
                        <a:t>0.250*</a:t>
                      </a:r>
                      <a:endParaRPr lang="en-US" sz="900" b="0" i="0" u="none" strike="noStrike" dirty="0">
                        <a:solidFill>
                          <a:srgbClr val="FF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900" u="none" strike="noStrike">
                          <a:effectLst/>
                        </a:rPr>
                        <a:t>(0.115)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900" u="none" strike="noStrike">
                          <a:effectLst/>
                        </a:rPr>
                        <a:t>0.000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900" u="none" strike="noStrike">
                          <a:effectLst/>
                        </a:rPr>
                        <a:t>0.248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900" u="none" strike="noStrike">
                          <a:effectLst/>
                        </a:rPr>
                        <a:t>36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900" u="none" strike="noStrike">
                          <a:effectLst/>
                        </a:rPr>
                        <a:t>0.123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900" u="none" strike="noStrike">
                          <a:effectLst/>
                        </a:rPr>
                        <a:t>22.3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b"/>
                </a:tc>
                <a:extLst>
                  <a:ext uri="{0D108BD9-81ED-4DB2-BD59-A6C34878D82A}">
                    <a16:rowId xmlns:a16="http://schemas.microsoft.com/office/drawing/2014/main" val="376328535"/>
                  </a:ext>
                </a:extLst>
              </a:tr>
              <a:tr h="164306">
                <a:tc>
                  <a:txBody>
                    <a:bodyPr/>
                    <a:lstStyle/>
                    <a:p>
                      <a:pPr algn="l" fontAlgn="b"/>
                      <a:r>
                        <a:rPr lang="en-US" sz="900" u="none" strike="noStrike">
                          <a:effectLst/>
                        </a:rPr>
                        <a:t>Narea | 1000 | Clarisia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900" u="none" strike="noStrike">
                          <a:effectLst/>
                        </a:rPr>
                        <a:t>1.892***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900" u="none" strike="noStrike">
                          <a:effectLst/>
                        </a:rPr>
                        <a:t>(0.112)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900" u="none" strike="noStrike">
                          <a:effectLst/>
                        </a:rPr>
                        <a:t>-0.102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900" u="none" strike="noStrike">
                          <a:effectLst/>
                        </a:rPr>
                        <a:t>(0.224)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900" u="none" strike="noStrike" dirty="0">
                          <a:solidFill>
                            <a:srgbClr val="FF0000"/>
                          </a:solidFill>
                          <a:effectLst/>
                        </a:rPr>
                        <a:t>0.295+</a:t>
                      </a:r>
                      <a:endParaRPr lang="en-US" sz="900" b="0" i="0" u="none" strike="noStrike" dirty="0">
                        <a:solidFill>
                          <a:srgbClr val="FF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900" u="none" strike="noStrike">
                          <a:effectLst/>
                        </a:rPr>
                        <a:t>(0.148)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900" u="none" strike="noStrike">
                          <a:effectLst/>
                        </a:rPr>
                        <a:t>0.159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900" u="none" strike="noStrike">
                          <a:effectLst/>
                        </a:rPr>
                        <a:t>(0.148)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900" u="none" strike="noStrike">
                          <a:effectLst/>
                        </a:rPr>
                        <a:t>0.000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900" u="none" strike="noStrike">
                          <a:effectLst/>
                        </a:rPr>
                        <a:t>0.194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900" u="none" strike="noStrike">
                          <a:effectLst/>
                        </a:rPr>
                        <a:t>12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900" u="none" strike="noStrike">
                          <a:effectLst/>
                        </a:rPr>
                        <a:t>0.342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900" u="none" strike="noStrike">
                          <a:effectLst/>
                        </a:rPr>
                        <a:t>12.3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b"/>
                </a:tc>
                <a:extLst>
                  <a:ext uri="{0D108BD9-81ED-4DB2-BD59-A6C34878D82A}">
                    <a16:rowId xmlns:a16="http://schemas.microsoft.com/office/drawing/2014/main" val="3275968881"/>
                  </a:ext>
                </a:extLst>
              </a:tr>
              <a:tr h="164306">
                <a:tc>
                  <a:txBody>
                    <a:bodyPr/>
                    <a:lstStyle/>
                    <a:p>
                      <a:pPr algn="l" fontAlgn="b"/>
                      <a:r>
                        <a:rPr lang="en-US" sz="900" u="none" strike="noStrike">
                          <a:effectLst/>
                        </a:rPr>
                        <a:t>Narea | 2000 | Alchornea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900" u="none" strike="noStrike">
                          <a:effectLst/>
                        </a:rPr>
                        <a:t>3.272***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900" u="none" strike="noStrike">
                          <a:effectLst/>
                        </a:rPr>
                        <a:t>(0.161)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900" u="none" strike="noStrike">
                          <a:effectLst/>
                        </a:rPr>
                        <a:t>0.320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900" u="none" strike="noStrike">
                          <a:effectLst/>
                        </a:rPr>
                        <a:t>(0.231)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900" u="none" strike="noStrike">
                          <a:effectLst/>
                        </a:rPr>
                        <a:t>0.243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900" u="none" strike="noStrike">
                          <a:effectLst/>
                        </a:rPr>
                        <a:t>(0.247)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900" u="none" strike="noStrike">
                          <a:effectLst/>
                        </a:rPr>
                        <a:t>-0.133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900" u="none" strike="noStrike">
                          <a:effectLst/>
                        </a:rPr>
                        <a:t>(0.209)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900" u="none" strike="noStrike">
                          <a:effectLst/>
                        </a:rPr>
                        <a:t>0.079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900" u="none" strike="noStrike">
                          <a:effectLst/>
                        </a:rPr>
                        <a:t>0.539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900" u="none" strike="noStrike">
                          <a:effectLst/>
                        </a:rPr>
                        <a:t>45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900" u="none" strike="noStrike">
                          <a:effectLst/>
                        </a:rPr>
                        <a:t>0.106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900" u="none" strike="noStrike">
                          <a:effectLst/>
                        </a:rPr>
                        <a:t>0.125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900" u="none" strike="noStrike">
                          <a:effectLst/>
                        </a:rPr>
                        <a:t>87.9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b"/>
                </a:tc>
                <a:extLst>
                  <a:ext uri="{0D108BD9-81ED-4DB2-BD59-A6C34878D82A}">
                    <a16:rowId xmlns:a16="http://schemas.microsoft.com/office/drawing/2014/main" val="1180857194"/>
                  </a:ext>
                </a:extLst>
              </a:tr>
              <a:tr h="164306">
                <a:tc>
                  <a:txBody>
                    <a:bodyPr/>
                    <a:lstStyle/>
                    <a:p>
                      <a:pPr algn="l" fontAlgn="b"/>
                      <a:r>
                        <a:rPr lang="en-US" sz="900" u="none" strike="noStrike">
                          <a:effectLst/>
                        </a:rPr>
                        <a:t>Narea | 2000 | Myrcia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900" u="none" strike="noStrike">
                          <a:effectLst/>
                        </a:rPr>
                        <a:t>2.882***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900" u="none" strike="noStrike">
                          <a:effectLst/>
                        </a:rPr>
                        <a:t>(0.260)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900" u="none" strike="noStrike">
                          <a:effectLst/>
                        </a:rPr>
                        <a:t>-0.057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900" u="none" strike="noStrike">
                          <a:effectLst/>
                        </a:rPr>
                        <a:t>(0.410)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900" u="none" strike="noStrike">
                          <a:effectLst/>
                        </a:rPr>
                        <a:t>-0.152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900" u="none" strike="noStrike">
                          <a:effectLst/>
                        </a:rPr>
                        <a:t>(0.380)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900" u="none" strike="noStrike">
                          <a:effectLst/>
                        </a:rPr>
                        <a:t>-0.486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900" u="none" strike="noStrike">
                          <a:effectLst/>
                        </a:rPr>
                        <a:t>(0.389)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900" u="none" strike="noStrike">
                          <a:effectLst/>
                        </a:rPr>
                        <a:t>0.046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900" u="none" strike="noStrike">
                          <a:effectLst/>
                        </a:rPr>
                        <a:t>1.003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900" u="none" strike="noStrike">
                          <a:effectLst/>
                        </a:rPr>
                        <a:t>50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900" u="none" strike="noStrike">
                          <a:effectLst/>
                        </a:rPr>
                        <a:t>0.035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900" u="none" strike="noStrike">
                          <a:effectLst/>
                        </a:rPr>
                        <a:t>0.037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900" u="none" strike="noStrike">
                          <a:effectLst/>
                        </a:rPr>
                        <a:t>153.0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b"/>
                </a:tc>
                <a:extLst>
                  <a:ext uri="{0D108BD9-81ED-4DB2-BD59-A6C34878D82A}">
                    <a16:rowId xmlns:a16="http://schemas.microsoft.com/office/drawing/2014/main" val="489940464"/>
                  </a:ext>
                </a:extLst>
              </a:tr>
              <a:tr h="297394">
                <a:tc>
                  <a:txBody>
                    <a:bodyPr/>
                    <a:lstStyle/>
                    <a:p>
                      <a:pPr algn="l" fontAlgn="b"/>
                      <a:r>
                        <a:rPr lang="en-US" sz="900" u="none" strike="noStrike">
                          <a:effectLst/>
                        </a:rPr>
                        <a:t>Narea | 3000 | Hedyosmum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900" u="none" strike="noStrike">
                          <a:effectLst/>
                        </a:rPr>
                        <a:t>2.136***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900" u="none" strike="noStrike" dirty="0">
                          <a:effectLst/>
                        </a:rPr>
                        <a:t>(0.170)</a:t>
                      </a:r>
                      <a:endParaRPr lang="en-US" sz="9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900" u="none" strike="noStrike" dirty="0">
                          <a:solidFill>
                            <a:srgbClr val="FF0000"/>
                          </a:solidFill>
                          <a:effectLst/>
                        </a:rPr>
                        <a:t>0.702**</a:t>
                      </a:r>
                      <a:endParaRPr lang="en-US" sz="900" b="0" i="0" u="none" strike="noStrike" dirty="0">
                        <a:solidFill>
                          <a:srgbClr val="FF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900" u="none" strike="noStrike">
                          <a:effectLst/>
                        </a:rPr>
                        <a:t>(0.222)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900" u="none" strike="noStrike" dirty="0">
                          <a:effectLst/>
                        </a:rPr>
                        <a:t>0.448</a:t>
                      </a:r>
                      <a:endParaRPr lang="en-US" sz="9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900" u="none" strike="noStrike" dirty="0">
                          <a:effectLst/>
                        </a:rPr>
                        <a:t>(0.268)</a:t>
                      </a:r>
                      <a:endParaRPr lang="en-US" sz="9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900" u="none" strike="noStrike">
                          <a:effectLst/>
                        </a:rPr>
                        <a:t>-0.022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900" u="none" strike="noStrike">
                          <a:effectLst/>
                        </a:rPr>
                        <a:t>(0.214)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900" u="none" strike="noStrike">
                          <a:effectLst/>
                        </a:rPr>
                        <a:t>0.094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900" u="none" strike="noStrike">
                          <a:effectLst/>
                        </a:rPr>
                        <a:t>0.365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900" u="none" strike="noStrike">
                          <a:effectLst/>
                        </a:rPr>
                        <a:t>21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900" u="none" strike="noStrike">
                          <a:effectLst/>
                        </a:rPr>
                        <a:t>0.433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900" u="none" strike="noStrike">
                          <a:effectLst/>
                        </a:rPr>
                        <a:t>0.468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900" u="none" strike="noStrike">
                          <a:effectLst/>
                        </a:rPr>
                        <a:t>33.2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b"/>
                </a:tc>
                <a:extLst>
                  <a:ext uri="{0D108BD9-81ED-4DB2-BD59-A6C34878D82A}">
                    <a16:rowId xmlns:a16="http://schemas.microsoft.com/office/drawing/2014/main" val="4247231590"/>
                  </a:ext>
                </a:extLst>
              </a:tr>
              <a:tr h="297394">
                <a:tc>
                  <a:txBody>
                    <a:bodyPr/>
                    <a:lstStyle/>
                    <a:p>
                      <a:pPr algn="l" fontAlgn="b"/>
                      <a:r>
                        <a:rPr lang="en-US" sz="900" u="none" strike="noStrike">
                          <a:effectLst/>
                        </a:rPr>
                        <a:t>Narea | 3000 | Weinmannia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900" u="none" strike="noStrike">
                          <a:effectLst/>
                        </a:rPr>
                        <a:t>1.484***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900" u="none" strike="noStrike">
                          <a:effectLst/>
                        </a:rPr>
                        <a:t>(0.102)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900" u="none" strike="noStrike">
                          <a:effectLst/>
                        </a:rPr>
                        <a:t>0.182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900" u="none" strike="noStrike">
                          <a:effectLst/>
                        </a:rPr>
                        <a:t>(0.144)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900" u="none" strike="noStrike" dirty="0">
                          <a:effectLst/>
                        </a:rPr>
                        <a:t>0.069</a:t>
                      </a:r>
                      <a:endParaRPr lang="en-US" sz="9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900" u="none" strike="noStrike">
                          <a:effectLst/>
                        </a:rPr>
                        <a:t>(0.191)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900" u="none" strike="noStrike">
                          <a:effectLst/>
                        </a:rPr>
                        <a:t>-0.000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900" u="none" strike="noStrike">
                          <a:effectLst/>
                        </a:rPr>
                        <a:t>(0.138)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900" u="none" strike="noStrike">
                          <a:effectLst/>
                        </a:rPr>
                        <a:t>0.000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900" u="none" strike="noStrike">
                          <a:effectLst/>
                        </a:rPr>
                        <a:t>0.228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900" u="none" strike="noStrike">
                          <a:effectLst/>
                        </a:rPr>
                        <a:t>18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900" u="none" strike="noStrike">
                          <a:effectLst/>
                        </a:rPr>
                        <a:t>0.114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900" u="none" strike="noStrike" dirty="0">
                          <a:effectLst/>
                        </a:rPr>
                        <a:t>16.1</a:t>
                      </a:r>
                      <a:endParaRPr lang="en-US" sz="9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b"/>
                </a:tc>
                <a:extLst>
                  <a:ext uri="{0D108BD9-81ED-4DB2-BD59-A6C34878D82A}">
                    <a16:rowId xmlns:a16="http://schemas.microsoft.com/office/drawing/2014/main" val="339251967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26063501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n 2"/>
          <p:cNvPicPr>
            <a:picLocks noChangeAspect="1"/>
          </p:cNvPicPr>
          <p:nvPr/>
        </p:nvPicPr>
        <p:blipFill rotWithShape="1">
          <a:blip r:embed="rId2"/>
          <a:srcRect t="11940" b="11397"/>
          <a:stretch/>
        </p:blipFill>
        <p:spPr>
          <a:xfrm>
            <a:off x="810836" y="885377"/>
            <a:ext cx="11035895" cy="3600593"/>
          </a:xfrm>
          <a:prstGeom prst="rect">
            <a:avLst/>
          </a:prstGeom>
        </p:spPr>
      </p:pic>
      <p:sp>
        <p:nvSpPr>
          <p:cNvPr id="7" name="CuadroTexto 6"/>
          <p:cNvSpPr txBox="1"/>
          <p:nvPr/>
        </p:nvSpPr>
        <p:spPr>
          <a:xfrm>
            <a:off x="1460827" y="766814"/>
            <a:ext cx="10177302" cy="338554"/>
          </a:xfrm>
          <a:prstGeom prst="rect">
            <a:avLst/>
          </a:prstGeom>
          <a:solidFill>
            <a:schemeClr val="bg2"/>
          </a:solidFill>
        </p:spPr>
        <p:txBody>
          <a:bodyPr wrap="square" rtlCol="0">
            <a:spAutoFit/>
          </a:bodyPr>
          <a:lstStyle/>
          <a:p>
            <a:r>
              <a:rPr lang="es-MX" sz="1600" b="1" i="1" dirty="0" smtClean="0"/>
              <a:t>  </a:t>
            </a:r>
            <a:r>
              <a:rPr lang="es-MX" sz="1600" b="1" i="1" dirty="0" err="1" smtClean="0"/>
              <a:t>P.torta</a:t>
            </a:r>
            <a:r>
              <a:rPr lang="es-MX" sz="1600" b="1" i="1" dirty="0" smtClean="0"/>
              <a:t>                         C. </a:t>
            </a:r>
            <a:r>
              <a:rPr lang="es-MX" sz="1600" b="1" i="1" dirty="0" err="1" smtClean="0"/>
              <a:t>racemosa</a:t>
            </a:r>
            <a:r>
              <a:rPr lang="es-MX" sz="1600" b="1" i="1" dirty="0" smtClean="0"/>
              <a:t>               M. </a:t>
            </a:r>
            <a:r>
              <a:rPr lang="es-MX" sz="1600" b="1" i="1" dirty="0" err="1" smtClean="0"/>
              <a:t>sp</a:t>
            </a:r>
            <a:r>
              <a:rPr lang="es-MX" sz="1600" b="1" i="1" dirty="0" smtClean="0"/>
              <a:t>. Nov.                A. </a:t>
            </a:r>
            <a:r>
              <a:rPr lang="es-MX" sz="1600" b="1" i="1" dirty="0" err="1" smtClean="0"/>
              <a:t>lojaensis</a:t>
            </a:r>
            <a:r>
              <a:rPr lang="es-MX" sz="1600" b="1" i="1" dirty="0" smtClean="0"/>
              <a:t>               H. </a:t>
            </a:r>
            <a:r>
              <a:rPr lang="es-MX" sz="1600" b="1" i="1" dirty="0" err="1" smtClean="0"/>
              <a:t>purpurascens</a:t>
            </a:r>
            <a:r>
              <a:rPr lang="es-MX" sz="1600" b="1" i="1" dirty="0" smtClean="0"/>
              <a:t>       W. </a:t>
            </a:r>
            <a:r>
              <a:rPr lang="es-MX" sz="1600" b="1" i="1" dirty="0" err="1" smtClean="0"/>
              <a:t>loxensis</a:t>
            </a:r>
            <a:endParaRPr lang="en-US" sz="1600" b="1" i="1" dirty="0"/>
          </a:p>
        </p:txBody>
      </p:sp>
      <p:sp>
        <p:nvSpPr>
          <p:cNvPr id="12" name="Rectángulo 11"/>
          <p:cNvSpPr/>
          <p:nvPr/>
        </p:nvSpPr>
        <p:spPr>
          <a:xfrm>
            <a:off x="1648276" y="568664"/>
            <a:ext cx="3237881" cy="259308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dirty="0" smtClean="0">
                <a:solidFill>
                  <a:schemeClr val="tx2"/>
                </a:solidFill>
              </a:rPr>
              <a:t>1000 m</a:t>
            </a:r>
            <a:endParaRPr lang="en-US" dirty="0">
              <a:solidFill>
                <a:schemeClr val="tx2"/>
              </a:solidFill>
            </a:endParaRPr>
          </a:p>
        </p:txBody>
      </p:sp>
      <p:sp>
        <p:nvSpPr>
          <p:cNvPr id="13" name="Rectángulo 12"/>
          <p:cNvSpPr/>
          <p:nvPr/>
        </p:nvSpPr>
        <p:spPr>
          <a:xfrm>
            <a:off x="5032612" y="582246"/>
            <a:ext cx="3151693" cy="259308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dirty="0" smtClean="0">
                <a:solidFill>
                  <a:schemeClr val="tx2"/>
                </a:solidFill>
              </a:rPr>
              <a:t>2000 m</a:t>
            </a:r>
            <a:endParaRPr lang="en-US" dirty="0">
              <a:solidFill>
                <a:schemeClr val="tx2"/>
              </a:solidFill>
            </a:endParaRPr>
          </a:p>
        </p:txBody>
      </p:sp>
      <p:sp>
        <p:nvSpPr>
          <p:cNvPr id="14" name="Rectángulo 13"/>
          <p:cNvSpPr/>
          <p:nvPr/>
        </p:nvSpPr>
        <p:spPr>
          <a:xfrm>
            <a:off x="8338474" y="591123"/>
            <a:ext cx="3299654" cy="259308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dirty="0">
                <a:solidFill>
                  <a:schemeClr val="tx2"/>
                </a:solidFill>
              </a:rPr>
              <a:t>3</a:t>
            </a:r>
            <a:r>
              <a:rPr lang="es-MX" dirty="0" smtClean="0">
                <a:solidFill>
                  <a:schemeClr val="tx2"/>
                </a:solidFill>
              </a:rPr>
              <a:t>000 m</a:t>
            </a:r>
            <a:endParaRPr lang="en-US" dirty="0">
              <a:solidFill>
                <a:schemeClr val="tx2"/>
              </a:solidFill>
            </a:endParaRPr>
          </a:p>
        </p:txBody>
      </p:sp>
      <p:sp>
        <p:nvSpPr>
          <p:cNvPr id="5" name="Rectángulo 4"/>
          <p:cNvSpPr/>
          <p:nvPr/>
        </p:nvSpPr>
        <p:spPr>
          <a:xfrm>
            <a:off x="2820838" y="1405352"/>
            <a:ext cx="310551" cy="24229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dirty="0" smtClean="0"/>
              <a:t>*</a:t>
            </a:r>
            <a:endParaRPr lang="en-US" dirty="0"/>
          </a:p>
        </p:txBody>
      </p:sp>
      <p:graphicFrame>
        <p:nvGraphicFramePr>
          <p:cNvPr id="2" name="Tabla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08931373"/>
              </p:ext>
            </p:extLst>
          </p:nvPr>
        </p:nvGraphicFramePr>
        <p:xfrm>
          <a:off x="999566" y="4820772"/>
          <a:ext cx="10515600" cy="1928763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314450">
                  <a:extLst>
                    <a:ext uri="{9D8B030D-6E8A-4147-A177-3AD203B41FA5}">
                      <a16:colId xmlns:a16="http://schemas.microsoft.com/office/drawing/2014/main" val="4203704454"/>
                    </a:ext>
                  </a:extLst>
                </a:gridCol>
                <a:gridCol w="657225">
                  <a:extLst>
                    <a:ext uri="{9D8B030D-6E8A-4147-A177-3AD203B41FA5}">
                      <a16:colId xmlns:a16="http://schemas.microsoft.com/office/drawing/2014/main" val="513519208"/>
                    </a:ext>
                  </a:extLst>
                </a:gridCol>
                <a:gridCol w="657225">
                  <a:extLst>
                    <a:ext uri="{9D8B030D-6E8A-4147-A177-3AD203B41FA5}">
                      <a16:colId xmlns:a16="http://schemas.microsoft.com/office/drawing/2014/main" val="369751334"/>
                    </a:ext>
                  </a:extLst>
                </a:gridCol>
                <a:gridCol w="657225">
                  <a:extLst>
                    <a:ext uri="{9D8B030D-6E8A-4147-A177-3AD203B41FA5}">
                      <a16:colId xmlns:a16="http://schemas.microsoft.com/office/drawing/2014/main" val="317883958"/>
                    </a:ext>
                  </a:extLst>
                </a:gridCol>
                <a:gridCol w="657225">
                  <a:extLst>
                    <a:ext uri="{9D8B030D-6E8A-4147-A177-3AD203B41FA5}">
                      <a16:colId xmlns:a16="http://schemas.microsoft.com/office/drawing/2014/main" val="2049223682"/>
                    </a:ext>
                  </a:extLst>
                </a:gridCol>
                <a:gridCol w="657225">
                  <a:extLst>
                    <a:ext uri="{9D8B030D-6E8A-4147-A177-3AD203B41FA5}">
                      <a16:colId xmlns:a16="http://schemas.microsoft.com/office/drawing/2014/main" val="1643692241"/>
                    </a:ext>
                  </a:extLst>
                </a:gridCol>
                <a:gridCol w="657225">
                  <a:extLst>
                    <a:ext uri="{9D8B030D-6E8A-4147-A177-3AD203B41FA5}">
                      <a16:colId xmlns:a16="http://schemas.microsoft.com/office/drawing/2014/main" val="2812077742"/>
                    </a:ext>
                  </a:extLst>
                </a:gridCol>
                <a:gridCol w="657225">
                  <a:extLst>
                    <a:ext uri="{9D8B030D-6E8A-4147-A177-3AD203B41FA5}">
                      <a16:colId xmlns:a16="http://schemas.microsoft.com/office/drawing/2014/main" val="78532331"/>
                    </a:ext>
                  </a:extLst>
                </a:gridCol>
                <a:gridCol w="657225">
                  <a:extLst>
                    <a:ext uri="{9D8B030D-6E8A-4147-A177-3AD203B41FA5}">
                      <a16:colId xmlns:a16="http://schemas.microsoft.com/office/drawing/2014/main" val="2036789479"/>
                    </a:ext>
                  </a:extLst>
                </a:gridCol>
                <a:gridCol w="657225">
                  <a:extLst>
                    <a:ext uri="{9D8B030D-6E8A-4147-A177-3AD203B41FA5}">
                      <a16:colId xmlns:a16="http://schemas.microsoft.com/office/drawing/2014/main" val="2962576805"/>
                    </a:ext>
                  </a:extLst>
                </a:gridCol>
                <a:gridCol w="657225">
                  <a:extLst>
                    <a:ext uri="{9D8B030D-6E8A-4147-A177-3AD203B41FA5}">
                      <a16:colId xmlns:a16="http://schemas.microsoft.com/office/drawing/2014/main" val="207188166"/>
                    </a:ext>
                  </a:extLst>
                </a:gridCol>
                <a:gridCol w="657225">
                  <a:extLst>
                    <a:ext uri="{9D8B030D-6E8A-4147-A177-3AD203B41FA5}">
                      <a16:colId xmlns:a16="http://schemas.microsoft.com/office/drawing/2014/main" val="1115488799"/>
                    </a:ext>
                  </a:extLst>
                </a:gridCol>
                <a:gridCol w="657225">
                  <a:extLst>
                    <a:ext uri="{9D8B030D-6E8A-4147-A177-3AD203B41FA5}">
                      <a16:colId xmlns:a16="http://schemas.microsoft.com/office/drawing/2014/main" val="4202503297"/>
                    </a:ext>
                  </a:extLst>
                </a:gridCol>
                <a:gridCol w="657225">
                  <a:extLst>
                    <a:ext uri="{9D8B030D-6E8A-4147-A177-3AD203B41FA5}">
                      <a16:colId xmlns:a16="http://schemas.microsoft.com/office/drawing/2014/main" val="2871844599"/>
                    </a:ext>
                  </a:extLst>
                </a:gridCol>
                <a:gridCol w="657225">
                  <a:extLst>
                    <a:ext uri="{9D8B030D-6E8A-4147-A177-3AD203B41FA5}">
                      <a16:colId xmlns:a16="http://schemas.microsoft.com/office/drawing/2014/main" val="883828498"/>
                    </a:ext>
                  </a:extLst>
                </a:gridCol>
              </a:tblGrid>
              <a:tr h="164306">
                <a:tc>
                  <a:txBody>
                    <a:bodyPr/>
                    <a:lstStyle/>
                    <a:p>
                      <a:pPr algn="l" fontAlgn="b"/>
                      <a:endParaRPr lang="en-US" sz="900" b="1" i="0" u="none" strike="noStrike">
                        <a:solidFill>
                          <a:srgbClr val="FFFFFF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u="none" strike="noStrike" dirty="0">
                          <a:effectLst/>
                        </a:rPr>
                        <a:t>(Intercept)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u="none" strike="noStrike" dirty="0">
                          <a:effectLst/>
                        </a:rPr>
                        <a:t>(Intercept)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u="none" strike="noStrike" dirty="0" smtClean="0">
                          <a:effectLst/>
                        </a:rPr>
                        <a:t>N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u="none" strike="noStrike" dirty="0" smtClean="0">
                          <a:effectLst/>
                        </a:rPr>
                        <a:t>N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u="none" strike="noStrike" dirty="0" smtClean="0">
                          <a:effectLst/>
                        </a:rPr>
                        <a:t>NP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u="none" strike="noStrike" dirty="0" smtClean="0">
                          <a:effectLst/>
                        </a:rPr>
                        <a:t>NP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u="none" strike="noStrike" dirty="0" smtClean="0">
                          <a:effectLst/>
                        </a:rPr>
                        <a:t>P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u="none" strike="noStrike" dirty="0" smtClean="0">
                          <a:effectLst/>
                        </a:rPr>
                        <a:t>P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u="none" strike="noStrike" dirty="0">
                          <a:effectLst/>
                        </a:rPr>
                        <a:t>SD (Intercept </a:t>
                      </a:r>
                      <a:r>
                        <a:rPr lang="en-US" sz="1100" u="none" strike="noStrike" dirty="0" err="1">
                          <a:effectLst/>
                        </a:rPr>
                        <a:t>Bloque</a:t>
                      </a:r>
                      <a:r>
                        <a:rPr lang="en-US" sz="1100" u="none" strike="noStrike" dirty="0">
                          <a:effectLst/>
                        </a:rPr>
                        <a:t>)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u="none" strike="noStrike" dirty="0">
                          <a:effectLst/>
                        </a:rPr>
                        <a:t>SD (Observations)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u="none" strike="noStrike" dirty="0" err="1">
                          <a:effectLst/>
                        </a:rPr>
                        <a:t>Num.Obs</a:t>
                      </a:r>
                      <a:r>
                        <a:rPr lang="en-US" sz="1100" u="none" strike="noStrike" dirty="0">
                          <a:effectLst/>
                        </a:rPr>
                        <a:t>.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u="none" strike="noStrike" dirty="0">
                          <a:effectLst/>
                        </a:rPr>
                        <a:t>R2 Marg.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u="none" strike="noStrike" dirty="0">
                          <a:effectLst/>
                        </a:rPr>
                        <a:t>R2 Cond.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u="none" strike="noStrike" dirty="0">
                          <a:effectLst/>
                        </a:rPr>
                        <a:t>AIC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31766294"/>
                  </a:ext>
                </a:extLst>
              </a:tr>
              <a:tr h="164306">
                <a:tc>
                  <a:txBody>
                    <a:bodyPr/>
                    <a:lstStyle/>
                    <a:p>
                      <a:pPr algn="l" fontAlgn="b"/>
                      <a:r>
                        <a:rPr lang="en-US" sz="900" u="none" strike="noStrike">
                          <a:effectLst/>
                        </a:rPr>
                        <a:t>Modelo</a:t>
                      </a:r>
                      <a:endParaRPr lang="en-US" sz="900" b="1" i="0" u="none" strike="noStrike">
                        <a:solidFill>
                          <a:srgbClr val="FFFFFF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900" u="none" strike="noStrike" dirty="0">
                          <a:effectLst/>
                        </a:rPr>
                        <a:t>estimates</a:t>
                      </a:r>
                      <a:endParaRPr lang="en-US" sz="900" b="1" i="0" u="none" strike="noStrike" dirty="0">
                        <a:solidFill>
                          <a:srgbClr val="FFFFFF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900" u="none" strike="noStrike">
                          <a:effectLst/>
                        </a:rPr>
                        <a:t>estimates.1</a:t>
                      </a:r>
                      <a:endParaRPr lang="en-US" sz="900" b="1" i="0" u="none" strike="noStrike">
                        <a:solidFill>
                          <a:srgbClr val="FFFFFF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900" u="none" strike="noStrike">
                          <a:effectLst/>
                        </a:rPr>
                        <a:t>estimates.2</a:t>
                      </a:r>
                      <a:endParaRPr lang="en-US" sz="900" b="1" i="0" u="none" strike="noStrike">
                        <a:solidFill>
                          <a:srgbClr val="FFFFFF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900" u="none" strike="noStrike">
                          <a:effectLst/>
                        </a:rPr>
                        <a:t>estimates.3</a:t>
                      </a:r>
                      <a:endParaRPr lang="en-US" sz="900" b="1" i="0" u="none" strike="noStrike">
                        <a:solidFill>
                          <a:srgbClr val="FFFFFF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900" u="none" strike="noStrike">
                          <a:effectLst/>
                        </a:rPr>
                        <a:t>estimates.4</a:t>
                      </a:r>
                      <a:endParaRPr lang="en-US" sz="900" b="1" i="0" u="none" strike="noStrike">
                        <a:solidFill>
                          <a:srgbClr val="FFFFFF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900" u="none" strike="noStrike">
                          <a:effectLst/>
                        </a:rPr>
                        <a:t>estimates.5</a:t>
                      </a:r>
                      <a:endParaRPr lang="en-US" sz="900" b="1" i="0" u="none" strike="noStrike">
                        <a:solidFill>
                          <a:srgbClr val="FFFFFF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900" u="none" strike="noStrike">
                          <a:effectLst/>
                        </a:rPr>
                        <a:t>estimates.6</a:t>
                      </a:r>
                      <a:endParaRPr lang="en-US" sz="900" b="1" i="0" u="none" strike="noStrike">
                        <a:solidFill>
                          <a:srgbClr val="FFFFFF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900" u="none" strike="noStrike">
                          <a:effectLst/>
                        </a:rPr>
                        <a:t>estimates.7</a:t>
                      </a:r>
                      <a:endParaRPr lang="en-US" sz="900" b="1" i="0" u="none" strike="noStrike">
                        <a:solidFill>
                          <a:srgbClr val="FFFFFF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900" u="none" strike="noStrike">
                          <a:effectLst/>
                        </a:rPr>
                        <a:t>estimates.8</a:t>
                      </a:r>
                      <a:endParaRPr lang="en-US" sz="900" b="1" i="0" u="none" strike="noStrike">
                        <a:solidFill>
                          <a:srgbClr val="FFFFFF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900" u="none" strike="noStrike">
                          <a:effectLst/>
                        </a:rPr>
                        <a:t>estimates.9</a:t>
                      </a:r>
                      <a:endParaRPr lang="en-US" sz="900" b="1" i="0" u="none" strike="noStrike">
                        <a:solidFill>
                          <a:srgbClr val="FFFFFF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900" u="none" strike="noStrike">
                          <a:effectLst/>
                        </a:rPr>
                        <a:t>gof</a:t>
                      </a:r>
                      <a:endParaRPr lang="en-US" sz="900" b="1" i="0" u="none" strike="noStrike">
                        <a:solidFill>
                          <a:srgbClr val="FFFFFF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900" u="none" strike="noStrike">
                          <a:effectLst/>
                        </a:rPr>
                        <a:t>gof.1</a:t>
                      </a:r>
                      <a:endParaRPr lang="en-US" sz="900" b="1" i="0" u="none" strike="noStrike">
                        <a:solidFill>
                          <a:srgbClr val="FFFFFF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900" u="none" strike="noStrike">
                          <a:effectLst/>
                        </a:rPr>
                        <a:t>gof.2</a:t>
                      </a:r>
                      <a:endParaRPr lang="en-US" sz="900" b="1" i="0" u="none" strike="noStrike">
                        <a:solidFill>
                          <a:srgbClr val="FFFFFF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900" u="none" strike="noStrike">
                          <a:effectLst/>
                        </a:rPr>
                        <a:t>gof.3</a:t>
                      </a:r>
                      <a:endParaRPr lang="en-US" sz="900" b="1" i="0" u="none" strike="noStrike">
                        <a:solidFill>
                          <a:srgbClr val="FFFFFF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b"/>
                </a:tc>
                <a:extLst>
                  <a:ext uri="{0D108BD9-81ED-4DB2-BD59-A6C34878D82A}">
                    <a16:rowId xmlns:a16="http://schemas.microsoft.com/office/drawing/2014/main" val="879252698"/>
                  </a:ext>
                </a:extLst>
              </a:tr>
              <a:tr h="164306">
                <a:tc>
                  <a:txBody>
                    <a:bodyPr/>
                    <a:lstStyle/>
                    <a:p>
                      <a:pPr algn="l" fontAlgn="b"/>
                      <a:r>
                        <a:rPr lang="en-US" sz="900" u="none" strike="noStrike" dirty="0" err="1">
                          <a:effectLst/>
                        </a:rPr>
                        <a:t>Parea</a:t>
                      </a:r>
                      <a:r>
                        <a:rPr lang="en-US" sz="900" u="none" strike="noStrike" dirty="0">
                          <a:effectLst/>
                        </a:rPr>
                        <a:t> | 1000 | </a:t>
                      </a:r>
                      <a:r>
                        <a:rPr lang="en-US" sz="900" u="none" strike="noStrike" dirty="0" err="1">
                          <a:effectLst/>
                        </a:rPr>
                        <a:t>Pouteria</a:t>
                      </a:r>
                      <a:endParaRPr lang="en-US" sz="9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900" u="none" strike="noStrike">
                          <a:effectLst/>
                        </a:rPr>
                        <a:t>0.081***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900" u="none" strike="noStrike">
                          <a:effectLst/>
                        </a:rPr>
                        <a:t>(0.005)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900" u="none" strike="noStrike">
                          <a:effectLst/>
                        </a:rPr>
                        <a:t>-0.000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900" u="none" strike="noStrike" dirty="0">
                          <a:effectLst/>
                        </a:rPr>
                        <a:t>(0.006)</a:t>
                      </a:r>
                      <a:endParaRPr lang="en-US" sz="9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900" u="none" strike="noStrike" dirty="0">
                          <a:solidFill>
                            <a:srgbClr val="FF0000"/>
                          </a:solidFill>
                          <a:effectLst/>
                        </a:rPr>
                        <a:t>0.011+</a:t>
                      </a:r>
                      <a:endParaRPr lang="en-US" sz="900" b="0" i="0" u="none" strike="noStrike" dirty="0">
                        <a:solidFill>
                          <a:srgbClr val="FF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900" u="none" strike="noStrike">
                          <a:effectLst/>
                        </a:rPr>
                        <a:t>(0.006)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900" u="none" strike="noStrike" dirty="0">
                          <a:solidFill>
                            <a:srgbClr val="FF0000"/>
                          </a:solidFill>
                          <a:effectLst/>
                        </a:rPr>
                        <a:t>0.018**</a:t>
                      </a:r>
                      <a:endParaRPr lang="en-US" sz="900" b="0" i="0" u="none" strike="noStrike" dirty="0">
                        <a:solidFill>
                          <a:srgbClr val="FF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900" u="none" strike="noStrike">
                          <a:effectLst/>
                        </a:rPr>
                        <a:t>(0.006)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900" u="none" strike="noStrike">
                          <a:effectLst/>
                        </a:rPr>
                        <a:t>0.005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900" u="none" strike="noStrike">
                          <a:effectLst/>
                        </a:rPr>
                        <a:t>0.012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900" u="none" strike="noStrike">
                          <a:effectLst/>
                        </a:rPr>
                        <a:t>36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900" u="none" strike="noStrike">
                          <a:effectLst/>
                        </a:rPr>
                        <a:t>0.279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900" u="none" strike="noStrike">
                          <a:effectLst/>
                        </a:rPr>
                        <a:t>0.380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900" u="none" strike="noStrike" dirty="0">
                          <a:effectLst/>
                        </a:rPr>
                        <a:t>-170.3</a:t>
                      </a:r>
                      <a:endParaRPr lang="en-US" sz="9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b"/>
                </a:tc>
                <a:extLst>
                  <a:ext uri="{0D108BD9-81ED-4DB2-BD59-A6C34878D82A}">
                    <a16:rowId xmlns:a16="http://schemas.microsoft.com/office/drawing/2014/main" val="775314559"/>
                  </a:ext>
                </a:extLst>
              </a:tr>
              <a:tr h="164306">
                <a:tc>
                  <a:txBody>
                    <a:bodyPr/>
                    <a:lstStyle/>
                    <a:p>
                      <a:pPr algn="l" fontAlgn="b"/>
                      <a:r>
                        <a:rPr lang="en-US" sz="900" u="none" strike="noStrike">
                          <a:effectLst/>
                        </a:rPr>
                        <a:t>Parea | 1000 | Clarisia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900" u="none" strike="noStrike">
                          <a:effectLst/>
                        </a:rPr>
                        <a:t>0.087***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900" u="none" strike="noStrike">
                          <a:effectLst/>
                        </a:rPr>
                        <a:t>(0.010)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900" u="none" strike="noStrike">
                          <a:effectLst/>
                        </a:rPr>
                        <a:t>-0.003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900" u="none" strike="noStrike">
                          <a:effectLst/>
                        </a:rPr>
                        <a:t>(0.018)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900" u="none" strike="noStrike" dirty="0">
                          <a:solidFill>
                            <a:srgbClr val="FF0000"/>
                          </a:solidFill>
                          <a:effectLst/>
                        </a:rPr>
                        <a:t>0.022+</a:t>
                      </a:r>
                      <a:endParaRPr lang="en-US" sz="900" b="0" i="0" u="none" strike="noStrike" dirty="0">
                        <a:solidFill>
                          <a:srgbClr val="FF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900" u="none" strike="noStrike" dirty="0">
                          <a:effectLst/>
                        </a:rPr>
                        <a:t>(0.011)</a:t>
                      </a:r>
                      <a:endParaRPr lang="en-US" sz="9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900" u="none" strike="noStrike" dirty="0">
                          <a:solidFill>
                            <a:srgbClr val="FF0000"/>
                          </a:solidFill>
                          <a:effectLst/>
                        </a:rPr>
                        <a:t>0.033*</a:t>
                      </a:r>
                      <a:endParaRPr lang="en-US" sz="900" b="0" i="0" u="none" strike="noStrike" dirty="0">
                        <a:solidFill>
                          <a:srgbClr val="FF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900" u="none" strike="noStrike">
                          <a:effectLst/>
                        </a:rPr>
                        <a:t>(0.012)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900" u="none" strike="noStrike" dirty="0">
                          <a:effectLst/>
                        </a:rPr>
                        <a:t>0.008</a:t>
                      </a:r>
                      <a:endParaRPr lang="en-US" sz="9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900" u="none" strike="noStrike" dirty="0">
                          <a:effectLst/>
                        </a:rPr>
                        <a:t>0.015</a:t>
                      </a:r>
                      <a:endParaRPr lang="en-US" sz="9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900" u="none" strike="noStrike" dirty="0">
                          <a:effectLst/>
                        </a:rPr>
                        <a:t>12</a:t>
                      </a:r>
                      <a:endParaRPr lang="en-US" sz="9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900" u="none" strike="noStrike">
                          <a:effectLst/>
                        </a:rPr>
                        <a:t>0.437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900" u="none" strike="noStrike" dirty="0">
                          <a:effectLst/>
                        </a:rPr>
                        <a:t>0.579</a:t>
                      </a:r>
                      <a:endParaRPr lang="en-US" sz="9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900" u="none" strike="noStrike" dirty="0">
                          <a:effectLst/>
                        </a:rPr>
                        <a:t>-27.6</a:t>
                      </a:r>
                      <a:endParaRPr lang="en-US" sz="9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b"/>
                </a:tc>
                <a:extLst>
                  <a:ext uri="{0D108BD9-81ED-4DB2-BD59-A6C34878D82A}">
                    <a16:rowId xmlns:a16="http://schemas.microsoft.com/office/drawing/2014/main" val="2323257836"/>
                  </a:ext>
                </a:extLst>
              </a:tr>
              <a:tr h="164306">
                <a:tc>
                  <a:txBody>
                    <a:bodyPr/>
                    <a:lstStyle/>
                    <a:p>
                      <a:pPr algn="l" fontAlgn="b"/>
                      <a:r>
                        <a:rPr lang="en-US" sz="900" u="none" strike="noStrike">
                          <a:effectLst/>
                        </a:rPr>
                        <a:t>Parea | 2000 | Alchornea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900" u="none" strike="noStrike">
                          <a:effectLst/>
                        </a:rPr>
                        <a:t>0.221***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900" u="none" strike="noStrike">
                          <a:effectLst/>
                        </a:rPr>
                        <a:t>(0.036)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900" u="none" strike="noStrike">
                          <a:effectLst/>
                        </a:rPr>
                        <a:t>-0.008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900" u="none" strike="noStrike">
                          <a:effectLst/>
                        </a:rPr>
                        <a:t>(0.052)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900" u="none" strike="noStrike" dirty="0">
                          <a:solidFill>
                            <a:srgbClr val="FF0000"/>
                          </a:solidFill>
                          <a:effectLst/>
                        </a:rPr>
                        <a:t>0.167**</a:t>
                      </a:r>
                      <a:endParaRPr lang="en-US" sz="900" b="0" i="0" u="none" strike="noStrike" dirty="0">
                        <a:solidFill>
                          <a:srgbClr val="FF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900" u="none" strike="noStrike">
                          <a:effectLst/>
                        </a:rPr>
                        <a:t>(0.056)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900" u="none" strike="noStrike" dirty="0">
                          <a:solidFill>
                            <a:srgbClr val="FF0000"/>
                          </a:solidFill>
                          <a:effectLst/>
                        </a:rPr>
                        <a:t>0.174***</a:t>
                      </a:r>
                      <a:endParaRPr lang="en-US" sz="900" b="0" i="0" u="none" strike="noStrike" dirty="0">
                        <a:solidFill>
                          <a:srgbClr val="FF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900" u="none" strike="noStrike">
                          <a:effectLst/>
                        </a:rPr>
                        <a:t>(0.047)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900" u="none" strike="noStrike">
                          <a:effectLst/>
                        </a:rPr>
                        <a:t>0.011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900" u="none" strike="noStrike">
                          <a:effectLst/>
                        </a:rPr>
                        <a:t>0.122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900" u="none" strike="noStrike">
                          <a:effectLst/>
                        </a:rPr>
                        <a:t>45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900" u="none" strike="noStrike">
                          <a:effectLst/>
                        </a:rPr>
                        <a:t>0.345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900" u="none" strike="noStrike">
                          <a:effectLst/>
                        </a:rPr>
                        <a:t>0.351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900" u="none" strike="noStrike">
                          <a:effectLst/>
                        </a:rPr>
                        <a:t>-34.5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b"/>
                </a:tc>
                <a:extLst>
                  <a:ext uri="{0D108BD9-81ED-4DB2-BD59-A6C34878D82A}">
                    <a16:rowId xmlns:a16="http://schemas.microsoft.com/office/drawing/2014/main" val="2413626938"/>
                  </a:ext>
                </a:extLst>
              </a:tr>
              <a:tr h="164306">
                <a:tc>
                  <a:txBody>
                    <a:bodyPr/>
                    <a:lstStyle/>
                    <a:p>
                      <a:pPr algn="l" fontAlgn="b"/>
                      <a:r>
                        <a:rPr lang="en-US" sz="900" u="none" strike="noStrike">
                          <a:effectLst/>
                        </a:rPr>
                        <a:t>Parea | 2000 | Myrcia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900" u="none" strike="noStrike">
                          <a:effectLst/>
                        </a:rPr>
                        <a:t>0.122***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900" u="none" strike="noStrike">
                          <a:effectLst/>
                        </a:rPr>
                        <a:t>(0.033)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900" u="none" strike="noStrike">
                          <a:effectLst/>
                        </a:rPr>
                        <a:t>-0.001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900" u="none" strike="noStrike">
                          <a:effectLst/>
                        </a:rPr>
                        <a:t>(0.051)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900" u="none" strike="noStrike" dirty="0">
                          <a:solidFill>
                            <a:srgbClr val="FF0000"/>
                          </a:solidFill>
                          <a:effectLst/>
                        </a:rPr>
                        <a:t>0.122*</a:t>
                      </a:r>
                      <a:endParaRPr lang="en-US" sz="900" b="0" i="0" u="none" strike="noStrike" dirty="0">
                        <a:solidFill>
                          <a:srgbClr val="FF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900" u="none" strike="noStrike">
                          <a:effectLst/>
                        </a:rPr>
                        <a:t>(0.048)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900" u="none" strike="noStrike" dirty="0">
                          <a:solidFill>
                            <a:srgbClr val="FF0000"/>
                          </a:solidFill>
                          <a:effectLst/>
                        </a:rPr>
                        <a:t>0.382***</a:t>
                      </a:r>
                      <a:endParaRPr lang="en-US" sz="900" b="0" i="0" u="none" strike="noStrike" dirty="0">
                        <a:solidFill>
                          <a:srgbClr val="FF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900" u="none" strike="noStrike">
                          <a:effectLst/>
                        </a:rPr>
                        <a:t>(0.049)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900" u="none" strike="noStrike">
                          <a:effectLst/>
                        </a:rPr>
                        <a:t>0.000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900" u="none" strike="noStrike">
                          <a:effectLst/>
                        </a:rPr>
                        <a:t>0.126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900" u="none" strike="noStrike">
                          <a:effectLst/>
                        </a:rPr>
                        <a:t>50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900" u="none" strike="noStrike">
                          <a:effectLst/>
                        </a:rPr>
                        <a:t>0.604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900" u="none" strike="noStrike">
                          <a:effectLst/>
                        </a:rPr>
                        <a:t>-38.1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b"/>
                </a:tc>
                <a:extLst>
                  <a:ext uri="{0D108BD9-81ED-4DB2-BD59-A6C34878D82A}">
                    <a16:rowId xmlns:a16="http://schemas.microsoft.com/office/drawing/2014/main" val="2896389926"/>
                  </a:ext>
                </a:extLst>
              </a:tr>
              <a:tr h="297394">
                <a:tc>
                  <a:txBody>
                    <a:bodyPr/>
                    <a:lstStyle/>
                    <a:p>
                      <a:pPr algn="l" fontAlgn="b"/>
                      <a:r>
                        <a:rPr lang="en-US" sz="900" u="none" strike="noStrike">
                          <a:effectLst/>
                        </a:rPr>
                        <a:t>Parea | 3000 | Hedyosmum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900" u="none" strike="noStrike">
                          <a:effectLst/>
                        </a:rPr>
                        <a:t>0.125***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900" u="none" strike="noStrike">
                          <a:effectLst/>
                        </a:rPr>
                        <a:t>(0.027)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900" u="none" strike="noStrike">
                          <a:effectLst/>
                        </a:rPr>
                        <a:t>0.008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900" u="none" strike="noStrike">
                          <a:effectLst/>
                        </a:rPr>
                        <a:t>(0.036)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900" u="none" strike="noStrike">
                          <a:effectLst/>
                        </a:rPr>
                        <a:t>0.038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900" u="none" strike="noStrike">
                          <a:effectLst/>
                        </a:rPr>
                        <a:t>(0.044)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900" u="none" strike="noStrike" dirty="0">
                          <a:solidFill>
                            <a:srgbClr val="FF0000"/>
                          </a:solidFill>
                          <a:effectLst/>
                        </a:rPr>
                        <a:t>0.093*</a:t>
                      </a:r>
                      <a:endParaRPr lang="en-US" sz="900" b="0" i="0" u="none" strike="noStrike" dirty="0">
                        <a:solidFill>
                          <a:srgbClr val="FF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900" u="none" strike="noStrike">
                          <a:effectLst/>
                        </a:rPr>
                        <a:t>(0.035)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900" u="none" strike="noStrike">
                          <a:effectLst/>
                        </a:rPr>
                        <a:t>0.000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900" u="none" strike="noStrike">
                          <a:effectLst/>
                        </a:rPr>
                        <a:t>0.060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900" u="none" strike="noStrike">
                          <a:effectLst/>
                        </a:rPr>
                        <a:t>21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900" u="none" strike="noStrike">
                          <a:effectLst/>
                        </a:rPr>
                        <a:t>0.319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900" u="none" strike="noStrike">
                          <a:effectLst/>
                        </a:rPr>
                        <a:t>-29.1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b"/>
                </a:tc>
                <a:extLst>
                  <a:ext uri="{0D108BD9-81ED-4DB2-BD59-A6C34878D82A}">
                    <a16:rowId xmlns:a16="http://schemas.microsoft.com/office/drawing/2014/main" val="3218872009"/>
                  </a:ext>
                </a:extLst>
              </a:tr>
              <a:tr h="297394">
                <a:tc>
                  <a:txBody>
                    <a:bodyPr/>
                    <a:lstStyle/>
                    <a:p>
                      <a:pPr algn="l" fontAlgn="b"/>
                      <a:r>
                        <a:rPr lang="en-US" sz="900" u="none" strike="noStrike">
                          <a:effectLst/>
                        </a:rPr>
                        <a:t>Parea | 3000 | Weinmannia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900" u="none" strike="noStrike">
                          <a:effectLst/>
                        </a:rPr>
                        <a:t>0.080***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900" u="none" strike="noStrike">
                          <a:effectLst/>
                        </a:rPr>
                        <a:t>(0.016)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900" u="none" strike="noStrike">
                          <a:effectLst/>
                        </a:rPr>
                        <a:t>0.009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900" u="none" strike="noStrike">
                          <a:effectLst/>
                        </a:rPr>
                        <a:t>(0.023)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900" u="none" strike="noStrike">
                          <a:effectLst/>
                        </a:rPr>
                        <a:t>0.020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900" u="none" strike="noStrike">
                          <a:effectLst/>
                        </a:rPr>
                        <a:t>(0.030)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900" u="none" strike="noStrike" dirty="0">
                          <a:solidFill>
                            <a:srgbClr val="FF0000"/>
                          </a:solidFill>
                          <a:effectLst/>
                        </a:rPr>
                        <a:t>0.145***</a:t>
                      </a:r>
                      <a:endParaRPr lang="en-US" sz="900" b="0" i="0" u="none" strike="noStrike" dirty="0">
                        <a:solidFill>
                          <a:srgbClr val="FF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900" u="none" strike="noStrike">
                          <a:effectLst/>
                        </a:rPr>
                        <a:t>(0.022)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900" u="none" strike="noStrike">
                          <a:effectLst/>
                        </a:rPr>
                        <a:t>0.000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900" u="none" strike="noStrike">
                          <a:effectLst/>
                        </a:rPr>
                        <a:t>0.036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900" u="none" strike="noStrike">
                          <a:effectLst/>
                        </a:rPr>
                        <a:t>18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900" u="none" strike="noStrike">
                          <a:effectLst/>
                        </a:rPr>
                        <a:t>0.778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900" u="none" strike="noStrike" dirty="0">
                          <a:effectLst/>
                        </a:rPr>
                        <a:t>-35.7</a:t>
                      </a:r>
                      <a:endParaRPr lang="en-US" sz="9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b"/>
                </a:tc>
                <a:extLst>
                  <a:ext uri="{0D108BD9-81ED-4DB2-BD59-A6C34878D82A}">
                    <a16:rowId xmlns:a16="http://schemas.microsoft.com/office/drawing/2014/main" val="236902835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5013021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 dirty="0" err="1" smtClean="0"/>
              <a:t>Coeficients</a:t>
            </a:r>
            <a:r>
              <a:rPr lang="es-MX" dirty="0" smtClean="0"/>
              <a:t> </a:t>
            </a:r>
            <a:r>
              <a:rPr lang="es-MX" dirty="0" err="1" smtClean="0"/>
              <a:t>plot</a:t>
            </a:r>
            <a:endParaRPr lang="en-US" dirty="0"/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s-MX" dirty="0" err="1" smtClean="0"/>
              <a:t>Still</a:t>
            </a:r>
            <a:r>
              <a:rPr lang="es-MX" dirty="0" smtClean="0"/>
              <a:t> </a:t>
            </a:r>
            <a:r>
              <a:rPr lang="es-MX" dirty="0" err="1" smtClean="0"/>
              <a:t>figuring</a:t>
            </a:r>
            <a:r>
              <a:rPr lang="es-MX" dirty="0" smtClean="0"/>
              <a:t> </a:t>
            </a:r>
            <a:r>
              <a:rPr lang="es-MX" dirty="0" err="1" smtClean="0"/>
              <a:t>out</a:t>
            </a:r>
            <a:r>
              <a:rPr lang="es-MX" dirty="0" smtClean="0"/>
              <a:t> </a:t>
            </a:r>
            <a:r>
              <a:rPr lang="es-MX" dirty="0" err="1" smtClean="0"/>
              <a:t>if</a:t>
            </a:r>
            <a:r>
              <a:rPr lang="es-MX" dirty="0" smtClean="0"/>
              <a:t> </a:t>
            </a:r>
            <a:r>
              <a:rPr lang="es-MX" dirty="0" err="1" smtClean="0"/>
              <a:t>work</a:t>
            </a:r>
            <a:r>
              <a:rPr lang="es-MX" dirty="0" smtClean="0"/>
              <a:t> </a:t>
            </a:r>
            <a:r>
              <a:rPr lang="es-MX" dirty="0" err="1" smtClean="0"/>
              <a:t>with</a:t>
            </a:r>
            <a:r>
              <a:rPr lang="es-MX" dirty="0" smtClean="0"/>
              <a:t> LNC </a:t>
            </a:r>
            <a:r>
              <a:rPr lang="es-MX" dirty="0" err="1" smtClean="0"/>
              <a:t>or</a:t>
            </a:r>
            <a:r>
              <a:rPr lang="es-MX" dirty="0" smtClean="0"/>
              <a:t> </a:t>
            </a:r>
            <a:r>
              <a:rPr lang="es-MX" dirty="0" err="1" smtClean="0"/>
              <a:t>Narea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9734915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ángulo 6"/>
          <p:cNvSpPr/>
          <p:nvPr/>
        </p:nvSpPr>
        <p:spPr>
          <a:xfrm>
            <a:off x="122829" y="203981"/>
            <a:ext cx="11941791" cy="6278706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 dirty="0"/>
          </a:p>
        </p:txBody>
      </p:sp>
      <p:graphicFrame>
        <p:nvGraphicFramePr>
          <p:cNvPr id="5" name="Marcador de contenido 4"/>
          <p:cNvGraphicFramePr>
            <a:graphicFrameLocks noGrp="1"/>
          </p:cNvGraphicFramePr>
          <p:nvPr>
            <p:ph idx="1"/>
          </p:nvPr>
        </p:nvGraphicFramePr>
        <p:xfrm>
          <a:off x="4548916" y="1822989"/>
          <a:ext cx="3094167" cy="4356611"/>
        </p:xfrm>
        <a:graphic>
          <a:graphicData uri="http://schemas.openxmlformats.org/drawingml/2006/table">
            <a:tbl>
              <a:tblPr/>
              <a:tblGrid>
                <a:gridCol w="672645">
                  <a:extLst>
                    <a:ext uri="{9D8B030D-6E8A-4147-A177-3AD203B41FA5}">
                      <a16:colId xmlns:a16="http://schemas.microsoft.com/office/drawing/2014/main" val="4208063523"/>
                    </a:ext>
                  </a:extLst>
                </a:gridCol>
                <a:gridCol w="269058">
                  <a:extLst>
                    <a:ext uri="{9D8B030D-6E8A-4147-A177-3AD203B41FA5}">
                      <a16:colId xmlns:a16="http://schemas.microsoft.com/office/drawing/2014/main" val="1371059948"/>
                    </a:ext>
                  </a:extLst>
                </a:gridCol>
                <a:gridCol w="269058">
                  <a:extLst>
                    <a:ext uri="{9D8B030D-6E8A-4147-A177-3AD203B41FA5}">
                      <a16:colId xmlns:a16="http://schemas.microsoft.com/office/drawing/2014/main" val="1313871972"/>
                    </a:ext>
                  </a:extLst>
                </a:gridCol>
                <a:gridCol w="269058">
                  <a:extLst>
                    <a:ext uri="{9D8B030D-6E8A-4147-A177-3AD203B41FA5}">
                      <a16:colId xmlns:a16="http://schemas.microsoft.com/office/drawing/2014/main" val="783483726"/>
                    </a:ext>
                  </a:extLst>
                </a:gridCol>
                <a:gridCol w="269058">
                  <a:extLst>
                    <a:ext uri="{9D8B030D-6E8A-4147-A177-3AD203B41FA5}">
                      <a16:colId xmlns:a16="http://schemas.microsoft.com/office/drawing/2014/main" val="817817368"/>
                    </a:ext>
                  </a:extLst>
                </a:gridCol>
                <a:gridCol w="269058">
                  <a:extLst>
                    <a:ext uri="{9D8B030D-6E8A-4147-A177-3AD203B41FA5}">
                      <a16:colId xmlns:a16="http://schemas.microsoft.com/office/drawing/2014/main" val="232167012"/>
                    </a:ext>
                  </a:extLst>
                </a:gridCol>
                <a:gridCol w="269058">
                  <a:extLst>
                    <a:ext uri="{9D8B030D-6E8A-4147-A177-3AD203B41FA5}">
                      <a16:colId xmlns:a16="http://schemas.microsoft.com/office/drawing/2014/main" val="108131939"/>
                    </a:ext>
                  </a:extLst>
                </a:gridCol>
                <a:gridCol w="269058">
                  <a:extLst>
                    <a:ext uri="{9D8B030D-6E8A-4147-A177-3AD203B41FA5}">
                      <a16:colId xmlns:a16="http://schemas.microsoft.com/office/drawing/2014/main" val="1467261772"/>
                    </a:ext>
                  </a:extLst>
                </a:gridCol>
                <a:gridCol w="269058">
                  <a:extLst>
                    <a:ext uri="{9D8B030D-6E8A-4147-A177-3AD203B41FA5}">
                      <a16:colId xmlns:a16="http://schemas.microsoft.com/office/drawing/2014/main" val="663940097"/>
                    </a:ext>
                  </a:extLst>
                </a:gridCol>
                <a:gridCol w="269058">
                  <a:extLst>
                    <a:ext uri="{9D8B030D-6E8A-4147-A177-3AD203B41FA5}">
                      <a16:colId xmlns:a16="http://schemas.microsoft.com/office/drawing/2014/main" val="3387289213"/>
                    </a:ext>
                  </a:extLst>
                </a:gridCol>
              </a:tblGrid>
              <a:tr h="67264">
                <a:tc>
                  <a:txBody>
                    <a:bodyPr/>
                    <a:lstStyle/>
                    <a:p>
                      <a:pPr algn="l" fontAlgn="b"/>
                      <a:r>
                        <a:rPr lang="en-US" sz="400" b="1" i="0" u="none" strike="noStrike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Modelo</a:t>
                      </a:r>
                    </a:p>
                  </a:txBody>
                  <a:tcPr marL="3363" marR="3363" marT="3363" marB="0" anchor="b">
                    <a:lnL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F81BD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400" b="1" i="0" u="none" strike="noStrike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estimates</a:t>
                      </a:r>
                    </a:p>
                  </a:txBody>
                  <a:tcPr marL="3363" marR="3363" marT="3363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F81BD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400" b="1" i="0" u="none" strike="noStrike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estimates.2</a:t>
                      </a:r>
                    </a:p>
                  </a:txBody>
                  <a:tcPr marL="3363" marR="3363" marT="3363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F81BD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400" b="1" i="0" u="none" strike="noStrike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estimates.4</a:t>
                      </a:r>
                    </a:p>
                  </a:txBody>
                  <a:tcPr marL="3363" marR="3363" marT="3363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F81BD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400" b="1" i="0" u="none" strike="noStrike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estimates.6</a:t>
                      </a:r>
                    </a:p>
                  </a:txBody>
                  <a:tcPr marL="3363" marR="3363" marT="3363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F81BD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400" b="1" i="0" u="none" strike="noStrike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estimates.9</a:t>
                      </a:r>
                    </a:p>
                  </a:txBody>
                  <a:tcPr marL="3363" marR="3363" marT="3363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F81BD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400" b="1" i="0" u="none" strike="noStrike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gof</a:t>
                      </a:r>
                    </a:p>
                  </a:txBody>
                  <a:tcPr marL="3363" marR="3363" marT="3363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F81BD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400" b="1" i="0" u="none" strike="noStrike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gof.1</a:t>
                      </a:r>
                    </a:p>
                  </a:txBody>
                  <a:tcPr marL="3363" marR="3363" marT="3363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F81BD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400" b="1" i="0" u="none" strike="noStrike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gof.2</a:t>
                      </a:r>
                    </a:p>
                  </a:txBody>
                  <a:tcPr marL="3363" marR="3363" marT="3363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F81BD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400" b="1" i="0" u="none" strike="noStrike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gof.3</a:t>
                      </a:r>
                    </a:p>
                  </a:txBody>
                  <a:tcPr marL="3363" marR="3363" marT="3363" marB="0" anchor="b">
                    <a:lnL>
                      <a:noFill/>
                    </a:lnL>
                    <a:lnR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F81B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9374574"/>
                  </a:ext>
                </a:extLst>
              </a:tr>
              <a:tr h="180941">
                <a:tc>
                  <a:txBody>
                    <a:bodyPr/>
                    <a:lstStyle/>
                    <a:p>
                      <a:pPr algn="l" fontAlgn="b"/>
                      <a:r>
                        <a:rPr lang="en-US" sz="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term</a:t>
                      </a:r>
                    </a:p>
                  </a:txBody>
                  <a:tcPr marL="3363" marR="3363" marT="3363" marB="0" anchor="b">
                    <a:lnL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(Intercept)</a:t>
                      </a:r>
                    </a:p>
                  </a:txBody>
                  <a:tcPr marL="3363" marR="3363" marT="3363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SUBN</a:t>
                      </a:r>
                    </a:p>
                  </a:txBody>
                  <a:tcPr marL="3363" marR="3363" marT="3363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SUBNP</a:t>
                      </a:r>
                    </a:p>
                  </a:txBody>
                  <a:tcPr marL="3363" marR="3363" marT="3363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SUBP</a:t>
                      </a:r>
                    </a:p>
                  </a:txBody>
                  <a:tcPr marL="3363" marR="3363" marT="3363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SD (Observations)</a:t>
                      </a:r>
                    </a:p>
                  </a:txBody>
                  <a:tcPr marL="3363" marR="3363" marT="3363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Num.Obs.</a:t>
                      </a:r>
                    </a:p>
                  </a:txBody>
                  <a:tcPr marL="3363" marR="3363" marT="3363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R2 Marg.</a:t>
                      </a:r>
                    </a:p>
                  </a:txBody>
                  <a:tcPr marL="3363" marR="3363" marT="3363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R2 Cond.</a:t>
                      </a:r>
                    </a:p>
                  </a:txBody>
                  <a:tcPr marL="3363" marR="3363" marT="3363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AIC</a:t>
                      </a:r>
                    </a:p>
                  </a:txBody>
                  <a:tcPr marL="3363" marR="3363" marT="3363" marB="0" anchor="b">
                    <a:lnL>
                      <a:noFill/>
                    </a:lnL>
                    <a:lnR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75939486"/>
                  </a:ext>
                </a:extLst>
              </a:tr>
              <a:tr h="67264">
                <a:tc>
                  <a:txBody>
                    <a:bodyPr/>
                    <a:lstStyle/>
                    <a:p>
                      <a:pPr algn="l" fontAlgn="b"/>
                      <a:r>
                        <a:rPr lang="en-US" sz="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statistic</a:t>
                      </a:r>
                    </a:p>
                  </a:txBody>
                  <a:tcPr marL="3363" marR="3363" marT="3363" marB="0" anchor="b">
                    <a:lnL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estimate</a:t>
                      </a:r>
                    </a:p>
                  </a:txBody>
                  <a:tcPr marL="3363" marR="3363" marT="3363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estimate</a:t>
                      </a:r>
                    </a:p>
                  </a:txBody>
                  <a:tcPr marL="3363" marR="3363" marT="3363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estimate</a:t>
                      </a:r>
                    </a:p>
                  </a:txBody>
                  <a:tcPr marL="3363" marR="3363" marT="3363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estimate</a:t>
                      </a:r>
                    </a:p>
                  </a:txBody>
                  <a:tcPr marL="3363" marR="3363" marT="3363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estimate</a:t>
                      </a:r>
                    </a:p>
                  </a:txBody>
                  <a:tcPr marL="3363" marR="3363" marT="3363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363" marR="3363" marT="3363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363" marR="3363" marT="3363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363" marR="3363" marT="3363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363" marR="3363" marT="3363" marB="0" anchor="b">
                    <a:lnL>
                      <a:noFill/>
                    </a:lnL>
                    <a:lnR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944532853"/>
                  </a:ext>
                </a:extLst>
              </a:tr>
              <a:tr h="67264">
                <a:tc>
                  <a:txBody>
                    <a:bodyPr/>
                    <a:lstStyle/>
                    <a:p>
                      <a:pPr algn="l" fontAlgn="b"/>
                      <a:r>
                        <a:rPr lang="en-US" sz="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Nmass | 1000 | Pouteria</a:t>
                      </a:r>
                    </a:p>
                  </a:txBody>
                  <a:tcPr marL="3363" marR="3363" marT="3363" marB="0" anchor="b">
                    <a:lnL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15.336***</a:t>
                      </a:r>
                    </a:p>
                  </a:txBody>
                  <a:tcPr marL="3363" marR="3363" marT="3363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0.330</a:t>
                      </a:r>
                    </a:p>
                  </a:txBody>
                  <a:tcPr marL="3363" marR="3363" marT="3363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0.780</a:t>
                      </a:r>
                    </a:p>
                  </a:txBody>
                  <a:tcPr marL="3363" marR="3363" marT="3363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1.320*</a:t>
                      </a:r>
                    </a:p>
                  </a:txBody>
                  <a:tcPr marL="3363" marR="3363" marT="3363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1.160</a:t>
                      </a:r>
                    </a:p>
                  </a:txBody>
                  <a:tcPr marL="3363" marR="3363" marT="3363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36</a:t>
                      </a:r>
                    </a:p>
                  </a:txBody>
                  <a:tcPr marL="3363" marR="3363" marT="3363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0.133</a:t>
                      </a:r>
                    </a:p>
                  </a:txBody>
                  <a:tcPr marL="3363" marR="3363" marT="3363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0.298</a:t>
                      </a:r>
                    </a:p>
                  </a:txBody>
                  <a:tcPr marL="3363" marR="3363" marT="3363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124.0</a:t>
                      </a:r>
                    </a:p>
                  </a:txBody>
                  <a:tcPr marL="3363" marR="3363" marT="3363" marB="0" anchor="b">
                    <a:lnL>
                      <a:noFill/>
                    </a:lnL>
                    <a:lnR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66129443"/>
                  </a:ext>
                </a:extLst>
              </a:tr>
              <a:tr h="67264">
                <a:tc>
                  <a:txBody>
                    <a:bodyPr/>
                    <a:lstStyle/>
                    <a:p>
                      <a:pPr algn="l" fontAlgn="b"/>
                      <a:r>
                        <a:rPr lang="en-US" sz="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Nmass | 1000 | Clarisia</a:t>
                      </a:r>
                    </a:p>
                  </a:txBody>
                  <a:tcPr marL="3363" marR="3363" marT="3363" marB="0" anchor="b">
                    <a:lnL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17.393***</a:t>
                      </a:r>
                    </a:p>
                  </a:txBody>
                  <a:tcPr marL="3363" marR="3363" marT="3363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2.667</a:t>
                      </a:r>
                    </a:p>
                  </a:txBody>
                  <a:tcPr marL="3363" marR="3363" marT="3363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6.259*</a:t>
                      </a:r>
                    </a:p>
                  </a:txBody>
                  <a:tcPr marL="3363" marR="3363" marT="3363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2.227</a:t>
                      </a:r>
                    </a:p>
                  </a:txBody>
                  <a:tcPr marL="3363" marR="3363" marT="3363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2.277</a:t>
                      </a:r>
                    </a:p>
                  </a:txBody>
                  <a:tcPr marL="3363" marR="3363" marT="3363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12</a:t>
                      </a:r>
                    </a:p>
                  </a:txBody>
                  <a:tcPr marL="3363" marR="3363" marT="3363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0.558</a:t>
                      </a:r>
                    </a:p>
                  </a:txBody>
                  <a:tcPr marL="3363" marR="3363" marT="3363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363" marR="3363" marT="3363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51.7</a:t>
                      </a:r>
                    </a:p>
                  </a:txBody>
                  <a:tcPr marL="3363" marR="3363" marT="3363" marB="0" anchor="b">
                    <a:lnL>
                      <a:noFill/>
                    </a:lnL>
                    <a:lnR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23403769"/>
                  </a:ext>
                </a:extLst>
              </a:tr>
              <a:tr h="67264">
                <a:tc>
                  <a:txBody>
                    <a:bodyPr/>
                    <a:lstStyle/>
                    <a:p>
                      <a:pPr algn="l" fontAlgn="b"/>
                      <a:r>
                        <a:rPr lang="en-US" sz="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Nmass | 2000 | Alchornea</a:t>
                      </a:r>
                    </a:p>
                  </a:txBody>
                  <a:tcPr marL="3363" marR="3363" marT="3363" marB="0" anchor="b">
                    <a:lnL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11.606***</a:t>
                      </a:r>
                    </a:p>
                  </a:txBody>
                  <a:tcPr marL="3363" marR="3363" marT="3363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1.533*</a:t>
                      </a:r>
                    </a:p>
                  </a:txBody>
                  <a:tcPr marL="3363" marR="3363" marT="3363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0.429</a:t>
                      </a:r>
                    </a:p>
                  </a:txBody>
                  <a:tcPr marL="3363" marR="3363" marT="3363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-0.508</a:t>
                      </a:r>
                    </a:p>
                  </a:txBody>
                  <a:tcPr marL="3363" marR="3363" marT="3363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1.552</a:t>
                      </a:r>
                    </a:p>
                  </a:txBody>
                  <a:tcPr marL="3363" marR="3363" marT="3363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45</a:t>
                      </a:r>
                    </a:p>
                  </a:txBody>
                  <a:tcPr marL="3363" marR="3363" marT="3363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0.198</a:t>
                      </a:r>
                    </a:p>
                  </a:txBody>
                  <a:tcPr marL="3363" marR="3363" marT="3363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363" marR="3363" marT="3363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174.0</a:t>
                      </a:r>
                    </a:p>
                  </a:txBody>
                  <a:tcPr marL="3363" marR="3363" marT="3363" marB="0" anchor="b">
                    <a:lnL>
                      <a:noFill/>
                    </a:lnL>
                    <a:lnR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15469538"/>
                  </a:ext>
                </a:extLst>
              </a:tr>
              <a:tr h="67264">
                <a:tc>
                  <a:txBody>
                    <a:bodyPr/>
                    <a:lstStyle/>
                    <a:p>
                      <a:pPr algn="l" fontAlgn="b"/>
                      <a:r>
                        <a:rPr lang="en-US" sz="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Nmass | 2000 | Myrcia</a:t>
                      </a:r>
                    </a:p>
                  </a:txBody>
                  <a:tcPr marL="3363" marR="3363" marT="3363" marB="0" anchor="b">
                    <a:lnL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8.812***</a:t>
                      </a:r>
                    </a:p>
                  </a:txBody>
                  <a:tcPr marL="3363" marR="3363" marT="3363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1.192**</a:t>
                      </a:r>
                    </a:p>
                  </a:txBody>
                  <a:tcPr marL="3363" marR="3363" marT="3363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0.909*</a:t>
                      </a:r>
                    </a:p>
                  </a:txBody>
                  <a:tcPr marL="3363" marR="3363" marT="3363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-0.619</a:t>
                      </a:r>
                    </a:p>
                  </a:txBody>
                  <a:tcPr marL="3363" marR="3363" marT="3363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0.931</a:t>
                      </a:r>
                    </a:p>
                  </a:txBody>
                  <a:tcPr marL="3363" marR="3363" marT="3363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49</a:t>
                      </a:r>
                    </a:p>
                  </a:txBody>
                  <a:tcPr marL="3363" marR="3363" marT="3363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0.347</a:t>
                      </a:r>
                    </a:p>
                  </a:txBody>
                  <a:tcPr marL="3363" marR="3363" marT="3363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0.402</a:t>
                      </a:r>
                    </a:p>
                  </a:txBody>
                  <a:tcPr marL="3363" marR="3363" marT="3363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145.4</a:t>
                      </a:r>
                    </a:p>
                  </a:txBody>
                  <a:tcPr marL="3363" marR="3363" marT="3363" marB="0" anchor="b">
                    <a:lnL>
                      <a:noFill/>
                    </a:lnL>
                    <a:lnR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83102216"/>
                  </a:ext>
                </a:extLst>
              </a:tr>
              <a:tr h="67264">
                <a:tc>
                  <a:txBody>
                    <a:bodyPr/>
                    <a:lstStyle/>
                    <a:p>
                      <a:pPr algn="l" fontAlgn="b"/>
                      <a:r>
                        <a:rPr lang="en-US" sz="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Nmass | 3000 | Hedyosmum</a:t>
                      </a:r>
                    </a:p>
                  </a:txBody>
                  <a:tcPr marL="3363" marR="3363" marT="3363" marB="0" anchor="b">
                    <a:lnL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14.134***</a:t>
                      </a:r>
                    </a:p>
                  </a:txBody>
                  <a:tcPr marL="3363" marR="3363" marT="3363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3.403*</a:t>
                      </a:r>
                    </a:p>
                  </a:txBody>
                  <a:tcPr marL="3363" marR="3363" marT="3363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2.589+</a:t>
                      </a:r>
                    </a:p>
                  </a:txBody>
                  <a:tcPr marL="3363" marR="3363" marT="3363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1.359</a:t>
                      </a:r>
                    </a:p>
                  </a:txBody>
                  <a:tcPr marL="3363" marR="3363" marT="3363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1.920</a:t>
                      </a:r>
                    </a:p>
                  </a:txBody>
                  <a:tcPr marL="3363" marR="3363" marT="3363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21</a:t>
                      </a:r>
                    </a:p>
                  </a:txBody>
                  <a:tcPr marL="3363" marR="3363" marT="3363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0.234</a:t>
                      </a:r>
                    </a:p>
                  </a:txBody>
                  <a:tcPr marL="3363" marR="3363" marT="3363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0.504</a:t>
                      </a:r>
                    </a:p>
                  </a:txBody>
                  <a:tcPr marL="3363" marR="3363" marT="3363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92.6</a:t>
                      </a:r>
                    </a:p>
                  </a:txBody>
                  <a:tcPr marL="3363" marR="3363" marT="3363" marB="0" anchor="b">
                    <a:lnL>
                      <a:noFill/>
                    </a:lnL>
                    <a:lnR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80709096"/>
                  </a:ext>
                </a:extLst>
              </a:tr>
              <a:tr h="67264">
                <a:tc>
                  <a:txBody>
                    <a:bodyPr/>
                    <a:lstStyle/>
                    <a:p>
                      <a:pPr algn="l" fontAlgn="b"/>
                      <a:r>
                        <a:rPr lang="en-US" sz="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Nmass | 3000 | Weinmannia</a:t>
                      </a:r>
                    </a:p>
                  </a:txBody>
                  <a:tcPr marL="3363" marR="3363" marT="3363" marB="0" anchor="b">
                    <a:lnL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10.434***</a:t>
                      </a:r>
                    </a:p>
                  </a:txBody>
                  <a:tcPr marL="3363" marR="3363" marT="3363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1.032</a:t>
                      </a:r>
                    </a:p>
                  </a:txBody>
                  <a:tcPr marL="3363" marR="3363" marT="3363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0.739</a:t>
                      </a:r>
                    </a:p>
                  </a:txBody>
                  <a:tcPr marL="3363" marR="3363" marT="3363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0.297</a:t>
                      </a:r>
                    </a:p>
                  </a:txBody>
                  <a:tcPr marL="3363" marR="3363" marT="3363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1.563</a:t>
                      </a:r>
                    </a:p>
                  </a:txBody>
                  <a:tcPr marL="3363" marR="3363" marT="3363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18</a:t>
                      </a:r>
                    </a:p>
                  </a:txBody>
                  <a:tcPr marL="3363" marR="3363" marT="3363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0.067</a:t>
                      </a:r>
                    </a:p>
                  </a:txBody>
                  <a:tcPr marL="3363" marR="3363" marT="3363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363" marR="3363" marT="3363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69.9</a:t>
                      </a:r>
                    </a:p>
                  </a:txBody>
                  <a:tcPr marL="3363" marR="3363" marT="3363" marB="0" anchor="b">
                    <a:lnL>
                      <a:noFill/>
                    </a:lnL>
                    <a:lnR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63564948"/>
                  </a:ext>
                </a:extLst>
              </a:tr>
              <a:tr h="67264">
                <a:tc>
                  <a:txBody>
                    <a:bodyPr/>
                    <a:lstStyle/>
                    <a:p>
                      <a:pPr algn="l" fontAlgn="b"/>
                      <a:r>
                        <a:rPr lang="en-US" sz="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logNmass | 1000 | Pouteria</a:t>
                      </a:r>
                    </a:p>
                  </a:txBody>
                  <a:tcPr marL="3363" marR="3363" marT="3363" marB="0" anchor="b">
                    <a:lnL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2.728***</a:t>
                      </a:r>
                    </a:p>
                  </a:txBody>
                  <a:tcPr marL="3363" marR="3363" marT="3363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0.021</a:t>
                      </a:r>
                    </a:p>
                  </a:txBody>
                  <a:tcPr marL="3363" marR="3363" marT="3363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0.049</a:t>
                      </a:r>
                    </a:p>
                  </a:txBody>
                  <a:tcPr marL="3363" marR="3363" marT="3363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0.082*</a:t>
                      </a:r>
                    </a:p>
                  </a:txBody>
                  <a:tcPr marL="3363" marR="3363" marT="3363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0.071</a:t>
                      </a:r>
                    </a:p>
                  </a:txBody>
                  <a:tcPr marL="3363" marR="3363" marT="3363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36</a:t>
                      </a:r>
                    </a:p>
                  </a:txBody>
                  <a:tcPr marL="3363" marR="3363" marT="3363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0.132</a:t>
                      </a:r>
                    </a:p>
                  </a:txBody>
                  <a:tcPr marL="3363" marR="3363" marT="3363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0.324</a:t>
                      </a:r>
                    </a:p>
                  </a:txBody>
                  <a:tcPr marL="3363" marR="3363" marT="3363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-54.8</a:t>
                      </a:r>
                    </a:p>
                  </a:txBody>
                  <a:tcPr marL="3363" marR="3363" marT="3363" marB="0" anchor="b">
                    <a:lnL>
                      <a:noFill/>
                    </a:lnL>
                    <a:lnR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397262140"/>
                  </a:ext>
                </a:extLst>
              </a:tr>
              <a:tr h="67264">
                <a:tc>
                  <a:txBody>
                    <a:bodyPr/>
                    <a:lstStyle/>
                    <a:p>
                      <a:pPr algn="l" fontAlgn="b"/>
                      <a:r>
                        <a:rPr lang="en-US" sz="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logNmass | 1000 | Clarisia</a:t>
                      </a:r>
                    </a:p>
                  </a:txBody>
                  <a:tcPr marL="3363" marR="3363" marT="3363" marB="0" anchor="b">
                    <a:lnL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2.849***</a:t>
                      </a:r>
                    </a:p>
                  </a:txBody>
                  <a:tcPr marL="3363" marR="3363" marT="3363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0.150</a:t>
                      </a:r>
                    </a:p>
                  </a:txBody>
                  <a:tcPr marL="3363" marR="3363" marT="3363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0.313*</a:t>
                      </a:r>
                    </a:p>
                  </a:txBody>
                  <a:tcPr marL="3363" marR="3363" marT="3363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0.120</a:t>
                      </a:r>
                    </a:p>
                  </a:txBody>
                  <a:tcPr marL="3363" marR="3363" marT="3363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0.122</a:t>
                      </a:r>
                    </a:p>
                  </a:txBody>
                  <a:tcPr marL="3363" marR="3363" marT="3363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12</a:t>
                      </a:r>
                    </a:p>
                  </a:txBody>
                  <a:tcPr marL="3363" marR="3363" marT="3363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0.520</a:t>
                      </a:r>
                    </a:p>
                  </a:txBody>
                  <a:tcPr marL="3363" marR="3363" marT="3363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363" marR="3363" marT="3363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4.9</a:t>
                      </a:r>
                    </a:p>
                  </a:txBody>
                  <a:tcPr marL="3363" marR="3363" marT="3363" marB="0" anchor="b">
                    <a:lnL>
                      <a:noFill/>
                    </a:lnL>
                    <a:lnR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30560347"/>
                  </a:ext>
                </a:extLst>
              </a:tr>
              <a:tr h="67264">
                <a:tc>
                  <a:txBody>
                    <a:bodyPr/>
                    <a:lstStyle/>
                    <a:p>
                      <a:pPr algn="l" fontAlgn="b"/>
                      <a:r>
                        <a:rPr lang="en-US" sz="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logNmass | 2000 | Alchornea</a:t>
                      </a:r>
                    </a:p>
                  </a:txBody>
                  <a:tcPr marL="3363" marR="3363" marT="3363" marB="0" anchor="b">
                    <a:lnL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2.442***</a:t>
                      </a:r>
                    </a:p>
                  </a:txBody>
                  <a:tcPr marL="3363" marR="3363" marT="3363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0.125*</a:t>
                      </a:r>
                    </a:p>
                  </a:txBody>
                  <a:tcPr marL="3363" marR="3363" marT="3363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0.038</a:t>
                      </a:r>
                    </a:p>
                  </a:txBody>
                  <a:tcPr marL="3363" marR="3363" marT="3363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-0.043</a:t>
                      </a:r>
                    </a:p>
                  </a:txBody>
                  <a:tcPr marL="3363" marR="3363" marT="3363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0.134</a:t>
                      </a:r>
                    </a:p>
                  </a:txBody>
                  <a:tcPr marL="3363" marR="3363" marT="3363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45</a:t>
                      </a:r>
                    </a:p>
                  </a:txBody>
                  <a:tcPr marL="3363" marR="3363" marT="3363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0.182</a:t>
                      </a:r>
                    </a:p>
                  </a:txBody>
                  <a:tcPr marL="3363" marR="3363" marT="3363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363" marR="3363" marT="3363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-26.6</a:t>
                      </a:r>
                    </a:p>
                  </a:txBody>
                  <a:tcPr marL="3363" marR="3363" marT="3363" marB="0" anchor="b">
                    <a:lnL>
                      <a:noFill/>
                    </a:lnL>
                    <a:lnR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672363504"/>
                  </a:ext>
                </a:extLst>
              </a:tr>
              <a:tr h="67264">
                <a:tc>
                  <a:txBody>
                    <a:bodyPr/>
                    <a:lstStyle/>
                    <a:p>
                      <a:pPr algn="l" fontAlgn="b"/>
                      <a:r>
                        <a:rPr lang="en-US" sz="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logNmass | 2000 | Myrcia</a:t>
                      </a:r>
                    </a:p>
                  </a:txBody>
                  <a:tcPr marL="3363" marR="3363" marT="3363" marB="0" anchor="b">
                    <a:lnL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2.168***</a:t>
                      </a:r>
                    </a:p>
                  </a:txBody>
                  <a:tcPr marL="3363" marR="3363" marT="3363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0.132**</a:t>
                      </a:r>
                    </a:p>
                  </a:txBody>
                  <a:tcPr marL="3363" marR="3363" marT="3363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0.102*</a:t>
                      </a:r>
                    </a:p>
                  </a:txBody>
                  <a:tcPr marL="3363" marR="3363" marT="3363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-0.071+</a:t>
                      </a:r>
                    </a:p>
                  </a:txBody>
                  <a:tcPr marL="3363" marR="3363" marT="3363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0.104</a:t>
                      </a:r>
                    </a:p>
                  </a:txBody>
                  <a:tcPr marL="3363" marR="3363" marT="3363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49</a:t>
                      </a:r>
                    </a:p>
                  </a:txBody>
                  <a:tcPr marL="3363" marR="3363" marT="3363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0.350</a:t>
                      </a:r>
                    </a:p>
                  </a:txBody>
                  <a:tcPr marL="3363" marR="3363" marT="3363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0.405</a:t>
                      </a:r>
                    </a:p>
                  </a:txBody>
                  <a:tcPr marL="3363" marR="3363" marT="3363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-52.1</a:t>
                      </a:r>
                    </a:p>
                  </a:txBody>
                  <a:tcPr marL="3363" marR="3363" marT="3363" marB="0" anchor="b">
                    <a:lnL>
                      <a:noFill/>
                    </a:lnL>
                    <a:lnR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129075620"/>
                  </a:ext>
                </a:extLst>
              </a:tr>
              <a:tr h="67264">
                <a:tc>
                  <a:txBody>
                    <a:bodyPr/>
                    <a:lstStyle/>
                    <a:p>
                      <a:pPr algn="l" fontAlgn="b"/>
                      <a:r>
                        <a:rPr lang="en-US" sz="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logNmass | 3000 | Hedyosmum</a:t>
                      </a:r>
                    </a:p>
                  </a:txBody>
                  <a:tcPr marL="3363" marR="3363" marT="3363" marB="0" anchor="b">
                    <a:lnL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2.648***</a:t>
                      </a:r>
                    </a:p>
                  </a:txBody>
                  <a:tcPr marL="3363" marR="3363" marT="3363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0.201**</a:t>
                      </a:r>
                    </a:p>
                  </a:txBody>
                  <a:tcPr marL="3363" marR="3363" marT="3363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0.163+</a:t>
                      </a:r>
                    </a:p>
                  </a:txBody>
                  <a:tcPr marL="3363" marR="3363" marT="3363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0.088</a:t>
                      </a:r>
                    </a:p>
                  </a:txBody>
                  <a:tcPr marL="3363" marR="3363" marT="3363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0.106</a:t>
                      </a:r>
                    </a:p>
                  </a:txBody>
                  <a:tcPr marL="3363" marR="3363" marT="3363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21</a:t>
                      </a:r>
                    </a:p>
                  </a:txBody>
                  <a:tcPr marL="3363" marR="3363" marT="3363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0.243</a:t>
                      </a:r>
                    </a:p>
                  </a:txBody>
                  <a:tcPr marL="3363" marR="3363" marT="3363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0.557</a:t>
                      </a:r>
                    </a:p>
                  </a:txBody>
                  <a:tcPr marL="3363" marR="3363" marT="3363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-5.4</a:t>
                      </a:r>
                    </a:p>
                  </a:txBody>
                  <a:tcPr marL="3363" marR="3363" marT="3363" marB="0" anchor="b">
                    <a:lnL>
                      <a:noFill/>
                    </a:lnL>
                    <a:lnR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639012922"/>
                  </a:ext>
                </a:extLst>
              </a:tr>
              <a:tr h="67264">
                <a:tc>
                  <a:txBody>
                    <a:bodyPr/>
                    <a:lstStyle/>
                    <a:p>
                      <a:pPr algn="l" fontAlgn="b"/>
                      <a:r>
                        <a:rPr lang="en-US" sz="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logNmass | 3000 | Weinmannia</a:t>
                      </a:r>
                    </a:p>
                  </a:txBody>
                  <a:tcPr marL="3363" marR="3363" marT="3363" marB="0" anchor="b">
                    <a:lnL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2.338***</a:t>
                      </a:r>
                    </a:p>
                  </a:txBody>
                  <a:tcPr marL="3363" marR="3363" marT="3363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0.092</a:t>
                      </a:r>
                    </a:p>
                  </a:txBody>
                  <a:tcPr marL="3363" marR="3363" marT="3363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0.076</a:t>
                      </a:r>
                    </a:p>
                  </a:txBody>
                  <a:tcPr marL="3363" marR="3363" marT="3363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0.026</a:t>
                      </a:r>
                    </a:p>
                  </a:txBody>
                  <a:tcPr marL="3363" marR="3363" marT="3363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0.144</a:t>
                      </a:r>
                    </a:p>
                  </a:txBody>
                  <a:tcPr marL="3363" marR="3363" marT="3363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18</a:t>
                      </a:r>
                    </a:p>
                  </a:txBody>
                  <a:tcPr marL="3363" marR="3363" marT="3363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0.067</a:t>
                      </a:r>
                    </a:p>
                  </a:txBody>
                  <a:tcPr marL="3363" marR="3363" marT="3363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363" marR="3363" marT="3363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3.2</a:t>
                      </a:r>
                    </a:p>
                  </a:txBody>
                  <a:tcPr marL="3363" marR="3363" marT="3363" marB="0" anchor="b">
                    <a:lnL>
                      <a:noFill/>
                    </a:lnL>
                    <a:lnR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06258114"/>
                  </a:ext>
                </a:extLst>
              </a:tr>
              <a:tr h="67264">
                <a:tc>
                  <a:txBody>
                    <a:bodyPr/>
                    <a:lstStyle/>
                    <a:p>
                      <a:pPr algn="l" fontAlgn="b"/>
                      <a:r>
                        <a:rPr lang="en-US" sz="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Narea | 1000 | Pouteria</a:t>
                      </a:r>
                    </a:p>
                  </a:txBody>
                  <a:tcPr marL="3363" marR="3363" marT="3363" marB="0" anchor="b">
                    <a:lnL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1.920***</a:t>
                      </a:r>
                    </a:p>
                  </a:txBody>
                  <a:tcPr marL="3363" marR="3363" marT="3363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0.127</a:t>
                      </a:r>
                    </a:p>
                  </a:txBody>
                  <a:tcPr marL="3363" marR="3363" marT="3363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0.154</a:t>
                      </a:r>
                    </a:p>
                  </a:txBody>
                  <a:tcPr marL="3363" marR="3363" marT="3363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0.250*</a:t>
                      </a:r>
                    </a:p>
                  </a:txBody>
                  <a:tcPr marL="3363" marR="3363" marT="3363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0.248</a:t>
                      </a:r>
                    </a:p>
                  </a:txBody>
                  <a:tcPr marL="3363" marR="3363" marT="3363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36</a:t>
                      </a:r>
                    </a:p>
                  </a:txBody>
                  <a:tcPr marL="3363" marR="3363" marT="3363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0.123</a:t>
                      </a:r>
                    </a:p>
                  </a:txBody>
                  <a:tcPr marL="3363" marR="3363" marT="3363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363" marR="3363" marT="3363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22.3</a:t>
                      </a:r>
                    </a:p>
                  </a:txBody>
                  <a:tcPr marL="3363" marR="3363" marT="3363" marB="0" anchor="b">
                    <a:lnL>
                      <a:noFill/>
                    </a:lnL>
                    <a:lnR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394179387"/>
                  </a:ext>
                </a:extLst>
              </a:tr>
              <a:tr h="67264">
                <a:tc>
                  <a:txBody>
                    <a:bodyPr/>
                    <a:lstStyle/>
                    <a:p>
                      <a:pPr algn="l" fontAlgn="b"/>
                      <a:r>
                        <a:rPr lang="en-US" sz="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Narea | 1000 | Clarisia</a:t>
                      </a:r>
                    </a:p>
                  </a:txBody>
                  <a:tcPr marL="3363" marR="3363" marT="3363" marB="0" anchor="b">
                    <a:lnL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1.892***</a:t>
                      </a:r>
                    </a:p>
                  </a:txBody>
                  <a:tcPr marL="3363" marR="3363" marT="3363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-0.102</a:t>
                      </a:r>
                    </a:p>
                  </a:txBody>
                  <a:tcPr marL="3363" marR="3363" marT="3363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0.295+</a:t>
                      </a:r>
                    </a:p>
                  </a:txBody>
                  <a:tcPr marL="3363" marR="3363" marT="3363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0.159</a:t>
                      </a:r>
                    </a:p>
                  </a:txBody>
                  <a:tcPr marL="3363" marR="3363" marT="3363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0.194</a:t>
                      </a:r>
                    </a:p>
                  </a:txBody>
                  <a:tcPr marL="3363" marR="3363" marT="3363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12</a:t>
                      </a:r>
                    </a:p>
                  </a:txBody>
                  <a:tcPr marL="3363" marR="3363" marT="3363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0.342</a:t>
                      </a:r>
                    </a:p>
                  </a:txBody>
                  <a:tcPr marL="3363" marR="3363" marT="3363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363" marR="3363" marT="3363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12.3</a:t>
                      </a:r>
                    </a:p>
                  </a:txBody>
                  <a:tcPr marL="3363" marR="3363" marT="3363" marB="0" anchor="b">
                    <a:lnL>
                      <a:noFill/>
                    </a:lnL>
                    <a:lnR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94949418"/>
                  </a:ext>
                </a:extLst>
              </a:tr>
              <a:tr h="67264">
                <a:tc>
                  <a:txBody>
                    <a:bodyPr/>
                    <a:lstStyle/>
                    <a:p>
                      <a:pPr algn="l" fontAlgn="b"/>
                      <a:r>
                        <a:rPr lang="en-US" sz="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Narea | 2000 | Alchornea</a:t>
                      </a:r>
                    </a:p>
                  </a:txBody>
                  <a:tcPr marL="3363" marR="3363" marT="3363" marB="0" anchor="b">
                    <a:lnL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3.272***</a:t>
                      </a:r>
                    </a:p>
                  </a:txBody>
                  <a:tcPr marL="3363" marR="3363" marT="3363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0.320</a:t>
                      </a:r>
                    </a:p>
                  </a:txBody>
                  <a:tcPr marL="3363" marR="3363" marT="3363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0.243</a:t>
                      </a:r>
                    </a:p>
                  </a:txBody>
                  <a:tcPr marL="3363" marR="3363" marT="3363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-0.133</a:t>
                      </a:r>
                    </a:p>
                  </a:txBody>
                  <a:tcPr marL="3363" marR="3363" marT="3363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0.539</a:t>
                      </a:r>
                    </a:p>
                  </a:txBody>
                  <a:tcPr marL="3363" marR="3363" marT="3363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45</a:t>
                      </a:r>
                    </a:p>
                  </a:txBody>
                  <a:tcPr marL="3363" marR="3363" marT="3363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0.106</a:t>
                      </a:r>
                    </a:p>
                  </a:txBody>
                  <a:tcPr marL="3363" marR="3363" marT="3363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0.125</a:t>
                      </a:r>
                    </a:p>
                  </a:txBody>
                  <a:tcPr marL="3363" marR="3363" marT="3363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87.9</a:t>
                      </a:r>
                    </a:p>
                  </a:txBody>
                  <a:tcPr marL="3363" marR="3363" marT="3363" marB="0" anchor="b">
                    <a:lnL>
                      <a:noFill/>
                    </a:lnL>
                    <a:lnR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55135049"/>
                  </a:ext>
                </a:extLst>
              </a:tr>
              <a:tr h="67264">
                <a:tc>
                  <a:txBody>
                    <a:bodyPr/>
                    <a:lstStyle/>
                    <a:p>
                      <a:pPr algn="l" fontAlgn="b"/>
                      <a:r>
                        <a:rPr lang="en-US" sz="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Narea | 2000 | Myrcia</a:t>
                      </a:r>
                    </a:p>
                  </a:txBody>
                  <a:tcPr marL="3363" marR="3363" marT="3363" marB="0" anchor="b">
                    <a:lnL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2.882***</a:t>
                      </a:r>
                    </a:p>
                  </a:txBody>
                  <a:tcPr marL="3363" marR="3363" marT="3363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-0.057</a:t>
                      </a:r>
                    </a:p>
                  </a:txBody>
                  <a:tcPr marL="3363" marR="3363" marT="3363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-0.152</a:t>
                      </a:r>
                    </a:p>
                  </a:txBody>
                  <a:tcPr marL="3363" marR="3363" marT="3363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-0.486</a:t>
                      </a:r>
                    </a:p>
                  </a:txBody>
                  <a:tcPr marL="3363" marR="3363" marT="3363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1.003</a:t>
                      </a:r>
                    </a:p>
                  </a:txBody>
                  <a:tcPr marL="3363" marR="3363" marT="3363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50</a:t>
                      </a:r>
                    </a:p>
                  </a:txBody>
                  <a:tcPr marL="3363" marR="3363" marT="3363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0.035</a:t>
                      </a:r>
                    </a:p>
                  </a:txBody>
                  <a:tcPr marL="3363" marR="3363" marT="3363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0.037</a:t>
                      </a:r>
                    </a:p>
                  </a:txBody>
                  <a:tcPr marL="3363" marR="3363" marT="3363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153.0</a:t>
                      </a:r>
                    </a:p>
                  </a:txBody>
                  <a:tcPr marL="3363" marR="3363" marT="3363" marB="0" anchor="b">
                    <a:lnL>
                      <a:noFill/>
                    </a:lnL>
                    <a:lnR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639344296"/>
                  </a:ext>
                </a:extLst>
              </a:tr>
              <a:tr h="67264">
                <a:tc>
                  <a:txBody>
                    <a:bodyPr/>
                    <a:lstStyle/>
                    <a:p>
                      <a:pPr algn="l" fontAlgn="b"/>
                      <a:r>
                        <a:rPr lang="en-US" sz="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Narea | 3000 | Hedyosmum</a:t>
                      </a:r>
                    </a:p>
                  </a:txBody>
                  <a:tcPr marL="3363" marR="3363" marT="3363" marB="0" anchor="b">
                    <a:lnL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2.136***</a:t>
                      </a:r>
                    </a:p>
                  </a:txBody>
                  <a:tcPr marL="3363" marR="3363" marT="3363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0.702**</a:t>
                      </a:r>
                    </a:p>
                  </a:txBody>
                  <a:tcPr marL="3363" marR="3363" marT="3363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0.448</a:t>
                      </a:r>
                    </a:p>
                  </a:txBody>
                  <a:tcPr marL="3363" marR="3363" marT="3363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-0.022</a:t>
                      </a:r>
                    </a:p>
                  </a:txBody>
                  <a:tcPr marL="3363" marR="3363" marT="3363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0.365</a:t>
                      </a:r>
                    </a:p>
                  </a:txBody>
                  <a:tcPr marL="3363" marR="3363" marT="3363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21</a:t>
                      </a:r>
                    </a:p>
                  </a:txBody>
                  <a:tcPr marL="3363" marR="3363" marT="3363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0.433</a:t>
                      </a:r>
                    </a:p>
                  </a:txBody>
                  <a:tcPr marL="3363" marR="3363" marT="3363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0.468</a:t>
                      </a:r>
                    </a:p>
                  </a:txBody>
                  <a:tcPr marL="3363" marR="3363" marT="3363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33.2</a:t>
                      </a:r>
                    </a:p>
                  </a:txBody>
                  <a:tcPr marL="3363" marR="3363" marT="3363" marB="0" anchor="b">
                    <a:lnL>
                      <a:noFill/>
                    </a:lnL>
                    <a:lnR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07565165"/>
                  </a:ext>
                </a:extLst>
              </a:tr>
              <a:tr h="67264">
                <a:tc>
                  <a:txBody>
                    <a:bodyPr/>
                    <a:lstStyle/>
                    <a:p>
                      <a:pPr algn="l" fontAlgn="b"/>
                      <a:r>
                        <a:rPr lang="en-US" sz="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Narea | 3000 | Weinmannia</a:t>
                      </a:r>
                    </a:p>
                  </a:txBody>
                  <a:tcPr marL="3363" marR="3363" marT="3363" marB="0" anchor="b">
                    <a:lnL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1.484***</a:t>
                      </a:r>
                    </a:p>
                  </a:txBody>
                  <a:tcPr marL="3363" marR="3363" marT="3363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0.182</a:t>
                      </a:r>
                    </a:p>
                  </a:txBody>
                  <a:tcPr marL="3363" marR="3363" marT="3363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0.069</a:t>
                      </a:r>
                    </a:p>
                  </a:txBody>
                  <a:tcPr marL="3363" marR="3363" marT="3363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-0.000</a:t>
                      </a:r>
                    </a:p>
                  </a:txBody>
                  <a:tcPr marL="3363" marR="3363" marT="3363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0.228</a:t>
                      </a:r>
                    </a:p>
                  </a:txBody>
                  <a:tcPr marL="3363" marR="3363" marT="3363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18</a:t>
                      </a:r>
                    </a:p>
                  </a:txBody>
                  <a:tcPr marL="3363" marR="3363" marT="3363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0.114</a:t>
                      </a:r>
                    </a:p>
                  </a:txBody>
                  <a:tcPr marL="3363" marR="3363" marT="3363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363" marR="3363" marT="3363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16.1</a:t>
                      </a:r>
                    </a:p>
                  </a:txBody>
                  <a:tcPr marL="3363" marR="3363" marT="3363" marB="0" anchor="b">
                    <a:lnL>
                      <a:noFill/>
                    </a:lnL>
                    <a:lnR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065976932"/>
                  </a:ext>
                </a:extLst>
              </a:tr>
              <a:tr h="67264">
                <a:tc>
                  <a:txBody>
                    <a:bodyPr/>
                    <a:lstStyle/>
                    <a:p>
                      <a:pPr algn="l" fontAlgn="b"/>
                      <a:r>
                        <a:rPr lang="en-US" sz="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Cmass | 1000 | Pouteria</a:t>
                      </a:r>
                    </a:p>
                  </a:txBody>
                  <a:tcPr marL="3363" marR="3363" marT="3363" marB="0" anchor="b">
                    <a:lnL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478.002***</a:t>
                      </a:r>
                    </a:p>
                  </a:txBody>
                  <a:tcPr marL="3363" marR="3363" marT="3363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2.498</a:t>
                      </a:r>
                    </a:p>
                  </a:txBody>
                  <a:tcPr marL="3363" marR="3363" marT="3363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-0.055</a:t>
                      </a:r>
                    </a:p>
                  </a:txBody>
                  <a:tcPr marL="3363" marR="3363" marT="3363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1.210</a:t>
                      </a:r>
                    </a:p>
                  </a:txBody>
                  <a:tcPr marL="3363" marR="3363" marT="3363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5.593</a:t>
                      </a:r>
                    </a:p>
                  </a:txBody>
                  <a:tcPr marL="3363" marR="3363" marT="3363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33</a:t>
                      </a:r>
                    </a:p>
                  </a:txBody>
                  <a:tcPr marL="3363" marR="3363" marT="3363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0.036</a:t>
                      </a:r>
                    </a:p>
                  </a:txBody>
                  <a:tcPr marL="3363" marR="3363" marT="3363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363" marR="3363" marT="3363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202.6</a:t>
                      </a:r>
                    </a:p>
                  </a:txBody>
                  <a:tcPr marL="3363" marR="3363" marT="3363" marB="0" anchor="b">
                    <a:lnL>
                      <a:noFill/>
                    </a:lnL>
                    <a:lnR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72043430"/>
                  </a:ext>
                </a:extLst>
              </a:tr>
              <a:tr h="67264">
                <a:tc>
                  <a:txBody>
                    <a:bodyPr/>
                    <a:lstStyle/>
                    <a:p>
                      <a:pPr algn="l" fontAlgn="b"/>
                      <a:r>
                        <a:rPr lang="en-US" sz="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Cmass | 1000 | Clarisia</a:t>
                      </a:r>
                    </a:p>
                  </a:txBody>
                  <a:tcPr marL="3363" marR="3363" marT="3363" marB="0" anchor="b">
                    <a:lnL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421.372***</a:t>
                      </a:r>
                    </a:p>
                  </a:txBody>
                  <a:tcPr marL="3363" marR="3363" marT="3363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25.773</a:t>
                      </a:r>
                    </a:p>
                  </a:txBody>
                  <a:tcPr marL="3363" marR="3363" marT="3363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9.125</a:t>
                      </a:r>
                    </a:p>
                  </a:txBody>
                  <a:tcPr marL="3363" marR="3363" marT="3363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16.973</a:t>
                      </a:r>
                    </a:p>
                  </a:txBody>
                  <a:tcPr marL="3363" marR="3363" marT="3363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13.655</a:t>
                      </a:r>
                    </a:p>
                  </a:txBody>
                  <a:tcPr marL="3363" marR="3363" marT="3363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12</a:t>
                      </a:r>
                    </a:p>
                  </a:txBody>
                  <a:tcPr marL="3363" marR="3363" marT="3363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0.265</a:t>
                      </a:r>
                    </a:p>
                  </a:txBody>
                  <a:tcPr marL="3363" marR="3363" marT="3363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363" marR="3363" marT="3363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80.4</a:t>
                      </a:r>
                    </a:p>
                  </a:txBody>
                  <a:tcPr marL="3363" marR="3363" marT="3363" marB="0" anchor="b">
                    <a:lnL>
                      <a:noFill/>
                    </a:lnL>
                    <a:lnR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21980786"/>
                  </a:ext>
                </a:extLst>
              </a:tr>
              <a:tr h="67264">
                <a:tc>
                  <a:txBody>
                    <a:bodyPr/>
                    <a:lstStyle/>
                    <a:p>
                      <a:pPr algn="l" fontAlgn="b"/>
                      <a:r>
                        <a:rPr lang="en-US" sz="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Cmass | 2000 | Alchornea</a:t>
                      </a:r>
                    </a:p>
                  </a:txBody>
                  <a:tcPr marL="3363" marR="3363" marT="3363" marB="0" anchor="b">
                    <a:lnL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489.936***</a:t>
                      </a:r>
                    </a:p>
                  </a:txBody>
                  <a:tcPr marL="3363" marR="3363" marT="3363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-2.251</a:t>
                      </a:r>
                    </a:p>
                  </a:txBody>
                  <a:tcPr marL="3363" marR="3363" marT="3363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0.623</a:t>
                      </a:r>
                    </a:p>
                  </a:txBody>
                  <a:tcPr marL="3363" marR="3363" marT="3363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-3.010</a:t>
                      </a:r>
                    </a:p>
                  </a:txBody>
                  <a:tcPr marL="3363" marR="3363" marT="3363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8.523</a:t>
                      </a:r>
                    </a:p>
                  </a:txBody>
                  <a:tcPr marL="3363" marR="3363" marT="3363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43</a:t>
                      </a:r>
                    </a:p>
                  </a:txBody>
                  <a:tcPr marL="3363" marR="3363" marT="3363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0.030</a:t>
                      </a:r>
                    </a:p>
                  </a:txBody>
                  <a:tcPr marL="3363" marR="3363" marT="3363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363" marR="3363" marT="3363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299.2</a:t>
                      </a:r>
                    </a:p>
                  </a:txBody>
                  <a:tcPr marL="3363" marR="3363" marT="3363" marB="0" anchor="b">
                    <a:lnL>
                      <a:noFill/>
                    </a:lnL>
                    <a:lnR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200244909"/>
                  </a:ext>
                </a:extLst>
              </a:tr>
              <a:tr h="67264">
                <a:tc>
                  <a:txBody>
                    <a:bodyPr/>
                    <a:lstStyle/>
                    <a:p>
                      <a:pPr algn="l" fontAlgn="b"/>
                      <a:r>
                        <a:rPr lang="en-US" sz="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Cmass | 2000 | Myrcia</a:t>
                      </a:r>
                    </a:p>
                  </a:txBody>
                  <a:tcPr marL="3363" marR="3363" marT="3363" marB="0" anchor="b">
                    <a:lnL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472.530***</a:t>
                      </a:r>
                    </a:p>
                  </a:txBody>
                  <a:tcPr marL="3363" marR="3363" marT="3363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-1.507</a:t>
                      </a:r>
                    </a:p>
                  </a:txBody>
                  <a:tcPr marL="3363" marR="3363" marT="3363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-7.836*</a:t>
                      </a:r>
                    </a:p>
                  </a:txBody>
                  <a:tcPr marL="3363" marR="3363" marT="3363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-2.897</a:t>
                      </a:r>
                    </a:p>
                  </a:txBody>
                  <a:tcPr marL="3363" marR="3363" marT="3363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8.111</a:t>
                      </a:r>
                    </a:p>
                  </a:txBody>
                  <a:tcPr marL="3363" marR="3363" marT="3363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50</a:t>
                      </a:r>
                    </a:p>
                  </a:txBody>
                  <a:tcPr marL="3363" marR="3363" marT="3363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0.118</a:t>
                      </a:r>
                    </a:p>
                  </a:txBody>
                  <a:tcPr marL="3363" marR="3363" marT="3363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0.177</a:t>
                      </a:r>
                    </a:p>
                  </a:txBody>
                  <a:tcPr marL="3363" marR="3363" marT="3363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347.0</a:t>
                      </a:r>
                    </a:p>
                  </a:txBody>
                  <a:tcPr marL="3363" marR="3363" marT="3363" marB="0" anchor="b">
                    <a:lnL>
                      <a:noFill/>
                    </a:lnL>
                    <a:lnR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76209097"/>
                  </a:ext>
                </a:extLst>
              </a:tr>
              <a:tr h="67264">
                <a:tc>
                  <a:txBody>
                    <a:bodyPr/>
                    <a:lstStyle/>
                    <a:p>
                      <a:pPr algn="l" fontAlgn="b"/>
                      <a:r>
                        <a:rPr lang="en-US" sz="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Cmass | 3000 | Hedyosmum</a:t>
                      </a:r>
                    </a:p>
                  </a:txBody>
                  <a:tcPr marL="3363" marR="3363" marT="3363" marB="0" anchor="b">
                    <a:lnL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438.175***</a:t>
                      </a:r>
                    </a:p>
                  </a:txBody>
                  <a:tcPr marL="3363" marR="3363" marT="3363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-3.352</a:t>
                      </a:r>
                    </a:p>
                  </a:txBody>
                  <a:tcPr marL="3363" marR="3363" marT="3363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4.616</a:t>
                      </a:r>
                    </a:p>
                  </a:txBody>
                  <a:tcPr marL="3363" marR="3363" marT="3363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-1.430</a:t>
                      </a:r>
                    </a:p>
                  </a:txBody>
                  <a:tcPr marL="3363" marR="3363" marT="3363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7.329</a:t>
                      </a:r>
                    </a:p>
                  </a:txBody>
                  <a:tcPr marL="3363" marR="3363" marT="3363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21</a:t>
                      </a:r>
                    </a:p>
                  </a:txBody>
                  <a:tcPr marL="3363" marR="3363" marT="3363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0.104</a:t>
                      </a:r>
                    </a:p>
                  </a:txBody>
                  <a:tcPr marL="3363" marR="3363" marT="3363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0.158</a:t>
                      </a:r>
                    </a:p>
                  </a:txBody>
                  <a:tcPr marL="3363" marR="3363" marT="3363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135.2</a:t>
                      </a:r>
                    </a:p>
                  </a:txBody>
                  <a:tcPr marL="3363" marR="3363" marT="3363" marB="0" anchor="b">
                    <a:lnL>
                      <a:noFill/>
                    </a:lnL>
                    <a:lnR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617617223"/>
                  </a:ext>
                </a:extLst>
              </a:tr>
              <a:tr h="67264">
                <a:tc>
                  <a:txBody>
                    <a:bodyPr/>
                    <a:lstStyle/>
                    <a:p>
                      <a:pPr algn="l" fontAlgn="b"/>
                      <a:r>
                        <a:rPr lang="en-US" sz="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Cmass | 3000 | Weinmannia</a:t>
                      </a:r>
                    </a:p>
                  </a:txBody>
                  <a:tcPr marL="3363" marR="3363" marT="3363" marB="0" anchor="b">
                    <a:lnL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444.044***</a:t>
                      </a:r>
                    </a:p>
                  </a:txBody>
                  <a:tcPr marL="3363" marR="3363" marT="3363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0.897</a:t>
                      </a:r>
                    </a:p>
                  </a:txBody>
                  <a:tcPr marL="3363" marR="3363" marT="3363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17.429+</a:t>
                      </a:r>
                    </a:p>
                  </a:txBody>
                  <a:tcPr marL="3363" marR="3363" marT="3363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-2.611</a:t>
                      </a:r>
                    </a:p>
                  </a:txBody>
                  <a:tcPr marL="3363" marR="3363" marT="3363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10.639</a:t>
                      </a:r>
                    </a:p>
                  </a:txBody>
                  <a:tcPr marL="3363" marR="3363" marT="3363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18</a:t>
                      </a:r>
                    </a:p>
                  </a:txBody>
                  <a:tcPr marL="3363" marR="3363" marT="3363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0.220</a:t>
                      </a:r>
                    </a:p>
                  </a:txBody>
                  <a:tcPr marL="3363" marR="3363" marT="3363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0.318</a:t>
                      </a:r>
                    </a:p>
                  </a:txBody>
                  <a:tcPr marL="3363" marR="3363" marT="3363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124.8</a:t>
                      </a:r>
                    </a:p>
                  </a:txBody>
                  <a:tcPr marL="3363" marR="3363" marT="3363" marB="0" anchor="b">
                    <a:lnL>
                      <a:noFill/>
                    </a:lnL>
                    <a:lnR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42986696"/>
                  </a:ext>
                </a:extLst>
              </a:tr>
              <a:tr h="67264">
                <a:tc>
                  <a:txBody>
                    <a:bodyPr/>
                    <a:lstStyle/>
                    <a:p>
                      <a:pPr algn="l" fontAlgn="b"/>
                      <a:r>
                        <a:rPr lang="en-US" sz="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Carea | 1000 | Pouteria</a:t>
                      </a:r>
                    </a:p>
                  </a:txBody>
                  <a:tcPr marL="3363" marR="3363" marT="3363" marB="0" anchor="b">
                    <a:lnL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60.501***</a:t>
                      </a:r>
                    </a:p>
                  </a:txBody>
                  <a:tcPr marL="3363" marR="3363" marT="3363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2.382</a:t>
                      </a:r>
                    </a:p>
                  </a:txBody>
                  <a:tcPr marL="3363" marR="3363" marT="3363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0.288</a:t>
                      </a:r>
                    </a:p>
                  </a:txBody>
                  <a:tcPr marL="3363" marR="3363" marT="3363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2.011</a:t>
                      </a:r>
                    </a:p>
                  </a:txBody>
                  <a:tcPr marL="3363" marR="3363" marT="3363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9.170</a:t>
                      </a:r>
                    </a:p>
                  </a:txBody>
                  <a:tcPr marL="3363" marR="3363" marT="3363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36</a:t>
                      </a:r>
                    </a:p>
                  </a:txBody>
                  <a:tcPr marL="3363" marR="3363" marT="3363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0.014</a:t>
                      </a:r>
                    </a:p>
                  </a:txBody>
                  <a:tcPr marL="3363" marR="3363" marT="3363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363" marR="3363" marT="3363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253.4</a:t>
                      </a:r>
                    </a:p>
                  </a:txBody>
                  <a:tcPr marL="3363" marR="3363" marT="3363" marB="0" anchor="b">
                    <a:lnL>
                      <a:noFill/>
                    </a:lnL>
                    <a:lnR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500509425"/>
                  </a:ext>
                </a:extLst>
              </a:tr>
              <a:tr h="67264">
                <a:tc>
                  <a:txBody>
                    <a:bodyPr/>
                    <a:lstStyle/>
                    <a:p>
                      <a:pPr algn="l" fontAlgn="b"/>
                      <a:r>
                        <a:rPr lang="en-US" sz="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Carea | 1000 | Clarisia</a:t>
                      </a:r>
                    </a:p>
                  </a:txBody>
                  <a:tcPr marL="3363" marR="3363" marT="3363" marB="0" anchor="b">
                    <a:lnL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46.093***</a:t>
                      </a:r>
                    </a:p>
                  </a:txBody>
                  <a:tcPr marL="3363" marR="3363" marT="3363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-8.463*</a:t>
                      </a:r>
                    </a:p>
                  </a:txBody>
                  <a:tcPr marL="3363" marR="3363" marT="3363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-5.063*</a:t>
                      </a:r>
                    </a:p>
                  </a:txBody>
                  <a:tcPr marL="3363" marR="3363" marT="3363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-2.305</a:t>
                      </a:r>
                    </a:p>
                  </a:txBody>
                  <a:tcPr marL="3363" marR="3363" marT="3363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2.141</a:t>
                      </a:r>
                    </a:p>
                  </a:txBody>
                  <a:tcPr marL="3363" marR="3363" marT="3363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12</a:t>
                      </a:r>
                    </a:p>
                  </a:txBody>
                  <a:tcPr marL="3363" marR="3363" marT="3363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0.274</a:t>
                      </a:r>
                    </a:p>
                  </a:txBody>
                  <a:tcPr marL="3363" marR="3363" marT="3363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0.817</a:t>
                      </a:r>
                    </a:p>
                  </a:txBody>
                  <a:tcPr marL="3363" marR="3363" marT="3363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55.3</a:t>
                      </a:r>
                    </a:p>
                  </a:txBody>
                  <a:tcPr marL="3363" marR="3363" marT="3363" marB="0" anchor="b">
                    <a:lnL>
                      <a:noFill/>
                    </a:lnL>
                    <a:lnR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023688613"/>
                  </a:ext>
                </a:extLst>
              </a:tr>
              <a:tr h="67264">
                <a:tc>
                  <a:txBody>
                    <a:bodyPr/>
                    <a:lstStyle/>
                    <a:p>
                      <a:pPr algn="l" fontAlgn="b"/>
                      <a:r>
                        <a:rPr lang="en-US" sz="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Carea | 2000 | Alchornea</a:t>
                      </a:r>
                    </a:p>
                  </a:txBody>
                  <a:tcPr marL="3363" marR="3363" marT="3363" marB="0" anchor="b">
                    <a:lnL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139.527***</a:t>
                      </a:r>
                    </a:p>
                  </a:txBody>
                  <a:tcPr marL="3363" marR="3363" marT="3363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-6.085</a:t>
                      </a:r>
                    </a:p>
                  </a:txBody>
                  <a:tcPr marL="3363" marR="3363" marT="3363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2.265</a:t>
                      </a:r>
                    </a:p>
                  </a:txBody>
                  <a:tcPr marL="3363" marR="3363" marT="3363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-2.010</a:t>
                      </a:r>
                    </a:p>
                  </a:txBody>
                  <a:tcPr marL="3363" marR="3363" marT="3363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17.610</a:t>
                      </a:r>
                    </a:p>
                  </a:txBody>
                  <a:tcPr marL="3363" marR="3363" marT="3363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45</a:t>
                      </a:r>
                    </a:p>
                  </a:txBody>
                  <a:tcPr marL="3363" marR="3363" marT="3363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0.023</a:t>
                      </a:r>
                    </a:p>
                  </a:txBody>
                  <a:tcPr marL="3363" marR="3363" marT="3363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0.108</a:t>
                      </a:r>
                    </a:p>
                  </a:txBody>
                  <a:tcPr marL="3363" marR="3363" marT="3363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375.2</a:t>
                      </a:r>
                    </a:p>
                  </a:txBody>
                  <a:tcPr marL="3363" marR="3363" marT="3363" marB="0" anchor="b">
                    <a:lnL>
                      <a:noFill/>
                    </a:lnL>
                    <a:lnR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172319062"/>
                  </a:ext>
                </a:extLst>
              </a:tr>
              <a:tr h="67264">
                <a:tc>
                  <a:txBody>
                    <a:bodyPr/>
                    <a:lstStyle/>
                    <a:p>
                      <a:pPr algn="l" fontAlgn="b"/>
                      <a:r>
                        <a:rPr lang="en-US" sz="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Carea | 2000 | Myrcia</a:t>
                      </a:r>
                    </a:p>
                  </a:txBody>
                  <a:tcPr marL="3363" marR="3363" marT="3363" marB="0" anchor="b">
                    <a:lnL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131.985***</a:t>
                      </a:r>
                    </a:p>
                  </a:txBody>
                  <a:tcPr marL="3363" marR="3363" marT="3363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1.625</a:t>
                      </a:r>
                    </a:p>
                  </a:txBody>
                  <a:tcPr marL="3363" marR="3363" marT="3363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-1.843</a:t>
                      </a:r>
                    </a:p>
                  </a:txBody>
                  <a:tcPr marL="3363" marR="3363" marT="3363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6.197</a:t>
                      </a:r>
                    </a:p>
                  </a:txBody>
                  <a:tcPr marL="3363" marR="3363" marT="3363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13.747</a:t>
                      </a:r>
                    </a:p>
                  </a:txBody>
                  <a:tcPr marL="3363" marR="3363" marT="3363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50</a:t>
                      </a:r>
                    </a:p>
                  </a:txBody>
                  <a:tcPr marL="3363" marR="3363" marT="3363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0.046</a:t>
                      </a:r>
                    </a:p>
                  </a:txBody>
                  <a:tcPr marL="3363" marR="3363" marT="3363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363" marR="3363" marT="3363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393.7</a:t>
                      </a:r>
                    </a:p>
                  </a:txBody>
                  <a:tcPr marL="3363" marR="3363" marT="3363" marB="0" anchor="b">
                    <a:lnL>
                      <a:noFill/>
                    </a:lnL>
                    <a:lnR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85525325"/>
                  </a:ext>
                </a:extLst>
              </a:tr>
              <a:tr h="67264">
                <a:tc>
                  <a:txBody>
                    <a:bodyPr/>
                    <a:lstStyle/>
                    <a:p>
                      <a:pPr algn="l" fontAlgn="b"/>
                      <a:r>
                        <a:rPr lang="en-US" sz="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Carea | 3000 | Hedyosmum</a:t>
                      </a:r>
                    </a:p>
                  </a:txBody>
                  <a:tcPr marL="3363" marR="3363" marT="3363" marB="0" anchor="b">
                    <a:lnL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66.582***</a:t>
                      </a:r>
                    </a:p>
                  </a:txBody>
                  <a:tcPr marL="3363" marR="3363" marT="3363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5.565</a:t>
                      </a:r>
                    </a:p>
                  </a:txBody>
                  <a:tcPr marL="3363" marR="3363" marT="3363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0.796</a:t>
                      </a:r>
                    </a:p>
                  </a:txBody>
                  <a:tcPr marL="3363" marR="3363" marT="3363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-7.692</a:t>
                      </a:r>
                    </a:p>
                  </a:txBody>
                  <a:tcPr marL="3363" marR="3363" marT="3363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11.044</a:t>
                      </a:r>
                    </a:p>
                  </a:txBody>
                  <a:tcPr marL="3363" marR="3363" marT="3363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21</a:t>
                      </a:r>
                    </a:p>
                  </a:txBody>
                  <a:tcPr marL="3363" marR="3363" marT="3363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0.194</a:t>
                      </a:r>
                    </a:p>
                  </a:txBody>
                  <a:tcPr marL="3363" marR="3363" marT="3363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363" marR="3363" marT="3363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148.4</a:t>
                      </a:r>
                    </a:p>
                  </a:txBody>
                  <a:tcPr marL="3363" marR="3363" marT="3363" marB="0" anchor="b">
                    <a:lnL>
                      <a:noFill/>
                    </a:lnL>
                    <a:lnR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30567752"/>
                  </a:ext>
                </a:extLst>
              </a:tr>
              <a:tr h="67264">
                <a:tc>
                  <a:txBody>
                    <a:bodyPr/>
                    <a:lstStyle/>
                    <a:p>
                      <a:pPr algn="l" fontAlgn="b"/>
                      <a:r>
                        <a:rPr lang="en-US" sz="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Carea | 3000 | Weinmannia</a:t>
                      </a:r>
                    </a:p>
                  </a:txBody>
                  <a:tcPr marL="3363" marR="3363" marT="3363" marB="0" anchor="b">
                    <a:lnL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63.680***</a:t>
                      </a:r>
                    </a:p>
                  </a:txBody>
                  <a:tcPr marL="3363" marR="3363" marT="3363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1.384</a:t>
                      </a:r>
                    </a:p>
                  </a:txBody>
                  <a:tcPr marL="3363" marR="3363" marT="3363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0.233</a:t>
                      </a:r>
                    </a:p>
                  </a:txBody>
                  <a:tcPr marL="3363" marR="3363" marT="3363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-2.826</a:t>
                      </a:r>
                    </a:p>
                  </a:txBody>
                  <a:tcPr marL="3363" marR="3363" marT="3363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6.295</a:t>
                      </a:r>
                    </a:p>
                  </a:txBody>
                  <a:tcPr marL="3363" marR="3363" marT="3363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18</a:t>
                      </a:r>
                    </a:p>
                  </a:txBody>
                  <a:tcPr marL="3363" marR="3363" marT="3363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0.072</a:t>
                      </a:r>
                    </a:p>
                  </a:txBody>
                  <a:tcPr marL="3363" marR="3363" marT="3363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363" marR="3363" marT="3363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108.9</a:t>
                      </a:r>
                    </a:p>
                  </a:txBody>
                  <a:tcPr marL="3363" marR="3363" marT="3363" marB="0" anchor="b">
                    <a:lnL>
                      <a:noFill/>
                    </a:lnL>
                    <a:lnR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6197328"/>
                  </a:ext>
                </a:extLst>
              </a:tr>
              <a:tr h="67264">
                <a:tc>
                  <a:txBody>
                    <a:bodyPr/>
                    <a:lstStyle/>
                    <a:p>
                      <a:pPr algn="l" fontAlgn="b"/>
                      <a:r>
                        <a:rPr lang="en-US" sz="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logLCCC | 1000 | Pouteria</a:t>
                      </a:r>
                    </a:p>
                  </a:txBody>
                  <a:tcPr marL="3363" marR="3363" marT="3363" marB="0" anchor="b">
                    <a:lnL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6.170***</a:t>
                      </a:r>
                    </a:p>
                  </a:txBody>
                  <a:tcPr marL="3363" marR="3363" marT="3363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0.005</a:t>
                      </a:r>
                    </a:p>
                  </a:txBody>
                  <a:tcPr marL="3363" marR="3363" marT="3363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-0.000</a:t>
                      </a:r>
                    </a:p>
                  </a:txBody>
                  <a:tcPr marL="3363" marR="3363" marT="3363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0.003</a:t>
                      </a:r>
                    </a:p>
                  </a:txBody>
                  <a:tcPr marL="3363" marR="3363" marT="3363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0.012</a:t>
                      </a:r>
                    </a:p>
                  </a:txBody>
                  <a:tcPr marL="3363" marR="3363" marT="3363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33</a:t>
                      </a:r>
                    </a:p>
                  </a:txBody>
                  <a:tcPr marL="3363" marR="3363" marT="3363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0.036</a:t>
                      </a:r>
                    </a:p>
                  </a:txBody>
                  <a:tcPr marL="3363" marR="3363" marT="3363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363" marR="3363" marT="3363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-155.4</a:t>
                      </a:r>
                    </a:p>
                  </a:txBody>
                  <a:tcPr marL="3363" marR="3363" marT="3363" marB="0" anchor="b">
                    <a:lnL>
                      <a:noFill/>
                    </a:lnL>
                    <a:lnR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854685398"/>
                  </a:ext>
                </a:extLst>
              </a:tr>
              <a:tr h="67264">
                <a:tc>
                  <a:txBody>
                    <a:bodyPr/>
                    <a:lstStyle/>
                    <a:p>
                      <a:pPr algn="l" fontAlgn="b"/>
                      <a:r>
                        <a:rPr lang="en-US" sz="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logLCCC |1000 | Clarisia</a:t>
                      </a:r>
                    </a:p>
                  </a:txBody>
                  <a:tcPr marL="3363" marR="3363" marT="3363" marB="0" anchor="b">
                    <a:lnL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6.043***</a:t>
                      </a:r>
                    </a:p>
                  </a:txBody>
                  <a:tcPr marL="3363" marR="3363" marT="3363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0.060</a:t>
                      </a:r>
                    </a:p>
                  </a:txBody>
                  <a:tcPr marL="3363" marR="3363" marT="3363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0.021</a:t>
                      </a:r>
                    </a:p>
                  </a:txBody>
                  <a:tcPr marL="3363" marR="3363" marT="3363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0.040</a:t>
                      </a:r>
                    </a:p>
                  </a:txBody>
                  <a:tcPr marL="3363" marR="3363" marT="3363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0.032</a:t>
                      </a:r>
                    </a:p>
                  </a:txBody>
                  <a:tcPr marL="3363" marR="3363" marT="3363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12</a:t>
                      </a:r>
                    </a:p>
                  </a:txBody>
                  <a:tcPr marL="3363" marR="3363" marT="3363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0.263</a:t>
                      </a:r>
                    </a:p>
                  </a:txBody>
                  <a:tcPr marL="3363" marR="3363" marT="3363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363" marR="3363" marT="3363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-16.6</a:t>
                      </a:r>
                    </a:p>
                  </a:txBody>
                  <a:tcPr marL="3363" marR="3363" marT="3363" marB="0" anchor="b">
                    <a:lnL>
                      <a:noFill/>
                    </a:lnL>
                    <a:lnR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18161241"/>
                  </a:ext>
                </a:extLst>
              </a:tr>
              <a:tr h="67264">
                <a:tc>
                  <a:txBody>
                    <a:bodyPr/>
                    <a:lstStyle/>
                    <a:p>
                      <a:pPr algn="l" fontAlgn="b"/>
                      <a:r>
                        <a:rPr lang="en-US" sz="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logLCCC  | 2000 | Alchornea</a:t>
                      </a:r>
                    </a:p>
                  </a:txBody>
                  <a:tcPr marL="3363" marR="3363" marT="3363" marB="0" anchor="b">
                    <a:lnL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6.194***</a:t>
                      </a:r>
                    </a:p>
                  </a:txBody>
                  <a:tcPr marL="3363" marR="3363" marT="3363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-0.005</a:t>
                      </a:r>
                    </a:p>
                  </a:txBody>
                  <a:tcPr marL="3363" marR="3363" marT="3363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0.001</a:t>
                      </a:r>
                    </a:p>
                  </a:txBody>
                  <a:tcPr marL="3363" marR="3363" marT="3363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-0.006</a:t>
                      </a:r>
                    </a:p>
                  </a:txBody>
                  <a:tcPr marL="3363" marR="3363" marT="3363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0.018</a:t>
                      </a:r>
                    </a:p>
                  </a:txBody>
                  <a:tcPr marL="3363" marR="3363" marT="3363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43</a:t>
                      </a:r>
                    </a:p>
                  </a:txBody>
                  <a:tcPr marL="3363" marR="3363" marT="3363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0.029</a:t>
                      </a:r>
                    </a:p>
                  </a:txBody>
                  <a:tcPr marL="3363" marR="3363" marT="3363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363" marR="3363" marT="3363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-183.4</a:t>
                      </a:r>
                    </a:p>
                  </a:txBody>
                  <a:tcPr marL="3363" marR="3363" marT="3363" marB="0" anchor="b">
                    <a:lnL>
                      <a:noFill/>
                    </a:lnL>
                    <a:lnR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107033477"/>
                  </a:ext>
                </a:extLst>
              </a:tr>
              <a:tr h="67264">
                <a:tc>
                  <a:txBody>
                    <a:bodyPr/>
                    <a:lstStyle/>
                    <a:p>
                      <a:pPr algn="l" fontAlgn="b"/>
                      <a:r>
                        <a:rPr lang="en-US" sz="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logLCCC  | 2000 | Myrcia</a:t>
                      </a:r>
                    </a:p>
                  </a:txBody>
                  <a:tcPr marL="3363" marR="3363" marT="3363" marB="0" anchor="b">
                    <a:lnL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6.158***</a:t>
                      </a:r>
                    </a:p>
                  </a:txBody>
                  <a:tcPr marL="3363" marR="3363" marT="3363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-0.003</a:t>
                      </a:r>
                    </a:p>
                  </a:txBody>
                  <a:tcPr marL="3363" marR="3363" marT="3363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-0.017*</a:t>
                      </a:r>
                    </a:p>
                  </a:txBody>
                  <a:tcPr marL="3363" marR="3363" marT="3363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-0.006</a:t>
                      </a:r>
                    </a:p>
                  </a:txBody>
                  <a:tcPr marL="3363" marR="3363" marT="3363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0.017</a:t>
                      </a:r>
                    </a:p>
                  </a:txBody>
                  <a:tcPr marL="3363" marR="3363" marT="3363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50</a:t>
                      </a:r>
                    </a:p>
                  </a:txBody>
                  <a:tcPr marL="3363" marR="3363" marT="3363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0.119</a:t>
                      </a:r>
                    </a:p>
                  </a:txBody>
                  <a:tcPr marL="3363" marR="3363" marT="3363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0.177</a:t>
                      </a:r>
                    </a:p>
                  </a:txBody>
                  <a:tcPr marL="3363" marR="3363" marT="3363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-219.7</a:t>
                      </a:r>
                    </a:p>
                  </a:txBody>
                  <a:tcPr marL="3363" marR="3363" marT="3363" marB="0" anchor="b">
                    <a:lnL>
                      <a:noFill/>
                    </a:lnL>
                    <a:lnR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38306448"/>
                  </a:ext>
                </a:extLst>
              </a:tr>
              <a:tr h="67264">
                <a:tc>
                  <a:txBody>
                    <a:bodyPr/>
                    <a:lstStyle/>
                    <a:p>
                      <a:pPr algn="l" fontAlgn="b"/>
                      <a:r>
                        <a:rPr lang="en-US" sz="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logLCCC  | 3000 | Hedyosmum</a:t>
                      </a:r>
                    </a:p>
                  </a:txBody>
                  <a:tcPr marL="3363" marR="3363" marT="3363" marB="0" anchor="b">
                    <a:lnL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6.083***</a:t>
                      </a:r>
                    </a:p>
                  </a:txBody>
                  <a:tcPr marL="3363" marR="3363" marT="3363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-0.008</a:t>
                      </a:r>
                    </a:p>
                  </a:txBody>
                  <a:tcPr marL="3363" marR="3363" marT="3363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0.010</a:t>
                      </a:r>
                    </a:p>
                  </a:txBody>
                  <a:tcPr marL="3363" marR="3363" marT="3363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-0.003</a:t>
                      </a:r>
                    </a:p>
                  </a:txBody>
                  <a:tcPr marL="3363" marR="3363" marT="3363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0.017</a:t>
                      </a:r>
                    </a:p>
                  </a:txBody>
                  <a:tcPr marL="3363" marR="3363" marT="3363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21</a:t>
                      </a:r>
                    </a:p>
                  </a:txBody>
                  <a:tcPr marL="3363" marR="3363" marT="3363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0.104</a:t>
                      </a:r>
                    </a:p>
                  </a:txBody>
                  <a:tcPr marL="3363" marR="3363" marT="3363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0.158</a:t>
                      </a:r>
                    </a:p>
                  </a:txBody>
                  <a:tcPr marL="3363" marR="3363" marT="3363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-71.4</a:t>
                      </a:r>
                    </a:p>
                  </a:txBody>
                  <a:tcPr marL="3363" marR="3363" marT="3363" marB="0" anchor="b">
                    <a:lnL>
                      <a:noFill/>
                    </a:lnL>
                    <a:lnR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173990603"/>
                  </a:ext>
                </a:extLst>
              </a:tr>
              <a:tr h="67264">
                <a:tc>
                  <a:txBody>
                    <a:bodyPr/>
                    <a:lstStyle/>
                    <a:p>
                      <a:pPr algn="l" fontAlgn="b"/>
                      <a:r>
                        <a:rPr lang="en-US" sz="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logLCCC  | 3000 | Weinmannia</a:t>
                      </a:r>
                    </a:p>
                  </a:txBody>
                  <a:tcPr marL="3363" marR="3363" marT="3363" marB="0" anchor="b">
                    <a:lnL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6.096***</a:t>
                      </a:r>
                    </a:p>
                  </a:txBody>
                  <a:tcPr marL="3363" marR="3363" marT="3363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0.002</a:t>
                      </a:r>
                    </a:p>
                  </a:txBody>
                  <a:tcPr marL="3363" marR="3363" marT="3363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0.039+</a:t>
                      </a:r>
                    </a:p>
                  </a:txBody>
                  <a:tcPr marL="3363" marR="3363" marT="3363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-0.006</a:t>
                      </a:r>
                    </a:p>
                  </a:txBody>
                  <a:tcPr marL="3363" marR="3363" marT="3363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0.024</a:t>
                      </a:r>
                    </a:p>
                  </a:txBody>
                  <a:tcPr marL="3363" marR="3363" marT="3363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18</a:t>
                      </a:r>
                    </a:p>
                  </a:txBody>
                  <a:tcPr marL="3363" marR="3363" marT="3363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0.215</a:t>
                      </a:r>
                    </a:p>
                  </a:txBody>
                  <a:tcPr marL="3363" marR="3363" marT="3363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0.310</a:t>
                      </a:r>
                    </a:p>
                  </a:txBody>
                  <a:tcPr marL="3363" marR="3363" marT="3363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-45.7</a:t>
                      </a:r>
                    </a:p>
                  </a:txBody>
                  <a:tcPr marL="3363" marR="3363" marT="3363" marB="0" anchor="b">
                    <a:lnL>
                      <a:noFill/>
                    </a:lnL>
                    <a:lnR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122524085"/>
                  </a:ext>
                </a:extLst>
              </a:tr>
              <a:tr h="67264">
                <a:tc>
                  <a:txBody>
                    <a:bodyPr/>
                    <a:lstStyle/>
                    <a:p>
                      <a:pPr algn="l" fontAlgn="b"/>
                      <a:r>
                        <a:rPr lang="en-US" sz="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LPC | 1000 | Pouteria</a:t>
                      </a:r>
                    </a:p>
                  </a:txBody>
                  <a:tcPr marL="3363" marR="3363" marT="3363" marB="0" anchor="b">
                    <a:lnL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0.650***</a:t>
                      </a:r>
                    </a:p>
                  </a:txBody>
                  <a:tcPr marL="3363" marR="3363" marT="3363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-0.012</a:t>
                      </a:r>
                    </a:p>
                  </a:txBody>
                  <a:tcPr marL="3363" marR="3363" marT="3363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0.078</a:t>
                      </a:r>
                    </a:p>
                  </a:txBody>
                  <a:tcPr marL="3363" marR="3363" marT="3363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0.123+</a:t>
                      </a:r>
                    </a:p>
                  </a:txBody>
                  <a:tcPr marL="3363" marR="3363" marT="3363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0.136</a:t>
                      </a:r>
                    </a:p>
                  </a:txBody>
                  <a:tcPr marL="3363" marR="3363" marT="3363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36</a:t>
                      </a:r>
                    </a:p>
                  </a:txBody>
                  <a:tcPr marL="3363" marR="3363" marT="3363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0.131</a:t>
                      </a:r>
                    </a:p>
                  </a:txBody>
                  <a:tcPr marL="3363" marR="3363" marT="3363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0.238</a:t>
                      </a:r>
                    </a:p>
                  </a:txBody>
                  <a:tcPr marL="3363" marR="3363" marT="3363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-14.2</a:t>
                      </a:r>
                    </a:p>
                  </a:txBody>
                  <a:tcPr marL="3363" marR="3363" marT="3363" marB="0" anchor="b">
                    <a:lnL>
                      <a:noFill/>
                    </a:lnL>
                    <a:lnR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282480051"/>
                  </a:ext>
                </a:extLst>
              </a:tr>
              <a:tr h="67264">
                <a:tc>
                  <a:txBody>
                    <a:bodyPr/>
                    <a:lstStyle/>
                    <a:p>
                      <a:pPr algn="l" fontAlgn="b"/>
                      <a:r>
                        <a:rPr lang="en-US" sz="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LPC | 1000 | Clarisia</a:t>
                      </a:r>
                    </a:p>
                  </a:txBody>
                  <a:tcPr marL="3363" marR="3363" marT="3363" marB="0" anchor="b">
                    <a:lnL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0.793***</a:t>
                      </a:r>
                    </a:p>
                  </a:txBody>
                  <a:tcPr marL="3363" marR="3363" marT="3363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0.169</a:t>
                      </a:r>
                    </a:p>
                  </a:txBody>
                  <a:tcPr marL="3363" marR="3363" marT="3363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0.359*</a:t>
                      </a:r>
                    </a:p>
                  </a:txBody>
                  <a:tcPr marL="3363" marR="3363" marT="3363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0.381**</a:t>
                      </a:r>
                    </a:p>
                  </a:txBody>
                  <a:tcPr marL="3363" marR="3363" marT="3363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0.134</a:t>
                      </a:r>
                    </a:p>
                  </a:txBody>
                  <a:tcPr marL="3363" marR="3363" marT="3363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12</a:t>
                      </a:r>
                    </a:p>
                  </a:txBody>
                  <a:tcPr marL="3363" marR="3363" marT="3363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0.609</a:t>
                      </a:r>
                    </a:p>
                  </a:txBody>
                  <a:tcPr marL="3363" marR="3363" marT="3363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363" marR="3363" marT="3363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6.5</a:t>
                      </a:r>
                    </a:p>
                  </a:txBody>
                  <a:tcPr marL="3363" marR="3363" marT="3363" marB="0" anchor="b">
                    <a:lnL>
                      <a:noFill/>
                    </a:lnL>
                    <a:lnR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51321500"/>
                  </a:ext>
                </a:extLst>
              </a:tr>
              <a:tr h="67264">
                <a:tc>
                  <a:txBody>
                    <a:bodyPr/>
                    <a:lstStyle/>
                    <a:p>
                      <a:pPr algn="l" fontAlgn="b"/>
                      <a:r>
                        <a:rPr lang="en-US" sz="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LPC | 2000 | Alchornea</a:t>
                      </a:r>
                    </a:p>
                  </a:txBody>
                  <a:tcPr marL="3363" marR="3363" marT="3363" marB="0" anchor="b">
                    <a:lnL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0.784***</a:t>
                      </a:r>
                    </a:p>
                  </a:txBody>
                  <a:tcPr marL="3363" marR="3363" marT="3363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-0.015</a:t>
                      </a:r>
                    </a:p>
                  </a:txBody>
                  <a:tcPr marL="3363" marR="3363" marT="3363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0.526***</a:t>
                      </a:r>
                    </a:p>
                  </a:txBody>
                  <a:tcPr marL="3363" marR="3363" marT="3363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0.449***</a:t>
                      </a:r>
                    </a:p>
                  </a:txBody>
                  <a:tcPr marL="3363" marR="3363" marT="3363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0.218</a:t>
                      </a:r>
                    </a:p>
                  </a:txBody>
                  <a:tcPr marL="3363" marR="3363" marT="3363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44</a:t>
                      </a:r>
                    </a:p>
                  </a:txBody>
                  <a:tcPr marL="3363" marR="3363" marT="3363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0.518</a:t>
                      </a:r>
                    </a:p>
                  </a:txBody>
                  <a:tcPr marL="3363" marR="3363" marT="3363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0.593</a:t>
                      </a:r>
                    </a:p>
                  </a:txBody>
                  <a:tcPr marL="3363" marR="3363" marT="3363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16.4</a:t>
                      </a:r>
                    </a:p>
                  </a:txBody>
                  <a:tcPr marL="3363" marR="3363" marT="3363" marB="0" anchor="b">
                    <a:lnL>
                      <a:noFill/>
                    </a:lnL>
                    <a:lnR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094822049"/>
                  </a:ext>
                </a:extLst>
              </a:tr>
              <a:tr h="67264">
                <a:tc>
                  <a:txBody>
                    <a:bodyPr/>
                    <a:lstStyle/>
                    <a:p>
                      <a:pPr algn="l" fontAlgn="b"/>
                      <a:r>
                        <a:rPr lang="en-US" sz="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LPC | 2000 | Myrcia</a:t>
                      </a:r>
                    </a:p>
                  </a:txBody>
                  <a:tcPr marL="3363" marR="3363" marT="3363" marB="0" anchor="b">
                    <a:lnL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0.434***</a:t>
                      </a:r>
                    </a:p>
                  </a:txBody>
                  <a:tcPr marL="3363" marR="3363" marT="3363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-0.008</a:t>
                      </a:r>
                    </a:p>
                  </a:txBody>
                  <a:tcPr marL="3363" marR="3363" marT="3363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0.444**</a:t>
                      </a:r>
                    </a:p>
                  </a:txBody>
                  <a:tcPr marL="3363" marR="3363" marT="3363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1.263***</a:t>
                      </a:r>
                    </a:p>
                  </a:txBody>
                  <a:tcPr marL="3363" marR="3363" marT="3363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0.384</a:t>
                      </a:r>
                    </a:p>
                  </a:txBody>
                  <a:tcPr marL="3363" marR="3363" marT="3363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50</a:t>
                      </a:r>
                    </a:p>
                  </a:txBody>
                  <a:tcPr marL="3363" marR="3363" marT="3363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0.643</a:t>
                      </a:r>
                    </a:p>
                  </a:txBody>
                  <a:tcPr marL="3363" marR="3363" marT="3363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363" marR="3363" marT="3363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64.6</a:t>
                      </a:r>
                    </a:p>
                  </a:txBody>
                  <a:tcPr marL="3363" marR="3363" marT="3363" marB="0" anchor="b">
                    <a:lnL>
                      <a:noFill/>
                    </a:lnL>
                    <a:lnR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82207683"/>
                  </a:ext>
                </a:extLst>
              </a:tr>
              <a:tr h="67264">
                <a:tc>
                  <a:txBody>
                    <a:bodyPr/>
                    <a:lstStyle/>
                    <a:p>
                      <a:pPr algn="l" fontAlgn="b"/>
                      <a:r>
                        <a:rPr lang="en-US" sz="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LPC | 3000 | Hedyosmum</a:t>
                      </a:r>
                    </a:p>
                  </a:txBody>
                  <a:tcPr marL="3363" marR="3363" marT="3363" marB="0" anchor="b">
                    <a:lnL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0.835***</a:t>
                      </a:r>
                    </a:p>
                  </a:txBody>
                  <a:tcPr marL="3363" marR="3363" marT="3363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-0.034</a:t>
                      </a:r>
                    </a:p>
                  </a:txBody>
                  <a:tcPr marL="3363" marR="3363" marT="3363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0.235</a:t>
                      </a:r>
                    </a:p>
                  </a:txBody>
                  <a:tcPr marL="3363" marR="3363" marT="3363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0.581**</a:t>
                      </a:r>
                    </a:p>
                  </a:txBody>
                  <a:tcPr marL="3363" marR="3363" marT="3363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0.250</a:t>
                      </a:r>
                    </a:p>
                  </a:txBody>
                  <a:tcPr marL="3363" marR="3363" marT="3363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20</a:t>
                      </a:r>
                    </a:p>
                  </a:txBody>
                  <a:tcPr marL="3363" marR="3363" marT="3363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0.542</a:t>
                      </a:r>
                    </a:p>
                  </a:txBody>
                  <a:tcPr marL="3363" marR="3363" marT="3363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363" marR="3363" marT="3363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19.3</a:t>
                      </a:r>
                    </a:p>
                  </a:txBody>
                  <a:tcPr marL="3363" marR="3363" marT="3363" marB="0" anchor="b">
                    <a:lnL>
                      <a:noFill/>
                    </a:lnL>
                    <a:lnR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716075602"/>
                  </a:ext>
                </a:extLst>
              </a:tr>
              <a:tr h="67264">
                <a:tc>
                  <a:txBody>
                    <a:bodyPr/>
                    <a:lstStyle/>
                    <a:p>
                      <a:pPr algn="l" fontAlgn="b"/>
                      <a:r>
                        <a:rPr lang="en-US" sz="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LPC | 3000 | Weinmannia</a:t>
                      </a:r>
                    </a:p>
                  </a:txBody>
                  <a:tcPr marL="3363" marR="3363" marT="3363" marB="0" anchor="b">
                    <a:lnL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0.559***</a:t>
                      </a:r>
                    </a:p>
                  </a:txBody>
                  <a:tcPr marL="3363" marR="3363" marT="3363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0.046</a:t>
                      </a:r>
                    </a:p>
                  </a:txBody>
                  <a:tcPr marL="3363" marR="3363" marT="3363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0.161</a:t>
                      </a:r>
                    </a:p>
                  </a:txBody>
                  <a:tcPr marL="3363" marR="3363" marT="3363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1.077***</a:t>
                      </a:r>
                    </a:p>
                  </a:txBody>
                  <a:tcPr marL="3363" marR="3363" marT="3363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0.266</a:t>
                      </a:r>
                    </a:p>
                  </a:txBody>
                  <a:tcPr marL="3363" marR="3363" marT="3363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18</a:t>
                      </a:r>
                    </a:p>
                  </a:txBody>
                  <a:tcPr marL="3363" marR="3363" marT="3363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0.781</a:t>
                      </a:r>
                    </a:p>
                  </a:txBody>
                  <a:tcPr marL="3363" marR="3363" marT="3363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363" marR="3363" marT="3363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20.4</a:t>
                      </a:r>
                    </a:p>
                  </a:txBody>
                  <a:tcPr marL="3363" marR="3363" marT="3363" marB="0" anchor="b">
                    <a:lnL>
                      <a:noFill/>
                    </a:lnL>
                    <a:lnR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20646966"/>
                  </a:ext>
                </a:extLst>
              </a:tr>
              <a:tr h="67264">
                <a:tc>
                  <a:txBody>
                    <a:bodyPr/>
                    <a:lstStyle/>
                    <a:p>
                      <a:pPr algn="l" fontAlgn="b"/>
                      <a:r>
                        <a:rPr lang="en-US" sz="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logLPC | 1000 | Pouteria</a:t>
                      </a:r>
                    </a:p>
                  </a:txBody>
                  <a:tcPr marL="3363" marR="3363" marT="3363" marB="0" anchor="b">
                    <a:lnL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-0.446***</a:t>
                      </a:r>
                    </a:p>
                  </a:txBody>
                  <a:tcPr marL="3363" marR="3363" marT="3363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-0.038</a:t>
                      </a:r>
                    </a:p>
                  </a:txBody>
                  <a:tcPr marL="3363" marR="3363" marT="3363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0.121</a:t>
                      </a:r>
                    </a:p>
                  </a:txBody>
                  <a:tcPr marL="3363" marR="3363" marT="3363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0.178+</a:t>
                      </a:r>
                    </a:p>
                  </a:txBody>
                  <a:tcPr marL="3363" marR="3363" marT="3363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0.189</a:t>
                      </a:r>
                    </a:p>
                  </a:txBody>
                  <a:tcPr marL="3363" marR="3363" marT="3363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36</a:t>
                      </a:r>
                    </a:p>
                  </a:txBody>
                  <a:tcPr marL="3363" marR="3363" marT="3363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0.153</a:t>
                      </a:r>
                    </a:p>
                  </a:txBody>
                  <a:tcPr marL="3363" marR="3363" marT="3363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0.298</a:t>
                      </a:r>
                    </a:p>
                  </a:txBody>
                  <a:tcPr marL="3363" marR="3363" marT="3363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7.5</a:t>
                      </a:r>
                    </a:p>
                  </a:txBody>
                  <a:tcPr marL="3363" marR="3363" marT="3363" marB="0" anchor="b">
                    <a:lnL>
                      <a:noFill/>
                    </a:lnL>
                    <a:lnR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134711642"/>
                  </a:ext>
                </a:extLst>
              </a:tr>
              <a:tr h="67264">
                <a:tc>
                  <a:txBody>
                    <a:bodyPr/>
                    <a:lstStyle/>
                    <a:p>
                      <a:pPr algn="l" fontAlgn="b"/>
                      <a:r>
                        <a:rPr lang="en-US" sz="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logLPC | 1000 | Clarisia</a:t>
                      </a:r>
                    </a:p>
                  </a:txBody>
                  <a:tcPr marL="3363" marR="3363" marT="3363" marB="0" anchor="b">
                    <a:lnL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-0.233*</a:t>
                      </a:r>
                    </a:p>
                  </a:txBody>
                  <a:tcPr marL="3363" marR="3363" marT="3363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0.194</a:t>
                      </a:r>
                    </a:p>
                  </a:txBody>
                  <a:tcPr marL="3363" marR="3363" marT="3363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0.370**</a:t>
                      </a:r>
                    </a:p>
                  </a:txBody>
                  <a:tcPr marL="3363" marR="3363" marT="3363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0.386**</a:t>
                      </a:r>
                    </a:p>
                  </a:txBody>
                  <a:tcPr marL="3363" marR="3363" marT="3363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0.116</a:t>
                      </a:r>
                    </a:p>
                  </a:txBody>
                  <a:tcPr marL="3363" marR="3363" marT="3363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12</a:t>
                      </a:r>
                    </a:p>
                  </a:txBody>
                  <a:tcPr marL="3363" marR="3363" marT="3363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0.684</a:t>
                      </a:r>
                    </a:p>
                  </a:txBody>
                  <a:tcPr marL="3363" marR="3363" marT="3363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363" marR="3363" marT="3363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4.1</a:t>
                      </a:r>
                    </a:p>
                  </a:txBody>
                  <a:tcPr marL="3363" marR="3363" marT="3363" marB="0" anchor="b">
                    <a:lnL>
                      <a:noFill/>
                    </a:lnL>
                    <a:lnR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143695360"/>
                  </a:ext>
                </a:extLst>
              </a:tr>
              <a:tr h="67264">
                <a:tc>
                  <a:txBody>
                    <a:bodyPr/>
                    <a:lstStyle/>
                    <a:p>
                      <a:pPr algn="l" fontAlgn="b"/>
                      <a:r>
                        <a:rPr lang="en-US" sz="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logLPC | 2000 | Alchornea</a:t>
                      </a:r>
                    </a:p>
                  </a:txBody>
                  <a:tcPr marL="3363" marR="3363" marT="3363" marB="0" anchor="b">
                    <a:lnL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-0.257**</a:t>
                      </a:r>
                    </a:p>
                  </a:txBody>
                  <a:tcPr marL="3363" marR="3363" marT="3363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-0.019</a:t>
                      </a:r>
                    </a:p>
                  </a:txBody>
                  <a:tcPr marL="3363" marR="3363" marT="3363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0.489***</a:t>
                      </a:r>
                    </a:p>
                  </a:txBody>
                  <a:tcPr marL="3363" marR="3363" marT="3363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0.428***</a:t>
                      </a:r>
                    </a:p>
                  </a:txBody>
                  <a:tcPr marL="3363" marR="3363" marT="3363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0.213</a:t>
                      </a:r>
                    </a:p>
                  </a:txBody>
                  <a:tcPr marL="3363" marR="3363" marT="3363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44</a:t>
                      </a:r>
                    </a:p>
                  </a:txBody>
                  <a:tcPr marL="3363" marR="3363" marT="3363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0.491</a:t>
                      </a:r>
                    </a:p>
                  </a:txBody>
                  <a:tcPr marL="3363" marR="3363" marT="3363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0.592</a:t>
                      </a:r>
                    </a:p>
                  </a:txBody>
                  <a:tcPr marL="3363" marR="3363" marT="3363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14.9</a:t>
                      </a:r>
                    </a:p>
                  </a:txBody>
                  <a:tcPr marL="3363" marR="3363" marT="3363" marB="0" anchor="b">
                    <a:lnL>
                      <a:noFill/>
                    </a:lnL>
                    <a:lnR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848721827"/>
                  </a:ext>
                </a:extLst>
              </a:tr>
              <a:tr h="67264">
                <a:tc>
                  <a:txBody>
                    <a:bodyPr/>
                    <a:lstStyle/>
                    <a:p>
                      <a:pPr algn="l" fontAlgn="b"/>
                      <a:r>
                        <a:rPr lang="en-US" sz="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logLPC | 2000 | Myrcia</a:t>
                      </a:r>
                    </a:p>
                  </a:txBody>
                  <a:tcPr marL="3363" marR="3363" marT="3363" marB="0" anchor="b">
                    <a:lnL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-0.883***</a:t>
                      </a:r>
                    </a:p>
                  </a:txBody>
                  <a:tcPr marL="3363" marR="3363" marT="3363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0.027</a:t>
                      </a:r>
                    </a:p>
                  </a:txBody>
                  <a:tcPr marL="3363" marR="3363" marT="3363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0.687***</a:t>
                      </a:r>
                    </a:p>
                  </a:txBody>
                  <a:tcPr marL="3363" marR="3363" marT="3363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1.315***</a:t>
                      </a:r>
                    </a:p>
                  </a:txBody>
                  <a:tcPr marL="3363" marR="3363" marT="3363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0.349</a:t>
                      </a:r>
                    </a:p>
                  </a:txBody>
                  <a:tcPr marL="3363" marR="3363" marT="3363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50</a:t>
                      </a:r>
                    </a:p>
                  </a:txBody>
                  <a:tcPr marL="3363" marR="3363" marT="3363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0.707</a:t>
                      </a:r>
                    </a:p>
                  </a:txBody>
                  <a:tcPr marL="3363" marR="3363" marT="3363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363" marR="3363" marT="3363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55.8</a:t>
                      </a:r>
                    </a:p>
                  </a:txBody>
                  <a:tcPr marL="3363" marR="3363" marT="3363" marB="0" anchor="b">
                    <a:lnL>
                      <a:noFill/>
                    </a:lnL>
                    <a:lnR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238630742"/>
                  </a:ext>
                </a:extLst>
              </a:tr>
              <a:tr h="67264">
                <a:tc>
                  <a:txBody>
                    <a:bodyPr/>
                    <a:lstStyle/>
                    <a:p>
                      <a:pPr algn="l" fontAlgn="b"/>
                      <a:r>
                        <a:rPr lang="en-US" sz="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logLPC | 3000 | Hedyosmum</a:t>
                      </a:r>
                    </a:p>
                  </a:txBody>
                  <a:tcPr marL="3363" marR="3363" marT="3363" marB="0" anchor="b">
                    <a:lnL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-0.183*</a:t>
                      </a:r>
                    </a:p>
                  </a:txBody>
                  <a:tcPr marL="3363" marR="3363" marT="3363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-0.039</a:t>
                      </a:r>
                    </a:p>
                  </a:txBody>
                  <a:tcPr marL="3363" marR="3363" marT="3363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0.249+</a:t>
                      </a:r>
                    </a:p>
                  </a:txBody>
                  <a:tcPr marL="3363" marR="3363" marT="3363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0.492***</a:t>
                      </a:r>
                    </a:p>
                  </a:txBody>
                  <a:tcPr marL="3363" marR="3363" marT="3363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0.183</a:t>
                      </a:r>
                    </a:p>
                  </a:txBody>
                  <a:tcPr marL="3363" marR="3363" marT="3363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20</a:t>
                      </a:r>
                    </a:p>
                  </a:txBody>
                  <a:tcPr marL="3363" marR="3363" marT="3363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0.622</a:t>
                      </a:r>
                    </a:p>
                  </a:txBody>
                  <a:tcPr marL="3363" marR="3363" marT="3363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363" marR="3363" marT="3363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9.4</a:t>
                      </a:r>
                    </a:p>
                  </a:txBody>
                  <a:tcPr marL="3363" marR="3363" marT="3363" marB="0" anchor="b">
                    <a:lnL>
                      <a:noFill/>
                    </a:lnL>
                    <a:lnR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073292868"/>
                  </a:ext>
                </a:extLst>
              </a:tr>
              <a:tr h="67264">
                <a:tc>
                  <a:txBody>
                    <a:bodyPr/>
                    <a:lstStyle/>
                    <a:p>
                      <a:pPr algn="l" fontAlgn="b"/>
                      <a:r>
                        <a:rPr lang="en-US" sz="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logLPC | 3000 | Weinmannia</a:t>
                      </a:r>
                    </a:p>
                  </a:txBody>
                  <a:tcPr marL="3363" marR="3363" marT="3363" marB="0" anchor="b">
                    <a:lnL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-0.585***</a:t>
                      </a:r>
                    </a:p>
                  </a:txBody>
                  <a:tcPr marL="3363" marR="3363" marT="3363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0.081</a:t>
                      </a:r>
                    </a:p>
                  </a:txBody>
                  <a:tcPr marL="3363" marR="3363" marT="3363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0.255</a:t>
                      </a:r>
                    </a:p>
                  </a:txBody>
                  <a:tcPr marL="3363" marR="3363" marT="3363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1.043***</a:t>
                      </a:r>
                    </a:p>
                  </a:txBody>
                  <a:tcPr marL="3363" marR="3363" marT="3363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0.193</a:t>
                      </a:r>
                    </a:p>
                  </a:txBody>
                  <a:tcPr marL="3363" marR="3363" marT="3363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18</a:t>
                      </a:r>
                    </a:p>
                  </a:txBody>
                  <a:tcPr marL="3363" marR="3363" marT="3363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0.858</a:t>
                      </a:r>
                    </a:p>
                  </a:txBody>
                  <a:tcPr marL="3363" marR="3363" marT="3363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363" marR="3363" marT="3363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11.4</a:t>
                      </a:r>
                    </a:p>
                  </a:txBody>
                  <a:tcPr marL="3363" marR="3363" marT="3363" marB="0" anchor="b">
                    <a:lnL>
                      <a:noFill/>
                    </a:lnL>
                    <a:lnR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89267468"/>
                  </a:ext>
                </a:extLst>
              </a:tr>
              <a:tr h="67264">
                <a:tc>
                  <a:txBody>
                    <a:bodyPr/>
                    <a:lstStyle/>
                    <a:p>
                      <a:pPr algn="l" fontAlgn="b"/>
                      <a:r>
                        <a:rPr lang="en-US" sz="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Parea | 1000 | Pouteria</a:t>
                      </a:r>
                    </a:p>
                  </a:txBody>
                  <a:tcPr marL="3363" marR="3363" marT="3363" marB="0" anchor="b">
                    <a:lnL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0.081***</a:t>
                      </a:r>
                    </a:p>
                  </a:txBody>
                  <a:tcPr marL="3363" marR="3363" marT="3363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-0.000</a:t>
                      </a:r>
                    </a:p>
                  </a:txBody>
                  <a:tcPr marL="3363" marR="3363" marT="3363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0.011+</a:t>
                      </a:r>
                    </a:p>
                  </a:txBody>
                  <a:tcPr marL="3363" marR="3363" marT="3363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0.018**</a:t>
                      </a:r>
                    </a:p>
                  </a:txBody>
                  <a:tcPr marL="3363" marR="3363" marT="3363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0.012</a:t>
                      </a:r>
                    </a:p>
                  </a:txBody>
                  <a:tcPr marL="3363" marR="3363" marT="3363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36</a:t>
                      </a:r>
                    </a:p>
                  </a:txBody>
                  <a:tcPr marL="3363" marR="3363" marT="3363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0.279</a:t>
                      </a:r>
                    </a:p>
                  </a:txBody>
                  <a:tcPr marL="3363" marR="3363" marT="3363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0.380</a:t>
                      </a:r>
                    </a:p>
                  </a:txBody>
                  <a:tcPr marL="3363" marR="3363" marT="3363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-170.3</a:t>
                      </a:r>
                    </a:p>
                  </a:txBody>
                  <a:tcPr marL="3363" marR="3363" marT="3363" marB="0" anchor="b">
                    <a:lnL>
                      <a:noFill/>
                    </a:lnL>
                    <a:lnR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180150595"/>
                  </a:ext>
                </a:extLst>
              </a:tr>
              <a:tr h="67264">
                <a:tc>
                  <a:txBody>
                    <a:bodyPr/>
                    <a:lstStyle/>
                    <a:p>
                      <a:pPr algn="l" fontAlgn="b"/>
                      <a:r>
                        <a:rPr lang="en-US" sz="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Parea | 1000 | Clarisia</a:t>
                      </a:r>
                    </a:p>
                  </a:txBody>
                  <a:tcPr marL="3363" marR="3363" marT="3363" marB="0" anchor="b">
                    <a:lnL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0.087***</a:t>
                      </a:r>
                    </a:p>
                  </a:txBody>
                  <a:tcPr marL="3363" marR="3363" marT="3363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-0.003</a:t>
                      </a:r>
                    </a:p>
                  </a:txBody>
                  <a:tcPr marL="3363" marR="3363" marT="3363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0.022+</a:t>
                      </a:r>
                    </a:p>
                  </a:txBody>
                  <a:tcPr marL="3363" marR="3363" marT="3363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0.033*</a:t>
                      </a:r>
                    </a:p>
                  </a:txBody>
                  <a:tcPr marL="3363" marR="3363" marT="3363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0.015</a:t>
                      </a:r>
                    </a:p>
                  </a:txBody>
                  <a:tcPr marL="3363" marR="3363" marT="3363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12</a:t>
                      </a:r>
                    </a:p>
                  </a:txBody>
                  <a:tcPr marL="3363" marR="3363" marT="3363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0.437</a:t>
                      </a:r>
                    </a:p>
                  </a:txBody>
                  <a:tcPr marL="3363" marR="3363" marT="3363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0.579</a:t>
                      </a:r>
                    </a:p>
                  </a:txBody>
                  <a:tcPr marL="3363" marR="3363" marT="3363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-27.6</a:t>
                      </a:r>
                    </a:p>
                  </a:txBody>
                  <a:tcPr marL="3363" marR="3363" marT="3363" marB="0" anchor="b">
                    <a:lnL>
                      <a:noFill/>
                    </a:lnL>
                    <a:lnR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673305997"/>
                  </a:ext>
                </a:extLst>
              </a:tr>
              <a:tr h="67264">
                <a:tc>
                  <a:txBody>
                    <a:bodyPr/>
                    <a:lstStyle/>
                    <a:p>
                      <a:pPr algn="l" fontAlgn="b"/>
                      <a:r>
                        <a:rPr lang="en-US" sz="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Parea | 2000 | Alchornea</a:t>
                      </a:r>
                    </a:p>
                  </a:txBody>
                  <a:tcPr marL="3363" marR="3363" marT="3363" marB="0" anchor="b">
                    <a:lnL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0.221***</a:t>
                      </a:r>
                    </a:p>
                  </a:txBody>
                  <a:tcPr marL="3363" marR="3363" marT="3363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-0.008</a:t>
                      </a:r>
                    </a:p>
                  </a:txBody>
                  <a:tcPr marL="3363" marR="3363" marT="3363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0.167**</a:t>
                      </a:r>
                    </a:p>
                  </a:txBody>
                  <a:tcPr marL="3363" marR="3363" marT="3363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0.174***</a:t>
                      </a:r>
                    </a:p>
                  </a:txBody>
                  <a:tcPr marL="3363" marR="3363" marT="3363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0.122</a:t>
                      </a:r>
                    </a:p>
                  </a:txBody>
                  <a:tcPr marL="3363" marR="3363" marT="3363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45</a:t>
                      </a:r>
                    </a:p>
                  </a:txBody>
                  <a:tcPr marL="3363" marR="3363" marT="3363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0.345</a:t>
                      </a:r>
                    </a:p>
                  </a:txBody>
                  <a:tcPr marL="3363" marR="3363" marT="3363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0.351</a:t>
                      </a:r>
                    </a:p>
                  </a:txBody>
                  <a:tcPr marL="3363" marR="3363" marT="3363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-34.5</a:t>
                      </a:r>
                    </a:p>
                  </a:txBody>
                  <a:tcPr marL="3363" marR="3363" marT="3363" marB="0" anchor="b">
                    <a:lnL>
                      <a:noFill/>
                    </a:lnL>
                    <a:lnR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61129118"/>
                  </a:ext>
                </a:extLst>
              </a:tr>
              <a:tr h="67264">
                <a:tc>
                  <a:txBody>
                    <a:bodyPr/>
                    <a:lstStyle/>
                    <a:p>
                      <a:pPr algn="l" fontAlgn="b"/>
                      <a:r>
                        <a:rPr lang="en-US" sz="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Parea | 2000 | Myrcia</a:t>
                      </a:r>
                    </a:p>
                  </a:txBody>
                  <a:tcPr marL="3363" marR="3363" marT="3363" marB="0" anchor="b">
                    <a:lnL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0.122***</a:t>
                      </a:r>
                    </a:p>
                  </a:txBody>
                  <a:tcPr marL="3363" marR="3363" marT="3363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-0.001</a:t>
                      </a:r>
                    </a:p>
                  </a:txBody>
                  <a:tcPr marL="3363" marR="3363" marT="3363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0.122*</a:t>
                      </a:r>
                    </a:p>
                  </a:txBody>
                  <a:tcPr marL="3363" marR="3363" marT="3363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0.382***</a:t>
                      </a:r>
                    </a:p>
                  </a:txBody>
                  <a:tcPr marL="3363" marR="3363" marT="3363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0.126</a:t>
                      </a:r>
                    </a:p>
                  </a:txBody>
                  <a:tcPr marL="3363" marR="3363" marT="3363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50</a:t>
                      </a:r>
                    </a:p>
                  </a:txBody>
                  <a:tcPr marL="3363" marR="3363" marT="3363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0.604</a:t>
                      </a:r>
                    </a:p>
                  </a:txBody>
                  <a:tcPr marL="3363" marR="3363" marT="3363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363" marR="3363" marT="3363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-38.1</a:t>
                      </a:r>
                    </a:p>
                  </a:txBody>
                  <a:tcPr marL="3363" marR="3363" marT="3363" marB="0" anchor="b">
                    <a:lnL>
                      <a:noFill/>
                    </a:lnL>
                    <a:lnR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429346382"/>
                  </a:ext>
                </a:extLst>
              </a:tr>
              <a:tr h="67264">
                <a:tc>
                  <a:txBody>
                    <a:bodyPr/>
                    <a:lstStyle/>
                    <a:p>
                      <a:pPr algn="l" fontAlgn="b"/>
                      <a:r>
                        <a:rPr lang="en-US" sz="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Parea | 3000 | Hedyosmum</a:t>
                      </a:r>
                    </a:p>
                  </a:txBody>
                  <a:tcPr marL="3363" marR="3363" marT="3363" marB="0" anchor="b">
                    <a:lnL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0.125***</a:t>
                      </a:r>
                    </a:p>
                  </a:txBody>
                  <a:tcPr marL="3363" marR="3363" marT="3363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0.008</a:t>
                      </a:r>
                    </a:p>
                  </a:txBody>
                  <a:tcPr marL="3363" marR="3363" marT="3363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0.038</a:t>
                      </a:r>
                    </a:p>
                  </a:txBody>
                  <a:tcPr marL="3363" marR="3363" marT="3363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0.093*</a:t>
                      </a:r>
                    </a:p>
                  </a:txBody>
                  <a:tcPr marL="3363" marR="3363" marT="3363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0.060</a:t>
                      </a:r>
                    </a:p>
                  </a:txBody>
                  <a:tcPr marL="3363" marR="3363" marT="3363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21</a:t>
                      </a:r>
                    </a:p>
                  </a:txBody>
                  <a:tcPr marL="3363" marR="3363" marT="3363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0.319</a:t>
                      </a:r>
                    </a:p>
                  </a:txBody>
                  <a:tcPr marL="3363" marR="3363" marT="3363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363" marR="3363" marT="3363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-29.1</a:t>
                      </a:r>
                    </a:p>
                  </a:txBody>
                  <a:tcPr marL="3363" marR="3363" marT="3363" marB="0" anchor="b">
                    <a:lnL>
                      <a:noFill/>
                    </a:lnL>
                    <a:lnR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83703028"/>
                  </a:ext>
                </a:extLst>
              </a:tr>
              <a:tr h="67264">
                <a:tc>
                  <a:txBody>
                    <a:bodyPr/>
                    <a:lstStyle/>
                    <a:p>
                      <a:pPr algn="l" fontAlgn="b"/>
                      <a:r>
                        <a:rPr lang="en-US" sz="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Parea | 3000 | Weinmannia</a:t>
                      </a:r>
                    </a:p>
                  </a:txBody>
                  <a:tcPr marL="3363" marR="3363" marT="3363" marB="0" anchor="b">
                    <a:lnL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0.080***</a:t>
                      </a:r>
                    </a:p>
                  </a:txBody>
                  <a:tcPr marL="3363" marR="3363" marT="3363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0.009</a:t>
                      </a:r>
                    </a:p>
                  </a:txBody>
                  <a:tcPr marL="3363" marR="3363" marT="3363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0.020</a:t>
                      </a:r>
                    </a:p>
                  </a:txBody>
                  <a:tcPr marL="3363" marR="3363" marT="3363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0.145***</a:t>
                      </a:r>
                    </a:p>
                  </a:txBody>
                  <a:tcPr marL="3363" marR="3363" marT="3363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0.036</a:t>
                      </a:r>
                    </a:p>
                  </a:txBody>
                  <a:tcPr marL="3363" marR="3363" marT="3363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18</a:t>
                      </a:r>
                    </a:p>
                  </a:txBody>
                  <a:tcPr marL="3363" marR="3363" marT="3363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0.778</a:t>
                      </a:r>
                    </a:p>
                  </a:txBody>
                  <a:tcPr marL="3363" marR="3363" marT="3363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363" marR="3363" marT="3363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-35.7</a:t>
                      </a:r>
                    </a:p>
                  </a:txBody>
                  <a:tcPr marL="3363" marR="3363" marT="3363" marB="0" anchor="b">
                    <a:lnL>
                      <a:noFill/>
                    </a:lnL>
                    <a:lnR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363778539"/>
                  </a:ext>
                </a:extLst>
              </a:tr>
              <a:tr h="67264">
                <a:tc>
                  <a:txBody>
                    <a:bodyPr/>
                    <a:lstStyle/>
                    <a:p>
                      <a:pPr algn="l" fontAlgn="b"/>
                      <a:r>
                        <a:rPr lang="en-US" sz="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Leaf N:P | 1000 | Pouteria</a:t>
                      </a:r>
                    </a:p>
                  </a:txBody>
                  <a:tcPr marL="3363" marR="3363" marT="3363" marB="0" anchor="b">
                    <a:lnL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24.474***</a:t>
                      </a:r>
                    </a:p>
                  </a:txBody>
                  <a:tcPr marL="3363" marR="3363" marT="3363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1.444</a:t>
                      </a:r>
                    </a:p>
                  </a:txBody>
                  <a:tcPr marL="3363" marR="3363" marT="3363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-1.987</a:t>
                      </a:r>
                    </a:p>
                  </a:txBody>
                  <a:tcPr marL="3363" marR="3363" marT="3363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-2.163</a:t>
                      </a:r>
                    </a:p>
                  </a:txBody>
                  <a:tcPr marL="3363" marR="3363" marT="3363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4.690</a:t>
                      </a:r>
                    </a:p>
                  </a:txBody>
                  <a:tcPr marL="3363" marR="3363" marT="3363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36</a:t>
                      </a:r>
                    </a:p>
                  </a:txBody>
                  <a:tcPr marL="3363" marR="3363" marT="3363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0.087</a:t>
                      </a:r>
                    </a:p>
                  </a:txBody>
                  <a:tcPr marL="3363" marR="3363" marT="3363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0.140</a:t>
                      </a:r>
                    </a:p>
                  </a:txBody>
                  <a:tcPr marL="3363" marR="3363" marT="3363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211.6</a:t>
                      </a:r>
                    </a:p>
                  </a:txBody>
                  <a:tcPr marL="3363" marR="3363" marT="3363" marB="0" anchor="b">
                    <a:lnL>
                      <a:noFill/>
                    </a:lnL>
                    <a:lnR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356756616"/>
                  </a:ext>
                </a:extLst>
              </a:tr>
              <a:tr h="67264">
                <a:tc>
                  <a:txBody>
                    <a:bodyPr/>
                    <a:lstStyle/>
                    <a:p>
                      <a:pPr algn="l" fontAlgn="b"/>
                      <a:r>
                        <a:rPr lang="en-US" sz="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Leaf N:P | 1000 | Clarisia</a:t>
                      </a:r>
                    </a:p>
                  </a:txBody>
                  <a:tcPr marL="3363" marR="3363" marT="3363" marB="0" anchor="b">
                    <a:lnL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21.867***</a:t>
                      </a:r>
                    </a:p>
                  </a:txBody>
                  <a:tcPr marL="3363" marR="3363" marT="3363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-0.995</a:t>
                      </a:r>
                    </a:p>
                  </a:txBody>
                  <a:tcPr marL="3363" marR="3363" marT="3363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-1.076</a:t>
                      </a:r>
                    </a:p>
                  </a:txBody>
                  <a:tcPr marL="3363" marR="3363" marT="3363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-4.953+</a:t>
                      </a:r>
                    </a:p>
                  </a:txBody>
                  <a:tcPr marL="3363" marR="3363" marT="3363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2.859</a:t>
                      </a:r>
                    </a:p>
                  </a:txBody>
                  <a:tcPr marL="3363" marR="3363" marT="3363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12</a:t>
                      </a:r>
                    </a:p>
                  </a:txBody>
                  <a:tcPr marL="3363" marR="3363" marT="3363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0.356</a:t>
                      </a:r>
                    </a:p>
                  </a:txBody>
                  <a:tcPr marL="3363" marR="3363" marT="3363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0.374</a:t>
                      </a:r>
                    </a:p>
                  </a:txBody>
                  <a:tcPr marL="3363" marR="3363" marT="3363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55.5</a:t>
                      </a:r>
                    </a:p>
                  </a:txBody>
                  <a:tcPr marL="3363" marR="3363" marT="3363" marB="0" anchor="b">
                    <a:lnL>
                      <a:noFill/>
                    </a:lnL>
                    <a:lnR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1192068"/>
                  </a:ext>
                </a:extLst>
              </a:tr>
              <a:tr h="67264">
                <a:tc>
                  <a:txBody>
                    <a:bodyPr/>
                    <a:lstStyle/>
                    <a:p>
                      <a:pPr algn="l" fontAlgn="b"/>
                      <a:r>
                        <a:rPr lang="en-US" sz="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Leaf N:P | 2000 | Alchornea</a:t>
                      </a:r>
                    </a:p>
                  </a:txBody>
                  <a:tcPr marL="3363" marR="3363" marT="3363" marB="0" anchor="b">
                    <a:lnL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15.015***</a:t>
                      </a:r>
                    </a:p>
                  </a:txBody>
                  <a:tcPr marL="3363" marR="3363" marT="3363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2.175*</a:t>
                      </a:r>
                    </a:p>
                  </a:txBody>
                  <a:tcPr marL="3363" marR="3363" marT="3363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-5.308***</a:t>
                      </a:r>
                    </a:p>
                  </a:txBody>
                  <a:tcPr marL="3363" marR="3363" marT="3363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-5.939***</a:t>
                      </a:r>
                    </a:p>
                  </a:txBody>
                  <a:tcPr marL="3363" marR="3363" marT="3363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2.071</a:t>
                      </a:r>
                    </a:p>
                  </a:txBody>
                  <a:tcPr marL="3363" marR="3363" marT="3363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45</a:t>
                      </a:r>
                    </a:p>
                  </a:txBody>
                  <a:tcPr marL="3363" marR="3363" marT="3363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0.653</a:t>
                      </a:r>
                    </a:p>
                  </a:txBody>
                  <a:tcPr marL="3363" marR="3363" marT="3363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0.769</a:t>
                      </a:r>
                    </a:p>
                  </a:txBody>
                  <a:tcPr marL="3363" marR="3363" marT="3363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203.1</a:t>
                      </a:r>
                    </a:p>
                  </a:txBody>
                  <a:tcPr marL="3363" marR="3363" marT="3363" marB="0" anchor="b">
                    <a:lnL>
                      <a:noFill/>
                    </a:lnL>
                    <a:lnR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7439994"/>
                  </a:ext>
                </a:extLst>
              </a:tr>
              <a:tr h="67264">
                <a:tc>
                  <a:txBody>
                    <a:bodyPr/>
                    <a:lstStyle/>
                    <a:p>
                      <a:pPr algn="l" fontAlgn="b"/>
                      <a:r>
                        <a:rPr lang="en-US" sz="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Leaf N:P | 2000 | Myrcia</a:t>
                      </a:r>
                    </a:p>
                  </a:txBody>
                  <a:tcPr marL="3363" marR="3363" marT="3363" marB="0" anchor="b">
                    <a:lnL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23.224***</a:t>
                      </a:r>
                    </a:p>
                  </a:txBody>
                  <a:tcPr marL="3363" marR="3363" marT="3363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0.308</a:t>
                      </a:r>
                    </a:p>
                  </a:txBody>
                  <a:tcPr marL="3363" marR="3363" marT="3363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-11.021***</a:t>
                      </a:r>
                    </a:p>
                  </a:txBody>
                  <a:tcPr marL="3363" marR="3363" marT="3363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-16.982***</a:t>
                      </a:r>
                    </a:p>
                  </a:txBody>
                  <a:tcPr marL="3363" marR="3363" marT="3363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3.874</a:t>
                      </a:r>
                    </a:p>
                  </a:txBody>
                  <a:tcPr marL="3363" marR="3363" marT="3363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50</a:t>
                      </a:r>
                    </a:p>
                  </a:txBody>
                  <a:tcPr marL="3363" marR="3363" marT="3363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0.772</a:t>
                      </a:r>
                    </a:p>
                  </a:txBody>
                  <a:tcPr marL="3363" marR="3363" marT="3363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0.788</a:t>
                      </a:r>
                    </a:p>
                  </a:txBody>
                  <a:tcPr marL="3363" marR="3363" marT="3363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279.1</a:t>
                      </a:r>
                    </a:p>
                  </a:txBody>
                  <a:tcPr marL="3363" marR="3363" marT="3363" marB="0" anchor="b">
                    <a:lnL>
                      <a:noFill/>
                    </a:lnL>
                    <a:lnR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03655710"/>
                  </a:ext>
                </a:extLst>
              </a:tr>
              <a:tr h="67264">
                <a:tc>
                  <a:txBody>
                    <a:bodyPr/>
                    <a:lstStyle/>
                    <a:p>
                      <a:pPr algn="l" fontAlgn="b"/>
                      <a:r>
                        <a:rPr lang="en-US" sz="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Leaf N:P | 3000 | Hedyosmum</a:t>
                      </a:r>
                    </a:p>
                  </a:txBody>
                  <a:tcPr marL="3363" marR="3363" marT="3363" marB="0" anchor="b">
                    <a:lnL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17.046***</a:t>
                      </a:r>
                    </a:p>
                  </a:txBody>
                  <a:tcPr marL="3363" marR="3363" marT="3363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4.648*</a:t>
                      </a:r>
                    </a:p>
                  </a:txBody>
                  <a:tcPr marL="3363" marR="3363" marT="3363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-1.420</a:t>
                      </a:r>
                    </a:p>
                  </a:txBody>
                  <a:tcPr marL="3363" marR="3363" marT="3363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-6.056**</a:t>
                      </a:r>
                    </a:p>
                  </a:txBody>
                  <a:tcPr marL="3363" marR="3363" marT="3363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3.337</a:t>
                      </a:r>
                    </a:p>
                  </a:txBody>
                  <a:tcPr marL="3363" marR="3363" marT="3363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21</a:t>
                      </a:r>
                    </a:p>
                  </a:txBody>
                  <a:tcPr marL="3363" marR="3363" marT="3363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0.599</a:t>
                      </a:r>
                    </a:p>
                  </a:txBody>
                  <a:tcPr marL="3363" marR="3363" marT="3363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0.645</a:t>
                      </a:r>
                    </a:p>
                  </a:txBody>
                  <a:tcPr marL="3363" marR="3363" marT="3363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109.1</a:t>
                      </a:r>
                    </a:p>
                  </a:txBody>
                  <a:tcPr marL="3363" marR="3363" marT="3363" marB="0" anchor="b">
                    <a:lnL>
                      <a:noFill/>
                    </a:lnL>
                    <a:lnR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72334411"/>
                  </a:ext>
                </a:extLst>
              </a:tr>
              <a:tr h="67264">
                <a:tc>
                  <a:txBody>
                    <a:bodyPr/>
                    <a:lstStyle/>
                    <a:p>
                      <a:pPr algn="l" fontAlgn="b"/>
                      <a:r>
                        <a:rPr lang="en-US" sz="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Leaf N:P | 3000 | Weinmannia</a:t>
                      </a:r>
                    </a:p>
                  </a:txBody>
                  <a:tcPr marL="3363" marR="3363" marT="3363" marB="0" anchor="b">
                    <a:lnL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18.652***</a:t>
                      </a:r>
                    </a:p>
                  </a:txBody>
                  <a:tcPr marL="3363" marR="3363" marT="3363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0.234</a:t>
                      </a:r>
                    </a:p>
                  </a:txBody>
                  <a:tcPr marL="3363" marR="3363" marT="3363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-3.078</a:t>
                      </a:r>
                    </a:p>
                  </a:txBody>
                  <a:tcPr marL="3363" marR="3363" marT="3363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-11.345***</a:t>
                      </a:r>
                    </a:p>
                  </a:txBody>
                  <a:tcPr marL="3363" marR="3363" marT="3363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2.498</a:t>
                      </a:r>
                    </a:p>
                  </a:txBody>
                  <a:tcPr marL="3363" marR="3363" marT="3363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18</a:t>
                      </a:r>
                    </a:p>
                  </a:txBody>
                  <a:tcPr marL="3363" marR="3363" marT="3363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0.823</a:t>
                      </a:r>
                    </a:p>
                  </a:txBody>
                  <a:tcPr marL="3363" marR="3363" marT="3363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363" marR="3363" marT="3363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4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83.1</a:t>
                      </a:r>
                    </a:p>
                  </a:txBody>
                  <a:tcPr marL="3363" marR="3363" marT="3363" marB="0" anchor="b">
                    <a:lnL>
                      <a:noFill/>
                    </a:lnL>
                    <a:lnR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F81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69695598"/>
                  </a:ext>
                </a:extLst>
              </a:tr>
            </a:tbl>
          </a:graphicData>
        </a:graphic>
      </p:graphicFrame>
      <p:sp>
        <p:nvSpPr>
          <p:cNvPr id="8" name="CuadroTexto 7"/>
          <p:cNvSpPr txBox="1"/>
          <p:nvPr/>
        </p:nvSpPr>
        <p:spPr>
          <a:xfrm rot="16200000">
            <a:off x="-3924304" y="2024542"/>
            <a:ext cx="809802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b="1" dirty="0" smtClean="0"/>
          </a:p>
          <a:p>
            <a:r>
              <a:rPr lang="en-US" sz="1400" b="1" dirty="0" smtClean="0"/>
              <a:t>SLA (g/m2)              </a:t>
            </a:r>
            <a:r>
              <a:rPr lang="en-US" sz="1400" b="1" dirty="0" err="1" smtClean="0"/>
              <a:t>Parea</a:t>
            </a:r>
            <a:r>
              <a:rPr lang="en-US" sz="1400" b="1" dirty="0" smtClean="0"/>
              <a:t>(g/m</a:t>
            </a:r>
            <a:r>
              <a:rPr lang="en-US" sz="1400" b="1" baseline="30000" dirty="0" smtClean="0"/>
              <a:t>2</a:t>
            </a:r>
            <a:r>
              <a:rPr lang="en-US" sz="1400" b="1" dirty="0" smtClean="0"/>
              <a:t> </a:t>
            </a:r>
            <a:r>
              <a:rPr lang="en-US" sz="1400" b="1" dirty="0"/>
              <a:t>)   </a:t>
            </a:r>
            <a:r>
              <a:rPr lang="en-US" sz="1400" b="1" dirty="0" smtClean="0"/>
              <a:t>               </a:t>
            </a:r>
            <a:r>
              <a:rPr lang="en-US" sz="1400" b="1" dirty="0" err="1" smtClean="0"/>
              <a:t>Narea</a:t>
            </a:r>
            <a:r>
              <a:rPr lang="en-US" sz="1400" b="1" dirty="0" smtClean="0"/>
              <a:t>(g/m</a:t>
            </a:r>
            <a:r>
              <a:rPr lang="en-US" sz="1400" b="1" baseline="30000" dirty="0" smtClean="0"/>
              <a:t>2</a:t>
            </a:r>
            <a:r>
              <a:rPr lang="en-US" sz="1400" b="1" dirty="0" smtClean="0"/>
              <a:t> )          </a:t>
            </a:r>
            <a:r>
              <a:rPr lang="en-US" sz="1400" b="1" dirty="0" err="1" smtClean="0"/>
              <a:t>iWUE</a:t>
            </a:r>
            <a:r>
              <a:rPr lang="en-US" sz="1400" b="1" dirty="0" smtClean="0"/>
              <a:t> (</a:t>
            </a:r>
            <a:r>
              <a:rPr lang="el-GR" sz="1400" b="1" dirty="0" smtClean="0"/>
              <a:t>μ</a:t>
            </a:r>
            <a:r>
              <a:rPr lang="en-US" sz="1400" b="1" dirty="0" err="1" smtClean="0"/>
              <a:t>mol</a:t>
            </a:r>
            <a:r>
              <a:rPr lang="en-US" sz="1400" b="1" dirty="0" smtClean="0"/>
              <a:t>/</a:t>
            </a:r>
            <a:r>
              <a:rPr lang="en-US" sz="1400" b="1" dirty="0" err="1" smtClean="0"/>
              <a:t>mol</a:t>
            </a:r>
            <a:r>
              <a:rPr lang="en-US" sz="1400" b="1" dirty="0" smtClean="0"/>
              <a:t>)</a:t>
            </a:r>
            <a:endParaRPr lang="en-US" sz="1400" b="1" dirty="0"/>
          </a:p>
        </p:txBody>
      </p:sp>
      <p:sp>
        <p:nvSpPr>
          <p:cNvPr id="9" name="Rectángulo 8"/>
          <p:cNvSpPr/>
          <p:nvPr/>
        </p:nvSpPr>
        <p:spPr>
          <a:xfrm>
            <a:off x="430238" y="134270"/>
            <a:ext cx="3810000" cy="358433"/>
          </a:xfrm>
          <a:prstGeom prst="rect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dirty="0" smtClean="0"/>
              <a:t>1000 m</a:t>
            </a:r>
            <a:endParaRPr lang="en-US" dirty="0"/>
          </a:p>
        </p:txBody>
      </p:sp>
      <p:sp>
        <p:nvSpPr>
          <p:cNvPr id="12" name="Rectángulo 11"/>
          <p:cNvSpPr/>
          <p:nvPr/>
        </p:nvSpPr>
        <p:spPr>
          <a:xfrm>
            <a:off x="428469" y="114231"/>
            <a:ext cx="3814129" cy="540356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ángulo 13"/>
          <p:cNvSpPr/>
          <p:nvPr/>
        </p:nvSpPr>
        <p:spPr>
          <a:xfrm>
            <a:off x="4253972" y="791567"/>
            <a:ext cx="3814129" cy="540356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ángulo 14"/>
          <p:cNvSpPr/>
          <p:nvPr/>
        </p:nvSpPr>
        <p:spPr>
          <a:xfrm>
            <a:off x="8075345" y="790905"/>
            <a:ext cx="3814129" cy="540356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ángulo 15"/>
          <p:cNvSpPr/>
          <p:nvPr/>
        </p:nvSpPr>
        <p:spPr>
          <a:xfrm>
            <a:off x="4261217" y="115005"/>
            <a:ext cx="3810000" cy="358433"/>
          </a:xfrm>
          <a:prstGeom prst="rect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dirty="0"/>
              <a:t>2</a:t>
            </a:r>
            <a:r>
              <a:rPr lang="es-MX" dirty="0" smtClean="0"/>
              <a:t>000 m</a:t>
            </a:r>
            <a:endParaRPr lang="en-US" dirty="0"/>
          </a:p>
        </p:txBody>
      </p:sp>
      <p:sp>
        <p:nvSpPr>
          <p:cNvPr id="18" name="Rectángulo 17"/>
          <p:cNvSpPr/>
          <p:nvPr/>
        </p:nvSpPr>
        <p:spPr>
          <a:xfrm>
            <a:off x="8068101" y="115005"/>
            <a:ext cx="3810000" cy="358433"/>
          </a:xfrm>
          <a:prstGeom prst="rect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dirty="0"/>
              <a:t>3</a:t>
            </a:r>
            <a:r>
              <a:rPr lang="es-MX" dirty="0" smtClean="0"/>
              <a:t>000 m</a:t>
            </a:r>
            <a:endParaRPr lang="en-US" dirty="0"/>
          </a:p>
        </p:txBody>
      </p:sp>
      <p:pic>
        <p:nvPicPr>
          <p:cNvPr id="4" name="Imagen 3"/>
          <p:cNvPicPr>
            <a:picLocks noChangeAspect="1"/>
          </p:cNvPicPr>
          <p:nvPr/>
        </p:nvPicPr>
        <p:blipFill rotWithShape="1">
          <a:blip r:embed="rId3"/>
          <a:srcRect l="1254" t="4675" r="416" b="2362"/>
          <a:stretch/>
        </p:blipFill>
        <p:spPr>
          <a:xfrm>
            <a:off x="406945" y="512742"/>
            <a:ext cx="11657675" cy="59699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3676612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uadroTexto 7"/>
          <p:cNvSpPr txBox="1"/>
          <p:nvPr/>
        </p:nvSpPr>
        <p:spPr>
          <a:xfrm rot="16200000">
            <a:off x="-3757692" y="2310526"/>
            <a:ext cx="809802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 smtClean="0"/>
              <a:t>N:P                                 LPN (mg/g </a:t>
            </a:r>
            <a:r>
              <a:rPr lang="en-US" sz="1400" b="1" dirty="0"/>
              <a:t>)   </a:t>
            </a:r>
            <a:r>
              <a:rPr lang="en-US" sz="1400" b="1" dirty="0" smtClean="0"/>
              <a:t>          </a:t>
            </a:r>
            <a:r>
              <a:rPr lang="en-US" sz="1400" b="1" dirty="0" err="1" smtClean="0"/>
              <a:t>LNNag</a:t>
            </a:r>
            <a:r>
              <a:rPr lang="en-US" sz="1400" b="1" dirty="0" smtClean="0"/>
              <a:t>(mg</a:t>
            </a:r>
            <a:r>
              <a:rPr lang="en-US" sz="1400" b="1" dirty="0" smtClean="0"/>
              <a:t>/g )             </a:t>
            </a:r>
            <a:r>
              <a:rPr lang="en-US" sz="1400" b="1" dirty="0" err="1" smtClean="0"/>
              <a:t>iWUE</a:t>
            </a:r>
            <a:r>
              <a:rPr lang="en-US" sz="1400" b="1" dirty="0" smtClean="0"/>
              <a:t> (</a:t>
            </a:r>
            <a:r>
              <a:rPr lang="el-GR" sz="1400" b="1" dirty="0" smtClean="0"/>
              <a:t>μ</a:t>
            </a:r>
            <a:r>
              <a:rPr lang="en-US" sz="1400" b="1" dirty="0" err="1" smtClean="0"/>
              <a:t>mol</a:t>
            </a:r>
            <a:r>
              <a:rPr lang="en-US" sz="1400" b="1" dirty="0" smtClean="0"/>
              <a:t>/</a:t>
            </a:r>
            <a:r>
              <a:rPr lang="en-US" sz="1400" b="1" dirty="0" err="1" smtClean="0"/>
              <a:t>mol</a:t>
            </a:r>
            <a:r>
              <a:rPr lang="en-US" sz="1400" b="1" dirty="0" smtClean="0"/>
              <a:t>)</a:t>
            </a:r>
            <a:endParaRPr lang="en-US" sz="1400" b="1" dirty="0"/>
          </a:p>
        </p:txBody>
      </p:sp>
      <p:sp>
        <p:nvSpPr>
          <p:cNvPr id="9" name="Rectángulo 8"/>
          <p:cNvSpPr/>
          <p:nvPr/>
        </p:nvSpPr>
        <p:spPr>
          <a:xfrm>
            <a:off x="430238" y="134270"/>
            <a:ext cx="3810000" cy="358433"/>
          </a:xfrm>
          <a:prstGeom prst="rect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dirty="0" smtClean="0"/>
              <a:t>1000 m</a:t>
            </a:r>
            <a:endParaRPr lang="en-US" dirty="0"/>
          </a:p>
        </p:txBody>
      </p:sp>
      <p:sp>
        <p:nvSpPr>
          <p:cNvPr id="16" name="Rectángulo 15"/>
          <p:cNvSpPr/>
          <p:nvPr/>
        </p:nvSpPr>
        <p:spPr>
          <a:xfrm>
            <a:off x="4240238" y="127376"/>
            <a:ext cx="3810000" cy="358433"/>
          </a:xfrm>
          <a:prstGeom prst="rect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dirty="0"/>
              <a:t>2</a:t>
            </a:r>
            <a:r>
              <a:rPr lang="es-MX" dirty="0" smtClean="0"/>
              <a:t>000 m</a:t>
            </a:r>
            <a:endParaRPr lang="en-US" dirty="0"/>
          </a:p>
        </p:txBody>
      </p:sp>
      <p:sp>
        <p:nvSpPr>
          <p:cNvPr id="18" name="Rectángulo 17"/>
          <p:cNvSpPr/>
          <p:nvPr/>
        </p:nvSpPr>
        <p:spPr>
          <a:xfrm>
            <a:off x="8063381" y="127376"/>
            <a:ext cx="3810000" cy="358433"/>
          </a:xfrm>
          <a:prstGeom prst="rect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dirty="0"/>
              <a:t>3</a:t>
            </a:r>
            <a:r>
              <a:rPr lang="es-MX" dirty="0" smtClean="0"/>
              <a:t>000 m</a:t>
            </a:r>
            <a:endParaRPr lang="en-US" dirty="0"/>
          </a:p>
        </p:txBody>
      </p:sp>
      <p:sp>
        <p:nvSpPr>
          <p:cNvPr id="6" name="Rectangle 1"/>
          <p:cNvSpPr>
            <a:spLocks noChangeArrowheads="1"/>
          </p:cNvSpPr>
          <p:nvPr/>
        </p:nvSpPr>
        <p:spPr bwMode="auto">
          <a:xfrm>
            <a:off x="0" y="0"/>
            <a:ext cx="12192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10" name="Rectangle 2"/>
          <p:cNvSpPr>
            <a:spLocks noChangeArrowheads="1"/>
          </p:cNvSpPr>
          <p:nvPr/>
        </p:nvSpPr>
        <p:spPr bwMode="auto">
          <a:xfrm>
            <a:off x="152400" y="152400"/>
            <a:ext cx="12192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pic>
        <p:nvPicPr>
          <p:cNvPr id="11" name="Imagen 10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4468" y="510833"/>
            <a:ext cx="11447863" cy="62439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3998005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ángulo 6"/>
          <p:cNvSpPr/>
          <p:nvPr/>
        </p:nvSpPr>
        <p:spPr>
          <a:xfrm>
            <a:off x="122829" y="203981"/>
            <a:ext cx="11941791" cy="6278706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8" name="CuadroTexto 7"/>
          <p:cNvSpPr txBox="1"/>
          <p:nvPr/>
        </p:nvSpPr>
        <p:spPr>
          <a:xfrm rot="16200000">
            <a:off x="-3924304" y="2024542"/>
            <a:ext cx="809802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b="1" dirty="0" smtClean="0"/>
          </a:p>
          <a:p>
            <a:r>
              <a:rPr lang="en-US" sz="1400" b="1" dirty="0" smtClean="0"/>
              <a:t>SLA (g/m2)              </a:t>
            </a:r>
            <a:r>
              <a:rPr lang="en-US" sz="1400" b="1" dirty="0" err="1" smtClean="0"/>
              <a:t>Parea</a:t>
            </a:r>
            <a:r>
              <a:rPr lang="en-US" sz="1400" b="1" dirty="0" smtClean="0"/>
              <a:t>(g/m</a:t>
            </a:r>
            <a:r>
              <a:rPr lang="en-US" sz="1400" b="1" baseline="30000" dirty="0" smtClean="0"/>
              <a:t>2</a:t>
            </a:r>
            <a:r>
              <a:rPr lang="en-US" sz="1400" b="1" dirty="0" smtClean="0"/>
              <a:t> </a:t>
            </a:r>
            <a:r>
              <a:rPr lang="en-US" sz="1400" b="1" dirty="0"/>
              <a:t>)   </a:t>
            </a:r>
            <a:r>
              <a:rPr lang="en-US" sz="1400" b="1" dirty="0" smtClean="0"/>
              <a:t>               </a:t>
            </a:r>
            <a:r>
              <a:rPr lang="en-US" sz="1400" b="1" dirty="0" err="1" smtClean="0"/>
              <a:t>Narea</a:t>
            </a:r>
            <a:r>
              <a:rPr lang="en-US" sz="1400" b="1" dirty="0" smtClean="0"/>
              <a:t>(g/m</a:t>
            </a:r>
            <a:r>
              <a:rPr lang="en-US" sz="1400" b="1" baseline="30000" dirty="0" smtClean="0"/>
              <a:t>2</a:t>
            </a:r>
            <a:r>
              <a:rPr lang="en-US" sz="1400" b="1" dirty="0" smtClean="0"/>
              <a:t> )          </a:t>
            </a:r>
            <a:r>
              <a:rPr lang="en-US" sz="1400" b="1" dirty="0" err="1" smtClean="0"/>
              <a:t>iWUE</a:t>
            </a:r>
            <a:r>
              <a:rPr lang="en-US" sz="1400" b="1" dirty="0" smtClean="0"/>
              <a:t> (</a:t>
            </a:r>
            <a:r>
              <a:rPr lang="el-GR" sz="1400" b="1" dirty="0" smtClean="0"/>
              <a:t>μ</a:t>
            </a:r>
            <a:r>
              <a:rPr lang="en-US" sz="1400" b="1" dirty="0" err="1" smtClean="0"/>
              <a:t>mol</a:t>
            </a:r>
            <a:r>
              <a:rPr lang="en-US" sz="1400" b="1" dirty="0" smtClean="0"/>
              <a:t>/</a:t>
            </a:r>
            <a:r>
              <a:rPr lang="en-US" sz="1400" b="1" dirty="0" err="1" smtClean="0"/>
              <a:t>mol</a:t>
            </a:r>
            <a:r>
              <a:rPr lang="en-US" sz="1400" b="1" dirty="0" smtClean="0"/>
              <a:t>)</a:t>
            </a:r>
            <a:endParaRPr lang="en-US" sz="1400" b="1" dirty="0"/>
          </a:p>
        </p:txBody>
      </p:sp>
      <p:sp>
        <p:nvSpPr>
          <p:cNvPr id="9" name="Rectángulo 8"/>
          <p:cNvSpPr/>
          <p:nvPr/>
        </p:nvSpPr>
        <p:spPr>
          <a:xfrm>
            <a:off x="430238" y="134270"/>
            <a:ext cx="3810000" cy="358433"/>
          </a:xfrm>
          <a:prstGeom prst="rect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dirty="0" smtClean="0"/>
              <a:t>1000 m</a:t>
            </a:r>
            <a:endParaRPr lang="en-US" dirty="0"/>
          </a:p>
        </p:txBody>
      </p:sp>
      <p:sp>
        <p:nvSpPr>
          <p:cNvPr id="12" name="Rectángulo 11"/>
          <p:cNvSpPr/>
          <p:nvPr/>
        </p:nvSpPr>
        <p:spPr>
          <a:xfrm>
            <a:off x="428469" y="114231"/>
            <a:ext cx="3814129" cy="540356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ángulo 13"/>
          <p:cNvSpPr/>
          <p:nvPr/>
        </p:nvSpPr>
        <p:spPr>
          <a:xfrm>
            <a:off x="4253972" y="791567"/>
            <a:ext cx="3814129" cy="540356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ángulo 14"/>
          <p:cNvSpPr/>
          <p:nvPr/>
        </p:nvSpPr>
        <p:spPr>
          <a:xfrm>
            <a:off x="8075345" y="790905"/>
            <a:ext cx="3814129" cy="540356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ángulo 15"/>
          <p:cNvSpPr/>
          <p:nvPr/>
        </p:nvSpPr>
        <p:spPr>
          <a:xfrm>
            <a:off x="4261217" y="115005"/>
            <a:ext cx="3810000" cy="358433"/>
          </a:xfrm>
          <a:prstGeom prst="rect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dirty="0"/>
              <a:t>2</a:t>
            </a:r>
            <a:r>
              <a:rPr lang="es-MX" dirty="0" smtClean="0"/>
              <a:t>000 m</a:t>
            </a:r>
            <a:endParaRPr lang="en-US" dirty="0"/>
          </a:p>
        </p:txBody>
      </p:sp>
      <p:sp>
        <p:nvSpPr>
          <p:cNvPr id="18" name="Rectángulo 17"/>
          <p:cNvSpPr/>
          <p:nvPr/>
        </p:nvSpPr>
        <p:spPr>
          <a:xfrm>
            <a:off x="8068101" y="115005"/>
            <a:ext cx="3810000" cy="358433"/>
          </a:xfrm>
          <a:prstGeom prst="rect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dirty="0"/>
              <a:t>3</a:t>
            </a:r>
            <a:r>
              <a:rPr lang="es-MX" dirty="0" smtClean="0"/>
              <a:t>000 m</a:t>
            </a:r>
            <a:endParaRPr lang="en-US" dirty="0"/>
          </a:p>
        </p:txBody>
      </p:sp>
      <p:pic>
        <p:nvPicPr>
          <p:cNvPr id="13" name="Imagen 12"/>
          <p:cNvPicPr>
            <a:picLocks noChangeAspect="1"/>
          </p:cNvPicPr>
          <p:nvPr/>
        </p:nvPicPr>
        <p:blipFill rotWithShape="1">
          <a:blip r:embed="rId3"/>
          <a:srcRect l="798" t="3932" r="897" b="2325"/>
          <a:stretch/>
        </p:blipFill>
        <p:spPr>
          <a:xfrm>
            <a:off x="417095" y="479452"/>
            <a:ext cx="11622157" cy="6003235"/>
          </a:xfrm>
          <a:prstGeom prst="rect">
            <a:avLst/>
          </a:prstGeom>
        </p:spPr>
      </p:pic>
      <p:sp>
        <p:nvSpPr>
          <p:cNvPr id="4" name="CuadroTexto 3"/>
          <p:cNvSpPr txBox="1"/>
          <p:nvPr/>
        </p:nvSpPr>
        <p:spPr>
          <a:xfrm>
            <a:off x="2449571" y="2938893"/>
            <a:ext cx="7288306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MX" sz="4000" dirty="0" err="1" smtClean="0">
                <a:solidFill>
                  <a:srgbClr val="FF0000"/>
                </a:solidFill>
              </a:rPr>
              <a:t>Model</a:t>
            </a:r>
            <a:r>
              <a:rPr lang="es-MX" sz="4000" dirty="0" smtClean="0">
                <a:solidFill>
                  <a:srgbClr val="FF0000"/>
                </a:solidFill>
              </a:rPr>
              <a:t> </a:t>
            </a:r>
            <a:r>
              <a:rPr lang="es-MX" sz="4000" dirty="0" err="1" smtClean="0">
                <a:solidFill>
                  <a:srgbClr val="FF0000"/>
                </a:solidFill>
              </a:rPr>
              <a:t>using</a:t>
            </a:r>
            <a:r>
              <a:rPr lang="es-MX" sz="4000" dirty="0" smtClean="0">
                <a:solidFill>
                  <a:srgbClr val="FF0000"/>
                </a:solidFill>
              </a:rPr>
              <a:t> </a:t>
            </a:r>
            <a:r>
              <a:rPr lang="es-MX" sz="4000" dirty="0" err="1" smtClean="0">
                <a:solidFill>
                  <a:srgbClr val="FF0000"/>
                </a:solidFill>
              </a:rPr>
              <a:t>dummies</a:t>
            </a:r>
            <a:r>
              <a:rPr lang="es-MX" sz="4000" dirty="0" smtClean="0">
                <a:solidFill>
                  <a:srgbClr val="FF0000"/>
                </a:solidFill>
              </a:rPr>
              <a:t>. </a:t>
            </a:r>
            <a:r>
              <a:rPr lang="es-MX" sz="4000" dirty="0" err="1" smtClean="0">
                <a:solidFill>
                  <a:srgbClr val="FF0000"/>
                </a:solidFill>
              </a:rPr>
              <a:t>NxP</a:t>
            </a:r>
            <a:r>
              <a:rPr lang="es-MX" sz="4000" dirty="0" smtClean="0">
                <a:solidFill>
                  <a:srgbClr val="FF0000"/>
                </a:solidFill>
              </a:rPr>
              <a:t> shows </a:t>
            </a:r>
            <a:r>
              <a:rPr lang="es-MX" sz="4000" dirty="0" err="1" smtClean="0">
                <a:solidFill>
                  <a:srgbClr val="FF0000"/>
                </a:solidFill>
              </a:rPr>
              <a:t>sinergism</a:t>
            </a:r>
            <a:r>
              <a:rPr lang="es-MX" sz="4000" dirty="0" smtClean="0">
                <a:solidFill>
                  <a:srgbClr val="FF0000"/>
                </a:solidFill>
              </a:rPr>
              <a:t> vs </a:t>
            </a:r>
            <a:r>
              <a:rPr lang="es-MX" sz="4000" dirty="0" err="1" smtClean="0">
                <a:solidFill>
                  <a:srgbClr val="FF0000"/>
                </a:solidFill>
              </a:rPr>
              <a:t>antagonist</a:t>
            </a:r>
            <a:r>
              <a:rPr lang="es-MX" sz="4000" dirty="0" smtClean="0">
                <a:solidFill>
                  <a:srgbClr val="FF0000"/>
                </a:solidFill>
              </a:rPr>
              <a:t> </a:t>
            </a:r>
            <a:r>
              <a:rPr lang="es-MX" sz="4000" dirty="0" err="1" smtClean="0">
                <a:solidFill>
                  <a:srgbClr val="FF0000"/>
                </a:solidFill>
              </a:rPr>
              <a:t>effects</a:t>
            </a:r>
            <a:r>
              <a:rPr lang="es-MX" sz="4000" dirty="0" smtClean="0">
                <a:solidFill>
                  <a:srgbClr val="FF0000"/>
                </a:solidFill>
              </a:rPr>
              <a:t>. </a:t>
            </a:r>
            <a:r>
              <a:rPr lang="es-MX" sz="4000" dirty="0" err="1" smtClean="0">
                <a:solidFill>
                  <a:srgbClr val="FF0000"/>
                </a:solidFill>
              </a:rPr>
              <a:t>Different</a:t>
            </a:r>
            <a:r>
              <a:rPr lang="es-MX" sz="4000" dirty="0" smtClean="0">
                <a:solidFill>
                  <a:srgbClr val="FF0000"/>
                </a:solidFill>
              </a:rPr>
              <a:t> </a:t>
            </a:r>
            <a:r>
              <a:rPr lang="es-MX" sz="4000" dirty="0" err="1" smtClean="0">
                <a:solidFill>
                  <a:srgbClr val="FF0000"/>
                </a:solidFill>
              </a:rPr>
              <a:t>interpretation</a:t>
            </a:r>
            <a:r>
              <a:rPr lang="es-MX" sz="4000" dirty="0" smtClean="0">
                <a:solidFill>
                  <a:srgbClr val="FF0000"/>
                </a:solidFill>
              </a:rPr>
              <a:t>.</a:t>
            </a:r>
            <a:endParaRPr lang="en-US" sz="4000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82055299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773767" y="696819"/>
            <a:ext cx="10515600" cy="1325563"/>
          </a:xfrm>
        </p:spPr>
        <p:txBody>
          <a:bodyPr>
            <a:normAutofit fontScale="90000"/>
          </a:bodyPr>
          <a:lstStyle/>
          <a:p>
            <a:r>
              <a:rPr lang="es-MX" sz="2200" dirty="0" smtClean="0"/>
              <a:t>RQ3:</a:t>
            </a:r>
            <a:r>
              <a:rPr lang="en-US" sz="2200" i="1" dirty="0" smtClean="0"/>
              <a:t>What </a:t>
            </a:r>
            <a:r>
              <a:rPr lang="en-US" sz="2200" i="1" dirty="0"/>
              <a:t>is the relationship between  leaf nutrients (</a:t>
            </a:r>
            <a:r>
              <a:rPr lang="en-US" sz="2200" i="1" dirty="0" err="1"/>
              <a:t>Nmass</a:t>
            </a:r>
            <a:r>
              <a:rPr lang="en-US" sz="2200" i="1" dirty="0"/>
              <a:t> and </a:t>
            </a:r>
            <a:r>
              <a:rPr lang="en-US" sz="2200" i="1" dirty="0" err="1"/>
              <a:t>Narea</a:t>
            </a:r>
            <a:r>
              <a:rPr lang="en-US" sz="2200" i="1" dirty="0"/>
              <a:t>) and morphology (SLA) to </a:t>
            </a:r>
            <a:r>
              <a:rPr lang="en-US" sz="2200" i="1" dirty="0" err="1"/>
              <a:t>iWUE</a:t>
            </a:r>
            <a:r>
              <a:rPr lang="en-US" sz="2200" i="1" dirty="0"/>
              <a:t> at the different altitudes? – No treatments?</a:t>
            </a:r>
            <a:r>
              <a:rPr lang="en-US" sz="2200" dirty="0"/>
              <a:t/>
            </a:r>
            <a:br>
              <a:rPr lang="en-US" sz="2200" dirty="0"/>
            </a:br>
            <a:r>
              <a:rPr lang="en-US" sz="2200" dirty="0" smtClean="0"/>
              <a:t>Will explain the trends at different elevations.</a:t>
            </a:r>
            <a:br>
              <a:rPr lang="en-US" sz="2200" dirty="0" smtClean="0"/>
            </a:br>
            <a:r>
              <a:rPr lang="en-US" sz="2200" dirty="0" smtClean="0"/>
              <a:t/>
            </a:r>
            <a:br>
              <a:rPr lang="en-US" sz="2200" dirty="0" smtClean="0"/>
            </a:br>
            <a:r>
              <a:rPr lang="en-US" sz="2200" i="1" dirty="0" smtClean="0"/>
              <a:t>Which </a:t>
            </a:r>
            <a:r>
              <a:rPr lang="en-US" sz="2200" i="1" dirty="0"/>
              <a:t>analysis? SMA? Or </a:t>
            </a:r>
            <a:r>
              <a:rPr lang="en-US" sz="2200" i="1" dirty="0" err="1"/>
              <a:t>lmer</a:t>
            </a:r>
            <a:r>
              <a:rPr lang="en-US" sz="2200" i="1" dirty="0"/>
              <a:t> (R ~ </a:t>
            </a:r>
            <a:r>
              <a:rPr lang="en-US" sz="2200" i="1" dirty="0" err="1"/>
              <a:t>Narea</a:t>
            </a:r>
            <a:r>
              <a:rPr lang="en-US" sz="2200" i="1" dirty="0"/>
              <a:t> * Treat </a:t>
            </a:r>
            <a:r>
              <a:rPr lang="en-US" sz="2200" i="1" dirty="0" smtClean="0"/>
              <a:t>) per specie</a:t>
            </a:r>
            <a:r>
              <a:rPr lang="en-US" dirty="0"/>
              <a:t/>
            </a:r>
            <a:br>
              <a:rPr lang="en-US" dirty="0"/>
            </a:br>
            <a:r>
              <a:rPr lang="es-MX" dirty="0" smtClean="0"/>
              <a:t> </a:t>
            </a:r>
            <a:endParaRPr lang="en-US" dirty="0"/>
          </a:p>
        </p:txBody>
      </p:sp>
      <p:pic>
        <p:nvPicPr>
          <p:cNvPr id="4" name="Marcador de contenido 3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031567" y="2090411"/>
            <a:ext cx="6013682" cy="3136013"/>
          </a:xfrm>
          <a:prstGeom prst="rect">
            <a:avLst/>
          </a:prstGeom>
        </p:spPr>
      </p:pic>
      <p:pic>
        <p:nvPicPr>
          <p:cNvPr id="5" name="Imagen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5570" y="2176299"/>
            <a:ext cx="5684279" cy="2964236"/>
          </a:xfrm>
          <a:prstGeom prst="rect">
            <a:avLst/>
          </a:prstGeom>
        </p:spPr>
      </p:pic>
      <p:sp>
        <p:nvSpPr>
          <p:cNvPr id="6" name="CuadroTexto 5"/>
          <p:cNvSpPr txBox="1"/>
          <p:nvPr/>
        </p:nvSpPr>
        <p:spPr>
          <a:xfrm rot="19494981">
            <a:off x="-18451" y="3403017"/>
            <a:ext cx="10323647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MX" sz="4000" b="1" dirty="0" smtClean="0">
                <a:solidFill>
                  <a:schemeClr val="accent4">
                    <a:lumMod val="20000"/>
                    <a:lumOff val="80000"/>
                  </a:schemeClr>
                </a:solidFill>
              </a:rPr>
              <a:t>REVISANDO TODAVIA</a:t>
            </a:r>
            <a:endParaRPr lang="en-US" sz="4000" b="1" dirty="0">
              <a:solidFill>
                <a:schemeClr val="accent4">
                  <a:lumMod val="20000"/>
                  <a:lumOff val="8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1572135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  <p:pic>
        <p:nvPicPr>
          <p:cNvPr id="4" name="Imagen 3"/>
          <p:cNvPicPr>
            <a:picLocks noChangeAspect="1"/>
          </p:cNvPicPr>
          <p:nvPr/>
        </p:nvPicPr>
        <p:blipFill rotWithShape="1">
          <a:blip r:embed="rId2"/>
          <a:srcRect l="822" t="13210" r="736" b="2398"/>
          <a:stretch/>
        </p:blipFill>
        <p:spPr>
          <a:xfrm>
            <a:off x="593037" y="896471"/>
            <a:ext cx="11301197" cy="5247883"/>
          </a:xfrm>
          <a:prstGeom prst="rect">
            <a:avLst/>
          </a:prstGeom>
        </p:spPr>
      </p:pic>
      <p:sp>
        <p:nvSpPr>
          <p:cNvPr id="5" name="CuadroTexto 4"/>
          <p:cNvSpPr txBox="1"/>
          <p:nvPr/>
        </p:nvSpPr>
        <p:spPr>
          <a:xfrm rot="19494981">
            <a:off x="-18451" y="3403017"/>
            <a:ext cx="10323647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MX" sz="4000" b="1" dirty="0" smtClean="0">
                <a:solidFill>
                  <a:schemeClr val="accent4">
                    <a:lumMod val="20000"/>
                    <a:lumOff val="80000"/>
                  </a:schemeClr>
                </a:solidFill>
              </a:rPr>
              <a:t>REVISANDO TODAVIA</a:t>
            </a:r>
            <a:endParaRPr lang="en-US" sz="4000" b="1" dirty="0">
              <a:solidFill>
                <a:schemeClr val="accent4">
                  <a:lumMod val="20000"/>
                  <a:lumOff val="8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11060700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AutoShape 2" descr="http://127.0.0.1:13579/chunk_output/A8884044528A0A49/B0905F8C/c01s2ylc54ika/000020.png"/>
          <p:cNvSpPr>
            <a:spLocks noChangeAspect="1" noChangeArrowheads="1"/>
          </p:cNvSpPr>
          <p:nvPr/>
        </p:nvSpPr>
        <p:spPr bwMode="auto">
          <a:xfrm>
            <a:off x="63500" y="-136525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pic>
        <p:nvPicPr>
          <p:cNvPr id="6" name="Imagen 5"/>
          <p:cNvPicPr>
            <a:picLocks noChangeAspect="1"/>
          </p:cNvPicPr>
          <p:nvPr/>
        </p:nvPicPr>
        <p:blipFill rotWithShape="1">
          <a:blip r:embed="rId3"/>
          <a:srcRect l="1056" t="18263" r="1343" b="2796"/>
          <a:stretch/>
        </p:blipFill>
        <p:spPr>
          <a:xfrm>
            <a:off x="63500" y="435758"/>
            <a:ext cx="12068175" cy="5287238"/>
          </a:xfrm>
          <a:prstGeom prst="rect">
            <a:avLst/>
          </a:prstGeom>
        </p:spPr>
      </p:pic>
      <p:sp>
        <p:nvSpPr>
          <p:cNvPr id="7" name="CuadroTexto 6"/>
          <p:cNvSpPr txBox="1"/>
          <p:nvPr/>
        </p:nvSpPr>
        <p:spPr>
          <a:xfrm rot="19494981">
            <a:off x="-18451" y="3403017"/>
            <a:ext cx="10323647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MX" sz="4000" b="1" dirty="0" smtClean="0">
                <a:solidFill>
                  <a:schemeClr val="accent4">
                    <a:lumMod val="20000"/>
                    <a:lumOff val="80000"/>
                  </a:schemeClr>
                </a:solidFill>
              </a:rPr>
              <a:t>REVISANDO TODAVIA</a:t>
            </a:r>
            <a:endParaRPr lang="en-US" sz="4000" b="1" dirty="0">
              <a:solidFill>
                <a:schemeClr val="accent4">
                  <a:lumMod val="20000"/>
                  <a:lumOff val="8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74750464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  <p:pic>
        <p:nvPicPr>
          <p:cNvPr id="4" name="Imagen 3"/>
          <p:cNvPicPr>
            <a:picLocks noChangeAspect="1"/>
          </p:cNvPicPr>
          <p:nvPr/>
        </p:nvPicPr>
        <p:blipFill rotWithShape="1">
          <a:blip r:embed="rId3"/>
          <a:srcRect l="521" t="16108" r="778" b="2220"/>
          <a:stretch/>
        </p:blipFill>
        <p:spPr>
          <a:xfrm>
            <a:off x="226845" y="365125"/>
            <a:ext cx="11738309" cy="5261313"/>
          </a:xfrm>
          <a:prstGeom prst="rect">
            <a:avLst/>
          </a:prstGeom>
        </p:spPr>
      </p:pic>
      <p:sp>
        <p:nvSpPr>
          <p:cNvPr id="5" name="CuadroTexto 4"/>
          <p:cNvSpPr txBox="1"/>
          <p:nvPr/>
        </p:nvSpPr>
        <p:spPr>
          <a:xfrm rot="19494981">
            <a:off x="-18451" y="3403017"/>
            <a:ext cx="10323647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MX" sz="4000" b="1" dirty="0" smtClean="0">
                <a:solidFill>
                  <a:srgbClr val="FF0000"/>
                </a:solidFill>
              </a:rPr>
              <a:t>STILL THINKING ABOUT THIS ONE</a:t>
            </a:r>
            <a:endParaRPr lang="en-US" sz="4000"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3545046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558</TotalTime>
  <Words>3604</Words>
  <Application>Microsoft Office PowerPoint</Application>
  <PresentationFormat>Panorámica</PresentationFormat>
  <Paragraphs>1795</Paragraphs>
  <Slides>21</Slides>
  <Notes>5</Notes>
  <HiddenSlides>1</HiddenSlides>
  <MMClips>0</MMClips>
  <ScaleCrop>false</ScaleCrop>
  <HeadingPairs>
    <vt:vector size="6" baseType="variant">
      <vt:variant>
        <vt:lpstr>Fuentes usadas</vt:lpstr>
      </vt:variant>
      <vt:variant>
        <vt:i4>4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21</vt:i4>
      </vt:variant>
    </vt:vector>
  </HeadingPairs>
  <TitlesOfParts>
    <vt:vector size="26" baseType="lpstr">
      <vt:lpstr>Arial</vt:lpstr>
      <vt:lpstr>Calibri</vt:lpstr>
      <vt:lpstr>Calibri Light</vt:lpstr>
      <vt:lpstr>Times New Roman</vt:lpstr>
      <vt:lpstr>Tema de Office</vt:lpstr>
      <vt:lpstr>Presentación de PowerPoint</vt:lpstr>
      <vt:lpstr>Presentación de PowerPoint</vt:lpstr>
      <vt:lpstr>Presentación de PowerPoint</vt:lpstr>
      <vt:lpstr>Presentación de PowerPoint</vt:lpstr>
      <vt:lpstr>Main figures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Narea and Parea (optional)</vt:lpstr>
      <vt:lpstr>Presentación de PowerPoint</vt:lpstr>
      <vt:lpstr>Presentación de PowerPoint</vt:lpstr>
      <vt:lpstr>Coeficients plot</vt:lpstr>
      <vt:lpstr>Presentación de PowerPoint</vt:lpstr>
      <vt:lpstr>Presentación de PowerPoint</vt:lpstr>
      <vt:lpstr>Presentación de PowerPoint</vt:lpstr>
      <vt:lpstr>RQ3:What is the relationship between  leaf nutrients (Nmass and Narea) and morphology (SLA) to iWUE at the different altitudes? – No treatments? Will explain the trends at different elevations.  Which analysis? SMA? Or lmer (R ~ Narea * Treat ) per specie  </vt:lpstr>
      <vt:lpstr>Presentación de PowerPoint</vt:lpstr>
      <vt:lpstr>Presentación de PowerPoint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Presentación de PowerPoint</dc:title>
  <dc:creator>selene.baez</dc:creator>
  <cp:lastModifiedBy>selene.baez</cp:lastModifiedBy>
  <cp:revision>48</cp:revision>
  <dcterms:created xsi:type="dcterms:W3CDTF">2026-03-01T16:18:08Z</dcterms:created>
  <dcterms:modified xsi:type="dcterms:W3CDTF">2026-04-21T10:04:07Z</dcterms:modified>
</cp:coreProperties>
</file>