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6" r:id="rId2"/>
    <p:sldId id="267" r:id="rId3"/>
    <p:sldId id="273" r:id="rId4"/>
    <p:sldId id="274" r:id="rId5"/>
    <p:sldId id="281" r:id="rId6"/>
    <p:sldId id="282" r:id="rId7"/>
    <p:sldId id="272" r:id="rId8"/>
    <p:sldId id="276" r:id="rId9"/>
    <p:sldId id="264" r:id="rId10"/>
    <p:sldId id="259" r:id="rId11"/>
    <p:sldId id="280" r:id="rId12"/>
    <p:sldId id="277" r:id="rId13"/>
    <p:sldId id="278" r:id="rId14"/>
    <p:sldId id="279" r:id="rId15"/>
    <p:sldId id="257" r:id="rId16"/>
    <p:sldId id="287" r:id="rId17"/>
    <p:sldId id="270" r:id="rId18"/>
    <p:sldId id="283" r:id="rId19"/>
    <p:sldId id="285" r:id="rId20"/>
    <p:sldId id="260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6047" autoAdjust="0"/>
  </p:normalViewPr>
  <p:slideViewPr>
    <p:cSldViewPr snapToGrid="0" showGuides="1">
      <p:cViewPr varScale="1">
        <p:scale>
          <a:sx n="83" d="100"/>
          <a:sy n="83" d="100"/>
        </p:scale>
        <p:origin x="3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88E1C-9E16-4837-8FE7-B15F160F0F0C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F3BFB-D9DC-44A8-A360-D24B8A5210C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5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Efectos modelo </a:t>
            </a:r>
            <a:r>
              <a:rPr lang="es-MX" dirty="0" err="1" smtClean="0"/>
              <a:t>lmer</a:t>
            </a:r>
            <a:r>
              <a:rPr lang="es-MX" baseline="0" dirty="0" smtClean="0"/>
              <a:t> contra control. Cual será mejor para publicar?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20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Efectos modelo </a:t>
            </a:r>
            <a:r>
              <a:rPr lang="es-MX" dirty="0" err="1" smtClean="0"/>
              <a:t>lmer</a:t>
            </a:r>
            <a:r>
              <a:rPr lang="es-MX" baseline="0" dirty="0" smtClean="0"/>
              <a:t> contra control. Cual será mejor para publicar?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3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DUMMIES.</a:t>
            </a:r>
            <a:r>
              <a:rPr lang="es-MX" baseline="0" dirty="0" smtClean="0"/>
              <a:t> La interpretación del </a:t>
            </a:r>
            <a:r>
              <a:rPr lang="es-MX" baseline="0" dirty="0" err="1" smtClean="0"/>
              <a:t>NxP</a:t>
            </a:r>
            <a:r>
              <a:rPr lang="es-MX" baseline="0" dirty="0" smtClean="0"/>
              <a:t> es diferente. Antagonismo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97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SMA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correlation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between</a:t>
            </a:r>
            <a:r>
              <a:rPr lang="es-MX" baseline="0" dirty="0" smtClean="0"/>
              <a:t> variables. </a:t>
            </a:r>
            <a:r>
              <a:rPr lang="en-US" dirty="0" smtClean="0"/>
              <a:t>Scaling relationships between </a:t>
            </a:r>
            <a:r>
              <a:rPr lang="en-US" dirty="0" err="1" smtClean="0"/>
              <a:t>Asat</a:t>
            </a:r>
            <a:r>
              <a:rPr lang="en-US" dirty="0" smtClean="0"/>
              <a:t> and leaf nutrients were assessed using standardized major axis (SMA) </a:t>
            </a:r>
            <a:r>
              <a:rPr lang="en-US" dirty="0" err="1" smtClean="0"/>
              <a:t>regres</a:t>
            </a:r>
            <a:r>
              <a:rPr lang="en-US" dirty="0" smtClean="0"/>
              <a:t>- </a:t>
            </a:r>
            <a:r>
              <a:rPr lang="en-US" dirty="0" err="1" smtClean="0"/>
              <a:t>sion</a:t>
            </a:r>
            <a:r>
              <a:rPr lang="en-US" dirty="0" smtClean="0"/>
              <a:t> (Wright et al. 2004; Warton et al. 2006; </a:t>
            </a:r>
            <a:r>
              <a:rPr lang="en-US" dirty="0" err="1" smtClean="0"/>
              <a:t>Mantlana</a:t>
            </a:r>
            <a:r>
              <a:rPr lang="en-US" dirty="0" smtClean="0"/>
              <a:t> et al. 2008). SMA regression is a regression method preferred when one is more interested in the true slope of a relation- ship, rather than predicting values for a dependent variable from a predictor variable. It is thus commonly used to establish </a:t>
            </a:r>
            <a:r>
              <a:rPr lang="en-US" dirty="0" err="1" smtClean="0"/>
              <a:t>allometric</a:t>
            </a:r>
            <a:r>
              <a:rPr lang="en-US" dirty="0" smtClean="0"/>
              <a:t> scaling relationships, especially when the two variables are not measured on comparable scales (Warton et al. 2006). All statistical analyses were done in </a:t>
            </a:r>
            <a:r>
              <a:rPr lang="en-US" dirty="0" err="1" smtClean="0"/>
              <a:t>RStudio</a:t>
            </a:r>
            <a:r>
              <a:rPr lang="en-US" dirty="0" smtClean="0"/>
              <a:t> (V 1.1.456).</a:t>
            </a:r>
          </a:p>
          <a:p>
            <a:r>
              <a:rPr lang="es-MX" dirty="0" err="1" smtClean="0"/>
              <a:t>Graphic</a:t>
            </a:r>
            <a:r>
              <a:rPr lang="es-MX" dirty="0" smtClean="0"/>
              <a:t> to </a:t>
            </a:r>
            <a:r>
              <a:rPr lang="es-MX" dirty="0" err="1" smtClean="0"/>
              <a:t>depict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that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although</a:t>
            </a:r>
            <a:r>
              <a:rPr lang="es-MX" baseline="0" dirty="0" smtClean="0"/>
              <a:t> </a:t>
            </a:r>
            <a:r>
              <a:rPr lang="es-MX" baseline="0" dirty="0" err="1" smtClean="0"/>
              <a:t>nutrients</a:t>
            </a:r>
            <a:r>
              <a:rPr lang="es-MX" baseline="0" dirty="0" smtClean="0"/>
              <a:t> are </a:t>
            </a:r>
            <a:r>
              <a:rPr lang="es-MX" baseline="0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enough</a:t>
            </a:r>
            <a:r>
              <a:rPr lang="es-MX" baseline="0" dirty="0" smtClean="0"/>
              <a:t> to </a:t>
            </a:r>
            <a:r>
              <a:rPr lang="es-MX" baseline="0" dirty="0" err="1" smtClean="0"/>
              <a:t>see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shifts</a:t>
            </a:r>
            <a:r>
              <a:rPr lang="es-MX" baseline="0" dirty="0" smtClean="0"/>
              <a:t>. At 2000 and 3000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responses are more similar. </a:t>
            </a:r>
          </a:p>
          <a:p>
            <a:r>
              <a:rPr lang="es-MX" baseline="0" dirty="0" err="1" smtClean="0"/>
              <a:t>Pouteria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Hedyosmum</a:t>
            </a:r>
            <a:r>
              <a:rPr lang="es-MX" baseline="0" dirty="0" smtClean="0"/>
              <a:t> y </a:t>
            </a:r>
            <a:r>
              <a:rPr lang="es-MX" baseline="0" dirty="0" err="1" smtClean="0"/>
              <a:t>Weinmania</a:t>
            </a:r>
            <a:r>
              <a:rPr lang="es-MX" baseline="0" dirty="0" smtClean="0"/>
              <a:t> tienen resultados que se pueden discutir. Solo en estas </a:t>
            </a:r>
            <a:r>
              <a:rPr lang="es-MX" baseline="0" dirty="0" err="1" smtClean="0"/>
              <a:t>Narea</a:t>
            </a:r>
            <a:r>
              <a:rPr lang="es-MX" baseline="0" dirty="0" smtClean="0"/>
              <a:t> funciona como predictor, pero no necesariamente en todas.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35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F3BFB-D9DC-44A8-A360-D24B8A5210C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9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7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9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7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4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6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5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8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28C04-B849-41DA-B09B-25717358C15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FB7F6-16B3-47A4-9A0F-161966D9C78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5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0" r="36335" b="24059"/>
          <a:stretch/>
        </p:blipFill>
        <p:spPr>
          <a:xfrm>
            <a:off x="1460897" y="825672"/>
            <a:ext cx="8328562" cy="5206656"/>
          </a:xfrm>
        </p:spPr>
      </p:pic>
      <p:sp>
        <p:nvSpPr>
          <p:cNvPr id="5" name="Rectángulo 4"/>
          <p:cNvSpPr/>
          <p:nvPr/>
        </p:nvSpPr>
        <p:spPr>
          <a:xfrm>
            <a:off x="1577788" y="512826"/>
            <a:ext cx="490369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2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RQ1. Does moderate nutrient addition affect intrinsic water-use efficiency (</a:t>
            </a:r>
            <a:r>
              <a:rPr lang="en-US" sz="2300" i="1" dirty="0" err="1">
                <a:solidFill>
                  <a:schemeClr val="accent6">
                    <a:lumMod val="75000"/>
                  </a:schemeClr>
                </a:solidFill>
              </a:rPr>
              <a:t>iWUE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) after 15 years of fertilization across treatments in an </a:t>
            </a:r>
            <a:r>
              <a:rPr lang="en-US" sz="2300" i="1" dirty="0" err="1">
                <a:solidFill>
                  <a:schemeClr val="accent6">
                    <a:lumMod val="75000"/>
                  </a:schemeClr>
                </a:solidFill>
              </a:rPr>
              <a:t>elevational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 gradient</a:t>
            </a:r>
            <a:r>
              <a:rPr lang="en-US" sz="2300" i="1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endParaRPr lang="en-US" sz="23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300" i="1" dirty="0" smtClean="0">
                <a:solidFill>
                  <a:schemeClr val="accent6">
                    <a:lumMod val="75000"/>
                  </a:schemeClr>
                </a:solidFill>
              </a:rPr>
              <a:t>RQ2. 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What is the effect of  moderate nutrient addition to leaf nutrients (</a:t>
            </a:r>
            <a:r>
              <a:rPr lang="en-US" sz="2300" i="1" dirty="0" err="1">
                <a:solidFill>
                  <a:schemeClr val="accent6">
                    <a:lumMod val="75000"/>
                  </a:schemeClr>
                </a:solidFill>
              </a:rPr>
              <a:t>Nmass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en-US" sz="2300" i="1" dirty="0" err="1">
                <a:solidFill>
                  <a:schemeClr val="accent6">
                    <a:lumMod val="75000"/>
                  </a:schemeClr>
                </a:solidFill>
              </a:rPr>
              <a:t>Narea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) and key leaf structural traits (</a:t>
            </a:r>
            <a:r>
              <a:rPr lang="en-US" sz="2300" i="1" dirty="0" smtClean="0">
                <a:solidFill>
                  <a:schemeClr val="accent6">
                    <a:lumMod val="75000"/>
                  </a:schemeClr>
                </a:solidFill>
              </a:rPr>
              <a:t>SLA) 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after 15 years of fertilization across treatments in an </a:t>
            </a:r>
            <a:r>
              <a:rPr lang="en-US" sz="2300" i="1" dirty="0" err="1">
                <a:solidFill>
                  <a:schemeClr val="accent6">
                    <a:lumMod val="75000"/>
                  </a:schemeClr>
                </a:solidFill>
              </a:rPr>
              <a:t>elevational</a:t>
            </a: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</a:rPr>
              <a:t> gradient?</a:t>
            </a:r>
            <a:endParaRPr lang="en-US" sz="23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dirty="0" err="1"/>
              <a:t>iWUE</a:t>
            </a:r>
            <a:r>
              <a:rPr lang="es-MX" dirty="0"/>
              <a:t> </a:t>
            </a:r>
            <a:r>
              <a:rPr lang="es-MX" dirty="0" err="1"/>
              <a:t>does</a:t>
            </a:r>
            <a:r>
              <a:rPr lang="es-MX" dirty="0"/>
              <a:t> </a:t>
            </a:r>
            <a:r>
              <a:rPr lang="es-MX" dirty="0" err="1"/>
              <a:t>not</a:t>
            </a:r>
            <a:r>
              <a:rPr lang="es-MX" dirty="0"/>
              <a:t> show </a:t>
            </a:r>
            <a:r>
              <a:rPr lang="es-MX" dirty="0" err="1"/>
              <a:t>changes</a:t>
            </a:r>
            <a:r>
              <a:rPr lang="es-MX" dirty="0"/>
              <a:t> per </a:t>
            </a:r>
            <a:r>
              <a:rPr lang="es-MX" dirty="0" err="1"/>
              <a:t>treatments</a:t>
            </a:r>
            <a:r>
              <a:rPr lang="es-MX" dirty="0"/>
              <a:t> </a:t>
            </a:r>
            <a:r>
              <a:rPr lang="es-MX" dirty="0" smtClean="0"/>
              <a:t>(</a:t>
            </a:r>
            <a:r>
              <a:rPr lang="es-MX" dirty="0" err="1" smtClean="0"/>
              <a:t>slide</a:t>
            </a:r>
            <a:r>
              <a:rPr lang="es-MX" dirty="0" smtClean="0"/>
              <a:t> 5) </a:t>
            </a:r>
            <a:r>
              <a:rPr lang="es-MX" dirty="0" err="1" smtClean="0"/>
              <a:t>although</a:t>
            </a:r>
            <a:r>
              <a:rPr lang="es-MX" dirty="0" smtClean="0"/>
              <a:t> </a:t>
            </a:r>
            <a:r>
              <a:rPr lang="es-MX" dirty="0" err="1"/>
              <a:t>there</a:t>
            </a:r>
            <a:r>
              <a:rPr lang="es-MX" dirty="0"/>
              <a:t> are </a:t>
            </a:r>
            <a:r>
              <a:rPr lang="es-MX" dirty="0" err="1"/>
              <a:t>differences</a:t>
            </a:r>
            <a:r>
              <a:rPr lang="es-MX" dirty="0"/>
              <a:t> </a:t>
            </a:r>
            <a:r>
              <a:rPr lang="es-MX" dirty="0" err="1"/>
              <a:t>between</a:t>
            </a:r>
            <a:r>
              <a:rPr lang="es-MX" dirty="0"/>
              <a:t> </a:t>
            </a:r>
            <a:r>
              <a:rPr lang="es-MX" dirty="0" err="1"/>
              <a:t>groups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leaf</a:t>
            </a:r>
            <a:r>
              <a:rPr lang="es-MX" dirty="0"/>
              <a:t> </a:t>
            </a:r>
            <a:r>
              <a:rPr lang="es-MX" dirty="0" err="1"/>
              <a:t>nutrients</a:t>
            </a:r>
            <a:r>
              <a:rPr lang="es-MX" dirty="0"/>
              <a:t> </a:t>
            </a:r>
            <a:r>
              <a:rPr lang="es-MX" dirty="0" smtClean="0"/>
              <a:t>(</a:t>
            </a:r>
            <a:r>
              <a:rPr lang="es-MX" dirty="0"/>
              <a:t>ex. </a:t>
            </a:r>
            <a:r>
              <a:rPr lang="es-MX" dirty="0" err="1"/>
              <a:t>Narea</a:t>
            </a:r>
            <a:r>
              <a:rPr lang="es-MX" dirty="0"/>
              <a:t>, </a:t>
            </a:r>
            <a:r>
              <a:rPr lang="es-MX" dirty="0" err="1"/>
              <a:t>or</a:t>
            </a:r>
            <a:r>
              <a:rPr lang="es-MX" dirty="0"/>
              <a:t> N(mg/g)). (</a:t>
            </a:r>
            <a:r>
              <a:rPr lang="es-MX" dirty="0" err="1"/>
              <a:t>slide</a:t>
            </a:r>
            <a:r>
              <a:rPr lang="es-MX" dirty="0"/>
              <a:t> </a:t>
            </a:r>
            <a:r>
              <a:rPr lang="es-MX" dirty="0" smtClean="0"/>
              <a:t>6,7,8)</a:t>
            </a:r>
            <a:r>
              <a:rPr lang="en-US" i="1" dirty="0" smtClean="0"/>
              <a:t>. </a:t>
            </a:r>
            <a:r>
              <a:rPr lang="en-US" dirty="0" smtClean="0"/>
              <a:t>SLA also does not change </a:t>
            </a:r>
            <a:r>
              <a:rPr lang="en-US" dirty="0" err="1" smtClean="0"/>
              <a:t>consistenly</a:t>
            </a:r>
            <a:r>
              <a:rPr lang="en-US" dirty="0" smtClean="0"/>
              <a:t> just </a:t>
            </a:r>
            <a:r>
              <a:rPr lang="en-US" i="1" dirty="0" smtClean="0"/>
              <a:t>C. </a:t>
            </a:r>
            <a:r>
              <a:rPr lang="en-US" i="1" dirty="0" err="1" smtClean="0"/>
              <a:t>racemosa</a:t>
            </a:r>
            <a:r>
              <a:rPr lang="en-US" i="1" dirty="0" smtClean="0"/>
              <a:t> (</a:t>
            </a:r>
            <a:r>
              <a:rPr lang="en-US" dirty="0" smtClean="0"/>
              <a:t>slide 9</a:t>
            </a:r>
            <a:r>
              <a:rPr lang="en-US" i="1" dirty="0" smtClean="0"/>
              <a:t>) </a:t>
            </a:r>
            <a:endParaRPr lang="en-US" dirty="0"/>
          </a:p>
          <a:p>
            <a:r>
              <a:rPr lang="es-MX" dirty="0" smtClean="0"/>
              <a:t>Responses </a:t>
            </a:r>
            <a:r>
              <a:rPr lang="es-MX" dirty="0" err="1" smtClean="0"/>
              <a:t>change</a:t>
            </a:r>
            <a:r>
              <a:rPr lang="es-MX" dirty="0" smtClean="0"/>
              <a:t> per </a:t>
            </a:r>
            <a:r>
              <a:rPr lang="es-MX" dirty="0" err="1" smtClean="0"/>
              <a:t>specie</a:t>
            </a:r>
            <a:r>
              <a:rPr lang="es-MX" dirty="0" smtClean="0"/>
              <a:t> -&gt; </a:t>
            </a:r>
            <a:r>
              <a:rPr lang="es-MX" dirty="0" err="1" smtClean="0"/>
              <a:t>Working</a:t>
            </a:r>
            <a:r>
              <a:rPr lang="es-MX" dirty="0" smtClean="0"/>
              <a:t> </a:t>
            </a:r>
            <a:r>
              <a:rPr lang="es-MX" dirty="0" err="1" smtClean="0"/>
              <a:t>on</a:t>
            </a:r>
            <a:r>
              <a:rPr lang="es-MX" dirty="0" smtClean="0"/>
              <a:t> a chart of </a:t>
            </a:r>
            <a:r>
              <a:rPr lang="es-MX" dirty="0" err="1" smtClean="0"/>
              <a:t>species</a:t>
            </a:r>
            <a:r>
              <a:rPr lang="es-MX" dirty="0" smtClean="0"/>
              <a:t> </a:t>
            </a:r>
            <a:r>
              <a:rPr lang="es-MX" dirty="0" err="1" smtClean="0"/>
              <a:t>characteristics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 err="1" smtClean="0"/>
              <a:t>Species</a:t>
            </a:r>
            <a:r>
              <a:rPr lang="es-MX" dirty="0" smtClean="0"/>
              <a:t> at 2000 </a:t>
            </a:r>
            <a:r>
              <a:rPr lang="es-MX" dirty="0" err="1" smtClean="0"/>
              <a:t>asl</a:t>
            </a:r>
            <a:r>
              <a:rPr lang="es-MX" dirty="0" smtClean="0"/>
              <a:t> and 3000 </a:t>
            </a:r>
            <a:r>
              <a:rPr lang="es-MX" dirty="0" err="1" smtClean="0"/>
              <a:t>asl</a:t>
            </a:r>
            <a:r>
              <a:rPr lang="es-MX" dirty="0" smtClean="0"/>
              <a:t> more similar in </a:t>
            </a:r>
            <a:r>
              <a:rPr lang="es-MX" dirty="0" err="1" smtClean="0"/>
              <a:t>their</a:t>
            </a:r>
            <a:r>
              <a:rPr lang="es-MX" dirty="0" smtClean="0"/>
              <a:t> responses tan at 1000. </a:t>
            </a:r>
            <a:r>
              <a:rPr lang="es-MX" dirty="0" err="1"/>
              <a:t>Higher</a:t>
            </a:r>
            <a:r>
              <a:rPr lang="es-MX" dirty="0"/>
              <a:t> </a:t>
            </a:r>
            <a:r>
              <a:rPr lang="es-MX" dirty="0" err="1"/>
              <a:t>iWUE</a:t>
            </a:r>
            <a:r>
              <a:rPr lang="es-MX" dirty="0"/>
              <a:t> at </a:t>
            </a:r>
            <a:r>
              <a:rPr lang="es-MX" dirty="0" err="1"/>
              <a:t>mid</a:t>
            </a:r>
            <a:r>
              <a:rPr lang="es-MX" dirty="0"/>
              <a:t> and </a:t>
            </a:r>
            <a:r>
              <a:rPr lang="es-MX" dirty="0" err="1"/>
              <a:t>higher</a:t>
            </a:r>
            <a:r>
              <a:rPr lang="es-MX" dirty="0"/>
              <a:t> </a:t>
            </a:r>
            <a:r>
              <a:rPr lang="es-MX" dirty="0" err="1"/>
              <a:t>elevations</a:t>
            </a:r>
            <a:r>
              <a:rPr lang="es-MX" dirty="0"/>
              <a:t> </a:t>
            </a:r>
            <a:r>
              <a:rPr lang="es-MX" dirty="0" err="1"/>
              <a:t>associated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conservative</a:t>
            </a:r>
            <a:r>
              <a:rPr lang="es-MX" dirty="0"/>
              <a:t> </a:t>
            </a:r>
            <a:r>
              <a:rPr lang="es-MX" dirty="0" err="1"/>
              <a:t>traits</a:t>
            </a:r>
            <a:r>
              <a:rPr lang="es-MX" dirty="0"/>
              <a:t> ( </a:t>
            </a:r>
            <a:r>
              <a:rPr lang="es-MX" dirty="0" err="1"/>
              <a:t>smaller</a:t>
            </a:r>
            <a:r>
              <a:rPr lang="es-MX" dirty="0"/>
              <a:t> SLA, </a:t>
            </a:r>
            <a:r>
              <a:rPr lang="es-MX" dirty="0" err="1"/>
              <a:t>higher</a:t>
            </a:r>
            <a:r>
              <a:rPr lang="es-MX" dirty="0"/>
              <a:t> N </a:t>
            </a:r>
            <a:r>
              <a:rPr lang="es-MX" dirty="0" err="1" smtClean="0"/>
              <a:t>content</a:t>
            </a:r>
            <a:r>
              <a:rPr lang="es-MX" dirty="0" smtClean="0"/>
              <a:t>). </a:t>
            </a:r>
            <a:endParaRPr lang="es-MX" dirty="0"/>
          </a:p>
          <a:p>
            <a:endParaRPr lang="es-MX" dirty="0" smtClean="0"/>
          </a:p>
          <a:p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88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023627"/>
              </p:ext>
            </p:extLst>
          </p:nvPr>
        </p:nvGraphicFramePr>
        <p:xfrm>
          <a:off x="2102224" y="1947953"/>
          <a:ext cx="7310718" cy="3403976"/>
        </p:xfrm>
        <a:graphic>
          <a:graphicData uri="http://schemas.openxmlformats.org/drawingml/2006/table">
            <a:tbl>
              <a:tblPr/>
              <a:tblGrid>
                <a:gridCol w="1964303">
                  <a:extLst>
                    <a:ext uri="{9D8B030D-6E8A-4147-A177-3AD203B41FA5}">
                      <a16:colId xmlns:a16="http://schemas.microsoft.com/office/drawing/2014/main" val="638272800"/>
                    </a:ext>
                  </a:extLst>
                </a:gridCol>
                <a:gridCol w="1964303">
                  <a:extLst>
                    <a:ext uri="{9D8B030D-6E8A-4147-A177-3AD203B41FA5}">
                      <a16:colId xmlns:a16="http://schemas.microsoft.com/office/drawing/2014/main" val="268160918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3643027821"/>
                    </a:ext>
                  </a:extLst>
                </a:gridCol>
                <a:gridCol w="763553">
                  <a:extLst>
                    <a:ext uri="{9D8B030D-6E8A-4147-A177-3AD203B41FA5}">
                      <a16:colId xmlns:a16="http://schemas.microsoft.com/office/drawing/2014/main" val="3282788344"/>
                    </a:ext>
                  </a:extLst>
                </a:gridCol>
                <a:gridCol w="982152">
                  <a:extLst>
                    <a:ext uri="{9D8B030D-6E8A-4147-A177-3AD203B41FA5}">
                      <a16:colId xmlns:a16="http://schemas.microsoft.com/office/drawing/2014/main" val="2475363090"/>
                    </a:ext>
                  </a:extLst>
                </a:gridCol>
                <a:gridCol w="982152">
                  <a:extLst>
                    <a:ext uri="{9D8B030D-6E8A-4147-A177-3AD203B41FA5}">
                      <a16:colId xmlns:a16="http://schemas.microsoft.com/office/drawing/2014/main" val="2309185388"/>
                    </a:ext>
                  </a:extLst>
                </a:gridCol>
              </a:tblGrid>
              <a:tr h="3911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NxP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34325"/>
                  </a:ext>
                </a:extLst>
              </a:tr>
              <a:tr h="3911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elevation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366288"/>
                  </a:ext>
                </a:extLst>
              </a:tr>
              <a:tr h="391178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Clarisia</a:t>
                      </a:r>
                      <a:r>
                        <a:rPr lang="en-US" sz="11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racemosa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32569"/>
                  </a:ext>
                </a:extLst>
              </a:tr>
              <a:tr h="3911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Pouteria torta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31490"/>
                  </a:ext>
                </a:extLst>
              </a:tr>
              <a:tr h="391178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Alchornea lojaensis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188937"/>
                  </a:ext>
                </a:extLst>
              </a:tr>
              <a:tr h="3911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Myrcia sp nov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78832"/>
                  </a:ext>
                </a:extLst>
              </a:tr>
              <a:tr h="665730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Hedyosmun purpurascens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88485"/>
                  </a:ext>
                </a:extLst>
              </a:tr>
              <a:tr h="3911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Weinmania</a:t>
                      </a:r>
                      <a:r>
                        <a:rPr lang="en-US" sz="110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loxensis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9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21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123302"/>
              </p:ext>
            </p:extLst>
          </p:nvPr>
        </p:nvGraphicFramePr>
        <p:xfrm>
          <a:off x="1054766" y="1454275"/>
          <a:ext cx="10488705" cy="5117990"/>
        </p:xfrm>
        <a:graphic>
          <a:graphicData uri="http://schemas.openxmlformats.org/drawingml/2006/table">
            <a:tbl>
              <a:tblPr firstRow="1" firstCol="1" bandRow="1"/>
              <a:tblGrid>
                <a:gridCol w="878176">
                  <a:extLst>
                    <a:ext uri="{9D8B030D-6E8A-4147-A177-3AD203B41FA5}">
                      <a16:colId xmlns:a16="http://schemas.microsoft.com/office/drawing/2014/main" val="1082406971"/>
                    </a:ext>
                  </a:extLst>
                </a:gridCol>
                <a:gridCol w="878176">
                  <a:extLst>
                    <a:ext uri="{9D8B030D-6E8A-4147-A177-3AD203B41FA5}">
                      <a16:colId xmlns:a16="http://schemas.microsoft.com/office/drawing/2014/main" val="812241960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1317689724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3918980801"/>
                    </a:ext>
                  </a:extLst>
                </a:gridCol>
                <a:gridCol w="517024">
                  <a:extLst>
                    <a:ext uri="{9D8B030D-6E8A-4147-A177-3AD203B41FA5}">
                      <a16:colId xmlns:a16="http://schemas.microsoft.com/office/drawing/2014/main" val="1518967842"/>
                    </a:ext>
                  </a:extLst>
                </a:gridCol>
                <a:gridCol w="517024">
                  <a:extLst>
                    <a:ext uri="{9D8B030D-6E8A-4147-A177-3AD203B41FA5}">
                      <a16:colId xmlns:a16="http://schemas.microsoft.com/office/drawing/2014/main" val="1686776933"/>
                    </a:ext>
                  </a:extLst>
                </a:gridCol>
                <a:gridCol w="517024">
                  <a:extLst>
                    <a:ext uri="{9D8B030D-6E8A-4147-A177-3AD203B41FA5}">
                      <a16:colId xmlns:a16="http://schemas.microsoft.com/office/drawing/2014/main" val="3217739937"/>
                    </a:ext>
                  </a:extLst>
                </a:gridCol>
                <a:gridCol w="517024">
                  <a:extLst>
                    <a:ext uri="{9D8B030D-6E8A-4147-A177-3AD203B41FA5}">
                      <a16:colId xmlns:a16="http://schemas.microsoft.com/office/drawing/2014/main" val="338732633"/>
                    </a:ext>
                  </a:extLst>
                </a:gridCol>
                <a:gridCol w="517024">
                  <a:extLst>
                    <a:ext uri="{9D8B030D-6E8A-4147-A177-3AD203B41FA5}">
                      <a16:colId xmlns:a16="http://schemas.microsoft.com/office/drawing/2014/main" val="3780800911"/>
                    </a:ext>
                  </a:extLst>
                </a:gridCol>
                <a:gridCol w="517024">
                  <a:extLst>
                    <a:ext uri="{9D8B030D-6E8A-4147-A177-3AD203B41FA5}">
                      <a16:colId xmlns:a16="http://schemas.microsoft.com/office/drawing/2014/main" val="2209670286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2737956517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1672633611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3581832064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4025123883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2791165417"/>
                    </a:ext>
                  </a:extLst>
                </a:gridCol>
                <a:gridCol w="1165201">
                  <a:extLst>
                    <a:ext uri="{9D8B030D-6E8A-4147-A177-3AD203B41FA5}">
                      <a16:colId xmlns:a16="http://schemas.microsoft.com/office/drawing/2014/main" val="2509695624"/>
                    </a:ext>
                  </a:extLst>
                </a:gridCol>
                <a:gridCol w="1165201">
                  <a:extLst>
                    <a:ext uri="{9D8B030D-6E8A-4147-A177-3AD203B41FA5}">
                      <a16:colId xmlns:a16="http://schemas.microsoft.com/office/drawing/2014/main" val="3094796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δ13C (‰ </a:t>
                      </a:r>
                      <a:r>
                        <a:rPr lang="es-MX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v.s.V</a:t>
                      </a: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-PDB)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iWUE</a:t>
                      </a: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s-MX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μmol</a:t>
                      </a: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/mol)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Specific leaf area (cm²/g)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LCC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LNC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LPC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N:P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923482"/>
                  </a:ext>
                </a:extLst>
              </a:tr>
              <a:tr h="12993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98446"/>
                  </a:ext>
                </a:extLst>
              </a:tr>
              <a:tr h="194906">
                <a:tc rowSpan="8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Clarisia  racemosa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-30.63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96.61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5.19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92.05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10.83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421.37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17.39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2.56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21.87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2.18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664282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-31.8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82.22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112.06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447.15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20.86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8901776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-30.88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93.6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4.43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108.27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8.87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430.5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23.65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20.83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3.48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62808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-29.84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106.26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15.19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95.65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438.34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12.74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19.62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2.69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16.87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2.64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545901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Pouteria torta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-31.55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85.26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9.34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8.75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5.31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15.29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0.65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24.45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581265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-31.27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99.8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22.43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78.19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14.39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480.5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15.69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25.95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5.44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50300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-31.74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82.99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16.58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79.48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477.95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16.38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22.58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672991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-31.27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88.76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11.48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78.02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10.48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479.21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5.51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16.68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0.77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22.47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5.11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3779"/>
                  </a:ext>
                </a:extLst>
              </a:tr>
              <a:tr h="194906">
                <a:tc rowSpan="8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Alchornea lojaensis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-26.51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146.94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35.67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489.94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9.19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11.61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001482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-26.57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146.26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13.81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36.94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3.38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487.69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10.08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13.14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16.83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391207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-26.77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1.45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143.79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17.65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34.5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490.56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10.44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12.04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9.59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616844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140.31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486.93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5.09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8.94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283133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Myrcia sp nov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131.33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36.24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4.23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472.37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9.44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8.82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0.43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23.28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052024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-27.24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138.06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11.23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35.42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2.48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470.86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9.99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23.54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200428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137.71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12.18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35.88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2.64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464.64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6.03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12.42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055887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-27.34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136.92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8.09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469.88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9.99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8.19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1.7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6.34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925382"/>
                  </a:ext>
                </a:extLst>
              </a:tr>
              <a:tr h="194906">
                <a:tc rowSpan="8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Hedyosmun  purpurascens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-26.81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1.44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143.37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17.6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68.88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16.18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438.02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6.14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14.31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1.09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581876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-26.35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148.86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60.87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6.61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434.85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10.11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17.47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21.78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295381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-24.85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167.17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65.98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5.04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442.68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6.62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17.08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15.94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312798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-27.29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137.48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75.91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12.42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436.7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5.99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15.65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1.42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11.12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4.43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82071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Weinmania  loxensis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-27.7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132.49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5.89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444.08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7.83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10.43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0.56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18.65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671285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-28.06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128.13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10.95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69.55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9.63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445.46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11.47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1.77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0.61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18.89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1.99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107656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-29.03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116.22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72.21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6.39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460.1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15.57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658009"/>
                  </a:ext>
                </a:extLst>
              </a:tr>
              <a:tr h="1949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-28.38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124.17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72.58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440.55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10.73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7.31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3.43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14" marR="29714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865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1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Main</a:t>
            </a:r>
            <a:r>
              <a:rPr lang="es-MX" dirty="0" smtClean="0"/>
              <a:t> figures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0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t="16376" b="10718"/>
          <a:stretch/>
        </p:blipFill>
        <p:spPr>
          <a:xfrm>
            <a:off x="832856" y="1105368"/>
            <a:ext cx="10805272" cy="3349199"/>
          </a:xfrm>
          <a:prstGeom prst="rect">
            <a:avLst/>
          </a:prstGeom>
        </p:spPr>
      </p:pic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35089"/>
              </p:ext>
            </p:extLst>
          </p:nvPr>
        </p:nvGraphicFramePr>
        <p:xfrm>
          <a:off x="1648276" y="4421689"/>
          <a:ext cx="9363205" cy="242645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156230">
                  <a:extLst>
                    <a:ext uri="{9D8B030D-6E8A-4147-A177-3AD203B41FA5}">
                      <a16:colId xmlns:a16="http://schemas.microsoft.com/office/drawing/2014/main" val="3195771121"/>
                    </a:ext>
                  </a:extLst>
                </a:gridCol>
                <a:gridCol w="600935">
                  <a:extLst>
                    <a:ext uri="{9D8B030D-6E8A-4147-A177-3AD203B41FA5}">
                      <a16:colId xmlns:a16="http://schemas.microsoft.com/office/drawing/2014/main" val="3945831580"/>
                    </a:ext>
                  </a:extLst>
                </a:gridCol>
                <a:gridCol w="745464">
                  <a:extLst>
                    <a:ext uri="{9D8B030D-6E8A-4147-A177-3AD203B41FA5}">
                      <a16:colId xmlns:a16="http://schemas.microsoft.com/office/drawing/2014/main" val="3184800768"/>
                    </a:ext>
                  </a:extLst>
                </a:gridCol>
                <a:gridCol w="570507">
                  <a:extLst>
                    <a:ext uri="{9D8B030D-6E8A-4147-A177-3AD203B41FA5}">
                      <a16:colId xmlns:a16="http://schemas.microsoft.com/office/drawing/2014/main" val="2573817784"/>
                    </a:ext>
                  </a:extLst>
                </a:gridCol>
                <a:gridCol w="585721">
                  <a:extLst>
                    <a:ext uri="{9D8B030D-6E8A-4147-A177-3AD203B41FA5}">
                      <a16:colId xmlns:a16="http://schemas.microsoft.com/office/drawing/2014/main" val="2730638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3188400172"/>
                    </a:ext>
                  </a:extLst>
                </a:gridCol>
                <a:gridCol w="753071">
                  <a:extLst>
                    <a:ext uri="{9D8B030D-6E8A-4147-A177-3AD203B41FA5}">
                      <a16:colId xmlns:a16="http://schemas.microsoft.com/office/drawing/2014/main" val="1559614308"/>
                    </a:ext>
                  </a:extLst>
                </a:gridCol>
                <a:gridCol w="616149">
                  <a:extLst>
                    <a:ext uri="{9D8B030D-6E8A-4147-A177-3AD203B41FA5}">
                      <a16:colId xmlns:a16="http://schemas.microsoft.com/office/drawing/2014/main" val="633016869"/>
                    </a:ext>
                  </a:extLst>
                </a:gridCol>
                <a:gridCol w="775890">
                  <a:extLst>
                    <a:ext uri="{9D8B030D-6E8A-4147-A177-3AD203B41FA5}">
                      <a16:colId xmlns:a16="http://schemas.microsoft.com/office/drawing/2014/main" val="3959304717"/>
                    </a:ext>
                  </a:extLst>
                </a:gridCol>
                <a:gridCol w="677002">
                  <a:extLst>
                    <a:ext uri="{9D8B030D-6E8A-4147-A177-3AD203B41FA5}">
                      <a16:colId xmlns:a16="http://schemas.microsoft.com/office/drawing/2014/main" val="2166713249"/>
                    </a:ext>
                  </a:extLst>
                </a:gridCol>
                <a:gridCol w="669396">
                  <a:extLst>
                    <a:ext uri="{9D8B030D-6E8A-4147-A177-3AD203B41FA5}">
                      <a16:colId xmlns:a16="http://schemas.microsoft.com/office/drawing/2014/main" val="1277636722"/>
                    </a:ext>
                  </a:extLst>
                </a:gridCol>
                <a:gridCol w="281451">
                  <a:extLst>
                    <a:ext uri="{9D8B030D-6E8A-4147-A177-3AD203B41FA5}">
                      <a16:colId xmlns:a16="http://schemas.microsoft.com/office/drawing/2014/main" val="4433817"/>
                    </a:ext>
                  </a:extLst>
                </a:gridCol>
                <a:gridCol w="349913">
                  <a:extLst>
                    <a:ext uri="{9D8B030D-6E8A-4147-A177-3AD203B41FA5}">
                      <a16:colId xmlns:a16="http://schemas.microsoft.com/office/drawing/2014/main" val="54465901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3586788963"/>
                    </a:ext>
                  </a:extLst>
                </a:gridCol>
                <a:gridCol w="624213">
                  <a:extLst>
                    <a:ext uri="{9D8B030D-6E8A-4147-A177-3AD203B41FA5}">
                      <a16:colId xmlns:a16="http://schemas.microsoft.com/office/drawing/2014/main" val="2469421007"/>
                    </a:ext>
                  </a:extLst>
                </a:gridCol>
              </a:tblGrid>
              <a:tr h="42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term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(Intercept)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(Intercept)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SUBN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SUBN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SUBNP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SUBNP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SUBP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SUBP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SD (Intercept Bloque)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SD (Observations)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Num.Obs.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R2 Marg.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R2 Cond.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AIC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3691828474"/>
                  </a:ext>
                </a:extLst>
              </a:tr>
              <a:tr h="14710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statistic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estimate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std.error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estimate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std.error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estimate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std.error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estimate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std.error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estimate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estimate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564539061"/>
                  </a:ext>
                </a:extLst>
              </a:tr>
              <a:tr h="286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SLA | 1000 | Pouteria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80.265***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(3.333)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-2.075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(4.829)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-0.783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(5.344)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-2.247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(5.136)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11.053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0.008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265.3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2865498123"/>
                  </a:ext>
                </a:extLst>
              </a:tr>
              <a:tr h="286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SLA | 1000 | Clarisia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92.055***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(5.532)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24.498*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(7.724)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14.369*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(4.867)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7.687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(5.135)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7.217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6.303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0.374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0.729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71.2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1330114640"/>
                  </a:ext>
                </a:extLst>
              </a:tr>
              <a:tr h="286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SLA | 2000 | Alchornea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35.554***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(1.365)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1.260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(1.762)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-1.368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(1.875)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0.383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(1.592)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1.357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4.087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0.133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255.7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319040502"/>
                  </a:ext>
                </a:extLst>
              </a:tr>
              <a:tr h="286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SLA | 2000 | Myrcia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36.240***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(0.859)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-0.816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(1.359)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-0.361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(1.261)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-1.871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(1.289)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3.329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50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0.045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263.2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777109380"/>
                  </a:ext>
                </a:extLst>
              </a:tr>
              <a:tr h="286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SLA | 3000 | Hedyosmum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68.883***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(5.136)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-8.013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(6.954)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-2.907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(8.387)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7.024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(6.725)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11.484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0.222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149.7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1107355154"/>
                  </a:ext>
                </a:extLst>
              </a:tr>
              <a:tr h="286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SLA | 3000 | </a:t>
                      </a:r>
                      <a:r>
                        <a:rPr lang="en-US" sz="1000" u="none" strike="noStrike" dirty="0" err="1">
                          <a:effectLst/>
                        </a:rPr>
                        <a:t>Weinmannia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70.102***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(3.009)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-0.552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(4.255)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2.106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(5.629)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2.477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(4.074)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6.728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0.040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110.8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63" marR="8763" marT="8763" marB="0" anchor="b"/>
                </a:tc>
                <a:extLst>
                  <a:ext uri="{0D108BD9-81ED-4DB2-BD59-A6C34878D82A}">
                    <a16:rowId xmlns:a16="http://schemas.microsoft.com/office/drawing/2014/main" val="1575591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80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6683" b="13213"/>
          <a:stretch/>
        </p:blipFill>
        <p:spPr>
          <a:xfrm>
            <a:off x="640394" y="1084729"/>
            <a:ext cx="10997734" cy="328108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737446"/>
              </p:ext>
            </p:extLst>
          </p:nvPr>
        </p:nvGraphicFramePr>
        <p:xfrm>
          <a:off x="1026459" y="4365812"/>
          <a:ext cx="10515600" cy="221963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133261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9099238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9250799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13955222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719613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91653471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38298231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98480198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85242142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95355269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9108356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3441098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5285706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64006574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699937592"/>
                    </a:ext>
                  </a:extLst>
                </a:gridCol>
              </a:tblGrid>
              <a:tr h="1643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SD (Intercept Bloque)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(Observations)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Num.Obs</a:t>
                      </a:r>
                      <a:r>
                        <a:rPr lang="en-US" sz="1100" u="none" strike="noStrike" dirty="0">
                          <a:effectLst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Marg.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Cond.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5320251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Modelo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estimates.1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estimates.2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estimates.3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estimates.4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estimates.5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estimates.6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estimates.7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estimates.8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estimates.9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gof.1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gof.2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gof.3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666272853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logNmass | 1000 | Pouteria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2.728***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0.082*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-54.8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746702471"/>
                  </a:ext>
                </a:extLst>
              </a:tr>
              <a:tr h="18899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logNmass</a:t>
                      </a:r>
                      <a:r>
                        <a:rPr lang="en-US" sz="900" u="none" strike="noStrike" dirty="0">
                          <a:effectLst/>
                        </a:rPr>
                        <a:t> | 1000 | </a:t>
                      </a:r>
                      <a:r>
                        <a:rPr lang="en-US" sz="900" u="none" strike="noStrike" dirty="0" err="1">
                          <a:effectLst/>
                        </a:rPr>
                        <a:t>Clarisia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2.849***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(0.070)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0.150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(0.141)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0.313*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0.520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4.9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4226927365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logNmass</a:t>
                      </a:r>
                      <a:r>
                        <a:rPr lang="en-US" sz="900" u="none" strike="noStrike" dirty="0">
                          <a:effectLst/>
                        </a:rPr>
                        <a:t> | 2000 | </a:t>
                      </a:r>
                      <a:r>
                        <a:rPr lang="en-US" sz="900" u="none" strike="noStrike" dirty="0" err="1">
                          <a:effectLst/>
                        </a:rPr>
                        <a:t>Alchornea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2.442***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(0.039)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0.125*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(0.058)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0.038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(0.061)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(0.052)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0.182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-26.6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1742231457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logNmass | 2000 | Myrcia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2.168***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0.132**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(0.043)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0.102*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(0.041)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-0.071+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(0.041)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0.350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0.405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-52.1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661934195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logNmass</a:t>
                      </a:r>
                      <a:r>
                        <a:rPr lang="en-US" sz="900" u="none" strike="noStrike" dirty="0">
                          <a:effectLst/>
                        </a:rPr>
                        <a:t> | 3000 | </a:t>
                      </a:r>
                      <a:r>
                        <a:rPr lang="en-US" sz="900" u="none" strike="noStrike" dirty="0" err="1">
                          <a:effectLst/>
                        </a:rPr>
                        <a:t>Hedyosmum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2.648***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(0.065)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0.201**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(0.065)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0.163+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(0.078)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0.088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(0.062)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0.089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0.106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21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0.557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-5.4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2699229423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logNmass | 3000 | Weinmannia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2.338***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(0.064)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0.076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(0.121)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(0.087)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18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0.067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3069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6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t="17204" b="12737"/>
          <a:stretch/>
        </p:blipFill>
        <p:spPr>
          <a:xfrm>
            <a:off x="485494" y="1183340"/>
            <a:ext cx="11598930" cy="345141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904502"/>
              </p:ext>
            </p:extLst>
          </p:nvPr>
        </p:nvGraphicFramePr>
        <p:xfrm>
          <a:off x="1122528" y="4967662"/>
          <a:ext cx="10515600" cy="176445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90745326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853512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885024713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53800208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69447362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5614491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61182667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3734891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87432913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3984133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61983538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91461838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400728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65509574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153901762"/>
                    </a:ext>
                  </a:extLst>
                </a:gridCol>
              </a:tblGrid>
              <a:tr h="164306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(Intercept </a:t>
                      </a:r>
                      <a:r>
                        <a:rPr lang="en-US" sz="1100" u="none" strike="noStrike" dirty="0" err="1">
                          <a:effectLst/>
                        </a:rPr>
                        <a:t>Bloque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(Observations)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Num.Obs</a:t>
                      </a:r>
                      <a:r>
                        <a:rPr lang="en-US" sz="1100" u="none" strike="noStrike" dirty="0">
                          <a:effectLst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Marg.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Cond.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6420631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logLPC</a:t>
                      </a:r>
                      <a:r>
                        <a:rPr lang="en-US" sz="900" u="none" strike="noStrike" dirty="0">
                          <a:effectLst/>
                        </a:rPr>
                        <a:t> | 1000 | </a:t>
                      </a:r>
                      <a:r>
                        <a:rPr lang="en-US" sz="900" u="none" strike="noStrike" dirty="0" err="1">
                          <a:effectLst/>
                        </a:rPr>
                        <a:t>Pouteria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-0.446***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(0.076)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0.178+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0.086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0.189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0.153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0.298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7.5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1255878841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logLPC | 1000 | Clarisia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-0.233*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(0.067)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(0.134)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0.370**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0.386**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0.116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0.684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353899892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logLPC | 2000 | Alchornea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-0.257**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0.489***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0.428***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0.106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0.491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0.592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14.9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02683429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logLPC | 2000 | Myrcia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-0.883***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(0.090)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0.027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(0.143)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0.687***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(0.132)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1.315***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(0.135)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50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0.707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55.8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1826219002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logLPC | 3000 | Hedyosmum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-0.183*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(0.111)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0.249+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(0.134)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0.492***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(0.111)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0.183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0.622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9.4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066069182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logLPC | 3000 | Weinmannia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-0.585***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(0.086)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0.081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(0.122)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(0.162)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1.043***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(0.117)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0.858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11.4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1677594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90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6515"/>
          <a:stretch/>
        </p:blipFill>
        <p:spPr>
          <a:xfrm>
            <a:off x="672183" y="1174520"/>
            <a:ext cx="10912664" cy="388105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321713"/>
              </p:ext>
            </p:extLst>
          </p:nvPr>
        </p:nvGraphicFramePr>
        <p:xfrm>
          <a:off x="1648276" y="5055572"/>
          <a:ext cx="8589420" cy="162313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045100">
                  <a:extLst>
                    <a:ext uri="{9D8B030D-6E8A-4147-A177-3AD203B41FA5}">
                      <a16:colId xmlns:a16="http://schemas.microsoft.com/office/drawing/2014/main" val="679076783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396721788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2161380297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1877651617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1027265204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2182230413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1187070114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3642644558"/>
                    </a:ext>
                  </a:extLst>
                </a:gridCol>
                <a:gridCol w="818040">
                  <a:extLst>
                    <a:ext uri="{9D8B030D-6E8A-4147-A177-3AD203B41FA5}">
                      <a16:colId xmlns:a16="http://schemas.microsoft.com/office/drawing/2014/main" val="454617299"/>
                    </a:ext>
                  </a:extLst>
                </a:gridCol>
              </a:tblGrid>
              <a:tr h="23187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Num.Obs</a:t>
                      </a:r>
                      <a:r>
                        <a:rPr lang="en-US" sz="1100" u="none" strike="noStrike" dirty="0">
                          <a:effectLst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R2 Marg.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R2 Cond.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9112652"/>
                  </a:ext>
                </a:extLst>
              </a:tr>
              <a:tr h="231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Leaf N:P | 1000 | </a:t>
                      </a:r>
                      <a:r>
                        <a:rPr lang="en-US" sz="1100" u="none" strike="noStrike" dirty="0" err="1">
                          <a:effectLst/>
                        </a:rPr>
                        <a:t>Pouteria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24.474***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1.444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-1.987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-2.163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0.087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0.140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211.6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2482957"/>
                  </a:ext>
                </a:extLst>
              </a:tr>
              <a:tr h="231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Leaf N:P | 1000 | </a:t>
                      </a:r>
                      <a:r>
                        <a:rPr lang="en-US" sz="1100" u="none" strike="noStrike" dirty="0" err="1">
                          <a:effectLst/>
                        </a:rPr>
                        <a:t>Clarisia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21.867***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-0.995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-1.076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-4.953+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0.356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0.374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55.5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9959047"/>
                  </a:ext>
                </a:extLst>
              </a:tr>
              <a:tr h="231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Leaf N:P | 2000 | </a:t>
                      </a:r>
                      <a:r>
                        <a:rPr lang="en-US" sz="1100" u="none" strike="noStrike" dirty="0" err="1">
                          <a:effectLst/>
                        </a:rPr>
                        <a:t>Alchornea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15.015***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2.175*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-5.308***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-5.939***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45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0.653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0.769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3605599"/>
                  </a:ext>
                </a:extLst>
              </a:tr>
              <a:tr h="231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Leaf N:P | 2000 | Myrcia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23.224***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0.308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-11.021***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-16.982***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0.772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0.788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279.1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4940540"/>
                  </a:ext>
                </a:extLst>
              </a:tr>
              <a:tr h="231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Leaf N:P | 3000 | Hedyosmum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17.046***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4.648*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-1.420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-6.056**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0.599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0.645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109.1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546040"/>
                  </a:ext>
                </a:extLst>
              </a:tr>
              <a:tr h="231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Leaf N:P | 3000 | Weinmannia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18.652***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-3.078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-11.345***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0.823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83.1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463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7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6923"/>
          <a:stretch/>
        </p:blipFill>
        <p:spPr>
          <a:xfrm>
            <a:off x="572958" y="1122363"/>
            <a:ext cx="11046084" cy="390152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12729"/>
              </p:ext>
            </p:extLst>
          </p:nvPr>
        </p:nvGraphicFramePr>
        <p:xfrm>
          <a:off x="1648276" y="4388971"/>
          <a:ext cx="8612098" cy="2325679"/>
        </p:xfrm>
        <a:graphic>
          <a:graphicData uri="http://schemas.openxmlformats.org/drawingml/2006/table">
            <a:tbl>
              <a:tblPr/>
              <a:tblGrid>
                <a:gridCol w="782918">
                  <a:extLst>
                    <a:ext uri="{9D8B030D-6E8A-4147-A177-3AD203B41FA5}">
                      <a16:colId xmlns:a16="http://schemas.microsoft.com/office/drawing/2014/main" val="1563301767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1281129085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1909343651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2421724066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2516208000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1835733236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2607866236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1897953618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904036426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3650746827"/>
                    </a:ext>
                  </a:extLst>
                </a:gridCol>
                <a:gridCol w="782918">
                  <a:extLst>
                    <a:ext uri="{9D8B030D-6E8A-4147-A177-3AD203B41FA5}">
                      <a16:colId xmlns:a16="http://schemas.microsoft.com/office/drawing/2014/main" val="3568132157"/>
                    </a:ext>
                  </a:extLst>
                </a:gridCol>
              </a:tblGrid>
              <a:tr h="35463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(Intercept)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SUBN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SUBNP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SUBP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 (Intercept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Bloque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 (Observations)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Num.Obs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 Marg.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 Cond.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AIC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051495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714121"/>
                  </a:ext>
                </a:extLst>
              </a:tr>
              <a:tr h="25017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iWUE | 1000 | Pouteria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85.255***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14.543*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-2.266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3.506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15.786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0.152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288.1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230323"/>
                  </a:ext>
                </a:extLst>
              </a:tr>
              <a:tr h="25017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iWUE | 1000 | Clarisia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96.605***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-14.388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-3.010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9.652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10.033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0.353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75.5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200417"/>
                  </a:ext>
                </a:extLst>
              </a:tr>
              <a:tr h="25017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iWUE | 2000 | Alchornea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146.959***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-2.984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-7.104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7.294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14.158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0.241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359.2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89845"/>
                  </a:ext>
                </a:extLst>
              </a:tr>
              <a:tr h="25017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iWUE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| 2000 |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Myrcia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131.326***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6.731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6.381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5.593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11.800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0.057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379.7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645785"/>
                  </a:ext>
                </a:extLst>
              </a:tr>
              <a:tr h="35463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iWUE | 3000 | Hedyosmum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143.373***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5.491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23.798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-5.890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20.438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0.188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169.3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188370"/>
                  </a:ext>
                </a:extLst>
              </a:tr>
              <a:tr h="354633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iWUE | 3000 | Weinmannia</a:t>
                      </a:r>
                    </a:p>
                  </a:txBody>
                  <a:tcPr marL="5468" marR="5468" marT="5468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132.195***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-4.230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-14.820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-7.505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3.322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10.186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0.236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123.3</a:t>
                      </a:r>
                    </a:p>
                  </a:txBody>
                  <a:tcPr marL="5468" marR="5468" marT="5468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477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80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Narea</a:t>
            </a:r>
            <a:r>
              <a:rPr lang="es-MX" dirty="0" smtClean="0"/>
              <a:t> and Parea (</a:t>
            </a:r>
            <a:r>
              <a:rPr lang="es-MX" dirty="0" err="1" smtClean="0"/>
              <a:t>optional</a:t>
            </a:r>
            <a:r>
              <a:rPr lang="es-MX" dirty="0" smtClean="0"/>
              <a:t>)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5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11500" b="12278"/>
          <a:stretch/>
        </p:blipFill>
        <p:spPr>
          <a:xfrm>
            <a:off x="692244" y="850871"/>
            <a:ext cx="11024627" cy="3576186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517099"/>
              </p:ext>
            </p:extLst>
          </p:nvPr>
        </p:nvGraphicFramePr>
        <p:xfrm>
          <a:off x="946757" y="4829736"/>
          <a:ext cx="10515600" cy="19287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420370445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5135192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6975133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1788395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4922368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64369224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81207774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7853233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367894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9625768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718816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11548879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20250329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87184459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883828498"/>
                    </a:ext>
                  </a:extLst>
                </a:gridCol>
              </a:tblGrid>
              <a:tr h="164306">
                <a:tc>
                  <a:txBody>
                    <a:bodyPr/>
                    <a:lstStyle/>
                    <a:p>
                      <a:pPr algn="l" fontAlgn="b"/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(Intercept </a:t>
                      </a:r>
                      <a:r>
                        <a:rPr lang="en-US" sz="1100" u="none" strike="noStrike" dirty="0" err="1">
                          <a:effectLst/>
                        </a:rPr>
                        <a:t>Bloque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(Observations)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Num.Obs</a:t>
                      </a:r>
                      <a:r>
                        <a:rPr lang="en-US" sz="1100" u="none" strike="noStrike" dirty="0">
                          <a:effectLst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Marg.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Cond.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4513228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Modelo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estimates.1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estimates.2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estimates.3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estimates.4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estimates.5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estimates.6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estimates.7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estimates.8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estimates.9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gof.1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gof.2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gof.3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879252698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Narea | 1000 | Pouteria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1.920***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(0.075)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(0.108)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(0.120)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0.250*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(0.115)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0.248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76328535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Narea | 1000 | Clarisia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1.892***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(0.112)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-0.102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(0.224)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0.295+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(0.148)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0.159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(0.148)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0.342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275968881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Narea | 2000 | Alchornea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3.272***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(0.161)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(0.231)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(0.247)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-0.133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(0.209)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0.079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0.539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0.106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87.9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1180857194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Narea | 2000 | Myrcia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2.882***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(0.260)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(0.410)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-0.152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(0.380)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-0.486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(0.389)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1.003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50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153.0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489940464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Narea | 3000 | Hedyosmum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2.136***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(0.170)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0.702**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(0.222)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0.448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(0.268)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(0.214)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0.433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0.468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4247231590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Narea | 3000 | Weinmannia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1.484***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(0.102)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0.182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(0.144)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0.069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(0.191)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(0.138)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16.1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392519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63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11940" b="11397"/>
          <a:stretch/>
        </p:blipFill>
        <p:spPr>
          <a:xfrm>
            <a:off x="810836" y="885377"/>
            <a:ext cx="11035895" cy="360059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460827" y="766814"/>
            <a:ext cx="10177302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s-MX" sz="1600" b="1" i="1" dirty="0" smtClean="0"/>
              <a:t>  </a:t>
            </a:r>
            <a:r>
              <a:rPr lang="es-MX" sz="1600" b="1" i="1" dirty="0" err="1" smtClean="0"/>
              <a:t>P.torta</a:t>
            </a:r>
            <a:r>
              <a:rPr lang="es-MX" sz="1600" b="1" i="1" dirty="0" smtClean="0"/>
              <a:t>                         C. </a:t>
            </a:r>
            <a:r>
              <a:rPr lang="es-MX" sz="1600" b="1" i="1" dirty="0" err="1" smtClean="0"/>
              <a:t>racemosa</a:t>
            </a:r>
            <a:r>
              <a:rPr lang="es-MX" sz="1600" b="1" i="1" dirty="0" smtClean="0"/>
              <a:t>               M. </a:t>
            </a:r>
            <a:r>
              <a:rPr lang="es-MX" sz="1600" b="1" i="1" dirty="0" err="1" smtClean="0"/>
              <a:t>sp</a:t>
            </a:r>
            <a:r>
              <a:rPr lang="es-MX" sz="1600" b="1" i="1" dirty="0" smtClean="0"/>
              <a:t>. Nov.                A. </a:t>
            </a:r>
            <a:r>
              <a:rPr lang="es-MX" sz="1600" b="1" i="1" dirty="0" err="1" smtClean="0"/>
              <a:t>lojaensis</a:t>
            </a:r>
            <a:r>
              <a:rPr lang="es-MX" sz="1600" b="1" i="1" dirty="0" smtClean="0"/>
              <a:t>               H. </a:t>
            </a:r>
            <a:r>
              <a:rPr lang="es-MX" sz="1600" b="1" i="1" dirty="0" err="1" smtClean="0"/>
              <a:t>purpurascens</a:t>
            </a:r>
            <a:r>
              <a:rPr lang="es-MX" sz="1600" b="1" i="1" dirty="0" smtClean="0"/>
              <a:t>       W. </a:t>
            </a:r>
            <a:r>
              <a:rPr lang="es-MX" sz="1600" b="1" i="1" dirty="0" err="1" smtClean="0"/>
              <a:t>loxensis</a:t>
            </a:r>
            <a:endParaRPr lang="en-US" sz="1600" b="1" i="1" dirty="0"/>
          </a:p>
        </p:txBody>
      </p:sp>
      <p:sp>
        <p:nvSpPr>
          <p:cNvPr id="12" name="Rectángulo 11"/>
          <p:cNvSpPr/>
          <p:nvPr/>
        </p:nvSpPr>
        <p:spPr>
          <a:xfrm>
            <a:off x="1648276" y="568664"/>
            <a:ext cx="3237881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1000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032612" y="582246"/>
            <a:ext cx="3151693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2"/>
                </a:solidFill>
              </a:rPr>
              <a:t>2000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338474" y="591123"/>
            <a:ext cx="3299654" cy="2593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2"/>
                </a:solidFill>
              </a:rPr>
              <a:t>3</a:t>
            </a:r>
            <a:r>
              <a:rPr lang="es-MX" dirty="0" smtClean="0">
                <a:solidFill>
                  <a:schemeClr val="tx2"/>
                </a:solidFill>
              </a:rPr>
              <a:t>000 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820838" y="1405352"/>
            <a:ext cx="310551" cy="242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*</a:t>
            </a:r>
            <a:endParaRPr lang="en-US" dirty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931373"/>
              </p:ext>
            </p:extLst>
          </p:nvPr>
        </p:nvGraphicFramePr>
        <p:xfrm>
          <a:off x="999566" y="4820772"/>
          <a:ext cx="10515600" cy="19287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420370445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51351920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6975133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1788395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4922368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64369224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81207774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7853233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367894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9625768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718816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11548879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202503297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87184459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883828498"/>
                    </a:ext>
                  </a:extLst>
                </a:gridCol>
              </a:tblGrid>
              <a:tr h="164306">
                <a:tc>
                  <a:txBody>
                    <a:bodyPr/>
                    <a:lstStyle/>
                    <a:p>
                      <a:pPr algn="l" fontAlgn="b"/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(Intercept)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NP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</a:rPr>
                        <a:t>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(Intercept </a:t>
                      </a:r>
                      <a:r>
                        <a:rPr lang="en-US" sz="1100" u="none" strike="noStrike" dirty="0" err="1">
                          <a:effectLst/>
                        </a:rPr>
                        <a:t>Bloque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SD (Observations)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Num.Obs</a:t>
                      </a:r>
                      <a:r>
                        <a:rPr lang="en-US" sz="1100" u="none" strike="noStrike" dirty="0">
                          <a:effectLst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Marg.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R2 Cond.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766294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Modelo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estimates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estimates.1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estimates.2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estimates.3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estimates.4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estimates.5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estimates.6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estimates.7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estimates.8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estimates.9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gof.1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gof.2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gof.3</a:t>
                      </a:r>
                      <a:endParaRPr lang="en-US" sz="9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879252698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 err="1">
                          <a:effectLst/>
                        </a:rPr>
                        <a:t>Parea</a:t>
                      </a:r>
                      <a:r>
                        <a:rPr lang="en-US" sz="900" u="none" strike="noStrike" dirty="0">
                          <a:effectLst/>
                        </a:rPr>
                        <a:t> | 1000 | </a:t>
                      </a:r>
                      <a:r>
                        <a:rPr lang="en-US" sz="900" u="none" strike="noStrike" dirty="0" err="1">
                          <a:effectLst/>
                        </a:rPr>
                        <a:t>Pouteria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0.081***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(0.005)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(0.006)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0.011+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(0.006)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0.018**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(0.006)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0.279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0.380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-170.3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775314559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Parea | 1000 | Clarisia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0.087***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(0.010)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(0.018)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0.022+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(0.011)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0.033*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(0.012)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0.008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0.015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12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0.437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0.579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-27.6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2323257836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Parea | 2000 | Alchornea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0.221***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(0.052)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0.167**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(0.056)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0.174***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(0.047)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-34.5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2413626938"/>
                  </a:ext>
                </a:extLst>
              </a:tr>
              <a:tr h="164306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Parea | 2000 | Myrcia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0.122***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-0.001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(0.051)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0.122*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(0.048)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0.382***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(0.049)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50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0.604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-38.1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2896389926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Parea | 3000 | Hedyosmum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0.125***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(0.027)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(0.044)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0.093*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0.060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0.319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-29.1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3218872009"/>
                  </a:ext>
                </a:extLst>
              </a:tr>
              <a:tr h="2973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Parea | 3000 | Weinmannia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0.080***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(0.016)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(0.023)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(0.030)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0.145***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(0.022)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0.000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0.036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0.778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effectLst/>
                        </a:rPr>
                        <a:t>-35.7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15" marR="8215" marT="8215" marB="0" anchor="b"/>
                </a:tc>
                <a:extLst>
                  <a:ext uri="{0D108BD9-81ED-4DB2-BD59-A6C34878D82A}">
                    <a16:rowId xmlns:a16="http://schemas.microsoft.com/office/drawing/2014/main" val="2369028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3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Coeficients</a:t>
            </a:r>
            <a:r>
              <a:rPr lang="es-MX" dirty="0" smtClean="0"/>
              <a:t> </a:t>
            </a:r>
            <a:r>
              <a:rPr lang="es-MX" dirty="0" err="1" smtClean="0"/>
              <a:t>plot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Still</a:t>
            </a:r>
            <a:r>
              <a:rPr lang="es-MX" dirty="0" smtClean="0"/>
              <a:t> </a:t>
            </a:r>
            <a:r>
              <a:rPr lang="es-MX" dirty="0" err="1" smtClean="0"/>
              <a:t>figuring</a:t>
            </a:r>
            <a:r>
              <a:rPr lang="es-MX" dirty="0" smtClean="0"/>
              <a:t> </a:t>
            </a:r>
            <a:r>
              <a:rPr lang="es-MX" dirty="0" err="1" smtClean="0"/>
              <a:t>out</a:t>
            </a:r>
            <a:r>
              <a:rPr lang="es-MX" dirty="0" smtClean="0"/>
              <a:t> </a:t>
            </a:r>
            <a:r>
              <a:rPr lang="es-MX" dirty="0" err="1" smtClean="0"/>
              <a:t>if</a:t>
            </a:r>
            <a:r>
              <a:rPr lang="es-MX" dirty="0" smtClean="0"/>
              <a:t> </a:t>
            </a:r>
            <a:r>
              <a:rPr lang="es-MX" dirty="0" err="1" smtClean="0"/>
              <a:t>work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LNC </a:t>
            </a:r>
            <a:r>
              <a:rPr lang="es-MX" dirty="0" err="1" smtClean="0"/>
              <a:t>or</a:t>
            </a:r>
            <a:r>
              <a:rPr lang="es-MX" dirty="0" smtClean="0"/>
              <a:t> </a:t>
            </a:r>
            <a:r>
              <a:rPr lang="es-MX" dirty="0" err="1" smtClean="0"/>
              <a:t>Narea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4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22829" y="203981"/>
            <a:ext cx="11941791" cy="62787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</p:nvPr>
        </p:nvGraphicFramePr>
        <p:xfrm>
          <a:off x="4548916" y="1822989"/>
          <a:ext cx="3094167" cy="4356611"/>
        </p:xfrm>
        <a:graphic>
          <a:graphicData uri="http://schemas.openxmlformats.org/drawingml/2006/table">
            <a:tbl>
              <a:tblPr/>
              <a:tblGrid>
                <a:gridCol w="672645">
                  <a:extLst>
                    <a:ext uri="{9D8B030D-6E8A-4147-A177-3AD203B41FA5}">
                      <a16:colId xmlns:a16="http://schemas.microsoft.com/office/drawing/2014/main" val="4208063523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1371059948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1313871972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783483726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817817368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232167012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108131939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1467261772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663940097"/>
                    </a:ext>
                  </a:extLst>
                </a:gridCol>
                <a:gridCol w="269058">
                  <a:extLst>
                    <a:ext uri="{9D8B030D-6E8A-4147-A177-3AD203B41FA5}">
                      <a16:colId xmlns:a16="http://schemas.microsoft.com/office/drawing/2014/main" val="3387289213"/>
                    </a:ext>
                  </a:extLst>
                </a:gridCol>
              </a:tblGrid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estimates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estimates.2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estimates.4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estimates.6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estimates.9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gof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gof.1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gof.2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gof.3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4574"/>
                  </a:ext>
                </a:extLst>
              </a:tr>
              <a:tr h="180941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(Intercept)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SUBN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SUBNP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SUBP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 (Observations)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Num.Obs.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 Marg.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 Cond.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AIC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93948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estimate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532853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Nmass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15.336***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1.320*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124.0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129443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Nmass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17.393***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2.667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6.259*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03769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Nmass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11.606***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1.533*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1.552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174.0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46953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Nmass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8.812***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1.192**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0.909*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-0.619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10221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Nmass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14.134***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3.403*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2.589+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70909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Nmass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10.434***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1.563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6494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logNmass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-54.8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262140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logNmass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2.849***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560347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logNmass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2.442***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363504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logNmass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0.102*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-0.071+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-52.1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075620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logNmass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0.201**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0.163+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01292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logNmass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2.338***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258114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Narea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1.920***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0.250*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179387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Narea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-0.102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0.295+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94941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Narea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3.272***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-0.133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135049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Narea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2.882***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-0.152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-0.486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34429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Narea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0.702**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-0.022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565165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Narea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7693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Cmass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478.002***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2.498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-0.055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5.593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043430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Cmass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421.372***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25.773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9.125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16.973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13.655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98078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Cmass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489.936***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-2.251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-3.010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8.523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244909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Cmass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472.530***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-1.507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-7.836*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-2.897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8.111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209097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Cmass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438.175***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-3.352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4.616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-1.430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7.329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617223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Cmass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444.044***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17.429+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-2.611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10.639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124.8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98669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Carea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60.501***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2.382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9.170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509425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Carea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46.093***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-8.463*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-5.063*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-2.305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2.141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688613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Carea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139.527***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-6.085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2.265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-2.010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17.610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375.2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31906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Carea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131.985***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-1.843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6.197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13.747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393.7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25325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Carea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66.582***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5.565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-7.692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11.044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56775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Carea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63.680***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-2.826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6.295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9732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logLCCC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6.170***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-155.4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68539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logLCCC |1000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6.043***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161241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logLCCC 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6.194***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-183.4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033477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logLCCC 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6.158***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-0.017*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-219.7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830644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logLCCC 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6.083***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-71.4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990603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logLCCC 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6.096***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-45.7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524085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LPC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0.650***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0.123+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480051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LPC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0.359*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0.381**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321500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LPC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0.449***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822049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LPC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0.444**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207683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LPC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0.581**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07560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LPC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0.559***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1.077***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64696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logLPC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-0.446***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0.178+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1164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logLPC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-0.233*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0.370**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0.386**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3695360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logLPC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-0.257**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-0.019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0.489***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721827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logLPC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-0.883***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0.687***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63074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logLPC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-0.183*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0.249+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29286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logLPC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-0.585***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1.043***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26746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Parea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0.011+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0.018**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-170.3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150595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Parea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0.087***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0.022+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305997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Parea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0.221***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0.167**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-34.5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12911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Parea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0.122*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346382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Parea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0.093*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-29.1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70302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Parea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0.080***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-35.7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778539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Leaf N:P | 1000 | Pouteria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24.474***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1.444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-1.987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-2.163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4.690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211.6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756616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Leaf N:P | 1000 | Clarisia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21.867***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-0.995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-1.076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-4.953+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2.859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0.356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92068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Leaf N:P | 2000 | Alchornea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15.015***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2.175*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-5.308***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-5.939***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2.071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9994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Leaf N:P | 2000 | Myrcia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23.224***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-11.021***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-16.982***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3.874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0.772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655710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Leaf N:P | 3000 | Hedyosmum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17.046***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4.648*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-1.420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-6.056**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3.337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0.599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0.645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334411"/>
                  </a:ext>
                </a:extLst>
              </a:tr>
              <a:tr h="6726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Leaf N:P | 3000 | Weinmannia</a:t>
                      </a:r>
                    </a:p>
                  </a:txBody>
                  <a:tcPr marL="3363" marR="3363" marT="3363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18.652***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0.234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-3.078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-11.345***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2.498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0.823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63" marR="3363" marT="336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83.1</a:t>
                      </a:r>
                    </a:p>
                  </a:txBody>
                  <a:tcPr marL="3363" marR="3363" marT="3363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695598"/>
                  </a:ext>
                </a:extLst>
              </a:tr>
            </a:tbl>
          </a:graphicData>
        </a:graphic>
      </p:graphicFrame>
      <p:sp>
        <p:nvSpPr>
          <p:cNvPr id="8" name="CuadroTexto 7"/>
          <p:cNvSpPr txBox="1"/>
          <p:nvPr/>
        </p:nvSpPr>
        <p:spPr>
          <a:xfrm rot="16200000">
            <a:off x="-3924304" y="2024542"/>
            <a:ext cx="8098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r>
              <a:rPr lang="en-US" sz="1400" b="1" dirty="0" smtClean="0"/>
              <a:t>SLA (g/m2)              </a:t>
            </a:r>
            <a:r>
              <a:rPr lang="en-US" sz="1400" b="1" dirty="0" err="1" smtClean="0"/>
              <a:t>Parea</a:t>
            </a:r>
            <a:r>
              <a:rPr lang="en-US" sz="1400" b="1" dirty="0" smtClean="0"/>
              <a:t>(g/m</a:t>
            </a:r>
            <a:r>
              <a:rPr lang="en-US" sz="1400" b="1" baseline="30000" dirty="0" smtClean="0"/>
              <a:t>2</a:t>
            </a:r>
            <a:r>
              <a:rPr lang="en-US" sz="1400" b="1" dirty="0" smtClean="0"/>
              <a:t> </a:t>
            </a:r>
            <a:r>
              <a:rPr lang="en-US" sz="1400" b="1" dirty="0"/>
              <a:t>)   </a:t>
            </a:r>
            <a:r>
              <a:rPr lang="en-US" sz="1400" b="1" dirty="0" smtClean="0"/>
              <a:t>               </a:t>
            </a:r>
            <a:r>
              <a:rPr lang="en-US" sz="1400" b="1" dirty="0" err="1" smtClean="0"/>
              <a:t>Narea</a:t>
            </a:r>
            <a:r>
              <a:rPr lang="en-US" sz="1400" b="1" dirty="0" smtClean="0"/>
              <a:t>(g/m</a:t>
            </a:r>
            <a:r>
              <a:rPr lang="en-US" sz="1400" b="1" baseline="30000" dirty="0" smtClean="0"/>
              <a:t>2</a:t>
            </a:r>
            <a:r>
              <a:rPr lang="en-US" sz="1400" b="1" dirty="0" smtClean="0"/>
              <a:t> )          </a:t>
            </a:r>
            <a:r>
              <a:rPr lang="en-US" sz="1400" b="1" dirty="0" err="1" smtClean="0"/>
              <a:t>iWUE</a:t>
            </a:r>
            <a:r>
              <a:rPr lang="en-US" sz="1400" b="1" dirty="0" smtClean="0"/>
              <a:t> (</a:t>
            </a:r>
            <a:r>
              <a:rPr lang="el-GR" sz="1400" b="1" dirty="0" smtClean="0"/>
              <a:t>μ</a:t>
            </a:r>
            <a:r>
              <a:rPr lang="en-US" sz="1400" b="1" dirty="0" err="1" smtClean="0"/>
              <a:t>mol</a:t>
            </a:r>
            <a:r>
              <a:rPr lang="en-US" sz="1400" b="1" dirty="0" smtClean="0"/>
              <a:t>/</a:t>
            </a:r>
            <a:r>
              <a:rPr lang="en-US" sz="1400" b="1" dirty="0" err="1" smtClean="0"/>
              <a:t>mol</a:t>
            </a:r>
            <a:r>
              <a:rPr lang="en-US" sz="1400" b="1" dirty="0" smtClean="0"/>
              <a:t>)</a:t>
            </a:r>
            <a:endParaRPr lang="en-US" sz="1400" b="1" dirty="0"/>
          </a:p>
        </p:txBody>
      </p:sp>
      <p:sp>
        <p:nvSpPr>
          <p:cNvPr id="9" name="Rectángulo 8"/>
          <p:cNvSpPr/>
          <p:nvPr/>
        </p:nvSpPr>
        <p:spPr>
          <a:xfrm>
            <a:off x="430238" y="134270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1000 m</a:t>
            </a:r>
            <a:endParaRPr lang="en-US" dirty="0"/>
          </a:p>
        </p:txBody>
      </p:sp>
      <p:sp>
        <p:nvSpPr>
          <p:cNvPr id="12" name="Rectángulo 11"/>
          <p:cNvSpPr/>
          <p:nvPr/>
        </p:nvSpPr>
        <p:spPr>
          <a:xfrm>
            <a:off x="428469" y="114231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/>
          <p:cNvSpPr/>
          <p:nvPr/>
        </p:nvSpPr>
        <p:spPr>
          <a:xfrm>
            <a:off x="4253972" y="791567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/>
          <p:cNvSpPr/>
          <p:nvPr/>
        </p:nvSpPr>
        <p:spPr>
          <a:xfrm>
            <a:off x="8075345" y="790905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261217" y="115005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r>
              <a:rPr lang="es-MX" dirty="0" smtClean="0"/>
              <a:t>000 m</a:t>
            </a:r>
            <a:endParaRPr lang="en-US" dirty="0"/>
          </a:p>
        </p:txBody>
      </p:sp>
      <p:sp>
        <p:nvSpPr>
          <p:cNvPr id="18" name="Rectángulo 17"/>
          <p:cNvSpPr/>
          <p:nvPr/>
        </p:nvSpPr>
        <p:spPr>
          <a:xfrm>
            <a:off x="8068101" y="115005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r>
              <a:rPr lang="es-MX" dirty="0" smtClean="0"/>
              <a:t>000 m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1254" t="4675" r="416" b="2362"/>
          <a:stretch/>
        </p:blipFill>
        <p:spPr>
          <a:xfrm>
            <a:off x="406945" y="512742"/>
            <a:ext cx="11657675" cy="596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6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 rot="16200000">
            <a:off x="-3757692" y="2310526"/>
            <a:ext cx="8098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N:P                                 </a:t>
            </a:r>
            <a:r>
              <a:rPr lang="en-US" sz="1400" b="1" dirty="0" smtClean="0"/>
              <a:t>LPC (mg/g </a:t>
            </a:r>
            <a:r>
              <a:rPr lang="en-US" sz="1400" b="1" dirty="0"/>
              <a:t>)   </a:t>
            </a:r>
            <a:r>
              <a:rPr lang="en-US" sz="1400" b="1" dirty="0" smtClean="0"/>
              <a:t>          </a:t>
            </a:r>
            <a:r>
              <a:rPr lang="en-US" sz="1400" b="1" dirty="0" smtClean="0"/>
              <a:t>LNC (mg/g </a:t>
            </a:r>
            <a:r>
              <a:rPr lang="en-US" sz="1400" b="1" dirty="0" smtClean="0"/>
              <a:t>)             </a:t>
            </a:r>
            <a:r>
              <a:rPr lang="en-US" sz="1400" b="1" dirty="0" err="1" smtClean="0"/>
              <a:t>iWUE</a:t>
            </a:r>
            <a:r>
              <a:rPr lang="en-US" sz="1400" b="1" dirty="0" smtClean="0"/>
              <a:t> (</a:t>
            </a:r>
            <a:r>
              <a:rPr lang="el-GR" sz="1400" b="1" dirty="0" smtClean="0"/>
              <a:t>μ</a:t>
            </a:r>
            <a:r>
              <a:rPr lang="en-US" sz="1400" b="1" dirty="0" err="1" smtClean="0"/>
              <a:t>mol</a:t>
            </a:r>
            <a:r>
              <a:rPr lang="en-US" sz="1400" b="1" dirty="0" smtClean="0"/>
              <a:t>/</a:t>
            </a:r>
            <a:r>
              <a:rPr lang="en-US" sz="1400" b="1" dirty="0" err="1" smtClean="0"/>
              <a:t>mol</a:t>
            </a:r>
            <a:r>
              <a:rPr lang="en-US" sz="1400" b="1" dirty="0" smtClean="0"/>
              <a:t>)</a:t>
            </a:r>
            <a:endParaRPr lang="en-US" sz="1400" b="1" dirty="0"/>
          </a:p>
        </p:txBody>
      </p:sp>
      <p:sp>
        <p:nvSpPr>
          <p:cNvPr id="9" name="Rectángulo 8"/>
          <p:cNvSpPr/>
          <p:nvPr/>
        </p:nvSpPr>
        <p:spPr>
          <a:xfrm>
            <a:off x="430238" y="134270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1000 m</a:t>
            </a:r>
            <a:endParaRPr lang="en-US" dirty="0"/>
          </a:p>
        </p:txBody>
      </p:sp>
      <p:sp>
        <p:nvSpPr>
          <p:cNvPr id="16" name="Rectángulo 15"/>
          <p:cNvSpPr/>
          <p:nvPr/>
        </p:nvSpPr>
        <p:spPr>
          <a:xfrm>
            <a:off x="4240238" y="127376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r>
              <a:rPr lang="es-MX" dirty="0" smtClean="0"/>
              <a:t>000 m</a:t>
            </a:r>
            <a:endParaRPr lang="en-US" dirty="0"/>
          </a:p>
        </p:txBody>
      </p:sp>
      <p:sp>
        <p:nvSpPr>
          <p:cNvPr id="18" name="Rectángulo 17"/>
          <p:cNvSpPr/>
          <p:nvPr/>
        </p:nvSpPr>
        <p:spPr>
          <a:xfrm>
            <a:off x="8063381" y="127376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r>
              <a:rPr lang="es-MX" dirty="0" smtClean="0"/>
              <a:t>000 m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68" y="510833"/>
            <a:ext cx="11447863" cy="624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8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22829" y="203981"/>
            <a:ext cx="11941791" cy="62787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 rot="16200000">
            <a:off x="-3924304" y="2024542"/>
            <a:ext cx="8098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r>
              <a:rPr lang="en-US" sz="1400" b="1" dirty="0" smtClean="0"/>
              <a:t>SLA (g/m2)              </a:t>
            </a:r>
            <a:r>
              <a:rPr lang="en-US" sz="1400" b="1" dirty="0" err="1" smtClean="0"/>
              <a:t>Parea</a:t>
            </a:r>
            <a:r>
              <a:rPr lang="en-US" sz="1400" b="1" dirty="0" smtClean="0"/>
              <a:t>(g/m</a:t>
            </a:r>
            <a:r>
              <a:rPr lang="en-US" sz="1400" b="1" baseline="30000" dirty="0" smtClean="0"/>
              <a:t>2</a:t>
            </a:r>
            <a:r>
              <a:rPr lang="en-US" sz="1400" b="1" dirty="0" smtClean="0"/>
              <a:t> </a:t>
            </a:r>
            <a:r>
              <a:rPr lang="en-US" sz="1400" b="1" dirty="0"/>
              <a:t>)   </a:t>
            </a:r>
            <a:r>
              <a:rPr lang="en-US" sz="1400" b="1" dirty="0" smtClean="0"/>
              <a:t>               </a:t>
            </a:r>
            <a:r>
              <a:rPr lang="en-US" sz="1400" b="1" dirty="0" err="1" smtClean="0"/>
              <a:t>Narea</a:t>
            </a:r>
            <a:r>
              <a:rPr lang="en-US" sz="1400" b="1" dirty="0" smtClean="0"/>
              <a:t>(g/m</a:t>
            </a:r>
            <a:r>
              <a:rPr lang="en-US" sz="1400" b="1" baseline="30000" dirty="0" smtClean="0"/>
              <a:t>2</a:t>
            </a:r>
            <a:r>
              <a:rPr lang="en-US" sz="1400" b="1" dirty="0" smtClean="0"/>
              <a:t> )          </a:t>
            </a:r>
            <a:r>
              <a:rPr lang="en-US" sz="1400" b="1" dirty="0" err="1" smtClean="0"/>
              <a:t>iWUE</a:t>
            </a:r>
            <a:r>
              <a:rPr lang="en-US" sz="1400" b="1" dirty="0" smtClean="0"/>
              <a:t> (</a:t>
            </a:r>
            <a:r>
              <a:rPr lang="el-GR" sz="1400" b="1" dirty="0" smtClean="0"/>
              <a:t>μ</a:t>
            </a:r>
            <a:r>
              <a:rPr lang="en-US" sz="1400" b="1" dirty="0" err="1" smtClean="0"/>
              <a:t>mol</a:t>
            </a:r>
            <a:r>
              <a:rPr lang="en-US" sz="1400" b="1" dirty="0" smtClean="0"/>
              <a:t>/</a:t>
            </a:r>
            <a:r>
              <a:rPr lang="en-US" sz="1400" b="1" dirty="0" err="1" smtClean="0"/>
              <a:t>mol</a:t>
            </a:r>
            <a:r>
              <a:rPr lang="en-US" sz="1400" b="1" dirty="0" smtClean="0"/>
              <a:t>)</a:t>
            </a:r>
            <a:endParaRPr lang="en-US" sz="1400" b="1" dirty="0"/>
          </a:p>
        </p:txBody>
      </p:sp>
      <p:sp>
        <p:nvSpPr>
          <p:cNvPr id="9" name="Rectángulo 8"/>
          <p:cNvSpPr/>
          <p:nvPr/>
        </p:nvSpPr>
        <p:spPr>
          <a:xfrm>
            <a:off x="430238" y="134270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1000 m</a:t>
            </a:r>
            <a:endParaRPr lang="en-US" dirty="0"/>
          </a:p>
        </p:txBody>
      </p:sp>
      <p:sp>
        <p:nvSpPr>
          <p:cNvPr id="12" name="Rectángulo 11"/>
          <p:cNvSpPr/>
          <p:nvPr/>
        </p:nvSpPr>
        <p:spPr>
          <a:xfrm>
            <a:off x="428469" y="114231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/>
          <p:cNvSpPr/>
          <p:nvPr/>
        </p:nvSpPr>
        <p:spPr>
          <a:xfrm>
            <a:off x="4253972" y="791567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/>
          <p:cNvSpPr/>
          <p:nvPr/>
        </p:nvSpPr>
        <p:spPr>
          <a:xfrm>
            <a:off x="8075345" y="790905"/>
            <a:ext cx="3814129" cy="540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4261217" y="115005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2</a:t>
            </a:r>
            <a:r>
              <a:rPr lang="es-MX" dirty="0" smtClean="0"/>
              <a:t>000 m</a:t>
            </a:r>
            <a:endParaRPr lang="en-US" dirty="0"/>
          </a:p>
        </p:txBody>
      </p:sp>
      <p:sp>
        <p:nvSpPr>
          <p:cNvPr id="18" name="Rectángulo 17"/>
          <p:cNvSpPr/>
          <p:nvPr/>
        </p:nvSpPr>
        <p:spPr>
          <a:xfrm>
            <a:off x="8068101" y="115005"/>
            <a:ext cx="3810000" cy="358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</a:t>
            </a:r>
            <a:r>
              <a:rPr lang="es-MX" dirty="0" smtClean="0"/>
              <a:t>000 m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3"/>
          <a:srcRect l="798" t="3932" r="897" b="2325"/>
          <a:stretch/>
        </p:blipFill>
        <p:spPr>
          <a:xfrm>
            <a:off x="417095" y="479452"/>
            <a:ext cx="11622157" cy="600323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449571" y="2938893"/>
            <a:ext cx="7288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 err="1" smtClean="0">
                <a:solidFill>
                  <a:srgbClr val="FF0000"/>
                </a:solidFill>
              </a:rPr>
              <a:t>Model</a:t>
            </a:r>
            <a:r>
              <a:rPr lang="es-MX" sz="4000" dirty="0" smtClean="0">
                <a:solidFill>
                  <a:srgbClr val="FF0000"/>
                </a:solidFill>
              </a:rPr>
              <a:t> </a:t>
            </a:r>
            <a:r>
              <a:rPr lang="es-MX" sz="4000" dirty="0" err="1" smtClean="0">
                <a:solidFill>
                  <a:srgbClr val="FF0000"/>
                </a:solidFill>
              </a:rPr>
              <a:t>using</a:t>
            </a:r>
            <a:r>
              <a:rPr lang="es-MX" sz="4000" dirty="0" smtClean="0">
                <a:solidFill>
                  <a:srgbClr val="FF0000"/>
                </a:solidFill>
              </a:rPr>
              <a:t> </a:t>
            </a:r>
            <a:r>
              <a:rPr lang="es-MX" sz="4000" dirty="0" err="1" smtClean="0">
                <a:solidFill>
                  <a:srgbClr val="FF0000"/>
                </a:solidFill>
              </a:rPr>
              <a:t>dummies</a:t>
            </a:r>
            <a:r>
              <a:rPr lang="es-MX" sz="4000" dirty="0" smtClean="0">
                <a:solidFill>
                  <a:srgbClr val="FF0000"/>
                </a:solidFill>
              </a:rPr>
              <a:t>. </a:t>
            </a:r>
            <a:r>
              <a:rPr lang="es-MX" sz="4000" dirty="0" err="1" smtClean="0">
                <a:solidFill>
                  <a:srgbClr val="FF0000"/>
                </a:solidFill>
              </a:rPr>
              <a:t>NxP</a:t>
            </a:r>
            <a:r>
              <a:rPr lang="es-MX" sz="4000" dirty="0" smtClean="0">
                <a:solidFill>
                  <a:srgbClr val="FF0000"/>
                </a:solidFill>
              </a:rPr>
              <a:t> shows </a:t>
            </a:r>
            <a:r>
              <a:rPr lang="es-MX" sz="4000" dirty="0" err="1" smtClean="0">
                <a:solidFill>
                  <a:srgbClr val="FF0000"/>
                </a:solidFill>
              </a:rPr>
              <a:t>sinergism</a:t>
            </a:r>
            <a:r>
              <a:rPr lang="es-MX" sz="4000" dirty="0" smtClean="0">
                <a:solidFill>
                  <a:srgbClr val="FF0000"/>
                </a:solidFill>
              </a:rPr>
              <a:t> vs </a:t>
            </a:r>
            <a:r>
              <a:rPr lang="es-MX" sz="4000" dirty="0" err="1" smtClean="0">
                <a:solidFill>
                  <a:srgbClr val="FF0000"/>
                </a:solidFill>
              </a:rPr>
              <a:t>antagonist</a:t>
            </a:r>
            <a:r>
              <a:rPr lang="es-MX" sz="4000" dirty="0" smtClean="0">
                <a:solidFill>
                  <a:srgbClr val="FF0000"/>
                </a:solidFill>
              </a:rPr>
              <a:t> </a:t>
            </a:r>
            <a:r>
              <a:rPr lang="es-MX" sz="4000" dirty="0" err="1" smtClean="0">
                <a:solidFill>
                  <a:srgbClr val="FF0000"/>
                </a:solidFill>
              </a:rPr>
              <a:t>effects</a:t>
            </a:r>
            <a:r>
              <a:rPr lang="es-MX" sz="4000" dirty="0" smtClean="0">
                <a:solidFill>
                  <a:srgbClr val="FF0000"/>
                </a:solidFill>
              </a:rPr>
              <a:t>. </a:t>
            </a:r>
            <a:r>
              <a:rPr lang="es-MX" sz="4000" dirty="0" err="1" smtClean="0">
                <a:solidFill>
                  <a:srgbClr val="FF0000"/>
                </a:solidFill>
              </a:rPr>
              <a:t>Different</a:t>
            </a:r>
            <a:r>
              <a:rPr lang="es-MX" sz="4000" dirty="0" smtClean="0">
                <a:solidFill>
                  <a:srgbClr val="FF0000"/>
                </a:solidFill>
              </a:rPr>
              <a:t> </a:t>
            </a:r>
            <a:r>
              <a:rPr lang="es-MX" sz="4000" dirty="0" err="1" smtClean="0">
                <a:solidFill>
                  <a:srgbClr val="FF0000"/>
                </a:solidFill>
              </a:rPr>
              <a:t>interpretation</a:t>
            </a:r>
            <a:r>
              <a:rPr lang="es-MX" sz="4000" dirty="0" smtClean="0">
                <a:solidFill>
                  <a:srgbClr val="FF0000"/>
                </a:solidFill>
              </a:rPr>
              <a:t>.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55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3767" y="69681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sz="2200" dirty="0" smtClean="0"/>
              <a:t>RQ3:</a:t>
            </a:r>
            <a:r>
              <a:rPr lang="en-US" sz="2200" i="1" dirty="0" smtClean="0"/>
              <a:t>What </a:t>
            </a:r>
            <a:r>
              <a:rPr lang="en-US" sz="2200" i="1" dirty="0"/>
              <a:t>is the relationship between  leaf nutrients (</a:t>
            </a:r>
            <a:r>
              <a:rPr lang="en-US" sz="2200" i="1" dirty="0" err="1"/>
              <a:t>Nmass</a:t>
            </a:r>
            <a:r>
              <a:rPr lang="en-US" sz="2200" i="1" dirty="0"/>
              <a:t> and </a:t>
            </a:r>
            <a:r>
              <a:rPr lang="en-US" sz="2200" i="1" dirty="0" err="1"/>
              <a:t>Narea</a:t>
            </a:r>
            <a:r>
              <a:rPr lang="en-US" sz="2200" i="1" dirty="0"/>
              <a:t>) and morphology (SLA) to </a:t>
            </a:r>
            <a:r>
              <a:rPr lang="en-US" sz="2200" i="1" dirty="0" err="1"/>
              <a:t>iWUE</a:t>
            </a:r>
            <a:r>
              <a:rPr lang="en-US" sz="2200" i="1" dirty="0"/>
              <a:t> at the different altitudes? – No treatments?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 smtClean="0"/>
              <a:t>Will explain the trends at different elevations.</a:t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i="1" dirty="0" smtClean="0"/>
              <a:t>Which </a:t>
            </a:r>
            <a:r>
              <a:rPr lang="en-US" sz="2200" i="1" dirty="0"/>
              <a:t>analysis? SMA? Or </a:t>
            </a:r>
            <a:r>
              <a:rPr lang="en-US" sz="2200" i="1" dirty="0" err="1"/>
              <a:t>lmer</a:t>
            </a:r>
            <a:r>
              <a:rPr lang="en-US" sz="2200" i="1" dirty="0"/>
              <a:t> (R ~ </a:t>
            </a:r>
            <a:r>
              <a:rPr lang="en-US" sz="2200" i="1" dirty="0" err="1"/>
              <a:t>Narea</a:t>
            </a:r>
            <a:r>
              <a:rPr lang="en-US" sz="2200" i="1" dirty="0"/>
              <a:t> * Treat </a:t>
            </a:r>
            <a:r>
              <a:rPr lang="en-US" sz="2200" i="1" dirty="0" smtClean="0"/>
              <a:t>) per specie</a:t>
            </a:r>
            <a:r>
              <a:rPr lang="en-US" dirty="0"/>
              <a:t/>
            </a:r>
            <a:br>
              <a:rPr lang="en-US" dirty="0"/>
            </a:br>
            <a:r>
              <a:rPr lang="es-MX" dirty="0" smtClean="0"/>
              <a:t> 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1567" y="2090411"/>
            <a:ext cx="6013682" cy="31360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70" y="2176299"/>
            <a:ext cx="5684279" cy="296423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 rot="19494981">
            <a:off x="-18451" y="3403017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REVISANDO TODAVIA</a:t>
            </a:r>
            <a:endParaRPr lang="en-US" sz="4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72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822" t="13210" r="736" b="2398"/>
          <a:stretch/>
        </p:blipFill>
        <p:spPr>
          <a:xfrm>
            <a:off x="593037" y="896471"/>
            <a:ext cx="11301197" cy="524788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 rot="19494981">
            <a:off x="-18451" y="3403017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REVISANDO TODAVIA</a:t>
            </a:r>
            <a:endParaRPr lang="en-US" sz="4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60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AutoShape 2" descr="http://127.0.0.1:13579/chunk_output/A8884044528A0A49/B0905F8C/c01s2ylc54ika/000020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1056" t="18263" r="1343" b="2796"/>
          <a:stretch/>
        </p:blipFill>
        <p:spPr>
          <a:xfrm>
            <a:off x="63500" y="435758"/>
            <a:ext cx="12068175" cy="528723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 rot="19494981">
            <a:off x="-18451" y="3403017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REVISANDO TODAVIA</a:t>
            </a:r>
            <a:endParaRPr lang="en-US" sz="4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50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521" t="16108" r="778" b="2220"/>
          <a:stretch/>
        </p:blipFill>
        <p:spPr>
          <a:xfrm>
            <a:off x="226845" y="365125"/>
            <a:ext cx="11738309" cy="526131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 rot="19494981">
            <a:off x="-18451" y="3403017"/>
            <a:ext cx="1032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 dirty="0" smtClean="0">
                <a:solidFill>
                  <a:srgbClr val="FF0000"/>
                </a:solidFill>
              </a:rPr>
              <a:t>STILL THINKING ABOUT THIS ONE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45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3606</Words>
  <Application>Microsoft Office PowerPoint</Application>
  <PresentationFormat>Panorámica</PresentationFormat>
  <Paragraphs>1795</Paragraphs>
  <Slides>21</Slides>
  <Notes>5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Main figures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Narea and Parea (optional)</vt:lpstr>
      <vt:lpstr>Presentación de PowerPoint</vt:lpstr>
      <vt:lpstr>Presentación de PowerPoint</vt:lpstr>
      <vt:lpstr>Coeficients plot</vt:lpstr>
      <vt:lpstr>Presentación de PowerPoint</vt:lpstr>
      <vt:lpstr>Presentación de PowerPoint</vt:lpstr>
      <vt:lpstr>Presentación de PowerPoint</vt:lpstr>
      <vt:lpstr>RQ3:What is the relationship between  leaf nutrients (Nmass and Narea) and morphology (SLA) to iWUE at the different altitudes? – No treatments? Will explain the trends at different elevations.  Which analysis? SMA? Or lmer (R ~ Narea * Treat ) per specie 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selene.baez</dc:creator>
  <cp:lastModifiedBy>selene.baez</cp:lastModifiedBy>
  <cp:revision>51</cp:revision>
  <dcterms:created xsi:type="dcterms:W3CDTF">2026-03-01T16:18:08Z</dcterms:created>
  <dcterms:modified xsi:type="dcterms:W3CDTF">2026-05-26T23:53:04Z</dcterms:modified>
</cp:coreProperties>
</file>